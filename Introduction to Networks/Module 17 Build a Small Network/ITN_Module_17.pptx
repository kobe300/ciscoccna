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54.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53.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4.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5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7.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5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59.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8CDFB2E6-E201-4CDE-89C6-4E1F8EB521D5}"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380880" y="685800"/>
            <a:ext cx="6095520" cy="3428640"/>
          </a:xfrm>
          <a:prstGeom prst="rect">
            <a:avLst/>
          </a:prstGeom>
          <a:ln w="0">
            <a:noFill/>
          </a:ln>
        </p:spPr>
      </p:sp>
      <p:sp>
        <p:nvSpPr>
          <p:cNvPr id="46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latin typeface="Arial"/>
              </a:rPr>
              <a:t>Introduction to Networks v7.0 (ITN)</a:t>
            </a:r>
            <a:endParaRPr b="0" lang="en-JM" sz="2000" spc="-1" strike="noStrike">
              <a:latin typeface="Arial"/>
            </a:endParaRPr>
          </a:p>
          <a:p>
            <a:pPr marL="216000" indent="-216000">
              <a:lnSpc>
                <a:spcPct val="100000"/>
              </a:lnSpc>
              <a:buNone/>
            </a:pPr>
            <a:r>
              <a:rPr b="0" lang="en-US" sz="2000" spc="-1" strike="noStrike">
                <a:latin typeface="Arial"/>
              </a:rPr>
              <a:t>Module 17: Build a Small Network</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EC05890-42FA-40B4-AB32-F6305D29878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B6FC0582-F0DD-4119-BB6D-4DBA0E9F57F1}"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72" name="PlaceHolder 1"/>
          <p:cNvSpPr>
            <a:spLocks noGrp="1"/>
          </p:cNvSpPr>
          <p:nvPr>
            <p:ph type="sldImg"/>
          </p:nvPr>
        </p:nvSpPr>
        <p:spPr>
          <a:xfrm>
            <a:off x="380880" y="685800"/>
            <a:ext cx="6095520" cy="342864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17.0.2</a:t>
            </a:r>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380880" y="685800"/>
            <a:ext cx="6095520" cy="3428640"/>
          </a:xfrm>
          <a:prstGeom prst="rect">
            <a:avLst/>
          </a:prstGeom>
          <a:ln w="0">
            <a:noFill/>
          </a:ln>
        </p:spPr>
      </p:sp>
      <p:sp>
        <p:nvSpPr>
          <p:cNvPr id="47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6852122-6168-4C60-A322-82EF9043614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380880" y="685800"/>
            <a:ext cx="6095520" cy="3428640"/>
          </a:xfrm>
          <a:prstGeom prst="rect">
            <a:avLst/>
          </a:prstGeom>
          <a:ln w="0">
            <a:noFill/>
          </a:ln>
        </p:spPr>
      </p:sp>
      <p:sp>
        <p:nvSpPr>
          <p:cNvPr id="47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r>
              <a:rPr b="0" lang="en-US" sz="2000" spc="-1" strike="noStrike">
                <a:latin typeface="Arial"/>
              </a:rPr>
              <a:t>17.1.1 – Small Network Topologies</a:t>
            </a:r>
            <a:endParaRPr b="0" lang="en-JM" sz="2000" spc="-1" strike="noStrike">
              <a:latin typeface="Arial"/>
            </a:endParaRPr>
          </a:p>
        </p:txBody>
      </p:sp>
      <p:sp>
        <p:nvSpPr>
          <p:cNvPr id="47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F57D934-F56B-47A3-9BAD-9741A7DAEA6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380880" y="685800"/>
            <a:ext cx="6095520" cy="3428640"/>
          </a:xfrm>
          <a:prstGeom prst="rect">
            <a:avLst/>
          </a:prstGeom>
          <a:ln w="0">
            <a:noFill/>
          </a:ln>
        </p:spPr>
      </p:sp>
      <p:sp>
        <p:nvSpPr>
          <p:cNvPr id="48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r>
              <a:rPr b="0" lang="en-US" sz="2000" spc="-1" strike="noStrike">
                <a:latin typeface="Arial"/>
              </a:rPr>
              <a:t>17.1.2 – Device Selection for a Small Network</a:t>
            </a:r>
            <a:endParaRPr b="0" lang="en-JM" sz="2000" spc="-1" strike="noStrike">
              <a:latin typeface="Arial"/>
            </a:endParaRPr>
          </a:p>
        </p:txBody>
      </p:sp>
      <p:sp>
        <p:nvSpPr>
          <p:cNvPr id="48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006EB66-49B6-40D8-AFD1-E01A8C0F22D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380880" y="685800"/>
            <a:ext cx="6095520" cy="3428640"/>
          </a:xfrm>
          <a:prstGeom prst="rect">
            <a:avLst/>
          </a:prstGeom>
          <a:ln w="0">
            <a:noFill/>
          </a:ln>
        </p:spPr>
      </p:sp>
      <p:sp>
        <p:nvSpPr>
          <p:cNvPr id="48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r>
              <a:rPr b="0" lang="en-US" sz="2000" spc="-1" strike="noStrike">
                <a:latin typeface="Arial"/>
              </a:rPr>
              <a:t>17.1.3 – IP Addressing for a Small Network</a:t>
            </a:r>
            <a:endParaRPr b="0" lang="en-JM" sz="2000" spc="-1" strike="noStrike">
              <a:latin typeface="Arial"/>
            </a:endParaRPr>
          </a:p>
        </p:txBody>
      </p:sp>
      <p:sp>
        <p:nvSpPr>
          <p:cNvPr id="48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95E58EA-BA77-4B86-921C-33DEB72530D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380880" y="685800"/>
            <a:ext cx="6095520" cy="3428640"/>
          </a:xfrm>
          <a:prstGeom prst="rect">
            <a:avLst/>
          </a:prstGeom>
          <a:ln w="0">
            <a:noFill/>
          </a:ln>
        </p:spPr>
      </p:sp>
      <p:sp>
        <p:nvSpPr>
          <p:cNvPr id="48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r>
              <a:rPr b="0" lang="en-US" sz="2000" spc="-1" strike="noStrike">
                <a:latin typeface="Arial"/>
              </a:rPr>
              <a:t>17.1.4 – Redundancy in a Small Network</a:t>
            </a:r>
            <a:endParaRPr b="0" lang="en-JM" sz="2000" spc="-1" strike="noStrike">
              <a:latin typeface="Arial"/>
            </a:endParaRPr>
          </a:p>
        </p:txBody>
      </p:sp>
      <p:sp>
        <p:nvSpPr>
          <p:cNvPr id="48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4B45549-0D09-4C3A-82CD-4EA9D4075EB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380880" y="685800"/>
            <a:ext cx="6095520" cy="3428640"/>
          </a:xfrm>
          <a:prstGeom prst="rect">
            <a:avLst/>
          </a:prstGeom>
          <a:ln w="0">
            <a:noFill/>
          </a:ln>
        </p:spPr>
      </p:sp>
      <p:sp>
        <p:nvSpPr>
          <p:cNvPr id="49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17.1 – Devices in a Small Network</a:t>
            </a:r>
            <a:endParaRPr b="0" lang="en-JM" sz="2000" spc="-1" strike="noStrike">
              <a:latin typeface="Arial"/>
            </a:endParaRPr>
          </a:p>
          <a:p>
            <a:pPr marL="216000" indent="-216000">
              <a:lnSpc>
                <a:spcPct val="100000"/>
              </a:lnSpc>
              <a:buNone/>
            </a:pPr>
            <a:r>
              <a:rPr b="0" lang="en-US" sz="2000" spc="-1" strike="noStrike">
                <a:latin typeface="Arial"/>
              </a:rPr>
              <a:t>17.1.5 – Traffic Management</a:t>
            </a:r>
            <a:endParaRPr b="0" lang="en-JM" sz="2000" spc="-1" strike="noStrike">
              <a:latin typeface="Arial"/>
            </a:endParaRPr>
          </a:p>
          <a:p>
            <a:pPr marL="216000" indent="-216000">
              <a:lnSpc>
                <a:spcPct val="100000"/>
              </a:lnSpc>
              <a:buNone/>
            </a:pPr>
            <a:r>
              <a:rPr b="0" lang="en-US" sz="2000" spc="-1" strike="noStrike">
                <a:latin typeface="Arial"/>
              </a:rPr>
              <a:t>17.1.6 – Check Your Understanding – Devices in a Small Network</a:t>
            </a:r>
            <a:endParaRPr b="0" lang="en-JM" sz="2000" spc="-1" strike="noStrike">
              <a:latin typeface="Arial"/>
            </a:endParaRPr>
          </a:p>
        </p:txBody>
      </p:sp>
      <p:sp>
        <p:nvSpPr>
          <p:cNvPr id="49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8AC6148-5D28-40B1-A0D6-592CF2A5101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380880" y="685800"/>
            <a:ext cx="6095520" cy="3428640"/>
          </a:xfrm>
          <a:prstGeom prst="rect">
            <a:avLst/>
          </a:prstGeom>
          <a:ln w="0">
            <a:noFill/>
          </a:ln>
        </p:spPr>
      </p:sp>
      <p:sp>
        <p:nvSpPr>
          <p:cNvPr id="49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17.2 - Small Network Applications and Protocols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9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05D208B-3BB2-4F25-A6F4-343339145C7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380880" y="685800"/>
            <a:ext cx="609552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17.2 – Small Network Applications and Protocols</a:t>
            </a:r>
            <a:endParaRPr b="0" lang="en-JM" sz="2000" spc="-1" strike="noStrike">
              <a:latin typeface="Arial"/>
            </a:endParaRPr>
          </a:p>
          <a:p>
            <a:pPr marL="216000" indent="-216000">
              <a:lnSpc>
                <a:spcPct val="100000"/>
              </a:lnSpc>
              <a:buNone/>
            </a:pPr>
            <a:r>
              <a:rPr b="0" lang="en-US" sz="2000" spc="-1" strike="noStrike">
                <a:latin typeface="Arial"/>
              </a:rPr>
              <a:t>17.2.1 – Common Applications</a:t>
            </a:r>
            <a:endParaRPr b="0" lang="en-JM" sz="2000" spc="-1" strike="noStrike">
              <a:latin typeface="Arial"/>
            </a:endParaRPr>
          </a:p>
        </p:txBody>
      </p:sp>
      <p:sp>
        <p:nvSpPr>
          <p:cNvPr id="49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68E6435-4AA4-4271-809E-A168652DEC8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380880" y="685800"/>
            <a:ext cx="609552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17.2 – Small Network Applications and Protocols</a:t>
            </a:r>
            <a:endParaRPr b="0" lang="en-JM" sz="2000" spc="-1" strike="noStrike">
              <a:latin typeface="Arial"/>
            </a:endParaRPr>
          </a:p>
          <a:p>
            <a:pPr marL="216000" indent="-216000">
              <a:lnSpc>
                <a:spcPct val="100000"/>
              </a:lnSpc>
              <a:buNone/>
            </a:pPr>
            <a:r>
              <a:rPr b="0" lang="en-US" sz="2000" spc="-1" strike="noStrike">
                <a:latin typeface="Arial"/>
              </a:rPr>
              <a:t>17.2.2 – Common Protocols</a:t>
            </a:r>
            <a:endParaRPr b="0" lang="en-JM" sz="2000" spc="-1" strike="noStrike">
              <a:latin typeface="Arial"/>
            </a:endParaRPr>
          </a:p>
        </p:txBody>
      </p:sp>
      <p:sp>
        <p:nvSpPr>
          <p:cNvPr id="50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3F2FEBA-F823-4D06-9E44-C2869EBCB4D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380880" y="685800"/>
            <a:ext cx="609552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17.2 – Small Network Applications and Protocols</a:t>
            </a:r>
            <a:endParaRPr b="0" lang="en-JM" sz="2000" spc="-1" strike="noStrike">
              <a:latin typeface="Arial"/>
            </a:endParaRPr>
          </a:p>
          <a:p>
            <a:pPr marL="216000" indent="-216000">
              <a:lnSpc>
                <a:spcPct val="100000"/>
              </a:lnSpc>
              <a:buNone/>
            </a:pPr>
            <a:r>
              <a:rPr b="0" lang="en-US" sz="2000" spc="-1" strike="noStrike">
                <a:latin typeface="Arial"/>
              </a:rPr>
              <a:t>17.2.2 – Common Protocols (Cont.)</a:t>
            </a:r>
            <a:endParaRPr b="0" lang="en-JM" sz="2000" spc="-1" strike="noStrike">
              <a:latin typeface="Arial"/>
            </a:endParaRPr>
          </a:p>
        </p:txBody>
      </p:sp>
      <p:sp>
        <p:nvSpPr>
          <p:cNvPr id="50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B01E185-B710-4B93-950E-03331988814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380880" y="685800"/>
            <a:ext cx="609552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17.2 – Small Network Applications and Protocols</a:t>
            </a:r>
            <a:endParaRPr b="0" lang="en-JM" sz="2000" spc="-1" strike="noStrike">
              <a:latin typeface="Arial"/>
            </a:endParaRPr>
          </a:p>
          <a:p>
            <a:pPr marL="216000" indent="-216000">
              <a:lnSpc>
                <a:spcPct val="100000"/>
              </a:lnSpc>
              <a:buNone/>
            </a:pPr>
            <a:r>
              <a:rPr b="0" lang="en-US" sz="2000" spc="-1" strike="noStrike">
                <a:latin typeface="Arial"/>
              </a:rPr>
              <a:t>17.2.3 – Voice and Video Applications</a:t>
            </a:r>
            <a:endParaRPr b="0" lang="en-JM" sz="2000" spc="-1" strike="noStrike">
              <a:latin typeface="Arial"/>
            </a:endParaRPr>
          </a:p>
          <a:p>
            <a:pPr marL="216000" indent="-216000">
              <a:lnSpc>
                <a:spcPct val="100000"/>
              </a:lnSpc>
              <a:buNone/>
            </a:pPr>
            <a:r>
              <a:rPr b="0" lang="en-US" sz="2000" spc="-1" strike="noStrike">
                <a:latin typeface="Arial"/>
              </a:rPr>
              <a:t>17.2.4 – Check Your Understanding – Small Network Applications and Protocols</a:t>
            </a:r>
            <a:endParaRPr b="0" lang="en-JM" sz="2000" spc="-1" strike="noStrike">
              <a:latin typeface="Arial"/>
            </a:endParaRPr>
          </a:p>
        </p:txBody>
      </p:sp>
      <p:sp>
        <p:nvSpPr>
          <p:cNvPr id="50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EAF54DB-B9FA-4346-B2B3-C0A95D62146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380880" y="685800"/>
            <a:ext cx="609552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17.0 Build a Small Network</a:t>
            </a:r>
            <a:endParaRPr b="0" lang="en-JM" sz="2000" spc="-1" strike="noStrike">
              <a:latin typeface="Arial"/>
            </a:endParaRPr>
          </a:p>
          <a:p>
            <a:pPr marL="216000" indent="-216000">
              <a:lnSpc>
                <a:spcPct val="100000"/>
              </a:lnSpc>
              <a:buNone/>
            </a:pPr>
            <a:r>
              <a:rPr b="0" lang="en-US" sz="2000" spc="-1" strike="noStrike">
                <a:latin typeface="Arial"/>
              </a:rPr>
              <a:t>17.3 Scale to Larger Networks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0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03D6C7D-52BA-41C1-9CBB-9F4A93AFDBB7}"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380880" y="685800"/>
            <a:ext cx="609552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17.3 – Scale to Larger Networks</a:t>
            </a:r>
            <a:endParaRPr b="0" lang="en-JM" sz="2000" spc="-1" strike="noStrike">
              <a:latin typeface="Arial"/>
            </a:endParaRPr>
          </a:p>
          <a:p>
            <a:pPr marL="216000" indent="-216000">
              <a:lnSpc>
                <a:spcPct val="100000"/>
              </a:lnSpc>
              <a:buNone/>
            </a:pPr>
            <a:r>
              <a:rPr b="0" lang="en-US" sz="2000" spc="-1" strike="noStrike">
                <a:latin typeface="Arial"/>
              </a:rPr>
              <a:t>17.3.1 – Small Network Growth</a:t>
            </a:r>
            <a:endParaRPr b="0" lang="en-JM" sz="2000" spc="-1" strike="noStrike">
              <a:latin typeface="Arial"/>
            </a:endParaRPr>
          </a:p>
        </p:txBody>
      </p:sp>
      <p:sp>
        <p:nvSpPr>
          <p:cNvPr id="51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D8AFD53-B2B0-432F-AADC-D0D24B5948D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380880" y="685800"/>
            <a:ext cx="609552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17.3 – Scale to Larger Networks</a:t>
            </a:r>
            <a:endParaRPr b="0" lang="en-JM" sz="2000" spc="-1" strike="noStrike">
              <a:latin typeface="Arial"/>
            </a:endParaRPr>
          </a:p>
          <a:p>
            <a:pPr marL="216000" indent="-216000">
              <a:lnSpc>
                <a:spcPct val="100000"/>
              </a:lnSpc>
              <a:buNone/>
            </a:pPr>
            <a:r>
              <a:rPr b="0" lang="en-US" sz="2000" spc="-1" strike="noStrike">
                <a:latin typeface="Arial"/>
              </a:rPr>
              <a:t>17.3.2 – Protocol Analysis</a:t>
            </a:r>
            <a:endParaRPr b="0" lang="en-JM" sz="2000" spc="-1" strike="noStrike">
              <a:latin typeface="Arial"/>
            </a:endParaRPr>
          </a:p>
        </p:txBody>
      </p:sp>
      <p:sp>
        <p:nvSpPr>
          <p:cNvPr id="51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4B7ADB2-818D-4ACD-A7B6-15571C9B05C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380880" y="685800"/>
            <a:ext cx="6095520" cy="3428640"/>
          </a:xfrm>
          <a:prstGeom prst="rect">
            <a:avLst/>
          </a:prstGeom>
          <a:ln w="0">
            <a:noFill/>
          </a:ln>
        </p:spPr>
      </p:sp>
      <p:sp>
        <p:nvSpPr>
          <p:cNvPr id="51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17.3 – Scale to Larger Networks</a:t>
            </a:r>
            <a:endParaRPr b="0" lang="en-JM" sz="2000" spc="-1" strike="noStrike">
              <a:latin typeface="Arial"/>
            </a:endParaRPr>
          </a:p>
          <a:p>
            <a:pPr marL="216000" indent="-216000">
              <a:lnSpc>
                <a:spcPct val="100000"/>
              </a:lnSpc>
              <a:buNone/>
            </a:pPr>
            <a:r>
              <a:rPr b="0" lang="en-US" sz="2000" spc="-1" strike="noStrike">
                <a:latin typeface="Arial"/>
              </a:rPr>
              <a:t>17.3.3 – Employee Network Utilization</a:t>
            </a:r>
            <a:endParaRPr b="0" lang="en-JM" sz="2000" spc="-1" strike="noStrike">
              <a:latin typeface="Arial"/>
            </a:endParaRPr>
          </a:p>
          <a:p>
            <a:pPr marL="216000" indent="-216000">
              <a:lnSpc>
                <a:spcPct val="100000"/>
              </a:lnSpc>
              <a:buNone/>
            </a:pPr>
            <a:r>
              <a:rPr b="0" lang="en-US" sz="2000" spc="-1" strike="noStrike">
                <a:latin typeface="Arial"/>
              </a:rPr>
              <a:t>17.3.4 – Check Your Understanding – Scale to Larger Networks</a:t>
            </a:r>
            <a:endParaRPr b="0" lang="en-JM" sz="2000" spc="-1" strike="noStrike">
              <a:latin typeface="Arial"/>
            </a:endParaRPr>
          </a:p>
        </p:txBody>
      </p:sp>
      <p:sp>
        <p:nvSpPr>
          <p:cNvPr id="51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7D0A6BD-D6A8-46A7-B2A7-A2062BE2C14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380880" y="685800"/>
            <a:ext cx="609552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17.0 Build a Small Network</a:t>
            </a:r>
            <a:endParaRPr b="0" lang="en-JM" sz="2000" spc="-1" strike="noStrike">
              <a:latin typeface="Arial"/>
            </a:endParaRPr>
          </a:p>
          <a:p>
            <a:pPr marL="216000" indent="-216000">
              <a:lnSpc>
                <a:spcPct val="100000"/>
              </a:lnSpc>
              <a:buNone/>
            </a:pPr>
            <a:r>
              <a:rPr b="0" lang="en-US" sz="2000" spc="-1" strike="noStrike">
                <a:latin typeface="Arial"/>
              </a:rPr>
              <a:t>17.4 Verify Connectivity</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2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BE759C4-981F-4E8E-BE6F-38F9F0964C9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380880" y="685800"/>
            <a:ext cx="609552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17.4.1 – Verify Connectivity with Ping</a:t>
            </a:r>
            <a:endParaRPr b="0" lang="en-JM" sz="2000" spc="-1" strike="noStrike">
              <a:latin typeface="Arial"/>
            </a:endParaRPr>
          </a:p>
        </p:txBody>
      </p:sp>
      <p:sp>
        <p:nvSpPr>
          <p:cNvPr id="52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1D6EBC0-CF10-4723-AC08-BD3086EDDC9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380880" y="685800"/>
            <a:ext cx="609552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17.4.1 – Verify Connectivity with Ping (Cont.)</a:t>
            </a:r>
            <a:endParaRPr b="0" lang="en-JM" sz="2000" spc="-1" strike="noStrike">
              <a:latin typeface="Arial"/>
            </a:endParaRPr>
          </a:p>
        </p:txBody>
      </p:sp>
      <p:sp>
        <p:nvSpPr>
          <p:cNvPr id="52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16A700B-9025-46AE-A356-D9D74FCE944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380880" y="685800"/>
            <a:ext cx="6095520" cy="3428640"/>
          </a:xfrm>
          <a:prstGeom prst="rect">
            <a:avLst/>
          </a:prstGeom>
          <a:ln w="0">
            <a:noFill/>
          </a:ln>
        </p:spPr>
      </p:sp>
      <p:sp>
        <p:nvSpPr>
          <p:cNvPr id="52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17.4.2 – Extended Ping</a:t>
            </a:r>
            <a:endParaRPr b="0" lang="en-JM" sz="2000" spc="-1" strike="noStrike">
              <a:latin typeface="Arial"/>
            </a:endParaRPr>
          </a:p>
        </p:txBody>
      </p:sp>
      <p:sp>
        <p:nvSpPr>
          <p:cNvPr id="53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0C36E46-D102-4CF3-89CC-48BB87FAE45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380880" y="685800"/>
            <a:ext cx="6095520" cy="3428640"/>
          </a:xfrm>
          <a:prstGeom prst="rect">
            <a:avLst/>
          </a:prstGeom>
          <a:ln w="0">
            <a:noFill/>
          </a:ln>
        </p:spPr>
      </p:sp>
      <p:sp>
        <p:nvSpPr>
          <p:cNvPr id="53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17.4.3 – Verify Connectivity with Traceroute</a:t>
            </a:r>
            <a:endParaRPr b="0" lang="en-JM" sz="2000" spc="-1" strike="noStrike">
              <a:latin typeface="Arial"/>
            </a:endParaRPr>
          </a:p>
        </p:txBody>
      </p:sp>
      <p:sp>
        <p:nvSpPr>
          <p:cNvPr id="53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CA00C2D-1628-4E9D-8144-489E9714AD1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380880" y="685800"/>
            <a:ext cx="6095520" cy="3428640"/>
          </a:xfrm>
          <a:prstGeom prst="rect">
            <a:avLst/>
          </a:prstGeom>
          <a:ln w="0">
            <a:noFill/>
          </a:ln>
        </p:spPr>
      </p:sp>
      <p:sp>
        <p:nvSpPr>
          <p:cNvPr id="53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17.4.3 – Verify Connectivity with Traceroute (Cont.)</a:t>
            </a:r>
            <a:endParaRPr b="0" lang="en-JM" sz="2000" spc="-1" strike="noStrike">
              <a:latin typeface="Arial"/>
            </a:endParaRPr>
          </a:p>
        </p:txBody>
      </p:sp>
      <p:sp>
        <p:nvSpPr>
          <p:cNvPr id="53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9FC67C5-B7BB-4D0A-BA98-6A5DED40869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380880" y="685800"/>
            <a:ext cx="6095520" cy="3428640"/>
          </a:xfrm>
          <a:prstGeom prst="rect">
            <a:avLst/>
          </a:prstGeom>
          <a:ln w="0">
            <a:noFill/>
          </a:ln>
        </p:spPr>
      </p:sp>
      <p:sp>
        <p:nvSpPr>
          <p:cNvPr id="53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17.4.3 – Verify Connectivity with Traceroute (Cont.)</a:t>
            </a:r>
            <a:endParaRPr b="0" lang="en-JM" sz="2000" spc="-1" strike="noStrike">
              <a:latin typeface="Arial"/>
            </a:endParaRPr>
          </a:p>
        </p:txBody>
      </p:sp>
      <p:sp>
        <p:nvSpPr>
          <p:cNvPr id="53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A11CDD6-A4D8-400C-9F9C-4A3AF34D39D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380880" y="685800"/>
            <a:ext cx="6095520" cy="3428640"/>
          </a:xfrm>
          <a:prstGeom prst="rect">
            <a:avLst/>
          </a:prstGeom>
          <a:ln w="0">
            <a:noFill/>
          </a:ln>
        </p:spPr>
      </p:sp>
      <p:sp>
        <p:nvSpPr>
          <p:cNvPr id="54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17.4.4 – Extended Traceroute</a:t>
            </a:r>
            <a:endParaRPr b="0" lang="en-JM" sz="2000" spc="-1" strike="noStrike">
              <a:latin typeface="Arial"/>
            </a:endParaRPr>
          </a:p>
        </p:txBody>
      </p:sp>
      <p:sp>
        <p:nvSpPr>
          <p:cNvPr id="54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83C0631-0717-41F3-B450-7ABEC4A8679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380880" y="685800"/>
            <a:ext cx="6095520" cy="3428640"/>
          </a:xfrm>
          <a:prstGeom prst="rect">
            <a:avLst/>
          </a:prstGeom>
          <a:ln w="0">
            <a:noFill/>
          </a:ln>
        </p:spPr>
      </p:sp>
      <p:sp>
        <p:nvSpPr>
          <p:cNvPr id="54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17.4.4 – Extended Traceroute (Cont.)</a:t>
            </a:r>
            <a:endParaRPr b="0" lang="en-JM" sz="2000" spc="-1" strike="noStrike">
              <a:latin typeface="Arial"/>
            </a:endParaRPr>
          </a:p>
        </p:txBody>
      </p:sp>
      <p:sp>
        <p:nvSpPr>
          <p:cNvPr id="54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7C2BEA1-D9BB-483C-99F1-6C999CB3FE1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380880" y="685800"/>
            <a:ext cx="6095520" cy="3428640"/>
          </a:xfrm>
          <a:prstGeom prst="rect">
            <a:avLst/>
          </a:prstGeom>
          <a:ln w="0">
            <a:noFill/>
          </a:ln>
        </p:spPr>
      </p:sp>
      <p:sp>
        <p:nvSpPr>
          <p:cNvPr id="54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17.4.5 – Network Baseline</a:t>
            </a:r>
            <a:endParaRPr b="0" lang="en-JM" sz="2000" spc="-1" strike="noStrike">
              <a:latin typeface="Arial"/>
            </a:endParaRPr>
          </a:p>
        </p:txBody>
      </p:sp>
      <p:sp>
        <p:nvSpPr>
          <p:cNvPr id="54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14F9BED-5421-470F-B9E4-766BBCD2880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380880" y="685800"/>
            <a:ext cx="6095520" cy="3428640"/>
          </a:xfrm>
          <a:prstGeom prst="rect">
            <a:avLst/>
          </a:prstGeom>
          <a:ln w="0">
            <a:noFill/>
          </a:ln>
        </p:spPr>
      </p:sp>
      <p:sp>
        <p:nvSpPr>
          <p:cNvPr id="55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17.4 – Verify Connectivity</a:t>
            </a:r>
            <a:endParaRPr b="0" lang="en-JM" sz="2000" spc="-1" strike="noStrike">
              <a:latin typeface="Arial"/>
            </a:endParaRPr>
          </a:p>
          <a:p>
            <a:pPr marL="216000" indent="-216000">
              <a:lnSpc>
                <a:spcPct val="100000"/>
              </a:lnSpc>
              <a:buNone/>
            </a:pPr>
            <a:r>
              <a:rPr b="0" lang="en-US" sz="2000" spc="-1" strike="noStrike">
                <a:latin typeface="Arial"/>
              </a:rPr>
              <a:t>17.4.6 – Lab – Test Network Latency with Ping and Traceroute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5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481F79D-D3BE-47E1-898F-A6CB7762A29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380880" y="685800"/>
            <a:ext cx="6095520" cy="3428640"/>
          </a:xfrm>
          <a:prstGeom prst="rect">
            <a:avLst/>
          </a:prstGeom>
          <a:ln w="0">
            <a:noFill/>
          </a:ln>
        </p:spPr>
      </p:sp>
      <p:sp>
        <p:nvSpPr>
          <p:cNvPr id="55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17.0 Build a Small Network</a:t>
            </a:r>
            <a:endParaRPr b="0" lang="en-JM" sz="2000" spc="-1" strike="noStrike">
              <a:latin typeface="Arial"/>
            </a:endParaRPr>
          </a:p>
          <a:p>
            <a:pPr marL="216000" indent="-216000">
              <a:lnSpc>
                <a:spcPct val="100000"/>
              </a:lnSpc>
              <a:buNone/>
            </a:pPr>
            <a:r>
              <a:rPr b="0" lang="en-US" sz="2000" spc="-1" strike="noStrike">
                <a:latin typeface="Arial"/>
              </a:rPr>
              <a:t>17.5 Host and IOS Commands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5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7D8C70E-DD98-4C76-AD39-BB6FD011CCC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380880" y="685800"/>
            <a:ext cx="6095520" cy="3428640"/>
          </a:xfrm>
          <a:prstGeom prst="rect">
            <a:avLst/>
          </a:prstGeom>
          <a:ln w="0">
            <a:noFill/>
          </a:ln>
        </p:spPr>
      </p:sp>
      <p:sp>
        <p:nvSpPr>
          <p:cNvPr id="55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17.5.1 – IP Configuration on a Windows Host</a:t>
            </a:r>
            <a:endParaRPr b="0" lang="en-JM" sz="2000" spc="-1" strike="noStrike">
              <a:latin typeface="Arial"/>
            </a:endParaRPr>
          </a:p>
        </p:txBody>
      </p:sp>
      <p:sp>
        <p:nvSpPr>
          <p:cNvPr id="55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68BCEF2-35F1-47B5-ACB2-513B4673A24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380880" y="685800"/>
            <a:ext cx="6095520" cy="3428640"/>
          </a:xfrm>
          <a:prstGeom prst="rect">
            <a:avLst/>
          </a:prstGeom>
          <a:ln w="0">
            <a:noFill/>
          </a:ln>
        </p:spPr>
      </p:sp>
      <p:sp>
        <p:nvSpPr>
          <p:cNvPr id="55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17.5.2 – IP Configuration on a Linux Host</a:t>
            </a:r>
            <a:endParaRPr b="0" lang="en-JM" sz="2000" spc="-1" strike="noStrike">
              <a:latin typeface="Arial"/>
            </a:endParaRPr>
          </a:p>
        </p:txBody>
      </p:sp>
      <p:sp>
        <p:nvSpPr>
          <p:cNvPr id="56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476145C-01B2-4A59-999A-7EE544BEFA7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380880" y="685800"/>
            <a:ext cx="6095520" cy="3428640"/>
          </a:xfrm>
          <a:prstGeom prst="rect">
            <a:avLst/>
          </a:prstGeom>
          <a:ln w="0">
            <a:noFill/>
          </a:ln>
        </p:spPr>
      </p:sp>
      <p:sp>
        <p:nvSpPr>
          <p:cNvPr id="56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17.5.3 – IP Configuration on a macOS Host</a:t>
            </a:r>
            <a:endParaRPr b="0" lang="en-JM" sz="2000" spc="-1" strike="noStrike">
              <a:latin typeface="Arial"/>
            </a:endParaRPr>
          </a:p>
        </p:txBody>
      </p:sp>
      <p:sp>
        <p:nvSpPr>
          <p:cNvPr id="56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7A5154A-0C1A-44C9-8F73-664AA4D4898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380880" y="685800"/>
            <a:ext cx="6095520" cy="3428640"/>
          </a:xfrm>
          <a:prstGeom prst="rect">
            <a:avLst/>
          </a:prstGeom>
          <a:ln w="0">
            <a:noFill/>
          </a:ln>
        </p:spPr>
      </p:sp>
      <p:sp>
        <p:nvSpPr>
          <p:cNvPr id="56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17.5.4 – The arp Command</a:t>
            </a:r>
            <a:endParaRPr b="0" lang="en-JM" sz="2000" spc="-1" strike="noStrike">
              <a:latin typeface="Arial"/>
            </a:endParaRPr>
          </a:p>
        </p:txBody>
      </p:sp>
      <p:sp>
        <p:nvSpPr>
          <p:cNvPr id="56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21FEFE2-B411-4D58-98C3-BF63543D81F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380880" y="685800"/>
            <a:ext cx="6095520" cy="3428640"/>
          </a:xfrm>
          <a:prstGeom prst="rect">
            <a:avLst/>
          </a:prstGeom>
          <a:ln w="0">
            <a:noFill/>
          </a:ln>
        </p:spPr>
      </p:sp>
      <p:sp>
        <p:nvSpPr>
          <p:cNvPr id="56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17.5.5 – Common show Commands Revisited</a:t>
            </a:r>
            <a:endParaRPr b="0" lang="en-JM" sz="2000" spc="-1" strike="noStrike">
              <a:latin typeface="Arial"/>
            </a:endParaRPr>
          </a:p>
        </p:txBody>
      </p:sp>
      <p:sp>
        <p:nvSpPr>
          <p:cNvPr id="56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2B0C179-746F-4CC6-83DA-45CF637B533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380880" y="685800"/>
            <a:ext cx="6095520" cy="3428640"/>
          </a:xfrm>
          <a:prstGeom prst="rect">
            <a:avLst/>
          </a:prstGeom>
          <a:ln w="0">
            <a:noFill/>
          </a:ln>
        </p:spPr>
      </p:sp>
      <p:sp>
        <p:nvSpPr>
          <p:cNvPr id="57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17.5.6 – The show cdp neighbors Command</a:t>
            </a:r>
            <a:endParaRPr b="0" lang="en-JM" sz="2000" spc="-1" strike="noStrike">
              <a:latin typeface="Arial"/>
            </a:endParaRPr>
          </a:p>
        </p:txBody>
      </p:sp>
      <p:sp>
        <p:nvSpPr>
          <p:cNvPr id="57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E14E8F3-2790-4618-AD4E-9AC32846CCE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380880" y="685800"/>
            <a:ext cx="6095520" cy="3428640"/>
          </a:xfrm>
          <a:prstGeom prst="rect">
            <a:avLst/>
          </a:prstGeom>
          <a:ln w="0">
            <a:noFill/>
          </a:ln>
        </p:spPr>
      </p:sp>
      <p:sp>
        <p:nvSpPr>
          <p:cNvPr id="57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17.5.7 – The show ip interface brief Command</a:t>
            </a:r>
            <a:endParaRPr b="0" lang="en-JM" sz="2000" spc="-1" strike="noStrike">
              <a:latin typeface="Arial"/>
            </a:endParaRPr>
          </a:p>
        </p:txBody>
      </p:sp>
      <p:sp>
        <p:nvSpPr>
          <p:cNvPr id="57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08FE80B-B765-458C-909E-65E1C8FA6A1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380880" y="685800"/>
            <a:ext cx="6095520" cy="3428640"/>
          </a:xfrm>
          <a:prstGeom prst="rect">
            <a:avLst/>
          </a:prstGeom>
          <a:ln w="0">
            <a:noFill/>
          </a:ln>
        </p:spPr>
      </p:sp>
      <p:sp>
        <p:nvSpPr>
          <p:cNvPr id="57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17.5.8 – Video – The show version Command</a:t>
            </a:r>
            <a:endParaRPr b="0" lang="en-JM" sz="2000" spc="-1" strike="noStrike">
              <a:latin typeface="Arial"/>
            </a:endParaRPr>
          </a:p>
        </p:txBody>
      </p:sp>
      <p:sp>
        <p:nvSpPr>
          <p:cNvPr id="57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7DEBCAC-FFEB-45F7-9704-C2EEB4C8A19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380880" y="685800"/>
            <a:ext cx="6095520" cy="3428640"/>
          </a:xfrm>
          <a:prstGeom prst="rect">
            <a:avLst/>
          </a:prstGeom>
          <a:ln w="0">
            <a:noFill/>
          </a:ln>
        </p:spPr>
      </p:sp>
      <p:sp>
        <p:nvSpPr>
          <p:cNvPr id="58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17.5 - Host and IOS Commands</a:t>
            </a:r>
            <a:endParaRPr b="0" lang="en-JM" sz="2000" spc="-1" strike="noStrike">
              <a:latin typeface="Arial"/>
            </a:endParaRPr>
          </a:p>
          <a:p>
            <a:pPr marL="216000" indent="-216000">
              <a:lnSpc>
                <a:spcPct val="100000"/>
              </a:lnSpc>
              <a:buNone/>
            </a:pPr>
            <a:r>
              <a:rPr b="0" lang="en-US" sz="2000" spc="-1" strike="noStrike">
                <a:latin typeface="Arial"/>
              </a:rPr>
              <a:t>17.5.9 – Packet Tracer – Interpret show Command Output</a:t>
            </a:r>
            <a:endParaRPr b="0" lang="en-JM" sz="2000" spc="-1" strike="noStrike">
              <a:latin typeface="Arial"/>
            </a:endParaRPr>
          </a:p>
        </p:txBody>
      </p:sp>
      <p:sp>
        <p:nvSpPr>
          <p:cNvPr id="58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FA35651-08CA-4DAF-BEFC-EA67647823F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380880" y="685800"/>
            <a:ext cx="6095520" cy="3428640"/>
          </a:xfrm>
          <a:prstGeom prst="rect">
            <a:avLst/>
          </a:prstGeom>
          <a:ln w="0">
            <a:noFill/>
          </a:ln>
        </p:spPr>
      </p:sp>
      <p:sp>
        <p:nvSpPr>
          <p:cNvPr id="58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58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CDD72C6-6EF4-4AA0-B257-00F6020C6B41}"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380880" y="685800"/>
            <a:ext cx="6095520" cy="3428640"/>
          </a:xfrm>
          <a:prstGeom prst="rect">
            <a:avLst/>
          </a:prstGeom>
          <a:ln w="0">
            <a:noFill/>
          </a:ln>
        </p:spPr>
      </p:sp>
      <p:sp>
        <p:nvSpPr>
          <p:cNvPr id="58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17.6 – Troubleshooting Methodologies</a:t>
            </a:r>
            <a:endParaRPr b="0" lang="en-JM" sz="2000" spc="-1" strike="noStrike">
              <a:latin typeface="Arial"/>
            </a:endParaRPr>
          </a:p>
          <a:p>
            <a:pPr marL="216000" indent="-216000">
              <a:lnSpc>
                <a:spcPct val="100000"/>
              </a:lnSpc>
              <a:buNone/>
            </a:pPr>
            <a:r>
              <a:rPr b="0" lang="en-US" sz="2000" spc="-1" strike="noStrike">
                <a:latin typeface="Arial"/>
              </a:rPr>
              <a:t>17.6.1 – Basic Troubleshooting Approaches</a:t>
            </a:r>
            <a:endParaRPr b="0" lang="en-JM" sz="2000" spc="-1" strike="noStrike">
              <a:latin typeface="Arial"/>
            </a:endParaRPr>
          </a:p>
        </p:txBody>
      </p:sp>
      <p:sp>
        <p:nvSpPr>
          <p:cNvPr id="58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576BE60-B047-4898-B499-E5B0C78BE5E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380880" y="685800"/>
            <a:ext cx="6095520" cy="3428640"/>
          </a:xfrm>
          <a:prstGeom prst="rect">
            <a:avLst/>
          </a:prstGeom>
          <a:ln w="0">
            <a:noFill/>
          </a:ln>
        </p:spPr>
      </p:sp>
      <p:sp>
        <p:nvSpPr>
          <p:cNvPr id="58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17.6 – Troubleshooting Methodologies</a:t>
            </a:r>
            <a:endParaRPr b="0" lang="en-JM" sz="2000" spc="-1" strike="noStrike">
              <a:latin typeface="Arial"/>
            </a:endParaRPr>
          </a:p>
          <a:p>
            <a:pPr marL="216000" indent="-216000">
              <a:lnSpc>
                <a:spcPct val="100000"/>
              </a:lnSpc>
              <a:buNone/>
            </a:pPr>
            <a:r>
              <a:rPr b="0" lang="en-US" sz="2000" spc="-1" strike="noStrike">
                <a:latin typeface="Arial"/>
              </a:rPr>
              <a:t>17.6.2 – Resolve or Escalate?</a:t>
            </a:r>
            <a:endParaRPr b="0" lang="en-JM" sz="2000" spc="-1" strike="noStrike">
              <a:latin typeface="Arial"/>
            </a:endParaRPr>
          </a:p>
        </p:txBody>
      </p:sp>
      <p:sp>
        <p:nvSpPr>
          <p:cNvPr id="5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8D52627-F143-4849-BB36-3DD01D77AD0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380880" y="685800"/>
            <a:ext cx="6095520" cy="3428640"/>
          </a:xfrm>
          <a:prstGeom prst="rect">
            <a:avLst/>
          </a:prstGeom>
          <a:ln w="0">
            <a:noFill/>
          </a:ln>
        </p:spPr>
      </p:sp>
      <p:sp>
        <p:nvSpPr>
          <p:cNvPr id="59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17.6 – Troubleshooting Methodologies</a:t>
            </a:r>
            <a:endParaRPr b="0" lang="en-JM" sz="2000" spc="-1" strike="noStrike">
              <a:latin typeface="Arial"/>
            </a:endParaRPr>
          </a:p>
          <a:p>
            <a:pPr marL="216000" indent="-216000">
              <a:lnSpc>
                <a:spcPct val="100000"/>
              </a:lnSpc>
              <a:buNone/>
            </a:pPr>
            <a:r>
              <a:rPr b="0" lang="en-US" sz="2000" spc="-1" strike="noStrike">
                <a:latin typeface="Arial"/>
              </a:rPr>
              <a:t>17.6.3 – The debug Command</a:t>
            </a:r>
            <a:endParaRPr b="0" lang="en-JM" sz="2000" spc="-1" strike="noStrike">
              <a:latin typeface="Arial"/>
            </a:endParaRPr>
          </a:p>
        </p:txBody>
      </p:sp>
      <p:sp>
        <p:nvSpPr>
          <p:cNvPr id="59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63E3F10-0C7F-4F26-8126-6DA6F7E3DA8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380880" y="685800"/>
            <a:ext cx="6095520" cy="3428640"/>
          </a:xfrm>
          <a:prstGeom prst="rect">
            <a:avLst/>
          </a:prstGeom>
          <a:ln w="0">
            <a:noFill/>
          </a:ln>
        </p:spPr>
      </p:sp>
      <p:sp>
        <p:nvSpPr>
          <p:cNvPr id="59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17.6 – Troubleshooting Methodologies</a:t>
            </a:r>
            <a:endParaRPr b="0" lang="en-JM" sz="2000" spc="-1" strike="noStrike">
              <a:latin typeface="Arial"/>
            </a:endParaRPr>
          </a:p>
          <a:p>
            <a:pPr marL="216000" indent="-216000">
              <a:lnSpc>
                <a:spcPct val="100000"/>
              </a:lnSpc>
              <a:buNone/>
            </a:pPr>
            <a:r>
              <a:rPr b="0" lang="en-US" sz="2000" spc="-1" strike="noStrike">
                <a:latin typeface="Arial"/>
              </a:rPr>
              <a:t>17.6.4 – The terminal monitor Command</a:t>
            </a:r>
            <a:endParaRPr b="0" lang="en-JM" sz="2000" spc="-1" strike="noStrike">
              <a:latin typeface="Arial"/>
            </a:endParaRPr>
          </a:p>
          <a:p>
            <a:pPr marL="216000" indent="-216000">
              <a:lnSpc>
                <a:spcPct val="100000"/>
              </a:lnSpc>
              <a:buNone/>
            </a:pPr>
            <a:r>
              <a:rPr b="0" lang="en-US" sz="2000" spc="-1" strike="noStrike">
                <a:latin typeface="Arial"/>
              </a:rPr>
              <a:t>17.6.5 – Check Your Understanding – Troubleshooting Methodologies</a:t>
            </a:r>
            <a:endParaRPr b="0" lang="en-JM" sz="2000" spc="-1" strike="noStrike">
              <a:latin typeface="Arial"/>
            </a:endParaRPr>
          </a:p>
        </p:txBody>
      </p:sp>
      <p:sp>
        <p:nvSpPr>
          <p:cNvPr id="59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579ECAE-71A4-47AF-9B03-D0F53CB9CB7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380880" y="685800"/>
            <a:ext cx="6095520" cy="3428640"/>
          </a:xfrm>
          <a:prstGeom prst="rect">
            <a:avLst/>
          </a:prstGeom>
          <a:ln w="0">
            <a:noFill/>
          </a:ln>
        </p:spPr>
      </p:sp>
      <p:sp>
        <p:nvSpPr>
          <p:cNvPr id="59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59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DC36446-1629-405E-8563-039FE1AF6DDB}"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380880" y="685800"/>
            <a:ext cx="6095520" cy="3428640"/>
          </a:xfrm>
          <a:prstGeom prst="rect">
            <a:avLst/>
          </a:prstGeom>
          <a:ln w="0">
            <a:noFill/>
          </a:ln>
        </p:spPr>
      </p:sp>
      <p:sp>
        <p:nvSpPr>
          <p:cNvPr id="60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17.7.1 – Duplex Operation and Mismatch Issues</a:t>
            </a:r>
            <a:endParaRPr b="0" lang="en-JM" sz="2000" spc="-1" strike="noStrike">
              <a:latin typeface="Arial"/>
            </a:endParaRPr>
          </a:p>
        </p:txBody>
      </p:sp>
      <p:sp>
        <p:nvSpPr>
          <p:cNvPr id="60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B882A78-A7C3-41A3-AAE3-89DF82EAC8A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380880" y="685800"/>
            <a:ext cx="6095520" cy="3428640"/>
          </a:xfrm>
          <a:prstGeom prst="rect">
            <a:avLst/>
          </a:prstGeom>
          <a:ln w="0">
            <a:noFill/>
          </a:ln>
        </p:spPr>
      </p:sp>
      <p:sp>
        <p:nvSpPr>
          <p:cNvPr id="60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17.7.2 – IP Addressing Issues on IOS Devices</a:t>
            </a:r>
            <a:endParaRPr b="0" lang="en-JM" sz="2000" spc="-1" strike="noStrike">
              <a:latin typeface="Arial"/>
            </a:endParaRPr>
          </a:p>
        </p:txBody>
      </p:sp>
      <p:sp>
        <p:nvSpPr>
          <p:cNvPr id="60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07192E4-8A45-4359-9139-36B4CE7485B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380880" y="685800"/>
            <a:ext cx="6095520" cy="3428640"/>
          </a:xfrm>
          <a:prstGeom prst="rect">
            <a:avLst/>
          </a:prstGeom>
          <a:ln w="0">
            <a:noFill/>
          </a:ln>
        </p:spPr>
      </p:sp>
      <p:sp>
        <p:nvSpPr>
          <p:cNvPr id="60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17.7.3 – IP Addressing Issues on End Devices</a:t>
            </a:r>
            <a:endParaRPr b="0" lang="en-JM" sz="2000" spc="-1" strike="noStrike">
              <a:latin typeface="Arial"/>
            </a:endParaRPr>
          </a:p>
        </p:txBody>
      </p:sp>
      <p:sp>
        <p:nvSpPr>
          <p:cNvPr id="60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D60DBD7-EBAF-4BF5-80A7-431EF2D90BB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380880" y="685800"/>
            <a:ext cx="6095520" cy="3428640"/>
          </a:xfrm>
          <a:prstGeom prst="rect">
            <a:avLst/>
          </a:prstGeom>
          <a:ln w="0">
            <a:noFill/>
          </a:ln>
        </p:spPr>
      </p:sp>
      <p:sp>
        <p:nvSpPr>
          <p:cNvPr id="61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17.7.4 – Default Gateway Issues</a:t>
            </a:r>
            <a:endParaRPr b="0" lang="en-JM" sz="2000" spc="-1" strike="noStrike">
              <a:latin typeface="Arial"/>
            </a:endParaRPr>
          </a:p>
        </p:txBody>
      </p:sp>
      <p:sp>
        <p:nvSpPr>
          <p:cNvPr id="61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9D1C763-C824-40D2-BA53-9FAD4DE4734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380880" y="685800"/>
            <a:ext cx="6095520" cy="3428640"/>
          </a:xfrm>
          <a:prstGeom prst="rect">
            <a:avLst/>
          </a:prstGeom>
          <a:ln w="0">
            <a:noFill/>
          </a:ln>
        </p:spPr>
      </p:sp>
      <p:sp>
        <p:nvSpPr>
          <p:cNvPr id="61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17.7.5 – Troubleshooting DNS Issues</a:t>
            </a:r>
            <a:endParaRPr b="0" lang="en-JM" sz="2000" spc="-1" strike="noStrike">
              <a:latin typeface="Arial"/>
            </a:endParaRPr>
          </a:p>
        </p:txBody>
      </p:sp>
      <p:sp>
        <p:nvSpPr>
          <p:cNvPr id="61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1FD30BB-EBC5-417C-8224-910AE73C910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380880" y="685800"/>
            <a:ext cx="6095520" cy="3428640"/>
          </a:xfrm>
          <a:prstGeom prst="rect">
            <a:avLst/>
          </a:prstGeom>
          <a:ln w="0">
            <a:noFill/>
          </a:ln>
        </p:spPr>
      </p:sp>
      <p:sp>
        <p:nvSpPr>
          <p:cNvPr id="6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17.7.6 – Packet Tracer – Troubleshoot Connectivity</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A74BE84-AE43-454F-8610-951F954CAE9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380880" y="685800"/>
            <a:ext cx="6095520" cy="3428640"/>
          </a:xfrm>
          <a:prstGeom prst="rect">
            <a:avLst/>
          </a:prstGeom>
          <a:ln w="0">
            <a:noFill/>
          </a:ln>
        </p:spPr>
      </p:sp>
      <p:sp>
        <p:nvSpPr>
          <p:cNvPr id="6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17.7 – Troubleshooting Scenarios</a:t>
            </a:r>
            <a:endParaRPr b="0" lang="en-JM" sz="2000" spc="-1" strike="noStrike">
              <a:latin typeface="Arial"/>
            </a:endParaRPr>
          </a:p>
          <a:p>
            <a:pPr marL="216000" indent="-216000">
              <a:lnSpc>
                <a:spcPct val="100000"/>
              </a:lnSpc>
              <a:buNone/>
            </a:pPr>
            <a:r>
              <a:rPr b="0" lang="en-US" sz="2000" spc="-1" strike="noStrike">
                <a:latin typeface="Arial"/>
              </a:rPr>
              <a:t>17.7.7 – PTPM and Lab – Troubleshoot Connectivity Issues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2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2203B1C-B462-4B0B-8DCA-8FC6AD02E23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380880" y="685800"/>
            <a:ext cx="6095520" cy="3428640"/>
          </a:xfrm>
          <a:prstGeom prst="rect">
            <a:avLst/>
          </a:prstGeom>
          <a:ln w="0">
            <a:noFill/>
          </a:ln>
        </p:spPr>
      </p:sp>
      <p:sp>
        <p:nvSpPr>
          <p:cNvPr id="6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17.0 Build a Small Network</a:t>
            </a:r>
            <a:endParaRPr b="0" lang="en-JM" sz="2000" spc="-1" strike="noStrike">
              <a:latin typeface="Arial"/>
            </a:endParaRPr>
          </a:p>
          <a:p>
            <a:pPr marL="216000" indent="-216000">
              <a:lnSpc>
                <a:spcPct val="100000"/>
              </a:lnSpc>
              <a:buNone/>
            </a:pPr>
            <a:r>
              <a:rPr b="0" lang="en-US" sz="2000" spc="-1" strike="noStrike">
                <a:latin typeface="Arial"/>
              </a:rPr>
              <a:t>17.8 Module Practice and Quiz</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2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F91C0AB-8E8D-442E-921C-F5428E0A7C3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380880" y="685800"/>
            <a:ext cx="6095520" cy="3428640"/>
          </a:xfrm>
          <a:prstGeom prst="rect">
            <a:avLst/>
          </a:prstGeom>
          <a:ln w="0">
            <a:noFill/>
          </a:ln>
        </p:spPr>
      </p:sp>
      <p:sp>
        <p:nvSpPr>
          <p:cNvPr id="6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17.8.1 – PTPM and Lab – Design and Build a Small Business Network</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2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480B0A2-6EE8-43BD-998D-DF7D5AF071A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380880" y="685800"/>
            <a:ext cx="6095520" cy="3428640"/>
          </a:xfrm>
          <a:prstGeom prst="rect">
            <a:avLst/>
          </a:prstGeom>
          <a:ln w="0">
            <a:noFill/>
          </a:ln>
        </p:spPr>
      </p:sp>
      <p:sp>
        <p:nvSpPr>
          <p:cNvPr id="6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17.8.2 – Packet Tracer – Skills Integration Challenge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2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3254100-7AF0-499B-94D4-57C8C2D9125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380880" y="685800"/>
            <a:ext cx="6095520" cy="3428640"/>
          </a:xfrm>
          <a:prstGeom prst="rect">
            <a:avLst/>
          </a:prstGeom>
          <a:ln w="0">
            <a:noFill/>
          </a:ln>
        </p:spPr>
      </p:sp>
      <p:sp>
        <p:nvSpPr>
          <p:cNvPr id="63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17.8.3 – Packet Tracer – Troubleshooting Challenge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E41B98A-DC6E-4AF3-868D-01371E4480A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136E3A8-DD19-42F3-ADB8-87975A8A9BD1}"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34" name="PlaceHolder 2"/>
          <p:cNvSpPr>
            <a:spLocks noGrp="1"/>
          </p:cNvSpPr>
          <p:nvPr>
            <p:ph type="sldImg"/>
          </p:nvPr>
        </p:nvSpPr>
        <p:spPr>
          <a:xfrm>
            <a:off x="380880" y="685800"/>
            <a:ext cx="6095520" cy="3428640"/>
          </a:xfrm>
          <a:prstGeom prst="rect">
            <a:avLst/>
          </a:prstGeom>
          <a:ln w="0">
            <a:noFill/>
          </a:ln>
        </p:spPr>
      </p:sp>
      <p:sp>
        <p:nvSpPr>
          <p:cNvPr id="635"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17.8.4 – What Did I Learn In This Module (Cont.)?</a:t>
            </a:r>
            <a:endParaRPr b="0" lang="en-JM" sz="2000" spc="-1" strike="noStrike">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E026F8B-584B-449C-8AF2-E39CA76ADF6B}"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37" name="PlaceHolder 2"/>
          <p:cNvSpPr>
            <a:spLocks noGrp="1"/>
          </p:cNvSpPr>
          <p:nvPr>
            <p:ph type="sldImg"/>
          </p:nvPr>
        </p:nvSpPr>
        <p:spPr>
          <a:xfrm>
            <a:off x="380880" y="685800"/>
            <a:ext cx="6095520" cy="3428640"/>
          </a:xfrm>
          <a:prstGeom prst="rect">
            <a:avLst/>
          </a:prstGeom>
          <a:ln w="0">
            <a:noFill/>
          </a:ln>
        </p:spPr>
      </p:sp>
      <p:sp>
        <p:nvSpPr>
          <p:cNvPr id="63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17.8.4 – What Did I Learn In This Module?</a:t>
            </a:r>
            <a:endParaRPr b="0" lang="en-JM" sz="2000" spc="-1" strike="noStrike">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E7F6441-F2B8-4858-8B9F-81CFDDD02FE9}"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40" name="PlaceHolder 2"/>
          <p:cNvSpPr>
            <a:spLocks noGrp="1"/>
          </p:cNvSpPr>
          <p:nvPr>
            <p:ph type="sldImg"/>
          </p:nvPr>
        </p:nvSpPr>
        <p:spPr>
          <a:xfrm>
            <a:off x="380880" y="685800"/>
            <a:ext cx="6095520" cy="3428640"/>
          </a:xfrm>
          <a:prstGeom prst="rect">
            <a:avLst/>
          </a:prstGeom>
          <a:ln w="0">
            <a:noFill/>
          </a:ln>
        </p:spPr>
      </p:sp>
      <p:sp>
        <p:nvSpPr>
          <p:cNvPr id="64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17 – Build a Small Network</a:t>
            </a:r>
            <a:endParaRPr b="0" lang="en-JM" sz="2000" spc="-1" strike="noStrike">
              <a:latin typeface="Arial"/>
            </a:endParaRPr>
          </a:p>
          <a:p>
            <a:pPr marL="216000" indent="-216000">
              <a:lnSpc>
                <a:spcPct val="100000"/>
              </a:lnSpc>
              <a:buNone/>
            </a:pPr>
            <a:r>
              <a:rPr b="0" lang="en-US" sz="2000" spc="-1" strike="noStrike">
                <a:latin typeface="Arial"/>
              </a:rPr>
              <a:t>17.8 – Module Practice and Quiz</a:t>
            </a:r>
            <a:endParaRPr b="0" lang="en-JM" sz="2000" spc="-1" strike="noStrike">
              <a:latin typeface="Arial"/>
            </a:endParaRPr>
          </a:p>
          <a:p>
            <a:pPr marL="216000" indent="-216000">
              <a:lnSpc>
                <a:spcPct val="100000"/>
              </a:lnSpc>
              <a:buNone/>
            </a:pPr>
            <a:r>
              <a:rPr b="0" lang="en-US" sz="2000" spc="-1" strike="noStrike">
                <a:latin typeface="Arial"/>
              </a:rPr>
              <a:t>17.8.4 – What Did I Learn In This Module?</a:t>
            </a:r>
            <a:endParaRPr b="0" lang="en-JM" sz="2000" spc="-1" strike="noStrike">
              <a:latin typeface="Arial"/>
            </a:endParaRPr>
          </a:p>
          <a:p>
            <a:pPr marL="216000" indent="-216000">
              <a:lnSpc>
                <a:spcPct val="100000"/>
              </a:lnSpc>
              <a:buNone/>
            </a:pPr>
            <a:r>
              <a:rPr b="0" lang="en-US" sz="2000" spc="-1" strike="noStrike">
                <a:latin typeface="Arial"/>
              </a:rPr>
              <a:t>17.8.5 – Module Quiz – Build a Small Network</a:t>
            </a:r>
            <a:endParaRPr b="0" lang="en-JM" sz="2000" spc="-1" strike="noStrike">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568A938-26DF-4DDC-924D-43199E0C35C8}"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43" name="PlaceHolder 2"/>
          <p:cNvSpPr>
            <a:spLocks noGrp="1"/>
          </p:cNvSpPr>
          <p:nvPr>
            <p:ph type="sldImg"/>
          </p:nvPr>
        </p:nvSpPr>
        <p:spPr>
          <a:xfrm>
            <a:off x="380880" y="685800"/>
            <a:ext cx="6095520" cy="3428640"/>
          </a:xfrm>
          <a:prstGeom prst="rect">
            <a:avLst/>
          </a:prstGeom>
          <a:ln w="0">
            <a:noFill/>
          </a:ln>
        </p:spPr>
      </p:sp>
      <p:sp>
        <p:nvSpPr>
          <p:cNvPr id="644"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380880" y="685800"/>
            <a:ext cx="6095520" cy="3428640"/>
          </a:xfrm>
          <a:prstGeom prst="rect">
            <a:avLst/>
          </a:prstGeom>
          <a:ln w="0">
            <a:noFill/>
          </a:ln>
        </p:spPr>
      </p:sp>
      <p:sp>
        <p:nvSpPr>
          <p:cNvPr id="64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64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864403D-1D2F-4094-BD29-71015C9DB953}"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E5193653-D67B-4B35-8096-849E92E7FCB3}" type="slidenum">
              <a:rPr b="0" lang="en-US" sz="600" spc="-1" strike="noStrike">
                <a:solidFill>
                  <a:srgbClr val="d9d9d9"/>
                </a:solidFill>
                <a:latin typeface="Arial"/>
              </a:rPr>
              <a:t>&lt;number&gt;</a:t>
            </a:fld>
            <a:endParaRPr b="0" lang="en-JM" sz="600" spc="-1" strike="noStrike">
              <a:latin typeface="Arial"/>
            </a:endParaRPr>
          </a:p>
        </p:txBody>
      </p:sp>
      <p:sp>
        <p:nvSpPr>
          <p:cNvPr id="1" name="Rectangle 4" hidden="1"/>
          <p:cNvSpPr/>
          <p:nvPr/>
        </p:nvSpPr>
        <p:spPr>
          <a:xfrm>
            <a:off x="5704920" y="4741920"/>
            <a:ext cx="2820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BECC14BC-2124-4630-BAEA-A07AB2DD1C65}"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704920" y="4741920"/>
            <a:ext cx="2820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CC72F0C0-1936-49AF-B02B-AAA796F9A4AB}"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C5692A15-4949-4632-9985-56A0EC9E2614}"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704920" y="4741920"/>
            <a:ext cx="2820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8D77699E-7CFB-4A3C-BBAC-83CAA5253B72}"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3082EA4C-5659-413A-8859-648C697844BA}"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704920" y="4741920"/>
            <a:ext cx="2820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D2BA2C50-5244-4B4D-9A2E-0869F61E6E3E}"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704920" y="4741920"/>
            <a:ext cx="2820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37.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37.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7.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37.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37.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7.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17: Build a Small Network</a:t>
            </a:r>
            <a:endParaRPr b="0" lang="en-US" sz="3600" spc="-1" strike="noStrike">
              <a:solidFill>
                <a:srgbClr val="58585b"/>
              </a:solidFill>
              <a:latin typeface="Arial"/>
            </a:endParaRPr>
          </a:p>
        </p:txBody>
      </p:sp>
      <p:sp>
        <p:nvSpPr>
          <p:cNvPr id="335"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PlaceHolder 2"/>
          <p:cNvSpPr>
            <a:spLocks noGrp="1"/>
          </p:cNvSpPr>
          <p:nvPr>
            <p:ph/>
          </p:nvPr>
        </p:nvSpPr>
        <p:spPr>
          <a:xfrm>
            <a:off x="144000" y="614160"/>
            <a:ext cx="8852760" cy="757080"/>
          </a:xfrm>
          <a:prstGeom prst="rect">
            <a:avLst/>
          </a:prstGeom>
          <a:noFill/>
          <a:ln w="0">
            <a:noFill/>
          </a:ln>
        </p:spPr>
        <p:txBody>
          <a:bodyPr numCol="1" spcCol="0" rIns="182880" anchor="t">
            <a:noAutofit/>
          </a:bodyPr>
          <a:p>
            <a:pPr>
              <a:lnSpc>
                <a:spcPct val="100000"/>
              </a:lnSpc>
              <a:buNone/>
              <a:tabLst>
                <a:tab algn="l" pos="0"/>
              </a:tabLst>
            </a:pPr>
            <a:r>
              <a:rPr b="1" lang="en-US" sz="1400" spc="-1" strike="noStrike">
                <a:solidFill>
                  <a:srgbClr val="58585b"/>
                </a:solidFill>
                <a:latin typeface="Arial"/>
                <a:ea typeface="Calibri"/>
              </a:rPr>
              <a:t>Module Title: </a:t>
            </a:r>
            <a:r>
              <a:rPr b="0" lang="en-US" sz="1400" spc="-1" strike="noStrike">
                <a:solidFill>
                  <a:srgbClr val="58585b"/>
                </a:solidFill>
                <a:latin typeface="Arial"/>
                <a:ea typeface="Calibri"/>
              </a:rPr>
              <a:t>Build a Small Network</a:t>
            </a:r>
            <a:endParaRPr b="0" lang="en-US" sz="1400" spc="-1" strike="noStrike">
              <a:solidFill>
                <a:srgbClr val="58585b"/>
              </a:solidFill>
              <a:latin typeface="Arial"/>
            </a:endParaRPr>
          </a:p>
          <a:p>
            <a:pPr>
              <a:lnSpc>
                <a:spcPct val="100000"/>
              </a:lnSpc>
              <a:buNone/>
              <a:tabLst>
                <a:tab algn="l" pos="0"/>
              </a:tabLst>
            </a:pPr>
            <a:endParaRPr b="0" lang="en-US" sz="1400" spc="-1" strike="noStrike">
              <a:solidFill>
                <a:srgbClr val="58585b"/>
              </a:solidFill>
              <a:latin typeface="Arial"/>
            </a:endParaRPr>
          </a:p>
          <a:p>
            <a:pPr>
              <a:lnSpc>
                <a:spcPct val="100000"/>
              </a:lnSpc>
              <a:buNone/>
              <a:tabLst>
                <a:tab algn="l" pos="0"/>
              </a:tabLst>
            </a:pPr>
            <a:r>
              <a:rPr b="1" lang="en-US" sz="1400" spc="-1" strike="noStrike">
                <a:solidFill>
                  <a:srgbClr val="58585b"/>
                </a:solidFill>
                <a:latin typeface="Arial"/>
                <a:ea typeface="Calibri"/>
              </a:rPr>
              <a:t>Module Objective</a:t>
            </a:r>
            <a:r>
              <a:rPr b="0" lang="en-US" sz="1400" spc="-1" strike="noStrike">
                <a:solidFill>
                  <a:srgbClr val="58585b"/>
                </a:solidFill>
                <a:latin typeface="Arial"/>
                <a:ea typeface="Calibri"/>
              </a:rPr>
              <a:t>: </a:t>
            </a:r>
            <a:r>
              <a:rPr b="0" lang="en-US" sz="1500" spc="-1" strike="noStrike">
                <a:solidFill>
                  <a:srgbClr val="000000"/>
                </a:solidFill>
                <a:latin typeface="Arial"/>
                <a:ea typeface="ＭＳ Ｐゴシック"/>
              </a:rPr>
              <a:t>Implement a network design for a small network to include a router, a switch, and end devices.</a:t>
            </a:r>
            <a:endParaRPr b="0" lang="en-US" sz="1500" spc="-1" strike="noStrike">
              <a:solidFill>
                <a:srgbClr val="58585b"/>
              </a:solidFill>
              <a:latin typeface="Arial"/>
            </a:endParaRPr>
          </a:p>
        </p:txBody>
      </p:sp>
      <p:graphicFrame>
        <p:nvGraphicFramePr>
          <p:cNvPr id="338" name="Table 2"/>
          <p:cNvGraphicFramePr/>
          <p:nvPr/>
        </p:nvGraphicFramePr>
        <p:xfrm>
          <a:off x="144000" y="1547280"/>
          <a:ext cx="8667000" cy="2966400"/>
        </p:xfrm>
        <a:graphic>
          <a:graphicData uri="http://schemas.openxmlformats.org/drawingml/2006/table">
            <a:tbl>
              <a:tblPr/>
              <a:tblGrid>
                <a:gridCol w="3829680"/>
                <a:gridCol w="4837320"/>
              </a:tblGrid>
              <a:tr h="370800">
                <a:tc>
                  <a:txBody>
                    <a:bodyPr lIns="47520" rIns="47520" tIns="47520" bIns="47520" anchor="ctr">
                      <a:noAutofit/>
                    </a:bodyPr>
                    <a:p>
                      <a:pPr>
                        <a:lnSpc>
                          <a:spcPct val="100000"/>
                        </a:lnSpc>
                        <a:buNone/>
                      </a:pPr>
                      <a:r>
                        <a:rPr b="1" lang="en-US" sz="1200" spc="-1" strike="noStrike">
                          <a:solidFill>
                            <a:srgbClr val="ffffff"/>
                          </a:solidFill>
                          <a:latin typeface="Arial"/>
                        </a:rPr>
                        <a:t>Topic Title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Topic Objective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47520" rIns="47520" tIns="47520" bIns="47520" anchor="ctr">
                      <a:noAutofit/>
                    </a:bodyPr>
                    <a:p>
                      <a:pPr>
                        <a:lnSpc>
                          <a:spcPct val="100000"/>
                        </a:lnSpc>
                        <a:buNone/>
                      </a:pPr>
                      <a:r>
                        <a:rPr b="1" lang="en-US" sz="1200" spc="-1" strike="noStrike">
                          <a:solidFill>
                            <a:srgbClr val="ffffff"/>
                          </a:solidFill>
                          <a:latin typeface="Arial"/>
                        </a:rPr>
                        <a:t>Devices in a Small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Identify the devices used in a small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200" spc="-1" strike="noStrike">
                          <a:solidFill>
                            <a:srgbClr val="ffffff"/>
                          </a:solidFill>
                          <a:latin typeface="Arial"/>
                        </a:rPr>
                        <a:t>Small Network Applications and Protocols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Identify the protocols and applications used in a small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1" lang="en-US" sz="1200" spc="-1" strike="noStrike">
                          <a:solidFill>
                            <a:srgbClr val="ffffff"/>
                          </a:solidFill>
                          <a:latin typeface="Arial"/>
                        </a:rPr>
                        <a:t>Scale to Larger Networks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Explain how a small network serves as the basis of larger networks.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1" lang="en-US" sz="1200" spc="-1" strike="noStrike">
                          <a:solidFill>
                            <a:srgbClr val="ffffff"/>
                          </a:solidFill>
                          <a:latin typeface="Arial"/>
                        </a:rPr>
                        <a:t>Verify Connectivity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Use the output of the ping and tracert commands to verify connectivity and establish relative network performance.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36680">
                <a:tc>
                  <a:txBody>
                    <a:bodyPr lIns="47520" rIns="47520" tIns="47520" bIns="47520" anchor="ctr">
                      <a:noAutofit/>
                    </a:bodyPr>
                    <a:p>
                      <a:pPr>
                        <a:lnSpc>
                          <a:spcPct val="100000"/>
                        </a:lnSpc>
                        <a:buNone/>
                      </a:pPr>
                      <a:r>
                        <a:rPr b="1" lang="en-US" sz="1200" spc="-1" strike="noStrike">
                          <a:solidFill>
                            <a:srgbClr val="ffffff"/>
                          </a:solidFill>
                          <a:latin typeface="Arial"/>
                        </a:rPr>
                        <a:t>Host and IOS Commands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Use host and IOS commands to acquire information about the devices in a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200" spc="-1" strike="noStrike">
                          <a:solidFill>
                            <a:srgbClr val="ffffff"/>
                          </a:solidFill>
                          <a:latin typeface="Arial"/>
                        </a:rPr>
                        <a:t>Troubleshooting Methodologies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Describe common network troubleshooting methodologies.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1" lang="en-US" sz="1200" spc="-1" strike="noStrike">
                          <a:solidFill>
                            <a:srgbClr val="ffffff"/>
                          </a:solidFill>
                          <a:latin typeface="Arial"/>
                        </a:rPr>
                        <a:t>Troubleshooting Scenarios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Troubleshoot issues with devices in the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17.1 Devices in a Small Network</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Devices in a Small Network</a:t>
            </a:r>
            <a:br/>
            <a:r>
              <a:rPr b="0" lang="en-US" sz="2400" spc="-1" strike="noStrike">
                <a:solidFill>
                  <a:srgbClr val="004c69"/>
                </a:solidFill>
                <a:latin typeface="Arial"/>
                <a:ea typeface="ＭＳ Ｐゴシック"/>
              </a:rPr>
              <a:t>Small Network Topologies</a:t>
            </a:r>
            <a:endParaRPr b="0" lang="en-US" sz="2400" spc="-1" strike="noStrike">
              <a:solidFill>
                <a:srgbClr val="58585b"/>
              </a:solidFill>
              <a:latin typeface="Arial"/>
            </a:endParaRPr>
          </a:p>
        </p:txBody>
      </p:sp>
      <p:sp>
        <p:nvSpPr>
          <p:cNvPr id="341" name="PlaceHolder 2"/>
          <p:cNvSpPr>
            <a:spLocks noGrp="1"/>
          </p:cNvSpPr>
          <p:nvPr>
            <p:ph/>
          </p:nvPr>
        </p:nvSpPr>
        <p:spPr>
          <a:xfrm>
            <a:off x="474840" y="731880"/>
            <a:ext cx="8279640" cy="3689640"/>
          </a:xfrm>
          <a:prstGeom prst="rect">
            <a:avLst/>
          </a:prstGeom>
          <a:noFill/>
          <a:ln w="0">
            <a:noFill/>
          </a:ln>
        </p:spPr>
        <p:txBody>
          <a:bodyPr anchor="t">
            <a:noAutofit/>
          </a:bodyPr>
          <a:p>
            <a:pPr marL="285840" indent="-285840">
              <a:lnSpc>
                <a:spcPct val="100000"/>
              </a:lnSpc>
              <a:spcBef>
                <a:spcPts val="360"/>
              </a:spcBef>
              <a:buClr>
                <a:srgbClr val="000000"/>
              </a:buClr>
              <a:buFont typeface="Arial"/>
              <a:buChar char="•"/>
            </a:pPr>
            <a:r>
              <a:rPr b="0" lang="en-US" sz="1800" spc="-1" strike="noStrike">
                <a:solidFill>
                  <a:srgbClr val="000000"/>
                </a:solidFill>
                <a:latin typeface="Arial"/>
                <a:ea typeface="ＭＳ Ｐゴシック"/>
              </a:rPr>
              <a:t>The majority of businesses are small most of the business networks are also small.</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pPr>
            <a:r>
              <a:rPr b="0" lang="en-US" sz="1800" spc="-1" strike="noStrike">
                <a:solidFill>
                  <a:srgbClr val="000000"/>
                </a:solidFill>
                <a:latin typeface="Arial"/>
                <a:ea typeface="ＭＳ Ｐゴシック"/>
              </a:rPr>
              <a:t>A small network design is usually simple.</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pPr>
            <a:r>
              <a:rPr b="0" lang="en-US" sz="1800" spc="-1" strike="noStrike">
                <a:solidFill>
                  <a:srgbClr val="000000"/>
                </a:solidFill>
                <a:latin typeface="Arial"/>
                <a:ea typeface="ＭＳ Ｐゴシック"/>
              </a:rPr>
              <a:t>Small networks typically have a single WAN connection provided by DSL, cable, or an Ethernet connection.</a:t>
            </a:r>
            <a:endParaRPr b="0" lang="en-US" sz="1800" spc="-1" strike="noStrike">
              <a:solidFill>
                <a:srgbClr val="58585b"/>
              </a:solidFill>
              <a:latin typeface="Arial"/>
            </a:endParaRPr>
          </a:p>
          <a:p>
            <a:pPr marL="285840" indent="-285840">
              <a:lnSpc>
                <a:spcPct val="100000"/>
              </a:lnSpc>
              <a:spcBef>
                <a:spcPts val="360"/>
              </a:spcBef>
              <a:buClr>
                <a:srgbClr val="000000"/>
              </a:buClr>
              <a:buFont typeface="Arial"/>
              <a:buChar char="•"/>
            </a:pPr>
            <a:r>
              <a:rPr b="0" lang="en-US" sz="1800" spc="-1" strike="noStrike">
                <a:solidFill>
                  <a:srgbClr val="000000"/>
                </a:solidFill>
                <a:latin typeface="Arial"/>
                <a:ea typeface="ＭＳ Ｐゴシック"/>
              </a:rPr>
              <a:t>Large networks require an IT department to maintain, secure, and troubleshoot network devices and to protect organizational data. Small networks are managed by a local IT technician or by a contracted professional.</a:t>
            </a:r>
            <a:endParaRPr b="0" lang="en-US" sz="1800" spc="-1" strike="noStrike">
              <a:solidFill>
                <a:srgbClr val="58585b"/>
              </a:solidFill>
              <a:latin typeface="Arial"/>
            </a:endParaRPr>
          </a:p>
          <a:p>
            <a:pPr>
              <a:lnSpc>
                <a:spcPct val="100000"/>
              </a:lnSpc>
              <a:spcBef>
                <a:spcPts val="281"/>
              </a:spcBef>
              <a:buNone/>
            </a:pPr>
            <a:endParaRPr b="0" lang="en-US" sz="18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Devices in a Small Network</a:t>
            </a:r>
            <a:br/>
            <a:r>
              <a:rPr b="0" lang="en-US" sz="2400" spc="-1" strike="noStrike">
                <a:solidFill>
                  <a:srgbClr val="004c69"/>
                </a:solidFill>
                <a:latin typeface="Arial"/>
                <a:ea typeface="ＭＳ Ｐゴシック"/>
              </a:rPr>
              <a:t>Device Selection for a Small Network</a:t>
            </a:r>
            <a:endParaRPr b="0" lang="en-US" sz="2400" spc="-1" strike="noStrike">
              <a:solidFill>
                <a:srgbClr val="58585b"/>
              </a:solidFill>
              <a:latin typeface="Arial"/>
            </a:endParaRPr>
          </a:p>
        </p:txBody>
      </p:sp>
      <p:sp>
        <p:nvSpPr>
          <p:cNvPr id="343"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Like large networks, small networks require planning and design to meet user requirements. Planning ensures that all requirements, cost factors, and deployment options are given due consideration. One of the first design considerations is the type of intermediary devices to use to support the network.</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Factors that must be considered when selecting network devices include:</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cost</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speed and types of ports/interfaces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expandability</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operating system features and services</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Devices in a Small Network</a:t>
            </a:r>
            <a:br/>
            <a:r>
              <a:rPr b="0" lang="en-US" sz="2400" spc="-1" strike="noStrike">
                <a:solidFill>
                  <a:srgbClr val="004c69"/>
                </a:solidFill>
                <a:latin typeface="Arial"/>
                <a:ea typeface="ＭＳ Ｐゴシック"/>
              </a:rPr>
              <a:t>IP Addressing for a Small Network</a:t>
            </a:r>
            <a:endParaRPr b="0" lang="en-US" sz="2400" spc="-1" strike="noStrike">
              <a:solidFill>
                <a:srgbClr val="58585b"/>
              </a:solidFill>
              <a:latin typeface="Arial"/>
            </a:endParaRPr>
          </a:p>
        </p:txBody>
      </p:sp>
      <p:sp>
        <p:nvSpPr>
          <p:cNvPr id="345"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When implementing a network, create an IP addressing scheme and use it. All hosts and devices within an internetwork must have a unique address. Devices that will factor into the IP addressing scheme include the following:</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End user devices - The number and type of connections (i.e., wired, wireless, remote access)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Servers and peripherals devices (e.g., printers and security cameras)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Intermediary devices including switches and access points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It is recommended that you plan, document, and maintain an IP addressing scheme based on device type. The use of a planned IP addressing scheme makes it easier to identify a type of device and to troubleshoot problems.</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Devices in a Small Network</a:t>
            </a:r>
            <a:br/>
            <a:r>
              <a:rPr b="0" lang="en-US" sz="2400" spc="-1" strike="noStrike">
                <a:solidFill>
                  <a:srgbClr val="004c69"/>
                </a:solidFill>
                <a:latin typeface="Arial"/>
                <a:ea typeface="ＭＳ Ｐゴシック"/>
              </a:rPr>
              <a:t>Redundancy in a Small Network</a:t>
            </a:r>
            <a:endParaRPr b="0" lang="en-US" sz="2400" spc="-1" strike="noStrike">
              <a:solidFill>
                <a:srgbClr val="58585b"/>
              </a:solidFill>
              <a:latin typeface="Arial"/>
            </a:endParaRPr>
          </a:p>
        </p:txBody>
      </p:sp>
      <p:sp>
        <p:nvSpPr>
          <p:cNvPr id="347" name="PlaceHolder 2"/>
          <p:cNvSpPr>
            <a:spLocks noGrp="1"/>
          </p:cNvSpPr>
          <p:nvPr>
            <p:ph/>
          </p:nvPr>
        </p:nvSpPr>
        <p:spPr>
          <a:xfrm>
            <a:off x="66600" y="731880"/>
            <a:ext cx="369216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order to maintain a high degree of reliability, </a:t>
            </a:r>
            <a:r>
              <a:rPr b="0" i="1" lang="en-US" sz="1600" spc="-1" strike="noStrike">
                <a:solidFill>
                  <a:srgbClr val="000000"/>
                </a:solidFill>
                <a:latin typeface="Arial"/>
                <a:ea typeface="ＭＳ Ｐゴシック"/>
              </a:rPr>
              <a:t>redundancy</a:t>
            </a:r>
            <a:r>
              <a:rPr b="0" lang="en-US" sz="1600" spc="-1" strike="noStrike">
                <a:solidFill>
                  <a:srgbClr val="000000"/>
                </a:solidFill>
                <a:latin typeface="Arial"/>
                <a:ea typeface="ＭＳ Ｐゴシック"/>
              </a:rPr>
              <a:t> is required in the network design. Redundancy helps to eliminate single points of failure.</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Redundancy can be accomplished by installing duplicate equipment. It can also be accomplished by supplying duplicate network links for critical areas.</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pic>
        <p:nvPicPr>
          <p:cNvPr id="348" name="Picture 1" descr=""/>
          <p:cNvPicPr/>
          <p:nvPr/>
        </p:nvPicPr>
        <p:blipFill>
          <a:blip r:embed="rId1"/>
          <a:stretch/>
        </p:blipFill>
        <p:spPr>
          <a:xfrm>
            <a:off x="4059360" y="800640"/>
            <a:ext cx="4459320" cy="3541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Devices in a Small Network</a:t>
            </a:r>
            <a:br/>
            <a:r>
              <a:rPr b="0" lang="en-US" sz="2400" spc="-1" strike="noStrike">
                <a:solidFill>
                  <a:srgbClr val="004c69"/>
                </a:solidFill>
                <a:latin typeface="Arial"/>
                <a:ea typeface="ＭＳ Ｐゴシック"/>
              </a:rPr>
              <a:t>Traffic Management</a:t>
            </a:r>
            <a:endParaRPr b="0" lang="en-US" sz="2400" spc="-1" strike="noStrike">
              <a:solidFill>
                <a:srgbClr val="58585b"/>
              </a:solidFill>
              <a:latin typeface="Arial"/>
            </a:endParaRPr>
          </a:p>
        </p:txBody>
      </p:sp>
      <p:sp>
        <p:nvSpPr>
          <p:cNvPr id="350" name="PlaceHolder 2"/>
          <p:cNvSpPr>
            <a:spLocks noGrp="1"/>
          </p:cNvSpPr>
          <p:nvPr>
            <p:ph/>
          </p:nvPr>
        </p:nvSpPr>
        <p:spPr>
          <a:xfrm>
            <a:off x="162000" y="731880"/>
            <a:ext cx="4571640" cy="38588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goal for a good network design is to enhance the productivity of the employees and minimize network downtime.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routers and switches in a small network should be configured to support real-time traffic, such as voice and video, in an appropriate manner relative to other data traffic. A good network design will implement quality of service (QoS).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Priority queuing has four queues. The high-priority queue is always emptied first.</a:t>
            </a: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p:txBody>
      </p:sp>
      <p:pic>
        <p:nvPicPr>
          <p:cNvPr id="351" name="Picture 3" descr=""/>
          <p:cNvPicPr/>
          <p:nvPr/>
        </p:nvPicPr>
        <p:blipFill>
          <a:blip r:embed="rId1"/>
          <a:stretch/>
        </p:blipFill>
        <p:spPr>
          <a:xfrm>
            <a:off x="4896000" y="1269000"/>
            <a:ext cx="4175640" cy="2604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17.2 Small Network Applications and Protocols</a:t>
            </a:r>
            <a:endParaRPr b="0" lang="en-US" sz="4600" spc="-1" strike="noStrike">
              <a:solidFill>
                <a:srgbClr val="58585b"/>
              </a:solidFill>
              <a:latin typeface="Arial"/>
            </a:endParaRPr>
          </a:p>
        </p:txBody>
      </p:sp>
    </p:spTree>
  </p:cSld>
  <p:transition spd="slow">
    <p:wipe dir="l"/>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Small Network Applications and Protocols</a:t>
            </a:r>
            <a:br/>
            <a:r>
              <a:rPr b="0" lang="en-US" sz="2400" spc="-1" strike="noStrike">
                <a:solidFill>
                  <a:srgbClr val="004c69"/>
                </a:solidFill>
                <a:latin typeface="Arial"/>
                <a:ea typeface="ＭＳ Ｐゴシック"/>
              </a:rPr>
              <a:t>Common Applications</a:t>
            </a:r>
            <a:endParaRPr b="0" lang="en-US" sz="2400" spc="-1" strike="noStrike">
              <a:solidFill>
                <a:srgbClr val="58585b"/>
              </a:solidFill>
              <a:latin typeface="Arial"/>
            </a:endParaRPr>
          </a:p>
        </p:txBody>
      </p:sp>
      <p:sp>
        <p:nvSpPr>
          <p:cNvPr id="354"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After you have set it up, your network still needs certain types of applications and protocols in order to work. The network is only as useful as the applications that are on it.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There are two forms of software programs or processes that provide access to the network: </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Network Applications</a:t>
            </a:r>
            <a:r>
              <a:rPr b="0" lang="en-US" sz="1600" spc="-1" strike="noStrike">
                <a:solidFill>
                  <a:srgbClr val="000000"/>
                </a:solidFill>
                <a:latin typeface="Arial"/>
                <a:ea typeface="ＭＳ Ｐゴシック"/>
              </a:rPr>
              <a:t>: Applications that implement application layer protocols and are able to communicate directly with the lower layers of the protocol stack.</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Application Layer Services</a:t>
            </a:r>
            <a:r>
              <a:rPr b="0" lang="en-US" sz="1600" spc="-1" strike="noStrike">
                <a:solidFill>
                  <a:srgbClr val="000000"/>
                </a:solidFill>
                <a:latin typeface="Arial"/>
                <a:ea typeface="ＭＳ Ｐゴシック"/>
              </a:rPr>
              <a:t>: For applications that are not network-aware, the programs that interface with the network and prepare the data for transfer. </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Small Network Applications and Protocols</a:t>
            </a:r>
            <a:br/>
            <a:r>
              <a:rPr b="0" lang="en-US" sz="2400" spc="-1" strike="noStrike">
                <a:solidFill>
                  <a:srgbClr val="004c69"/>
                </a:solidFill>
                <a:latin typeface="Arial"/>
                <a:ea typeface="ＭＳ Ｐゴシック"/>
              </a:rPr>
              <a:t>Common Protocols</a:t>
            </a:r>
            <a:endParaRPr b="0" lang="en-US" sz="2400" spc="-1" strike="noStrike">
              <a:solidFill>
                <a:srgbClr val="58585b"/>
              </a:solidFill>
              <a:latin typeface="Arial"/>
            </a:endParaRPr>
          </a:p>
        </p:txBody>
      </p:sp>
      <p:sp>
        <p:nvSpPr>
          <p:cNvPr id="356"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Network protocols support the applications and services used by employees in a small network.</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Network administrators commonly require access to network devices and servers. The two most common remote access solutions are Telnet and Secure Shell (SSH). </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Hypertext Transfer Protocol (HTTP) and Hypertext Transfer Protocol Secure (HTTP) are used between web clients and web servers.</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Simple Mail Transfer Protocol (SMTP) is used to send email, Post Office Protocol (POP3) or Internet Mail Access Protocol (IMAP) are used by clients to retrieve email.</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File Transfer Protocol (FTP) and Security File Transfer Protocol (SFTP) are used to download and upload files between a client and an FTP server.</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Dynamic Host Configuration Protocol (DHCP) is used by clients to acquire an IP configuration from a DHCP Server.</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The Domain Name Service (DNS) resolves domain names to IP addresses.</a:t>
            </a:r>
            <a:endParaRPr b="0" lang="en-US" sz="1500" spc="-1" strike="noStrike">
              <a:solidFill>
                <a:srgbClr val="58585b"/>
              </a:solidFill>
              <a:latin typeface="Arial"/>
            </a:endParaRPr>
          </a:p>
          <a:p>
            <a:pPr>
              <a:lnSpc>
                <a:spcPct val="100000"/>
              </a:lnSpc>
              <a:spcBef>
                <a:spcPts val="300"/>
              </a:spcBef>
              <a:buNone/>
              <a:tabLst>
                <a:tab algn="l" pos="0"/>
              </a:tabLst>
            </a:pPr>
            <a:r>
              <a:rPr b="1" lang="en-US" sz="1500" spc="-1" strike="noStrike">
                <a:solidFill>
                  <a:srgbClr val="000000"/>
                </a:solidFill>
                <a:latin typeface="Arial"/>
                <a:ea typeface="ＭＳ Ｐゴシック"/>
              </a:rPr>
              <a:t>Note</a:t>
            </a:r>
            <a:r>
              <a:rPr b="0" lang="en-US" sz="1500" spc="-1" strike="noStrike">
                <a:solidFill>
                  <a:srgbClr val="000000"/>
                </a:solidFill>
                <a:latin typeface="Arial"/>
                <a:ea typeface="ＭＳ Ｐゴシック"/>
              </a:rPr>
              <a:t>: A server could provide multiple network services. For instance, a server could be an email, FTP and SSH server.</a:t>
            </a: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Small Network Applications and Protocols</a:t>
            </a:r>
            <a:br/>
            <a:r>
              <a:rPr b="0" lang="en-US" sz="2400" spc="-1" strike="noStrike">
                <a:solidFill>
                  <a:srgbClr val="004c69"/>
                </a:solidFill>
                <a:latin typeface="Arial"/>
                <a:ea typeface="ＭＳ Ｐゴシック"/>
              </a:rPr>
              <a:t>Common Protocols (Cont.)</a:t>
            </a:r>
            <a:endParaRPr b="0" lang="en-US" sz="2400" spc="-1" strike="noStrike">
              <a:solidFill>
                <a:srgbClr val="58585b"/>
              </a:solidFill>
              <a:latin typeface="Arial"/>
            </a:endParaRPr>
          </a:p>
        </p:txBody>
      </p:sp>
      <p:sp>
        <p:nvSpPr>
          <p:cNvPr id="358"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These network protocols comprise the fundamental toolset of a network professional, defining:</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Processes on either end of a communication session.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Types of messages.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Syntax of the messages.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Meaning of informational fields.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How messages are sent and the expected response.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Interaction with the next lower layer.</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Many companies have established a policy of using secure versions (e.g., SSH, SFTP, and HTTPS) of these protocols whenever possible.</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Small Network Applications and Protocols</a:t>
            </a:r>
            <a:br/>
            <a:r>
              <a:rPr b="0" lang="en-US" sz="2400" spc="-1" strike="noStrike">
                <a:solidFill>
                  <a:srgbClr val="004c69"/>
                </a:solidFill>
                <a:latin typeface="Arial"/>
                <a:ea typeface="ＭＳ Ｐゴシック"/>
              </a:rPr>
              <a:t>Voice and Video Applications</a:t>
            </a:r>
            <a:endParaRPr b="0" lang="en-US" sz="2400" spc="-1" strike="noStrike">
              <a:solidFill>
                <a:srgbClr val="58585b"/>
              </a:solidFill>
              <a:latin typeface="Arial"/>
            </a:endParaRPr>
          </a:p>
        </p:txBody>
      </p:sp>
      <p:sp>
        <p:nvSpPr>
          <p:cNvPr id="360"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Businesses today are increasingly using IP telephony and streaming media to communicate with customers and business partners, as well as enabling their employees to work remotely.</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The network administrator must ensure the proper equipment is installed in the network and that the network devices are configured to ensure priority delivery.</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The factors that a small network administrator must consider when supporting real-time applications:</a:t>
            </a:r>
            <a:endParaRPr b="0" lang="en-US" sz="1500" spc="-1" strike="noStrike">
              <a:solidFill>
                <a:srgbClr val="58585b"/>
              </a:solidFill>
              <a:latin typeface="Arial"/>
            </a:endParaRPr>
          </a:p>
          <a:p>
            <a:pPr lvl="2" marL="488880" indent="-343080">
              <a:lnSpc>
                <a:spcPct val="95000"/>
              </a:lnSpc>
              <a:spcBef>
                <a:spcPts val="624"/>
              </a:spcBef>
              <a:buClr>
                <a:srgbClr val="000000"/>
              </a:buClr>
              <a:buFont typeface="Arial"/>
              <a:buChar char="•"/>
            </a:pPr>
            <a:r>
              <a:rPr b="1" lang="en-US" sz="1500" spc="-1" strike="noStrike">
                <a:solidFill>
                  <a:srgbClr val="000000"/>
                </a:solidFill>
                <a:latin typeface="Arial"/>
                <a:ea typeface="ＭＳ Ｐゴシック"/>
              </a:rPr>
              <a:t>Infrastructure -</a:t>
            </a:r>
            <a:r>
              <a:rPr b="0" lang="en-US" sz="1500" spc="-1" strike="noStrike">
                <a:solidFill>
                  <a:srgbClr val="000000"/>
                </a:solidFill>
                <a:latin typeface="Arial"/>
                <a:ea typeface="ＭＳ Ｐゴシック"/>
              </a:rPr>
              <a:t> Does it have the capacity and capability to support real-time applications?</a:t>
            </a:r>
            <a:endParaRPr b="0" lang="en-US" sz="1500" spc="-1" strike="noStrike">
              <a:solidFill>
                <a:srgbClr val="58585b"/>
              </a:solidFill>
              <a:latin typeface="Arial"/>
            </a:endParaRPr>
          </a:p>
          <a:p>
            <a:pPr lvl="2" marL="488880" indent="-343080">
              <a:lnSpc>
                <a:spcPct val="95000"/>
              </a:lnSpc>
              <a:spcBef>
                <a:spcPts val="624"/>
              </a:spcBef>
              <a:buClr>
                <a:srgbClr val="000000"/>
              </a:buClr>
              <a:buFont typeface="Arial"/>
              <a:buChar char="•"/>
            </a:pPr>
            <a:r>
              <a:rPr b="1" lang="en-US" sz="1500" spc="-1" strike="noStrike">
                <a:solidFill>
                  <a:srgbClr val="000000"/>
                </a:solidFill>
                <a:latin typeface="Arial"/>
                <a:ea typeface="ＭＳ Ｐゴシック"/>
              </a:rPr>
              <a:t>VoIP - </a:t>
            </a:r>
            <a:r>
              <a:rPr b="0" lang="en-US" sz="1500" spc="-1" strike="noStrike">
                <a:solidFill>
                  <a:srgbClr val="000000"/>
                </a:solidFill>
                <a:latin typeface="Arial"/>
                <a:ea typeface="ＭＳ Ｐゴシック"/>
              </a:rPr>
              <a:t>VoIP is typically less expensive than IP Telephony, but at the cost of quality and features.</a:t>
            </a:r>
            <a:endParaRPr b="0" lang="en-US" sz="1500" spc="-1" strike="noStrike">
              <a:solidFill>
                <a:srgbClr val="58585b"/>
              </a:solidFill>
              <a:latin typeface="Arial"/>
            </a:endParaRPr>
          </a:p>
          <a:p>
            <a:pPr lvl="2" marL="488880" indent="-343080">
              <a:lnSpc>
                <a:spcPct val="95000"/>
              </a:lnSpc>
              <a:spcBef>
                <a:spcPts val="624"/>
              </a:spcBef>
              <a:buClr>
                <a:srgbClr val="000000"/>
              </a:buClr>
              <a:buFont typeface="Arial"/>
              <a:buChar char="•"/>
            </a:pPr>
            <a:r>
              <a:rPr b="1" lang="en-US" sz="1500" spc="-1" strike="noStrike">
                <a:solidFill>
                  <a:srgbClr val="000000"/>
                </a:solidFill>
                <a:latin typeface="Arial"/>
                <a:ea typeface="ＭＳ Ｐゴシック"/>
              </a:rPr>
              <a:t>IP Telephony - </a:t>
            </a:r>
            <a:r>
              <a:rPr b="0" lang="en-US" sz="1500" spc="-1" strike="noStrike">
                <a:solidFill>
                  <a:srgbClr val="000000"/>
                </a:solidFill>
                <a:latin typeface="Arial"/>
                <a:ea typeface="ＭＳ Ｐゴシック"/>
              </a:rPr>
              <a:t>This employs dedicated servers form call control and signaling.</a:t>
            </a:r>
            <a:endParaRPr b="0" lang="en-US" sz="1500" spc="-1" strike="noStrike">
              <a:solidFill>
                <a:srgbClr val="58585b"/>
              </a:solidFill>
              <a:latin typeface="Arial"/>
            </a:endParaRPr>
          </a:p>
          <a:p>
            <a:pPr lvl="2" marL="488880" indent="-343080">
              <a:lnSpc>
                <a:spcPct val="95000"/>
              </a:lnSpc>
              <a:spcBef>
                <a:spcPts val="624"/>
              </a:spcBef>
              <a:buClr>
                <a:srgbClr val="000000"/>
              </a:buClr>
              <a:buFont typeface="Arial"/>
              <a:buChar char="•"/>
            </a:pPr>
            <a:r>
              <a:rPr b="1" lang="en-US" sz="1500" spc="-1" strike="noStrike">
                <a:solidFill>
                  <a:srgbClr val="000000"/>
                </a:solidFill>
                <a:latin typeface="Arial"/>
                <a:ea typeface="ＭＳ Ｐゴシック"/>
              </a:rPr>
              <a:t>Real-Time Applications - </a:t>
            </a:r>
            <a:r>
              <a:rPr b="0" lang="en-US" sz="1500" spc="-1" strike="noStrike">
                <a:solidFill>
                  <a:srgbClr val="000000"/>
                </a:solidFill>
                <a:latin typeface="Arial"/>
                <a:ea typeface="ＭＳ Ｐゴシック"/>
              </a:rPr>
              <a:t>The network must support Quality of Service (QoS) mechanisms to minimize latency issues. Real-Time Transport Protocol (RTP) and Real-Time Transport Control Protocol (RTCP) and two protocols that support real-time applications.</a:t>
            </a: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17.3 Scale to Larger Networks</a:t>
            </a:r>
            <a:endParaRPr b="0" lang="en-US" sz="4600" spc="-1" strike="noStrike">
              <a:solidFill>
                <a:srgbClr val="58585b"/>
              </a:solidFill>
              <a:latin typeface="Arial"/>
            </a:endParaRPr>
          </a:p>
        </p:txBody>
      </p:sp>
    </p:spTree>
  </p:cSld>
  <p:transition spd="slow">
    <p:wipe dir="l"/>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Scale to Larger Networks</a:t>
            </a:r>
            <a:br/>
            <a:r>
              <a:rPr b="0" lang="en-US" sz="2400" spc="-1" strike="noStrike">
                <a:solidFill>
                  <a:srgbClr val="004c69"/>
                </a:solidFill>
                <a:latin typeface="Arial"/>
                <a:ea typeface="ＭＳ Ｐゴシック"/>
              </a:rPr>
              <a:t>Small Network Growth</a:t>
            </a:r>
            <a:endParaRPr b="0" lang="en-US" sz="2400" spc="-1" strike="noStrike">
              <a:solidFill>
                <a:srgbClr val="58585b"/>
              </a:solidFill>
              <a:latin typeface="Arial"/>
            </a:endParaRPr>
          </a:p>
        </p:txBody>
      </p:sp>
      <p:sp>
        <p:nvSpPr>
          <p:cNvPr id="363"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Growth is a natural process for many small businesses, and their networks must grow accordingly. Ideally, the network administrator has enough lead-time to make intelligent decisions about growing the network in alignment with the growth of the company.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To scale a network, several elements are required:</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Network documentation</a:t>
            </a:r>
            <a:r>
              <a:rPr b="0" lang="en-US" sz="1600" spc="-1" strike="noStrike">
                <a:solidFill>
                  <a:srgbClr val="000000"/>
                </a:solidFill>
                <a:latin typeface="Arial"/>
                <a:ea typeface="ＭＳ Ｐゴシック"/>
              </a:rPr>
              <a:t> - Physical and logical topology</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Device inventory</a:t>
            </a:r>
            <a:r>
              <a:rPr b="0" lang="en-US" sz="1600" spc="-1" strike="noStrike">
                <a:solidFill>
                  <a:srgbClr val="000000"/>
                </a:solidFill>
                <a:latin typeface="Arial"/>
                <a:ea typeface="ＭＳ Ｐゴシック"/>
              </a:rPr>
              <a:t> - List of devices that use or comprise the network</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Budget</a:t>
            </a:r>
            <a:r>
              <a:rPr b="0" lang="en-US" sz="1600" spc="-1" strike="noStrike">
                <a:solidFill>
                  <a:srgbClr val="000000"/>
                </a:solidFill>
                <a:latin typeface="Arial"/>
                <a:ea typeface="ＭＳ Ｐゴシック"/>
              </a:rPr>
              <a:t> - Itemized IT budget, including fiscal year equipment purchasing budget</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Traffic analysis</a:t>
            </a:r>
            <a:r>
              <a:rPr b="0" lang="en-US" sz="1600" spc="-1" strike="noStrike">
                <a:solidFill>
                  <a:srgbClr val="000000"/>
                </a:solidFill>
                <a:latin typeface="Arial"/>
                <a:ea typeface="ＭＳ Ｐゴシック"/>
              </a:rPr>
              <a:t> - Protocols, applications, and services and their respective traffic requirements should be documented</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These elements are used to inform the decision-making that accompanies the scaling of a small network.</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Scale to Larger Networks</a:t>
            </a:r>
            <a:br/>
            <a:r>
              <a:rPr b="0" lang="en-US" sz="2400" spc="-1" strike="noStrike">
                <a:solidFill>
                  <a:srgbClr val="004c69"/>
                </a:solidFill>
                <a:latin typeface="Arial"/>
                <a:ea typeface="ＭＳ Ｐゴシック"/>
              </a:rPr>
              <a:t>Protocol Analysis</a:t>
            </a:r>
            <a:endParaRPr b="0" lang="en-US" sz="2400" spc="-1" strike="noStrike">
              <a:solidFill>
                <a:srgbClr val="58585b"/>
              </a:solidFill>
              <a:latin typeface="Arial"/>
            </a:endParaRPr>
          </a:p>
        </p:txBody>
      </p:sp>
      <p:sp>
        <p:nvSpPr>
          <p:cNvPr id="365"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It is important to understand the type of traffic that is crossing the network as well as the current traffic flow. There are several network management tools that can be used for this purpose.</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To determine traffic flow patterns, it is important to do the following:</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Capture traffic during peak utilization times to get a good representation of the different traffic types.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Perform the capture on different network segments and devices as some traffic will be local to a particular segment.</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Information gathered by the protocol analyzer is evaluated based on the source and destination of the traffic, as well as the type of traffic being sent. </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This analysis can be used to make decisions on how to manage the traffic more efficiently.</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Scale to Larger Networks</a:t>
            </a:r>
            <a:br/>
            <a:r>
              <a:rPr b="0" lang="en-US" sz="2400" spc="-1" strike="noStrike">
                <a:solidFill>
                  <a:srgbClr val="004c69"/>
                </a:solidFill>
                <a:latin typeface="Arial"/>
                <a:ea typeface="ＭＳ Ｐゴシック"/>
              </a:rPr>
              <a:t>Employee Network Utilization</a:t>
            </a:r>
            <a:endParaRPr b="0" lang="en-US" sz="2400" spc="-1" strike="noStrike">
              <a:solidFill>
                <a:srgbClr val="58585b"/>
              </a:solidFill>
              <a:latin typeface="Arial"/>
            </a:endParaRPr>
          </a:p>
        </p:txBody>
      </p:sp>
      <p:sp>
        <p:nvSpPr>
          <p:cNvPr id="367" name="PlaceHolder 2"/>
          <p:cNvSpPr>
            <a:spLocks noGrp="1"/>
          </p:cNvSpPr>
          <p:nvPr>
            <p:ph/>
          </p:nvPr>
        </p:nvSpPr>
        <p:spPr>
          <a:xfrm>
            <a:off x="66600" y="609480"/>
            <a:ext cx="8972280" cy="409536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Many operating systems provide built-in tools to display such network utilization information. These tools can be used to capture a “snapshot” of information such as the following:</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OS and OS Version</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CPU utilization</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RAM utilization</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Drive utilization</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Non-Network applications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Network applications</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Documenting snapshots for employees in a small network over a period of time is very useful to identify evolving protocol requirements and associated traffic flows. </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17.4 Verify Connectivity</a:t>
            </a:r>
            <a:endParaRPr b="0" lang="en-US" sz="4600" spc="-1" strike="noStrike">
              <a:solidFill>
                <a:srgbClr val="58585b"/>
              </a:solidFill>
              <a:latin typeface="Arial"/>
            </a:endParaRPr>
          </a:p>
        </p:txBody>
      </p:sp>
    </p:spTree>
  </p:cSld>
  <p:transition spd="slow">
    <p:wipe dir="l"/>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Verify Connectivity with Ping</a:t>
            </a:r>
            <a:endParaRPr b="0" lang="en-US" sz="2400" spc="-1" strike="noStrike">
              <a:solidFill>
                <a:srgbClr val="58585b"/>
              </a:solidFill>
              <a:latin typeface="Arial"/>
            </a:endParaRPr>
          </a:p>
        </p:txBody>
      </p:sp>
      <p:sp>
        <p:nvSpPr>
          <p:cNvPr id="370" name="PlaceHolder 2"/>
          <p:cNvSpPr>
            <a:spLocks noGrp="1"/>
          </p:cNvSpPr>
          <p:nvPr>
            <p:ph/>
          </p:nvPr>
        </p:nvSpPr>
        <p:spPr>
          <a:xfrm>
            <a:off x="133200" y="687600"/>
            <a:ext cx="8620920" cy="17737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Whether your network is small and new, or you are scaling an existing network, you will always want to be able to verify that your components are properly connected to each other and to the internet.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ping command, available on most operating systems, is the most effective way to quickly test Layer 3 connectivity between a source and destination IP address.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ping command uses the Internet Control Message Protocol (ICMP) echo (ICMP Type 8) and echo reply (ICMP Type 0) messages. </a:t>
            </a:r>
            <a:endParaRPr b="0" lang="en-US" sz="1600" spc="-1" strike="noStrike">
              <a:solidFill>
                <a:srgbClr val="58585b"/>
              </a:solidFill>
              <a:latin typeface="Arial"/>
            </a:endParaRPr>
          </a:p>
        </p:txBody>
      </p:sp>
      <p:pic>
        <p:nvPicPr>
          <p:cNvPr id="371" name="Picture 7" descr=""/>
          <p:cNvPicPr/>
          <p:nvPr/>
        </p:nvPicPr>
        <p:blipFill>
          <a:blip r:embed="rId1"/>
          <a:stretch/>
        </p:blipFill>
        <p:spPr>
          <a:xfrm>
            <a:off x="216720" y="2847960"/>
            <a:ext cx="4458960" cy="1402560"/>
          </a:xfrm>
          <a:prstGeom prst="rect">
            <a:avLst/>
          </a:prstGeom>
          <a:ln w="0">
            <a:noFill/>
          </a:ln>
        </p:spPr>
      </p:pic>
      <p:pic>
        <p:nvPicPr>
          <p:cNvPr id="372" name="Picture 8" descr=""/>
          <p:cNvPicPr/>
          <p:nvPr/>
        </p:nvPicPr>
        <p:blipFill>
          <a:blip r:embed="rId2"/>
          <a:stretch/>
        </p:blipFill>
        <p:spPr>
          <a:xfrm>
            <a:off x="4745160" y="3549240"/>
            <a:ext cx="4352400" cy="1237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Verify Connectivity with Ping (Cont.)</a:t>
            </a:r>
            <a:endParaRPr b="0" lang="en-US" sz="2400" spc="-1" strike="noStrike">
              <a:solidFill>
                <a:srgbClr val="58585b"/>
              </a:solidFill>
              <a:latin typeface="Arial"/>
            </a:endParaRPr>
          </a:p>
        </p:txBody>
      </p:sp>
      <p:sp>
        <p:nvSpPr>
          <p:cNvPr id="374" name="PlaceHolder 2"/>
          <p:cNvSpPr>
            <a:spLocks noGrp="1"/>
          </p:cNvSpPr>
          <p:nvPr>
            <p:ph/>
          </p:nvPr>
        </p:nvSpPr>
        <p:spPr>
          <a:xfrm>
            <a:off x="257040" y="624960"/>
            <a:ext cx="8497080" cy="12013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On a Windows 10 host, the ping command sends four consecutive ICMP echo messages and expects four consecutive ICMP echo replies from the destination. The IOS ping sends five ICMP echo messages and displays an indicator for each ICMP echo reply received.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IOS Ping Indicators are as follows:</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graphicFrame>
        <p:nvGraphicFramePr>
          <p:cNvPr id="375" name="Table 6"/>
          <p:cNvGraphicFramePr/>
          <p:nvPr/>
        </p:nvGraphicFramePr>
        <p:xfrm>
          <a:off x="474840" y="2017440"/>
          <a:ext cx="8279640" cy="1112040"/>
        </p:xfrm>
        <a:graphic>
          <a:graphicData uri="http://schemas.openxmlformats.org/drawingml/2006/table">
            <a:tbl>
              <a:tblPr/>
              <a:tblGrid>
                <a:gridCol w="940680"/>
                <a:gridCol w="7338960"/>
              </a:tblGrid>
              <a:tr h="266040">
                <a:tc>
                  <a:txBody>
                    <a:bodyPr lIns="47520" rIns="47520" tIns="47520" bIns="47520" anchor="ctr">
                      <a:noAutofit/>
                    </a:bodyPr>
                    <a:p>
                      <a:pPr>
                        <a:lnSpc>
                          <a:spcPct val="100000"/>
                        </a:lnSpc>
                        <a:buNone/>
                      </a:pPr>
                      <a:r>
                        <a:rPr b="1" lang="en-US" sz="1200" spc="-1" strike="noStrike">
                          <a:solidFill>
                            <a:srgbClr val="ffffff"/>
                          </a:solidFill>
                          <a:latin typeface="Arial"/>
                        </a:rPr>
                        <a:t>Element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436680">
                <a:tc>
                  <a:txBody>
                    <a:bodyPr lIns="47520" rIns="47520" tIns="47520" bIns="47520" anchor="ctr">
                      <a:noAutofit/>
                    </a:bodyPr>
                    <a:p>
                      <a:pPr>
                        <a:lnSpc>
                          <a:spcPct val="100000"/>
                        </a:lnSpc>
                        <a:buNone/>
                      </a:pPr>
                      <a:r>
                        <a:rPr b="1" lang="en-US" sz="1200" spc="-1" strike="noStrike">
                          <a:solidFill>
                            <a:srgbClr val="000000"/>
                          </a:solidFill>
                          <a:latin typeface="Arial"/>
                        </a:rPr>
                        <a: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Exclamation mark indicates successful receipt of an echo reply message.</a:t>
                      </a:r>
                      <a:endParaRPr b="0" lang="en-JM"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Arial"/>
                        </a:rPr>
                        <a:t>It validates a Layer 3 connection between source and destination.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1" lang="en-US" sz="1200" spc="-1" strike="noStrike">
                          <a:solidFill>
                            <a:srgbClr val="000000"/>
                          </a:solidFill>
                          <a:latin typeface="Arial"/>
                        </a:rPr>
                        <a:t>.</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A period means that time expired waiting for an echo reply message.</a:t>
                      </a:r>
                      <a:endParaRPr b="0" lang="en-JM"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Arial"/>
                        </a:rPr>
                        <a:t>This indicates a connectivity problem occurred somewhere along the path.</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777960">
                <a:tc>
                  <a:txBody>
                    <a:bodyPr lIns="47520" rIns="47520" tIns="47520" bIns="47520" anchor="ctr">
                      <a:noAutofit/>
                    </a:bodyPr>
                    <a:p>
                      <a:pPr>
                        <a:lnSpc>
                          <a:spcPct val="100000"/>
                        </a:lnSpc>
                        <a:buNone/>
                      </a:pPr>
                      <a:r>
                        <a:rPr b="1" lang="en-US" sz="1200" spc="-1" strike="noStrike">
                          <a:solidFill>
                            <a:srgbClr val="000000"/>
                          </a:solidFill>
                          <a:latin typeface="Arial"/>
                        </a:rPr>
                        <a:t>U</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Uppercase </a:t>
                      </a:r>
                      <a:r>
                        <a:rPr b="1" lang="en-US" sz="1200" spc="-1" strike="noStrike">
                          <a:solidFill>
                            <a:srgbClr val="000000"/>
                          </a:solidFill>
                          <a:latin typeface="Arial"/>
                        </a:rPr>
                        <a:t>U</a:t>
                      </a:r>
                      <a:r>
                        <a:rPr b="0" lang="en-US" sz="1200" spc="-1" strike="noStrike">
                          <a:solidFill>
                            <a:srgbClr val="000000"/>
                          </a:solidFill>
                          <a:latin typeface="Arial"/>
                        </a:rPr>
                        <a:t> indicates a router along the path responded with an ICMP Type 3 “destination unreachable” error message.</a:t>
                      </a:r>
                      <a:endParaRPr b="0" lang="en-JM"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Arial"/>
                        </a:rPr>
                        <a:t>Possible reasons include the router does not know the direction to the destination network or it could not find the host on the destination network.</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
        <p:nvSpPr>
          <p:cNvPr id="376" name="TextBox 1"/>
          <p:cNvSpPr/>
          <p:nvPr/>
        </p:nvSpPr>
        <p:spPr>
          <a:xfrm>
            <a:off x="451080" y="4234680"/>
            <a:ext cx="828576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Arial"/>
                <a:ea typeface="ＭＳ Ｐゴシック"/>
              </a:rPr>
              <a:t>Note:</a:t>
            </a:r>
            <a:r>
              <a:rPr b="0" lang="en-US" sz="1200" spc="-1" strike="noStrike">
                <a:solidFill>
                  <a:srgbClr val="000000"/>
                </a:solidFill>
                <a:latin typeface="Arial"/>
                <a:ea typeface="ＭＳ Ｐゴシック"/>
              </a:rPr>
              <a:t> Other possible ping replies include Q, M, ?, or &amp;. However, the meaning of these are out of scope for this module.</a:t>
            </a:r>
            <a:endParaRPr b="0" lang="en-JM" sz="1200" spc="-1" strike="noStrike">
              <a:latin typeface="Arial"/>
            </a:endParaRPr>
          </a:p>
          <a:p>
            <a:pPr>
              <a:lnSpc>
                <a:spcPct val="100000"/>
              </a:lnSpc>
              <a:buNone/>
            </a:pPr>
            <a:endParaRPr b="0" lang="en-JM" sz="1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Extended Ping</a:t>
            </a:r>
            <a:endParaRPr b="0" lang="en-US" sz="2400" spc="-1" strike="noStrike">
              <a:solidFill>
                <a:srgbClr val="58585b"/>
              </a:solidFill>
              <a:latin typeface="Arial"/>
            </a:endParaRPr>
          </a:p>
        </p:txBody>
      </p:sp>
      <p:sp>
        <p:nvSpPr>
          <p:cNvPr id="378" name="PlaceHolder 2"/>
          <p:cNvSpPr>
            <a:spLocks noGrp="1"/>
          </p:cNvSpPr>
          <p:nvPr>
            <p:ph/>
          </p:nvPr>
        </p:nvSpPr>
        <p:spPr>
          <a:xfrm>
            <a:off x="266760" y="731880"/>
            <a:ext cx="3723120" cy="362736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The Cisco IOS offers an "extended" mode of the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 command.</a:t>
            </a:r>
            <a:endParaRPr b="0" lang="en-US" sz="1500" spc="-1" strike="noStrike">
              <a:solidFill>
                <a:srgbClr val="58585b"/>
              </a:solidFill>
              <a:latin typeface="Arial"/>
            </a:endParaRPr>
          </a:p>
          <a:p>
            <a:pPr>
              <a:lnSpc>
                <a:spcPct val="100000"/>
              </a:lnSpc>
              <a:spcBef>
                <a:spcPts val="300"/>
              </a:spcBef>
              <a:buNone/>
              <a:tabLst>
                <a:tab algn="l" pos="0"/>
              </a:tabLst>
            </a:pPr>
            <a:endParaRPr b="0" lang="en-US" sz="1500" spc="-1" strike="noStrike">
              <a:solidFill>
                <a:srgbClr val="58585b"/>
              </a:solidFill>
              <a:latin typeface="Arial"/>
            </a:endParaRPr>
          </a:p>
          <a:p>
            <a:pPr>
              <a:lnSpc>
                <a:spcPct val="100000"/>
              </a:lnSpc>
              <a:spcBef>
                <a:spcPts val="300"/>
              </a:spcBef>
              <a:buNone/>
              <a:tabLst>
                <a:tab algn="l" pos="0"/>
              </a:tabLst>
            </a:pPr>
            <a:r>
              <a:rPr b="0" lang="en-US" sz="1500" spc="-1" strike="noStrike">
                <a:solidFill>
                  <a:srgbClr val="000000"/>
                </a:solidFill>
                <a:latin typeface="Arial"/>
                <a:ea typeface="ＭＳ Ｐゴシック"/>
              </a:rPr>
              <a:t>Extended ping is entered in privileged EXEC mode by typing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 without a destination IP address. You will then be given several prompts to customize the extended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a:t>
            </a:r>
            <a:endParaRPr b="0" lang="en-US" sz="1500" spc="-1" strike="noStrike">
              <a:solidFill>
                <a:srgbClr val="58585b"/>
              </a:solidFill>
              <a:latin typeface="Arial"/>
            </a:endParaRPr>
          </a:p>
          <a:p>
            <a:pPr>
              <a:lnSpc>
                <a:spcPct val="100000"/>
              </a:lnSpc>
              <a:spcBef>
                <a:spcPts val="300"/>
              </a:spcBef>
              <a:buNone/>
              <a:tabLst>
                <a:tab algn="l" pos="0"/>
              </a:tabLst>
            </a:pPr>
            <a:endParaRPr b="0" lang="en-US" sz="1500" spc="-1" strike="noStrike">
              <a:solidFill>
                <a:srgbClr val="58585b"/>
              </a:solidFill>
              <a:latin typeface="Arial"/>
            </a:endParaRPr>
          </a:p>
          <a:p>
            <a:pPr>
              <a:lnSpc>
                <a:spcPct val="100000"/>
              </a:lnSpc>
              <a:spcBef>
                <a:spcPts val="300"/>
              </a:spcBef>
              <a:buNone/>
              <a:tabLst>
                <a:tab algn="l" pos="0"/>
              </a:tabLst>
            </a:pPr>
            <a:r>
              <a:rPr b="1" lang="en-US" sz="1500" spc="-1" strike="noStrike">
                <a:solidFill>
                  <a:srgbClr val="000000"/>
                </a:solidFill>
                <a:latin typeface="Arial"/>
                <a:ea typeface="ＭＳ Ｐゴシック"/>
              </a:rPr>
              <a:t>Note:</a:t>
            </a:r>
            <a:r>
              <a:rPr b="0" lang="en-US" sz="1500" spc="-1" strike="noStrike">
                <a:solidFill>
                  <a:srgbClr val="000000"/>
                </a:solidFill>
                <a:latin typeface="Arial"/>
                <a:ea typeface="ＭＳ Ｐゴシック"/>
              </a:rPr>
              <a:t> Pressing </a:t>
            </a:r>
            <a:r>
              <a:rPr b="1" lang="en-US" sz="1500" spc="-1" strike="noStrike">
                <a:solidFill>
                  <a:srgbClr val="000000"/>
                </a:solidFill>
                <a:latin typeface="Arial"/>
                <a:ea typeface="ＭＳ Ｐゴシック"/>
              </a:rPr>
              <a:t>Enter</a:t>
            </a:r>
            <a:r>
              <a:rPr b="0" lang="en-US" sz="1500" spc="-1" strike="noStrike">
                <a:solidFill>
                  <a:srgbClr val="000000"/>
                </a:solidFill>
                <a:latin typeface="Arial"/>
                <a:ea typeface="ＭＳ Ｐゴシック"/>
              </a:rPr>
              <a:t> accepts the indicated default values. The </a:t>
            </a:r>
            <a:r>
              <a:rPr b="1" lang="en-US" sz="1500" spc="-1" strike="noStrike">
                <a:solidFill>
                  <a:srgbClr val="000000"/>
                </a:solidFill>
                <a:latin typeface="Arial"/>
                <a:ea typeface="ＭＳ Ｐゴシック"/>
              </a:rPr>
              <a:t>ping ipv6</a:t>
            </a:r>
            <a:r>
              <a:rPr b="0" lang="en-US" sz="1500" spc="-1" strike="noStrike">
                <a:solidFill>
                  <a:srgbClr val="000000"/>
                </a:solidFill>
                <a:latin typeface="Arial"/>
                <a:ea typeface="ＭＳ Ｐゴシック"/>
              </a:rPr>
              <a:t> command is used for IPv6 extended pings.</a:t>
            </a:r>
            <a:endParaRPr b="0" lang="en-US" sz="1500" spc="-1" strike="noStrike">
              <a:solidFill>
                <a:srgbClr val="58585b"/>
              </a:solidFill>
              <a:latin typeface="Arial"/>
            </a:endParaRPr>
          </a:p>
          <a:p>
            <a:pPr>
              <a:lnSpc>
                <a:spcPct val="100000"/>
              </a:lnSpc>
              <a:spcBef>
                <a:spcPts val="281"/>
              </a:spcBef>
              <a:buNone/>
              <a:tabLst>
                <a:tab algn="l" pos="0"/>
              </a:tabLst>
            </a:pPr>
            <a:endParaRPr b="0" lang="en-US" sz="1500" spc="-1" strike="noStrike">
              <a:solidFill>
                <a:srgbClr val="58585b"/>
              </a:solidFill>
              <a:latin typeface="Arial"/>
            </a:endParaRPr>
          </a:p>
        </p:txBody>
      </p:sp>
      <p:pic>
        <p:nvPicPr>
          <p:cNvPr id="379" name="Picture 7" descr=""/>
          <p:cNvPicPr/>
          <p:nvPr/>
        </p:nvPicPr>
        <p:blipFill>
          <a:blip r:embed="rId1"/>
          <a:stretch/>
        </p:blipFill>
        <p:spPr>
          <a:xfrm>
            <a:off x="3990240" y="616320"/>
            <a:ext cx="4768200" cy="3910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Verify Connectivity with Traceroute</a:t>
            </a:r>
            <a:endParaRPr b="0" lang="en-US" sz="2400" spc="-1" strike="noStrike">
              <a:solidFill>
                <a:srgbClr val="58585b"/>
              </a:solidFill>
              <a:latin typeface="Arial"/>
            </a:endParaRPr>
          </a:p>
        </p:txBody>
      </p:sp>
      <p:sp>
        <p:nvSpPr>
          <p:cNvPr id="381" name="PlaceHolder 2"/>
          <p:cNvSpPr>
            <a:spLocks noGrp="1"/>
          </p:cNvSpPr>
          <p:nvPr>
            <p:ph/>
          </p:nvPr>
        </p:nvSpPr>
        <p:spPr>
          <a:xfrm>
            <a:off x="162000" y="731880"/>
            <a:ext cx="8592480" cy="14490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 ping command is useful to quickly determine if there is a Layer 3 connectivity problem. However, it does not identify where the problem is located along the path.</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Traceroute can help locate Layer 3 problem areas in a network. A trace returns a list of hops as a packet is routed through a network.</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syntax of the trace command varies between operating systems.</a:t>
            </a:r>
            <a:endParaRPr b="0" lang="en-US" sz="1600" spc="-1" strike="noStrike">
              <a:solidFill>
                <a:srgbClr val="58585b"/>
              </a:solidFill>
              <a:latin typeface="Arial"/>
            </a:endParaRPr>
          </a:p>
        </p:txBody>
      </p:sp>
      <p:pic>
        <p:nvPicPr>
          <p:cNvPr id="382" name="Picture 4" descr=""/>
          <p:cNvPicPr/>
          <p:nvPr/>
        </p:nvPicPr>
        <p:blipFill>
          <a:blip r:embed="rId1"/>
          <a:stretch/>
        </p:blipFill>
        <p:spPr>
          <a:xfrm>
            <a:off x="1278720" y="2463840"/>
            <a:ext cx="6586200" cy="2295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Verify Connectivity with Traceroute (Cont.)</a:t>
            </a:r>
            <a:endParaRPr b="0" lang="en-US" sz="2400" spc="-1" strike="noStrike">
              <a:solidFill>
                <a:srgbClr val="58585b"/>
              </a:solidFill>
              <a:latin typeface="Arial"/>
            </a:endParaRPr>
          </a:p>
        </p:txBody>
      </p:sp>
      <p:sp>
        <p:nvSpPr>
          <p:cNvPr id="384" name="PlaceHolder 2"/>
          <p:cNvSpPr>
            <a:spLocks noGrp="1"/>
          </p:cNvSpPr>
          <p:nvPr>
            <p:ph/>
          </p:nvPr>
        </p:nvSpPr>
        <p:spPr>
          <a:xfrm>
            <a:off x="474840" y="731880"/>
            <a:ext cx="8279640" cy="174132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following is a sample output of </a:t>
            </a:r>
            <a:r>
              <a:rPr b="1" lang="en-US" sz="1600" spc="-1" strike="noStrike">
                <a:solidFill>
                  <a:srgbClr val="000000"/>
                </a:solidFill>
                <a:latin typeface="Arial"/>
                <a:ea typeface="ＭＳ Ｐゴシック"/>
              </a:rPr>
              <a:t>tracert</a:t>
            </a:r>
            <a:r>
              <a:rPr b="0" lang="en-US" sz="1600" spc="-1" strike="noStrike">
                <a:solidFill>
                  <a:srgbClr val="000000"/>
                </a:solidFill>
                <a:latin typeface="Arial"/>
                <a:ea typeface="ＭＳ Ｐゴシック"/>
              </a:rPr>
              <a:t> command on a Windows 10 host.</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	</a:t>
            </a:r>
            <a:r>
              <a:rPr b="0" lang="en-US" sz="1600" spc="-1" strike="noStrike">
                <a:solidFill>
                  <a:srgbClr val="000000"/>
                </a:solidFill>
                <a:latin typeface="Arial"/>
                <a:ea typeface="ＭＳ Ｐゴシック"/>
              </a:rPr>
              <a:t>	</a:t>
            </a: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Use </a:t>
            </a:r>
            <a:r>
              <a:rPr b="1" lang="en-US" sz="1600" spc="-1" strike="noStrike">
                <a:solidFill>
                  <a:srgbClr val="000000"/>
                </a:solidFill>
                <a:latin typeface="Arial"/>
                <a:ea typeface="ＭＳ Ｐゴシック"/>
              </a:rPr>
              <a:t>Ctrl-C</a:t>
            </a:r>
            <a:r>
              <a:rPr b="0" lang="en-US" sz="1600" spc="-1" strike="noStrike">
                <a:solidFill>
                  <a:srgbClr val="000000"/>
                </a:solidFill>
                <a:latin typeface="Arial"/>
                <a:ea typeface="ＭＳ Ｐゴシック"/>
              </a:rPr>
              <a:t> to interrupt a </a:t>
            </a:r>
            <a:r>
              <a:rPr b="1" lang="en-US" sz="1600" spc="-1" strike="noStrike">
                <a:solidFill>
                  <a:srgbClr val="000000"/>
                </a:solidFill>
                <a:latin typeface="Arial"/>
                <a:ea typeface="ＭＳ Ｐゴシック"/>
              </a:rPr>
              <a:t>tracert</a:t>
            </a:r>
            <a:r>
              <a:rPr b="0" lang="en-US" sz="1600" spc="-1" strike="noStrike">
                <a:solidFill>
                  <a:srgbClr val="000000"/>
                </a:solidFill>
                <a:latin typeface="Arial"/>
                <a:ea typeface="ＭＳ Ｐゴシック"/>
              </a:rPr>
              <a:t> in Windows.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only successful response was from the gateway on R1. Trace requests to the next hop timed out as indicated by the asterisk (*), meaning that the next hop router did not respond or there is a failure in the network path. In this example there appears to be a problem between R1 and R2.</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85" name="Picture 1" descr=""/>
          <p:cNvPicPr/>
          <p:nvPr/>
        </p:nvPicPr>
        <p:blipFill>
          <a:blip r:embed="rId1"/>
          <a:stretch/>
        </p:blipFill>
        <p:spPr>
          <a:xfrm>
            <a:off x="2274480" y="2576880"/>
            <a:ext cx="4142880" cy="1923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Verify Connectivity with Traceroute (Cont.)</a:t>
            </a:r>
            <a:endParaRPr b="0" lang="en-US" sz="2400" spc="-1" strike="noStrike">
              <a:solidFill>
                <a:srgbClr val="58585b"/>
              </a:solidFill>
              <a:latin typeface="Arial"/>
            </a:endParaRPr>
          </a:p>
        </p:txBody>
      </p:sp>
      <p:sp>
        <p:nvSpPr>
          <p:cNvPr id="387" name="PlaceHolder 2"/>
          <p:cNvSpPr>
            <a:spLocks noGrp="1"/>
          </p:cNvSpPr>
          <p:nvPr>
            <p:ph/>
          </p:nvPr>
        </p:nvSpPr>
        <p:spPr>
          <a:xfrm>
            <a:off x="389160" y="731880"/>
            <a:ext cx="8754480" cy="3139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 following are sample outputs of traceroute command from R1:</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88" name="Picture 4" descr=""/>
          <p:cNvPicPr/>
          <p:nvPr/>
        </p:nvPicPr>
        <p:blipFill>
          <a:blip r:embed="rId1"/>
          <a:stretch/>
        </p:blipFill>
        <p:spPr>
          <a:xfrm>
            <a:off x="1000080" y="1046160"/>
            <a:ext cx="2998800" cy="1671480"/>
          </a:xfrm>
          <a:prstGeom prst="rect">
            <a:avLst/>
          </a:prstGeom>
          <a:ln w="0">
            <a:noFill/>
          </a:ln>
        </p:spPr>
      </p:pic>
      <p:pic>
        <p:nvPicPr>
          <p:cNvPr id="389" name="Picture 5" descr=""/>
          <p:cNvPicPr/>
          <p:nvPr/>
        </p:nvPicPr>
        <p:blipFill>
          <a:blip r:embed="rId2"/>
          <a:stretch/>
        </p:blipFill>
        <p:spPr>
          <a:xfrm>
            <a:off x="4386600" y="1046160"/>
            <a:ext cx="2745360" cy="1671480"/>
          </a:xfrm>
          <a:prstGeom prst="rect">
            <a:avLst/>
          </a:prstGeom>
          <a:ln w="0">
            <a:noFill/>
          </a:ln>
        </p:spPr>
      </p:pic>
      <p:sp>
        <p:nvSpPr>
          <p:cNvPr id="390" name="TextBox 6"/>
          <p:cNvSpPr/>
          <p:nvPr/>
        </p:nvSpPr>
        <p:spPr>
          <a:xfrm>
            <a:off x="600480" y="2800440"/>
            <a:ext cx="8016840" cy="2129400"/>
          </a:xfrm>
          <a:prstGeom prst="rect">
            <a:avLst/>
          </a:prstGeom>
          <a:noFill/>
          <a:ln w="0">
            <a:noFill/>
          </a:ln>
        </p:spPr>
        <p:style>
          <a:lnRef idx="0"/>
          <a:fillRef idx="0"/>
          <a:effectRef idx="0"/>
          <a:fontRef idx="minor"/>
        </p:style>
        <p:txBody>
          <a:bodyPr lIns="90000" rIns="90000" tIns="45000" bIns="45000" anchor="t">
            <a:spAutoFit/>
          </a:bodyPr>
          <a:p>
            <a:pPr lvl="1" marL="358920" indent="-285840">
              <a:lnSpc>
                <a:spcPct val="100000"/>
              </a:lnSpc>
              <a:buClr>
                <a:srgbClr val="000000"/>
              </a:buClr>
              <a:buFont typeface="Arial"/>
              <a:buChar char="•"/>
            </a:pPr>
            <a:r>
              <a:rPr b="0" lang="en-US" sz="1600" spc="-1" strike="noStrike">
                <a:solidFill>
                  <a:srgbClr val="000000"/>
                </a:solidFill>
                <a:latin typeface="Arial"/>
                <a:ea typeface="ＭＳ Ｐゴシック"/>
              </a:rPr>
              <a:t>On the left, the trace validated that it could successfully reach PC B.</a:t>
            </a:r>
            <a:endParaRPr b="0" lang="en-JM" sz="1600" spc="-1" strike="noStrike">
              <a:latin typeface="Arial"/>
            </a:endParaRPr>
          </a:p>
          <a:p>
            <a:pPr lvl="1" marL="358920" indent="-285840">
              <a:lnSpc>
                <a:spcPct val="100000"/>
              </a:lnSpc>
              <a:buClr>
                <a:srgbClr val="000000"/>
              </a:buClr>
              <a:buFont typeface="Arial"/>
              <a:buChar char="•"/>
            </a:pPr>
            <a:r>
              <a:rPr b="0" lang="en-US" sz="1600" spc="-1" strike="noStrike">
                <a:solidFill>
                  <a:srgbClr val="000000"/>
                </a:solidFill>
                <a:latin typeface="Arial"/>
                <a:ea typeface="ＭＳ Ｐゴシック"/>
              </a:rPr>
              <a:t>On the right, the 10.1.1.10 host was not available, and the output shows asterisks where replies timed out. Timeouts indicate a potential network problem. </a:t>
            </a:r>
            <a:endParaRPr b="0" lang="en-JM" sz="1600" spc="-1" strike="noStrike">
              <a:latin typeface="Arial"/>
            </a:endParaRPr>
          </a:p>
          <a:p>
            <a:pPr lvl="1" marL="358920" indent="-285840">
              <a:lnSpc>
                <a:spcPct val="100000"/>
              </a:lnSpc>
              <a:buClr>
                <a:srgbClr val="000000"/>
              </a:buClr>
              <a:buFont typeface="Arial"/>
              <a:buChar char="•"/>
            </a:pPr>
            <a:r>
              <a:rPr b="0" lang="en-US" sz="1600" spc="-1" strike="noStrike">
                <a:solidFill>
                  <a:srgbClr val="000000"/>
                </a:solidFill>
                <a:latin typeface="Arial"/>
                <a:ea typeface="ＭＳ Ｐゴシック"/>
              </a:rPr>
              <a:t>Use </a:t>
            </a:r>
            <a:r>
              <a:rPr b="1" lang="en-US" sz="1600" spc="-1" strike="noStrike">
                <a:solidFill>
                  <a:srgbClr val="000000"/>
                </a:solidFill>
                <a:latin typeface="Arial"/>
                <a:ea typeface="ＭＳ Ｐゴシック"/>
              </a:rPr>
              <a:t>Ctrl-Shift-6</a:t>
            </a:r>
            <a:r>
              <a:rPr b="0" lang="en-US" sz="1600" spc="-1" strike="noStrike">
                <a:solidFill>
                  <a:srgbClr val="000000"/>
                </a:solidFill>
                <a:latin typeface="Arial"/>
                <a:ea typeface="ＭＳ Ｐゴシック"/>
              </a:rPr>
              <a:t> to interrupt a </a:t>
            </a:r>
            <a:r>
              <a:rPr b="1" lang="en-US" sz="1600" spc="-1" strike="noStrike">
                <a:solidFill>
                  <a:srgbClr val="000000"/>
                </a:solidFill>
                <a:latin typeface="Arial"/>
                <a:ea typeface="ＭＳ Ｐゴシック"/>
              </a:rPr>
              <a:t>traceroute</a:t>
            </a:r>
            <a:r>
              <a:rPr b="0" lang="en-US" sz="1600" spc="-1" strike="noStrike">
                <a:solidFill>
                  <a:srgbClr val="000000"/>
                </a:solidFill>
                <a:latin typeface="Arial"/>
                <a:ea typeface="ＭＳ Ｐゴシック"/>
              </a:rPr>
              <a:t> in Cisco IOS.</a:t>
            </a:r>
            <a:endParaRPr b="0" lang="en-JM" sz="1600" spc="-1" strike="noStrike">
              <a:latin typeface="Arial"/>
            </a:endParaRPr>
          </a:p>
          <a:p>
            <a:pPr>
              <a:lnSpc>
                <a:spcPct val="100000"/>
              </a:lnSpc>
              <a:buNone/>
            </a:pPr>
            <a:endParaRPr b="0" lang="en-JM" sz="1600" spc="-1" strike="noStrike">
              <a:latin typeface="Arial"/>
            </a:endParaRPr>
          </a:p>
          <a:p>
            <a:pPr>
              <a:lnSpc>
                <a:spcPct val="100000"/>
              </a:lnSpc>
              <a:buNone/>
            </a:pPr>
            <a:r>
              <a:rPr b="1" lang="en-US" sz="1400" spc="-1" strike="noStrike">
                <a:solidFill>
                  <a:srgbClr val="000000"/>
                </a:solidFill>
                <a:latin typeface="Arial"/>
                <a:ea typeface="ＭＳ Ｐゴシック"/>
              </a:rPr>
              <a:t>Note</a:t>
            </a:r>
            <a:r>
              <a:rPr b="0" lang="en-US" sz="1400" spc="-1" strike="noStrike">
                <a:solidFill>
                  <a:srgbClr val="000000"/>
                </a:solidFill>
                <a:latin typeface="Arial"/>
                <a:ea typeface="ＭＳ Ｐゴシック"/>
              </a:rPr>
              <a:t>: Windows implementation of traceroute (tracert) sends ICMP Echo Requests. Cisco IOS and Linux use UDP with an invalid port number. The final destination will return an ICMP port unreachable message.</a:t>
            </a:r>
            <a:endParaRPr b="0" lang="en-JM" sz="1400" spc="-1" strike="noStrike">
              <a:latin typeface="Arial"/>
            </a:endParaRPr>
          </a:p>
          <a:p>
            <a:pPr>
              <a:lnSpc>
                <a:spcPct val="100000"/>
              </a:lnSpc>
              <a:buNone/>
            </a:pPr>
            <a:endParaRPr b="0" lang="en-JM"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Extended Traceroute</a:t>
            </a:r>
            <a:endParaRPr b="0" lang="en-US" sz="2400" spc="-1" strike="noStrike">
              <a:solidFill>
                <a:srgbClr val="58585b"/>
              </a:solidFill>
              <a:latin typeface="Arial"/>
            </a:endParaRPr>
          </a:p>
        </p:txBody>
      </p:sp>
      <p:sp>
        <p:nvSpPr>
          <p:cNvPr id="392" name="PlaceHolder 2"/>
          <p:cNvSpPr>
            <a:spLocks noGrp="1"/>
          </p:cNvSpPr>
          <p:nvPr>
            <p:ph/>
          </p:nvPr>
        </p:nvSpPr>
        <p:spPr>
          <a:xfrm>
            <a:off x="443520" y="731880"/>
            <a:ext cx="8345160" cy="1839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Like the extended </a:t>
            </a:r>
            <a:r>
              <a:rPr b="1" lang="en-US" sz="1600" spc="-1" strike="noStrike">
                <a:solidFill>
                  <a:srgbClr val="000000"/>
                </a:solidFill>
                <a:latin typeface="Arial"/>
                <a:ea typeface="ＭＳ Ｐゴシック"/>
              </a:rPr>
              <a:t>ping</a:t>
            </a:r>
            <a:r>
              <a:rPr b="0" lang="en-US" sz="1600" spc="-1" strike="noStrike">
                <a:solidFill>
                  <a:srgbClr val="000000"/>
                </a:solidFill>
                <a:latin typeface="Arial"/>
                <a:ea typeface="ＭＳ Ｐゴシック"/>
              </a:rPr>
              <a:t> command, there is also an extended </a:t>
            </a:r>
            <a:r>
              <a:rPr b="1" lang="en-US" sz="1600" spc="-1" strike="noStrike">
                <a:solidFill>
                  <a:srgbClr val="000000"/>
                </a:solidFill>
                <a:latin typeface="Arial"/>
                <a:ea typeface="ＭＳ Ｐゴシック"/>
              </a:rPr>
              <a:t>traceroute</a:t>
            </a:r>
            <a:r>
              <a:rPr b="0" lang="en-US" sz="1600" spc="-1" strike="noStrike">
                <a:solidFill>
                  <a:srgbClr val="000000"/>
                </a:solidFill>
                <a:latin typeface="Arial"/>
                <a:ea typeface="ＭＳ Ｐゴシック"/>
              </a:rPr>
              <a:t> command. It allows the administrator to adjust parameters related to the command operation.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 Windows </a:t>
            </a:r>
            <a:r>
              <a:rPr b="1" lang="en-US" sz="1600" spc="-1" strike="noStrike">
                <a:solidFill>
                  <a:srgbClr val="000000"/>
                </a:solidFill>
                <a:latin typeface="Arial"/>
                <a:ea typeface="ＭＳ Ｐゴシック"/>
              </a:rPr>
              <a:t>tracert</a:t>
            </a:r>
            <a:r>
              <a:rPr b="0" lang="en-US" sz="1600" spc="-1" strike="noStrike">
                <a:solidFill>
                  <a:srgbClr val="000000"/>
                </a:solidFill>
                <a:latin typeface="Arial"/>
                <a:ea typeface="ＭＳ Ｐゴシック"/>
              </a:rPr>
              <a:t> command allows the input of several parameters through options in the command line. However, it is not guided like the extended traceroute IOS command. The following output displays the available options for the Windows </a:t>
            </a:r>
            <a:r>
              <a:rPr b="1" lang="en-US" sz="1600" spc="-1" strike="noStrike">
                <a:solidFill>
                  <a:srgbClr val="000000"/>
                </a:solidFill>
                <a:latin typeface="Arial"/>
                <a:ea typeface="ＭＳ Ｐゴシック"/>
              </a:rPr>
              <a:t>tracert</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93" name="Picture 7" descr=""/>
          <p:cNvPicPr/>
          <p:nvPr/>
        </p:nvPicPr>
        <p:blipFill>
          <a:blip r:embed="rId1"/>
          <a:stretch/>
        </p:blipFill>
        <p:spPr>
          <a:xfrm>
            <a:off x="2306520" y="2566440"/>
            <a:ext cx="4530600" cy="2370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Extended Traceroute (Cont.)</a:t>
            </a:r>
            <a:endParaRPr b="0" lang="en-US" sz="2400" spc="-1" strike="noStrike">
              <a:solidFill>
                <a:srgbClr val="58585b"/>
              </a:solidFill>
              <a:latin typeface="Arial"/>
            </a:endParaRPr>
          </a:p>
        </p:txBody>
      </p:sp>
      <p:sp>
        <p:nvSpPr>
          <p:cNvPr id="395" name="PlaceHolder 2"/>
          <p:cNvSpPr>
            <a:spLocks noGrp="1"/>
          </p:cNvSpPr>
          <p:nvPr>
            <p:ph/>
          </p:nvPr>
        </p:nvSpPr>
        <p:spPr>
          <a:xfrm>
            <a:off x="474840" y="731880"/>
            <a:ext cx="5177520" cy="368964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Cisco IOS extended </a:t>
            </a:r>
            <a:r>
              <a:rPr b="1" lang="en-US" sz="1600" spc="-1" strike="noStrike">
                <a:solidFill>
                  <a:srgbClr val="000000"/>
                </a:solidFill>
                <a:latin typeface="Arial"/>
                <a:ea typeface="ＭＳ Ｐゴシック"/>
              </a:rPr>
              <a:t>traceroute</a:t>
            </a:r>
            <a:r>
              <a:rPr b="0" lang="en-US" sz="1600" spc="-1" strike="noStrike">
                <a:solidFill>
                  <a:srgbClr val="000000"/>
                </a:solidFill>
                <a:latin typeface="Arial"/>
                <a:ea typeface="ＭＳ Ｐゴシック"/>
              </a:rPr>
              <a:t> option enables the user to create a special type of trace by adjusting parameters related to the command operation. </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Extended traceroute is entered in privileged EXEC mode by typing </a:t>
            </a:r>
            <a:r>
              <a:rPr b="1" lang="en-US" sz="1600" spc="-1" strike="noStrike">
                <a:solidFill>
                  <a:srgbClr val="000000"/>
                </a:solidFill>
                <a:latin typeface="Arial"/>
                <a:ea typeface="ＭＳ Ｐゴシック"/>
              </a:rPr>
              <a:t>traceroute</a:t>
            </a:r>
            <a:r>
              <a:rPr b="0" lang="en-US" sz="1600" spc="-1" strike="noStrike">
                <a:solidFill>
                  <a:srgbClr val="000000"/>
                </a:solidFill>
                <a:latin typeface="Arial"/>
                <a:ea typeface="ＭＳ Ｐゴシック"/>
              </a:rPr>
              <a:t> without a destination IP address. IOS will guide you through the command options by presenting a number of prompts related to the setting of all the different parameters.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Pressing </a:t>
            </a:r>
            <a:r>
              <a:rPr b="1" lang="en-US" sz="1600" spc="-1" strike="noStrike">
                <a:solidFill>
                  <a:srgbClr val="000000"/>
                </a:solidFill>
                <a:latin typeface="Arial"/>
                <a:ea typeface="ＭＳ Ｐゴシック"/>
              </a:rPr>
              <a:t>Enter</a:t>
            </a:r>
            <a:r>
              <a:rPr b="0" lang="en-US" sz="1600" spc="-1" strike="noStrike">
                <a:solidFill>
                  <a:srgbClr val="000000"/>
                </a:solidFill>
                <a:latin typeface="Arial"/>
                <a:ea typeface="ＭＳ Ｐゴシック"/>
              </a:rPr>
              <a:t> accepts the indicated default values.</a:t>
            </a:r>
            <a:endParaRPr b="0" lang="en-US" sz="1600" spc="-1" strike="noStrike">
              <a:solidFill>
                <a:srgbClr val="58585b"/>
              </a:solidFill>
              <a:latin typeface="Arial"/>
            </a:endParaRPr>
          </a:p>
        </p:txBody>
      </p:sp>
      <p:pic>
        <p:nvPicPr>
          <p:cNvPr id="396" name="Picture 4" descr=""/>
          <p:cNvPicPr/>
          <p:nvPr/>
        </p:nvPicPr>
        <p:blipFill>
          <a:blip r:embed="rId1"/>
          <a:stretch/>
        </p:blipFill>
        <p:spPr>
          <a:xfrm>
            <a:off x="5797080" y="830160"/>
            <a:ext cx="3031920" cy="3493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Network Baseline</a:t>
            </a:r>
            <a:endParaRPr b="0" lang="en-US" sz="2400" spc="-1" strike="noStrike">
              <a:solidFill>
                <a:srgbClr val="58585b"/>
              </a:solidFill>
              <a:latin typeface="Arial"/>
            </a:endParaRPr>
          </a:p>
        </p:txBody>
      </p:sp>
      <p:sp>
        <p:nvSpPr>
          <p:cNvPr id="398" name="PlaceHolder 2"/>
          <p:cNvSpPr>
            <a:spLocks noGrp="1"/>
          </p:cNvSpPr>
          <p:nvPr>
            <p:ph/>
          </p:nvPr>
        </p:nvSpPr>
        <p:spPr>
          <a:xfrm>
            <a:off x="257040" y="731880"/>
            <a:ext cx="8497080" cy="368964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One of the most effective tools for monitoring and troubleshooting network performance is to establish a network baseline. </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One method for starting a baseline is to copy and paste the results from an executed ping, trace, or other relevant commands into a text file. These text files can be time stamped with the date and saved into an archive for later retrieval and comparison.</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Among items to consider are error messages and the response times from host to host.</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Corporate networks should have extensive baselines; more extensive than we can describe in this course. Professional-grade software tools are available for storing and maintaining baseline information. </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Verify Connectivity</a:t>
            </a:r>
            <a:br/>
            <a:r>
              <a:rPr b="0" lang="en-US" sz="2400" spc="-1" strike="noStrike">
                <a:solidFill>
                  <a:srgbClr val="004c69"/>
                </a:solidFill>
                <a:latin typeface="Arial"/>
                <a:ea typeface="ＭＳ Ｐゴシック"/>
              </a:rPr>
              <a:t>Lab – Test Network Latency with Ping and Traceroute</a:t>
            </a:r>
            <a:endParaRPr b="0" lang="en-US" sz="2400" spc="-1" strike="noStrike">
              <a:solidFill>
                <a:srgbClr val="58585b"/>
              </a:solidFill>
              <a:latin typeface="Arial"/>
            </a:endParaRPr>
          </a:p>
        </p:txBody>
      </p:sp>
      <p:sp>
        <p:nvSpPr>
          <p:cNvPr id="400"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1: Use Ping to Document Network Latency</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2: Use Traceroute to Document Network Latency</a:t>
            </a:r>
            <a:endParaRPr b="0" lang="en-US" sz="2000" spc="-1" strike="noStrike">
              <a:solidFill>
                <a:srgbClr val="58585b"/>
              </a:solidFill>
              <a:latin typeface="Arial"/>
            </a:endParaRPr>
          </a:p>
          <a:p>
            <a:pPr>
              <a:lnSpc>
                <a:spcPct val="100000"/>
              </a:lnSpc>
              <a:spcBef>
                <a:spcPts val="400"/>
              </a:spcBef>
              <a:buNone/>
              <a:tabLst>
                <a:tab algn="l" pos="0"/>
              </a:tabLst>
            </a:pP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17.5 Host and IOS Commands</a:t>
            </a:r>
            <a:endParaRPr b="0" lang="en-US" sz="4600" spc="-1" strike="noStrike">
              <a:solidFill>
                <a:srgbClr val="58585b"/>
              </a:solidFill>
              <a:latin typeface="Arial"/>
            </a:endParaRPr>
          </a:p>
        </p:txBody>
      </p:sp>
    </p:spTree>
  </p:cSld>
  <p:transition spd="slow">
    <p:wipe dir="l"/>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IP Configuration on a Windows Host</a:t>
            </a:r>
            <a:endParaRPr b="0" lang="en-US" sz="2400" spc="-1" strike="noStrike">
              <a:solidFill>
                <a:srgbClr val="58585b"/>
              </a:solidFill>
              <a:latin typeface="Arial"/>
            </a:endParaRPr>
          </a:p>
        </p:txBody>
      </p:sp>
      <p:sp>
        <p:nvSpPr>
          <p:cNvPr id="403" name="PlaceHolder 2"/>
          <p:cNvSpPr>
            <a:spLocks noGrp="1"/>
          </p:cNvSpPr>
          <p:nvPr>
            <p:ph/>
          </p:nvPr>
        </p:nvSpPr>
        <p:spPr>
          <a:xfrm>
            <a:off x="266760" y="731880"/>
            <a:ext cx="8553240" cy="277128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In Windows 10, you can access the IP address details from the </a:t>
            </a:r>
            <a:r>
              <a:rPr b="1" lang="en-US" sz="1500" spc="-1" strike="noStrike">
                <a:solidFill>
                  <a:srgbClr val="000000"/>
                </a:solidFill>
                <a:latin typeface="Arial"/>
                <a:ea typeface="ＭＳ Ｐゴシック"/>
              </a:rPr>
              <a:t>Network and Sharing Center</a:t>
            </a:r>
            <a:r>
              <a:rPr b="0" lang="en-US" sz="1500" spc="-1" strike="noStrike">
                <a:solidFill>
                  <a:srgbClr val="000000"/>
                </a:solidFill>
                <a:latin typeface="Arial"/>
                <a:ea typeface="ＭＳ Ｐゴシック"/>
              </a:rPr>
              <a:t> to quickly view the four important settings: address, mask, router, and DNS. Or you can issue the </a:t>
            </a:r>
            <a:r>
              <a:rPr b="1" lang="en-US" sz="1500" spc="-1" strike="noStrike">
                <a:solidFill>
                  <a:srgbClr val="000000"/>
                </a:solidFill>
                <a:latin typeface="Arial"/>
                <a:ea typeface="ＭＳ Ｐゴシック"/>
              </a:rPr>
              <a:t>ipconfig</a:t>
            </a:r>
            <a:r>
              <a:rPr b="0" lang="en-US" sz="1500" spc="-1" strike="noStrike">
                <a:solidFill>
                  <a:srgbClr val="000000"/>
                </a:solidFill>
                <a:latin typeface="Arial"/>
                <a:ea typeface="ＭＳ Ｐゴシック"/>
              </a:rPr>
              <a:t> command at the command line of a Windows computer.</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Use the </a:t>
            </a:r>
            <a:r>
              <a:rPr b="1" lang="en-US" sz="1500" spc="-1" strike="noStrike">
                <a:solidFill>
                  <a:srgbClr val="000000"/>
                </a:solidFill>
                <a:latin typeface="Arial"/>
                <a:ea typeface="ＭＳ Ｐゴシック"/>
              </a:rPr>
              <a:t>ipconfig /all</a:t>
            </a:r>
            <a:r>
              <a:rPr b="0" lang="en-US" sz="1500" spc="-1" strike="noStrike">
                <a:solidFill>
                  <a:srgbClr val="000000"/>
                </a:solidFill>
                <a:latin typeface="Arial"/>
                <a:ea typeface="ＭＳ Ｐゴシック"/>
              </a:rPr>
              <a:t> command to view the MAC address, as well as a number of details regarding the Layer 3 addressing of the device.</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If a host is configured as a DHCP client, the IP address configuration can be renewed using the </a:t>
            </a:r>
            <a:r>
              <a:rPr b="1" lang="en-US" sz="1500" spc="-1" strike="noStrike">
                <a:solidFill>
                  <a:srgbClr val="000000"/>
                </a:solidFill>
                <a:latin typeface="Arial"/>
                <a:ea typeface="ＭＳ Ｐゴシック"/>
              </a:rPr>
              <a:t>ipconfig /release</a:t>
            </a:r>
            <a:r>
              <a:rPr b="0" lang="en-US" sz="1500" spc="-1" strike="noStrike">
                <a:solidFill>
                  <a:srgbClr val="000000"/>
                </a:solidFill>
                <a:latin typeface="Arial"/>
                <a:ea typeface="ＭＳ Ｐゴシック"/>
              </a:rPr>
              <a:t> and </a:t>
            </a:r>
            <a:r>
              <a:rPr b="1" lang="en-US" sz="1500" spc="-1" strike="noStrike">
                <a:solidFill>
                  <a:srgbClr val="000000"/>
                </a:solidFill>
                <a:latin typeface="Arial"/>
                <a:ea typeface="ＭＳ Ｐゴシック"/>
              </a:rPr>
              <a:t>ipconfig /renew</a:t>
            </a:r>
            <a:r>
              <a:rPr b="0" lang="en-US" sz="1500" spc="-1" strike="noStrike">
                <a:solidFill>
                  <a:srgbClr val="000000"/>
                </a:solidFill>
                <a:latin typeface="Arial"/>
                <a:ea typeface="ＭＳ Ｐゴシック"/>
              </a:rPr>
              <a:t> commands.</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The DNS Client service on Windows PCs also optimizes the performance of DNS name resolution by storing previously resolved names in memory. The </a:t>
            </a:r>
            <a:r>
              <a:rPr b="1" lang="en-US" sz="1500" spc="-1" strike="noStrike">
                <a:solidFill>
                  <a:srgbClr val="000000"/>
                </a:solidFill>
                <a:latin typeface="Arial"/>
                <a:ea typeface="ＭＳ Ｐゴシック"/>
              </a:rPr>
              <a:t>ipconfig /displaydns</a:t>
            </a:r>
            <a:r>
              <a:rPr b="0" lang="en-US" sz="1500" spc="-1" strike="noStrike">
                <a:solidFill>
                  <a:srgbClr val="000000"/>
                </a:solidFill>
                <a:latin typeface="Arial"/>
                <a:ea typeface="ＭＳ Ｐゴシック"/>
              </a:rPr>
              <a:t> command displays all of the cached DNS entries on a Windows computer system.</a:t>
            </a:r>
            <a:endParaRPr b="0" lang="en-US" sz="1500" spc="-1" strike="noStrike">
              <a:solidFill>
                <a:srgbClr val="58585b"/>
              </a:solidFill>
              <a:latin typeface="Arial"/>
            </a:endParaRPr>
          </a:p>
          <a:p>
            <a:pPr>
              <a:lnSpc>
                <a:spcPct val="100000"/>
              </a:lnSpc>
              <a:spcBef>
                <a:spcPts val="281"/>
              </a:spcBef>
              <a:buNone/>
              <a:tabLst>
                <a:tab algn="l" pos="0"/>
              </a:tabLst>
            </a:pPr>
            <a:endParaRPr b="0" lang="en-US" sz="1500" spc="-1" strike="noStrike">
              <a:solidFill>
                <a:srgbClr val="58585b"/>
              </a:solidFill>
              <a:latin typeface="Arial"/>
            </a:endParaRPr>
          </a:p>
        </p:txBody>
      </p:sp>
      <p:pic>
        <p:nvPicPr>
          <p:cNvPr id="404" name="Picture 4" descr=""/>
          <p:cNvPicPr/>
          <p:nvPr/>
        </p:nvPicPr>
        <p:blipFill>
          <a:blip r:embed="rId1"/>
          <a:stretch/>
        </p:blipFill>
        <p:spPr>
          <a:xfrm>
            <a:off x="2531880" y="3503160"/>
            <a:ext cx="3281040" cy="1411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IP Configuration on a Linux Host</a:t>
            </a:r>
            <a:endParaRPr b="0" lang="en-US" sz="2400" spc="-1" strike="noStrike">
              <a:solidFill>
                <a:srgbClr val="58585b"/>
              </a:solidFill>
              <a:latin typeface="Arial"/>
            </a:endParaRPr>
          </a:p>
        </p:txBody>
      </p:sp>
      <p:sp>
        <p:nvSpPr>
          <p:cNvPr id="406" name="PlaceHolder 2"/>
          <p:cNvSpPr>
            <a:spLocks noGrp="1"/>
          </p:cNvSpPr>
          <p:nvPr>
            <p:ph/>
          </p:nvPr>
        </p:nvSpPr>
        <p:spPr>
          <a:xfrm>
            <a:off x="200160" y="819000"/>
            <a:ext cx="4673880" cy="360216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Verifying IP settings using the GUI on a Linux machine will differ depending on the Linux distribution and desktop interface.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On the command line, use the </a:t>
            </a:r>
            <a:r>
              <a:rPr b="1" lang="en-US" sz="1600" spc="-1" strike="noStrike">
                <a:solidFill>
                  <a:srgbClr val="000000"/>
                </a:solidFill>
                <a:latin typeface="Arial"/>
                <a:ea typeface="ＭＳ Ｐゴシック"/>
              </a:rPr>
              <a:t>ifconfig</a:t>
            </a:r>
            <a:r>
              <a:rPr b="0" lang="en-US" sz="1600" spc="-1" strike="noStrike">
                <a:solidFill>
                  <a:srgbClr val="000000"/>
                </a:solidFill>
                <a:latin typeface="Arial"/>
                <a:ea typeface="ＭＳ Ｐゴシック"/>
              </a:rPr>
              <a:t> command to display the status of the currently active interfaces and their IP configuration.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Linux </a:t>
            </a:r>
            <a:r>
              <a:rPr b="1" lang="en-US" sz="1600" spc="-1" strike="noStrike">
                <a:solidFill>
                  <a:srgbClr val="000000"/>
                </a:solidFill>
                <a:latin typeface="Arial"/>
                <a:ea typeface="ＭＳ Ｐゴシック"/>
              </a:rPr>
              <a:t>ip address</a:t>
            </a:r>
            <a:r>
              <a:rPr b="0" lang="en-US" sz="1600" spc="-1" strike="noStrike">
                <a:solidFill>
                  <a:srgbClr val="000000"/>
                </a:solidFill>
                <a:latin typeface="Arial"/>
                <a:ea typeface="ＭＳ Ｐゴシック"/>
              </a:rPr>
              <a:t> command is used to display addresses and their properties. It can also be used to add or delete IP addresses.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The output displayed may vary depending on the Linux distribution.</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pic>
        <p:nvPicPr>
          <p:cNvPr id="407" name="Picture 1" descr=""/>
          <p:cNvPicPr/>
          <p:nvPr/>
        </p:nvPicPr>
        <p:blipFill>
          <a:blip r:embed="rId1"/>
          <a:stretch/>
        </p:blipFill>
        <p:spPr>
          <a:xfrm>
            <a:off x="4874400" y="1131480"/>
            <a:ext cx="3794760" cy="2538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IP Configuration on a macOS Host</a:t>
            </a:r>
            <a:endParaRPr b="0" lang="en-US" sz="2400" spc="-1" strike="noStrike">
              <a:solidFill>
                <a:srgbClr val="58585b"/>
              </a:solidFill>
              <a:latin typeface="Arial"/>
            </a:endParaRPr>
          </a:p>
        </p:txBody>
      </p:sp>
      <p:sp>
        <p:nvSpPr>
          <p:cNvPr id="409" name="PlaceHolder 2"/>
          <p:cNvSpPr>
            <a:spLocks noGrp="1"/>
          </p:cNvSpPr>
          <p:nvPr>
            <p:ph/>
          </p:nvPr>
        </p:nvSpPr>
        <p:spPr>
          <a:xfrm>
            <a:off x="474840" y="864720"/>
            <a:ext cx="4305240" cy="355644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In the GUI of a Mac host, open </a:t>
            </a:r>
            <a:r>
              <a:rPr b="1" lang="en-US" sz="1600" spc="-1" strike="noStrike">
                <a:solidFill>
                  <a:srgbClr val="000000"/>
                </a:solidFill>
                <a:latin typeface="Arial"/>
                <a:ea typeface="ＭＳ Ｐゴシック"/>
              </a:rPr>
              <a:t>Network Preferences &gt; Advanced</a:t>
            </a:r>
            <a:r>
              <a:rPr b="0" lang="en-US" sz="1600" spc="-1" strike="noStrike">
                <a:solidFill>
                  <a:srgbClr val="000000"/>
                </a:solidFill>
                <a:latin typeface="Arial"/>
                <a:ea typeface="ＭＳ Ｐゴシック"/>
              </a:rPr>
              <a:t> to get the IP addressing information.</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ifconfig</a:t>
            </a:r>
            <a:r>
              <a:rPr b="0" lang="en-US" sz="1600" spc="-1" strike="noStrike">
                <a:solidFill>
                  <a:srgbClr val="000000"/>
                </a:solidFill>
                <a:latin typeface="Arial"/>
                <a:ea typeface="ＭＳ Ｐゴシック"/>
              </a:rPr>
              <a:t> command can also be used to verify the interface IP configuration at the command line.</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Other useful macOS commands to verify the host IP settings include </a:t>
            </a:r>
            <a:r>
              <a:rPr b="1" lang="en-US" sz="1600" spc="-1" strike="noStrike">
                <a:solidFill>
                  <a:srgbClr val="000000"/>
                </a:solidFill>
                <a:latin typeface="Arial"/>
                <a:ea typeface="ＭＳ Ｐゴシック"/>
              </a:rPr>
              <a:t>networksetup -listallnetworkservices</a:t>
            </a:r>
            <a:r>
              <a:rPr b="0" lang="en-US" sz="1600" spc="-1" strike="noStrike">
                <a:solidFill>
                  <a:srgbClr val="000000"/>
                </a:solidFill>
                <a:latin typeface="Arial"/>
                <a:ea typeface="ＭＳ Ｐゴシック"/>
              </a:rPr>
              <a:t> and the </a:t>
            </a:r>
            <a:r>
              <a:rPr b="1" lang="en-US" sz="1600" spc="-1" strike="noStrike">
                <a:solidFill>
                  <a:srgbClr val="000000"/>
                </a:solidFill>
                <a:latin typeface="Arial"/>
                <a:ea typeface="ＭＳ Ｐゴシック"/>
              </a:rPr>
              <a:t>networksetup -getinfo &lt;</a:t>
            </a:r>
            <a:r>
              <a:rPr b="0" i="1" lang="en-US" sz="1600" spc="-1" strike="noStrike">
                <a:solidFill>
                  <a:srgbClr val="000000"/>
                </a:solidFill>
                <a:latin typeface="Arial"/>
                <a:ea typeface="ＭＳ Ｐゴシック"/>
              </a:rPr>
              <a:t>network service</a:t>
            </a:r>
            <a:r>
              <a:rPr b="1" lang="en-US" sz="1600" spc="-1" strike="noStrike">
                <a:solidFill>
                  <a:srgbClr val="000000"/>
                </a:solidFill>
                <a:latin typeface="Arial"/>
                <a:ea typeface="ＭＳ Ｐゴシック"/>
              </a:rPr>
              <a:t>&gt;</a:t>
            </a:r>
            <a:r>
              <a:rPr b="0" lang="en-US" sz="1600" spc="-1" strike="noStrike">
                <a:solidFill>
                  <a:srgbClr val="000000"/>
                </a:solidFill>
                <a:latin typeface="Arial"/>
                <a:ea typeface="ＭＳ Ｐゴシック"/>
              </a:rPr>
              <a:t>.</a:t>
            </a:r>
            <a:endParaRPr b="0" lang="en-US" sz="1600" spc="-1" strike="noStrike">
              <a:solidFill>
                <a:srgbClr val="58585b"/>
              </a:solidFill>
              <a:latin typeface="Arial"/>
            </a:endParaRPr>
          </a:p>
        </p:txBody>
      </p:sp>
      <p:pic>
        <p:nvPicPr>
          <p:cNvPr id="410" name="Picture 6" descr=""/>
          <p:cNvPicPr/>
          <p:nvPr/>
        </p:nvPicPr>
        <p:blipFill>
          <a:blip r:embed="rId1"/>
          <a:stretch/>
        </p:blipFill>
        <p:spPr>
          <a:xfrm>
            <a:off x="4780440" y="864720"/>
            <a:ext cx="4089960" cy="3115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The arp Command</a:t>
            </a:r>
            <a:endParaRPr b="0" lang="en-US" sz="2400" spc="-1" strike="noStrike">
              <a:solidFill>
                <a:srgbClr val="58585b"/>
              </a:solidFill>
              <a:latin typeface="Arial"/>
            </a:endParaRPr>
          </a:p>
        </p:txBody>
      </p:sp>
      <p:sp>
        <p:nvSpPr>
          <p:cNvPr id="412"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arp</a:t>
            </a:r>
            <a:r>
              <a:rPr b="0" lang="en-US" sz="1600" spc="-1" strike="noStrike">
                <a:solidFill>
                  <a:srgbClr val="000000"/>
                </a:solidFill>
                <a:latin typeface="Arial"/>
                <a:ea typeface="ＭＳ Ｐゴシック"/>
              </a:rPr>
              <a:t> command is executed from the Windows, Linux, or Mac command prompt. The command lists all devices currently in the ARP cache of the host.</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arp -a</a:t>
            </a:r>
            <a:r>
              <a:rPr b="0" lang="en-US" sz="1600" spc="-1" strike="noStrike">
                <a:solidFill>
                  <a:srgbClr val="000000"/>
                </a:solidFill>
                <a:latin typeface="Arial"/>
                <a:ea typeface="ＭＳ Ｐゴシック"/>
              </a:rPr>
              <a:t> command displays the known IP address and MAC address binding. The ARP cache only displays information from devices that have been recently accessed.</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To ensure that the ARP cache is populated, </a:t>
            </a:r>
            <a:r>
              <a:rPr b="1" lang="en-US" sz="1600" spc="-1" strike="noStrike">
                <a:solidFill>
                  <a:srgbClr val="000000"/>
                </a:solidFill>
                <a:latin typeface="Arial"/>
                <a:ea typeface="ＭＳ Ｐゴシック"/>
              </a:rPr>
              <a:t>ping</a:t>
            </a:r>
            <a:r>
              <a:rPr b="0" lang="en-US" sz="1600" spc="-1" strike="noStrike">
                <a:solidFill>
                  <a:srgbClr val="000000"/>
                </a:solidFill>
                <a:latin typeface="Arial"/>
                <a:ea typeface="ＭＳ Ｐゴシック"/>
              </a:rPr>
              <a:t> a device so that it will have an entry in the ARP table.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cache can be cleared by using the </a:t>
            </a:r>
            <a:r>
              <a:rPr b="1" lang="en-US" sz="1600" spc="-1" strike="noStrike">
                <a:solidFill>
                  <a:srgbClr val="000000"/>
                </a:solidFill>
                <a:latin typeface="Arial"/>
                <a:ea typeface="ＭＳ Ｐゴシック"/>
              </a:rPr>
              <a:t>netsh interface ip delete arpcache</a:t>
            </a:r>
            <a:r>
              <a:rPr b="0" lang="en-US" sz="1600" spc="-1" strike="noStrike">
                <a:solidFill>
                  <a:srgbClr val="000000"/>
                </a:solidFill>
                <a:latin typeface="Arial"/>
                <a:ea typeface="ＭＳ Ｐゴシック"/>
              </a:rPr>
              <a:t> command in the event the network administrator wants to repopulate the cache with updated information.</a:t>
            </a:r>
            <a:endParaRPr b="0" lang="en-US" sz="1600" spc="-1" strike="noStrike">
              <a:solidFill>
                <a:srgbClr val="58585b"/>
              </a:solidFill>
              <a:latin typeface="Arial"/>
            </a:endParaRPr>
          </a:p>
          <a:p>
            <a:pPr marL="73080">
              <a:lnSpc>
                <a:spcPct val="95000"/>
              </a:lnSpc>
              <a:spcBef>
                <a:spcPts val="601"/>
              </a:spcBef>
              <a:buNone/>
              <a:tabLst>
                <a:tab algn="l" pos="0"/>
              </a:tabLst>
            </a:pPr>
            <a:endParaRPr b="0" lang="en-US" sz="1600" spc="-1" strike="noStrike">
              <a:solidFill>
                <a:srgbClr val="58585b"/>
              </a:solidFill>
              <a:latin typeface="Arial"/>
            </a:endParaRPr>
          </a:p>
          <a:p>
            <a:pPr marL="73080">
              <a:lnSpc>
                <a:spcPct val="95000"/>
              </a:lnSpc>
              <a:spcBef>
                <a:spcPts val="601"/>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You may need administrator access on the host to be able to use the </a:t>
            </a:r>
            <a:r>
              <a:rPr b="1" lang="en-US" sz="1600" spc="-1" strike="noStrike">
                <a:solidFill>
                  <a:srgbClr val="000000"/>
                </a:solidFill>
                <a:latin typeface="Arial"/>
                <a:ea typeface="ＭＳ Ｐゴシック"/>
              </a:rPr>
              <a:t>netsh interface ip delete arpcache</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Common show Commands Revisited</a:t>
            </a:r>
            <a:endParaRPr b="0" lang="en-US" sz="2400" spc="-1" strike="noStrike">
              <a:solidFill>
                <a:srgbClr val="58585b"/>
              </a:solidFill>
              <a:latin typeface="Arial"/>
            </a:endParaRPr>
          </a:p>
        </p:txBody>
      </p:sp>
      <p:graphicFrame>
        <p:nvGraphicFramePr>
          <p:cNvPr id="414" name="Table 5"/>
          <p:cNvGraphicFramePr/>
          <p:nvPr/>
        </p:nvGraphicFramePr>
        <p:xfrm>
          <a:off x="474840" y="1347840"/>
          <a:ext cx="8280000" cy="2966400"/>
        </p:xfrm>
        <a:graphic>
          <a:graphicData uri="http://schemas.openxmlformats.org/drawingml/2006/table">
            <a:tbl>
              <a:tblPr/>
              <a:tblGrid>
                <a:gridCol w="2970360"/>
                <a:gridCol w="5309640"/>
              </a:tblGrid>
              <a:tr h="370800">
                <a:tc>
                  <a:txBody>
                    <a:bodyPr anchor="t">
                      <a:noAutofit/>
                    </a:bodyPr>
                    <a:p>
                      <a:pPr>
                        <a:lnSpc>
                          <a:spcPct val="100000"/>
                        </a:lnSpc>
                        <a:buNone/>
                      </a:pPr>
                      <a:r>
                        <a:rPr b="1" lang="en-US" sz="1400" spc="-1" strike="noStrike">
                          <a:solidFill>
                            <a:srgbClr val="ffffff"/>
                          </a:solidFill>
                          <a:latin typeface="Arial"/>
                        </a:rPr>
                        <a:t>Command</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anchor="t">
                      <a:noAutofit/>
                    </a:bodyPr>
                    <a:p>
                      <a:pPr>
                        <a:lnSpc>
                          <a:spcPct val="100000"/>
                        </a:lnSpc>
                        <a:buNone/>
                      </a:pPr>
                      <a:r>
                        <a:rPr b="1" lang="en-US" sz="1400" spc="-1" strike="noStrike">
                          <a:solidFill>
                            <a:srgbClr val="ffffff"/>
                          </a:solidFill>
                          <a:latin typeface="Arial"/>
                        </a:rPr>
                        <a:t>Description</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anchor="t">
                      <a:noAutofit/>
                    </a:bodyPr>
                    <a:p>
                      <a:pPr>
                        <a:lnSpc>
                          <a:spcPct val="100000"/>
                        </a:lnSpc>
                        <a:buNone/>
                      </a:pPr>
                      <a:r>
                        <a:rPr b="0" lang="en-US" sz="1400" spc="-1" strike="noStrike">
                          <a:solidFill>
                            <a:srgbClr val="58585b"/>
                          </a:solidFill>
                          <a:latin typeface="Arial"/>
                        </a:rPr>
                        <a:t>show running-config</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400" spc="-1" strike="noStrike">
                          <a:solidFill>
                            <a:srgbClr val="58585b"/>
                          </a:solidFill>
                          <a:latin typeface="Arial"/>
                        </a:rPr>
                        <a:t>Verifies the current configuration and settings</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anchor="t">
                      <a:noAutofit/>
                    </a:bodyPr>
                    <a:p>
                      <a:pPr>
                        <a:lnSpc>
                          <a:spcPct val="100000"/>
                        </a:lnSpc>
                        <a:buNone/>
                      </a:pPr>
                      <a:r>
                        <a:rPr b="0" lang="en-US" sz="1400" spc="-1" strike="noStrike">
                          <a:solidFill>
                            <a:srgbClr val="58585b"/>
                          </a:solidFill>
                          <a:latin typeface="Arial"/>
                        </a:rPr>
                        <a:t>show interfaces</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anchor="t">
                      <a:noAutofit/>
                    </a:bodyPr>
                    <a:p>
                      <a:pPr>
                        <a:lnSpc>
                          <a:spcPct val="100000"/>
                        </a:lnSpc>
                        <a:buNone/>
                      </a:pPr>
                      <a:r>
                        <a:rPr b="0" lang="en-US" sz="1400" spc="-1" strike="noStrike">
                          <a:solidFill>
                            <a:srgbClr val="58585b"/>
                          </a:solidFill>
                          <a:latin typeface="Arial"/>
                        </a:rPr>
                        <a:t>Verifies the interface status and displays any error messages</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anchor="t">
                      <a:noAutofit/>
                    </a:bodyPr>
                    <a:p>
                      <a:pPr>
                        <a:lnSpc>
                          <a:spcPct val="100000"/>
                        </a:lnSpc>
                        <a:buNone/>
                      </a:pPr>
                      <a:r>
                        <a:rPr b="0" lang="en-US" sz="1400" spc="-1" strike="noStrike">
                          <a:solidFill>
                            <a:srgbClr val="58585b"/>
                          </a:solidFill>
                          <a:latin typeface="Arial"/>
                        </a:rPr>
                        <a:t>show ip interface</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400" spc="-1" strike="noStrike">
                          <a:solidFill>
                            <a:srgbClr val="58585b"/>
                          </a:solidFill>
                          <a:latin typeface="Arial"/>
                        </a:rPr>
                        <a:t>Verifies the Layer 3 information of an interface</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anchor="t">
                      <a:noAutofit/>
                    </a:bodyPr>
                    <a:p>
                      <a:pPr>
                        <a:lnSpc>
                          <a:spcPct val="100000"/>
                        </a:lnSpc>
                        <a:buNone/>
                      </a:pPr>
                      <a:r>
                        <a:rPr b="0" lang="en-US" sz="1400" spc="-1" strike="noStrike">
                          <a:solidFill>
                            <a:srgbClr val="58585b"/>
                          </a:solidFill>
                          <a:latin typeface="Arial"/>
                        </a:rPr>
                        <a:t>show arp</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anchor="t">
                      <a:noAutofit/>
                    </a:bodyPr>
                    <a:p>
                      <a:pPr>
                        <a:lnSpc>
                          <a:spcPct val="100000"/>
                        </a:lnSpc>
                        <a:buNone/>
                      </a:pPr>
                      <a:r>
                        <a:rPr b="0" lang="en-US" sz="1400" spc="-1" strike="noStrike">
                          <a:solidFill>
                            <a:srgbClr val="58585b"/>
                          </a:solidFill>
                          <a:latin typeface="Arial"/>
                        </a:rPr>
                        <a:t>Verifies the list of known hosts on the local Ethernet LANs</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anchor="t">
                      <a:noAutofit/>
                    </a:bodyPr>
                    <a:p>
                      <a:pPr>
                        <a:lnSpc>
                          <a:spcPct val="100000"/>
                        </a:lnSpc>
                        <a:buNone/>
                      </a:pPr>
                      <a:r>
                        <a:rPr b="0" lang="en-US" sz="1400" spc="-1" strike="noStrike">
                          <a:solidFill>
                            <a:srgbClr val="58585b"/>
                          </a:solidFill>
                          <a:latin typeface="Arial"/>
                        </a:rPr>
                        <a:t>show ip route</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400" spc="-1" strike="noStrike">
                          <a:solidFill>
                            <a:srgbClr val="58585b"/>
                          </a:solidFill>
                          <a:latin typeface="Arial"/>
                        </a:rPr>
                        <a:t>Verifies the Layer 3 routing information</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anchor="t">
                      <a:noAutofit/>
                    </a:bodyPr>
                    <a:p>
                      <a:pPr>
                        <a:lnSpc>
                          <a:spcPct val="100000"/>
                        </a:lnSpc>
                        <a:buNone/>
                      </a:pPr>
                      <a:r>
                        <a:rPr b="0" lang="en-US" sz="1400" spc="-1" strike="noStrike">
                          <a:solidFill>
                            <a:srgbClr val="58585b"/>
                          </a:solidFill>
                          <a:latin typeface="Arial"/>
                        </a:rPr>
                        <a:t>show protocols</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anchor="t">
                      <a:noAutofit/>
                    </a:bodyPr>
                    <a:p>
                      <a:pPr>
                        <a:lnSpc>
                          <a:spcPct val="100000"/>
                        </a:lnSpc>
                        <a:buNone/>
                      </a:pPr>
                      <a:r>
                        <a:rPr b="0" lang="en-US" sz="1400" spc="-1" strike="noStrike">
                          <a:solidFill>
                            <a:srgbClr val="58585b"/>
                          </a:solidFill>
                          <a:latin typeface="Arial"/>
                        </a:rPr>
                        <a:t>Verifies which protocols are operational</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anchor="t">
                      <a:noAutofit/>
                    </a:bodyPr>
                    <a:p>
                      <a:pPr>
                        <a:lnSpc>
                          <a:spcPct val="100000"/>
                        </a:lnSpc>
                        <a:buNone/>
                      </a:pPr>
                      <a:r>
                        <a:rPr b="0" lang="en-US" sz="1400" spc="-1" strike="noStrike">
                          <a:solidFill>
                            <a:srgbClr val="58585b"/>
                          </a:solidFill>
                          <a:latin typeface="Arial"/>
                        </a:rPr>
                        <a:t>show version</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400" spc="-1" strike="noStrike">
                          <a:solidFill>
                            <a:srgbClr val="58585b"/>
                          </a:solidFill>
                          <a:latin typeface="Arial"/>
                        </a:rPr>
                        <a:t>Verifies the memory, interfaces, and licenses of the device</a:t>
                      </a:r>
                      <a:endParaRPr b="0" lang="en-JM" sz="14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The show cdp neighbors Command</a:t>
            </a:r>
            <a:endParaRPr b="0" lang="en-US" sz="2400" spc="-1" strike="noStrike">
              <a:solidFill>
                <a:srgbClr val="58585b"/>
              </a:solidFill>
              <a:latin typeface="Arial"/>
            </a:endParaRPr>
          </a:p>
        </p:txBody>
      </p:sp>
      <p:sp>
        <p:nvSpPr>
          <p:cNvPr id="416" name="PlaceHolder 2"/>
          <p:cNvSpPr>
            <a:spLocks noGrp="1"/>
          </p:cNvSpPr>
          <p:nvPr>
            <p:ph/>
          </p:nvPr>
        </p:nvSpPr>
        <p:spPr>
          <a:xfrm>
            <a:off x="152280" y="731880"/>
            <a:ext cx="8601840" cy="27824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CDP provides the following information about each CDP neighbor device: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Device identifiers</a:t>
            </a:r>
            <a:r>
              <a:rPr b="0" lang="en-US" sz="1600" spc="-1" strike="noStrike">
                <a:solidFill>
                  <a:srgbClr val="000000"/>
                </a:solidFill>
                <a:latin typeface="Arial"/>
                <a:ea typeface="ＭＳ Ｐゴシック"/>
              </a:rPr>
              <a:t> - The configured host name of a switch, router, or other device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Address list</a:t>
            </a:r>
            <a:r>
              <a:rPr b="0" lang="en-US" sz="1600" spc="-1" strike="noStrike">
                <a:solidFill>
                  <a:srgbClr val="000000"/>
                </a:solidFill>
                <a:latin typeface="Arial"/>
                <a:ea typeface="ＭＳ Ｐゴシック"/>
              </a:rPr>
              <a:t> - Up to one network layer address for each protocol supported</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Port identifier</a:t>
            </a:r>
            <a:r>
              <a:rPr b="0" lang="en-US" sz="1600" spc="-1" strike="noStrike">
                <a:solidFill>
                  <a:srgbClr val="000000"/>
                </a:solidFill>
                <a:latin typeface="Arial"/>
                <a:ea typeface="ＭＳ Ｐゴシック"/>
              </a:rPr>
              <a:t> - The name of the local and remote port in the form of an ASCII character string, such as FastEthernet 0/0</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Capabilities list</a:t>
            </a:r>
            <a:r>
              <a:rPr b="0" lang="en-US" sz="1600" spc="-1" strike="noStrike">
                <a:solidFill>
                  <a:srgbClr val="000000"/>
                </a:solidFill>
                <a:latin typeface="Arial"/>
                <a:ea typeface="ＭＳ Ｐゴシック"/>
              </a:rPr>
              <a:t> - Whether a specific device is a Layer 2 switch or a Layer 3 switch</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Platform</a:t>
            </a:r>
            <a:r>
              <a:rPr b="0" lang="en-US" sz="1600" spc="-1" strike="noStrike">
                <a:solidFill>
                  <a:srgbClr val="000000"/>
                </a:solidFill>
                <a:latin typeface="Arial"/>
                <a:ea typeface="ＭＳ Ｐゴシック"/>
              </a:rPr>
              <a:t> - The hardware platform of the device.</a:t>
            </a:r>
            <a:endParaRPr b="0" lang="en-US" sz="1600" spc="-1" strike="noStrike">
              <a:solidFill>
                <a:srgbClr val="58585b"/>
              </a:solidFill>
              <a:latin typeface="Arial"/>
            </a:endParaRPr>
          </a:p>
          <a:p>
            <a:pPr marL="73080">
              <a:lnSpc>
                <a:spcPct val="95000"/>
              </a:lnSpc>
              <a:spcBef>
                <a:spcPts val="601"/>
              </a:spcBef>
              <a:buNone/>
              <a:tabLst>
                <a:tab algn="l" pos="0"/>
              </a:tabLst>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show cdp neighbors detail</a:t>
            </a:r>
            <a:r>
              <a:rPr b="0" lang="en-US" sz="1600" spc="-1" strike="noStrike">
                <a:solidFill>
                  <a:srgbClr val="000000"/>
                </a:solidFill>
                <a:latin typeface="Arial"/>
                <a:ea typeface="ＭＳ Ｐゴシック"/>
              </a:rPr>
              <a:t> command reveals the IP address of a neighboring device.</a:t>
            </a:r>
            <a:endParaRPr b="0" lang="en-US" sz="1600" spc="-1" strike="noStrike">
              <a:solidFill>
                <a:srgbClr val="58585b"/>
              </a:solidFill>
              <a:latin typeface="Arial"/>
            </a:endParaRPr>
          </a:p>
        </p:txBody>
      </p:sp>
      <p:pic>
        <p:nvPicPr>
          <p:cNvPr id="417" name="Picture 4" descr=""/>
          <p:cNvPicPr/>
          <p:nvPr/>
        </p:nvPicPr>
        <p:blipFill>
          <a:blip r:embed="rId1"/>
          <a:stretch/>
        </p:blipFill>
        <p:spPr>
          <a:xfrm>
            <a:off x="1816560" y="3328920"/>
            <a:ext cx="4712400" cy="1470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The show ip interface brief Command</a:t>
            </a:r>
            <a:endParaRPr b="0" lang="en-US" sz="2400" spc="-1" strike="noStrike">
              <a:solidFill>
                <a:srgbClr val="58585b"/>
              </a:solidFill>
              <a:latin typeface="Arial"/>
            </a:endParaRPr>
          </a:p>
        </p:txBody>
      </p:sp>
      <p:sp>
        <p:nvSpPr>
          <p:cNvPr id="419" name="PlaceHolder 2"/>
          <p:cNvSpPr>
            <a:spLocks noGrp="1"/>
          </p:cNvSpPr>
          <p:nvPr>
            <p:ph/>
          </p:nvPr>
        </p:nvSpPr>
        <p:spPr>
          <a:xfrm>
            <a:off x="474840" y="731880"/>
            <a:ext cx="8279640" cy="10306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One of the most frequently used commands is the </a:t>
            </a:r>
            <a:r>
              <a:rPr b="1" lang="en-US" sz="1600" spc="-1" strike="noStrike">
                <a:solidFill>
                  <a:srgbClr val="000000"/>
                </a:solidFill>
                <a:latin typeface="Arial"/>
                <a:ea typeface="ＭＳ Ｐゴシック"/>
              </a:rPr>
              <a:t>show ip interface brief</a:t>
            </a:r>
            <a:r>
              <a:rPr b="0" lang="en-US" sz="1600" spc="-1" strike="noStrike">
                <a:solidFill>
                  <a:srgbClr val="000000"/>
                </a:solidFill>
                <a:latin typeface="Arial"/>
                <a:ea typeface="ＭＳ Ｐゴシック"/>
              </a:rPr>
              <a:t> command. This command provides a more abbreviated output than the </a:t>
            </a:r>
            <a:r>
              <a:rPr b="1" lang="en-US" sz="1600" spc="-1" strike="noStrike">
                <a:solidFill>
                  <a:srgbClr val="000000"/>
                </a:solidFill>
                <a:latin typeface="Arial"/>
                <a:ea typeface="ＭＳ Ｐゴシック"/>
              </a:rPr>
              <a:t>show ip interface</a:t>
            </a:r>
            <a:r>
              <a:rPr b="0" lang="en-US" sz="1600" spc="-1" strike="noStrike">
                <a:solidFill>
                  <a:srgbClr val="000000"/>
                </a:solidFill>
                <a:latin typeface="Arial"/>
                <a:ea typeface="ＭＳ Ｐゴシック"/>
              </a:rPr>
              <a:t> command. It provides a summary of the key information for all the network interfaces on a router.</a:t>
            </a:r>
            <a:endParaRPr b="0" lang="en-US" sz="1600" spc="-1" strike="noStrike">
              <a:solidFill>
                <a:srgbClr val="58585b"/>
              </a:solidFill>
              <a:latin typeface="Arial"/>
            </a:endParaRPr>
          </a:p>
        </p:txBody>
      </p:sp>
      <p:pic>
        <p:nvPicPr>
          <p:cNvPr id="420" name="Picture 6" descr=""/>
          <p:cNvPicPr/>
          <p:nvPr/>
        </p:nvPicPr>
        <p:blipFill>
          <a:blip r:embed="rId1"/>
          <a:stretch/>
        </p:blipFill>
        <p:spPr>
          <a:xfrm>
            <a:off x="474840" y="1762920"/>
            <a:ext cx="5019120" cy="1495080"/>
          </a:xfrm>
          <a:prstGeom prst="rect">
            <a:avLst/>
          </a:prstGeom>
          <a:ln w="0">
            <a:noFill/>
          </a:ln>
        </p:spPr>
      </p:pic>
      <p:pic>
        <p:nvPicPr>
          <p:cNvPr id="421" name="Picture 7" descr=""/>
          <p:cNvPicPr/>
          <p:nvPr/>
        </p:nvPicPr>
        <p:blipFill>
          <a:blip r:embed="rId2"/>
          <a:stretch/>
        </p:blipFill>
        <p:spPr>
          <a:xfrm>
            <a:off x="3367440" y="3258000"/>
            <a:ext cx="5202000" cy="1260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Video – The show version Command</a:t>
            </a:r>
            <a:endParaRPr b="0" lang="en-US" sz="2400" spc="-1" strike="noStrike">
              <a:solidFill>
                <a:srgbClr val="58585b"/>
              </a:solidFill>
              <a:latin typeface="Arial"/>
            </a:endParaRPr>
          </a:p>
        </p:txBody>
      </p:sp>
      <p:sp>
        <p:nvSpPr>
          <p:cNvPr id="423" name="PlaceHolder 2"/>
          <p:cNvSpPr>
            <a:spLocks noGrp="1"/>
          </p:cNvSpPr>
          <p:nvPr>
            <p:ph/>
          </p:nvPr>
        </p:nvSpPr>
        <p:spPr>
          <a:xfrm>
            <a:off x="474840" y="896040"/>
            <a:ext cx="8279640" cy="35254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This video will demonstrate using the show version command to view information about the router.</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Host and IOS Commands</a:t>
            </a:r>
            <a:br/>
            <a:r>
              <a:rPr b="0" lang="en-US" sz="2400" spc="-1" strike="noStrike">
                <a:solidFill>
                  <a:srgbClr val="004c69"/>
                </a:solidFill>
                <a:latin typeface="Arial"/>
                <a:ea typeface="ＭＳ Ｐゴシック"/>
              </a:rPr>
              <a:t>Packet Tracer – Interpret show Command Output</a:t>
            </a:r>
            <a:endParaRPr b="0" lang="en-US" sz="2400" spc="-1" strike="noStrike">
              <a:solidFill>
                <a:srgbClr val="58585b"/>
              </a:solidFill>
              <a:latin typeface="Arial"/>
            </a:endParaRPr>
          </a:p>
        </p:txBody>
      </p:sp>
      <p:sp>
        <p:nvSpPr>
          <p:cNvPr id="425" name="PlaceHolder 2"/>
          <p:cNvSpPr>
            <a:spLocks noGrp="1"/>
          </p:cNvSpPr>
          <p:nvPr>
            <p:ph/>
          </p:nvPr>
        </p:nvSpPr>
        <p:spPr>
          <a:xfrm>
            <a:off x="474840" y="896040"/>
            <a:ext cx="8279640" cy="35254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This activity is designed to reinforce the use of router </a:t>
            </a:r>
            <a:r>
              <a:rPr b="1" lang="en-US" sz="1600" spc="-1" strike="noStrike">
                <a:solidFill>
                  <a:srgbClr val="000000"/>
                </a:solidFill>
                <a:latin typeface="Arial"/>
                <a:ea typeface="ＭＳ Ｐゴシック"/>
              </a:rPr>
              <a:t>show</a:t>
            </a:r>
            <a:r>
              <a:rPr b="0" lang="en-US" sz="1600" spc="-1" strike="noStrike">
                <a:solidFill>
                  <a:srgbClr val="000000"/>
                </a:solidFill>
                <a:latin typeface="Arial"/>
                <a:ea typeface="ＭＳ Ｐゴシック"/>
              </a:rPr>
              <a:t> commands. You are not required to configure, but rather analyze the output of several show commands.</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17.6 Troubleshooting Methodologies</a:t>
            </a:r>
            <a:endParaRPr b="0" lang="en-US" sz="4600" spc="-1" strike="noStrike">
              <a:solidFill>
                <a:srgbClr val="58585b"/>
              </a:solidFill>
              <a:latin typeface="Arial"/>
            </a:endParaRPr>
          </a:p>
        </p:txBody>
      </p:sp>
    </p:spTree>
  </p:cSld>
  <p:transition spd="slow">
    <p:wipe dir="l"/>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Methodologies</a:t>
            </a:r>
            <a:br/>
            <a:r>
              <a:rPr b="0" lang="en-US" sz="2400" spc="-1" strike="noStrike">
                <a:solidFill>
                  <a:srgbClr val="004c69"/>
                </a:solidFill>
                <a:latin typeface="Arial"/>
                <a:ea typeface="ＭＳ Ｐゴシック"/>
              </a:rPr>
              <a:t>Basic Troubleshooting Approaches</a:t>
            </a:r>
            <a:endParaRPr b="0" lang="en-US" sz="2400" spc="-1" strike="noStrike">
              <a:solidFill>
                <a:srgbClr val="58585b"/>
              </a:solidFill>
              <a:latin typeface="Arial"/>
            </a:endParaRPr>
          </a:p>
        </p:txBody>
      </p:sp>
      <p:graphicFrame>
        <p:nvGraphicFramePr>
          <p:cNvPr id="428" name="Table 6"/>
          <p:cNvGraphicFramePr/>
          <p:nvPr/>
        </p:nvGraphicFramePr>
        <p:xfrm>
          <a:off x="332640" y="637200"/>
          <a:ext cx="8506440" cy="3869640"/>
        </p:xfrm>
        <a:graphic>
          <a:graphicData uri="http://schemas.openxmlformats.org/drawingml/2006/table">
            <a:tbl>
              <a:tblPr/>
              <a:tblGrid>
                <a:gridCol w="3038760"/>
                <a:gridCol w="5467680"/>
              </a:tblGrid>
              <a:tr h="338760">
                <a:tc>
                  <a:txBody>
                    <a:bodyPr lIns="47520" rIns="47520" tIns="47520" bIns="47520" anchor="ctr">
                      <a:noAutofit/>
                    </a:bodyPr>
                    <a:p>
                      <a:pPr>
                        <a:lnSpc>
                          <a:spcPct val="100000"/>
                        </a:lnSpc>
                        <a:buNone/>
                      </a:pPr>
                      <a:r>
                        <a:rPr b="1" lang="en-US" sz="1200" spc="-1" strike="noStrike">
                          <a:solidFill>
                            <a:srgbClr val="ffffff"/>
                          </a:solidFill>
                          <a:latin typeface="Arial"/>
                        </a:rPr>
                        <a:t>Step</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607320">
                <a:tc>
                  <a:txBody>
                    <a:bodyPr lIns="47520" rIns="47520" tIns="47520" bIns="47520" anchor="ctr">
                      <a:noAutofit/>
                    </a:bodyPr>
                    <a:p>
                      <a:pPr>
                        <a:lnSpc>
                          <a:spcPct val="100000"/>
                        </a:lnSpc>
                        <a:buNone/>
                      </a:pPr>
                      <a:r>
                        <a:rPr b="1" lang="en-US" sz="1200" spc="-1" strike="noStrike">
                          <a:solidFill>
                            <a:srgbClr val="58585b"/>
                          </a:solidFill>
                          <a:latin typeface="Arial"/>
                        </a:rPr>
                        <a:t>Step 1. Identify the Problem</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This is the first step in the troubleshooting process.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Although tools can be used in this step, a conversation with the user is often very helpful.</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1" lang="en-US" sz="1200" spc="-1" strike="noStrike">
                          <a:solidFill>
                            <a:srgbClr val="58585b"/>
                          </a:solidFill>
                          <a:latin typeface="Arial"/>
                        </a:rPr>
                        <a:t>Step 2. Establish a Theory of Probable Causes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After the problem is identified, try to establish a theory of probable causes.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This step often yields more than a few probable causes to the problem.</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1089720">
                <a:tc>
                  <a:txBody>
                    <a:bodyPr lIns="47520" rIns="47520" tIns="47520" bIns="47520" anchor="ctr">
                      <a:noAutofit/>
                    </a:bodyPr>
                    <a:p>
                      <a:pPr>
                        <a:lnSpc>
                          <a:spcPct val="100000"/>
                        </a:lnSpc>
                        <a:buNone/>
                      </a:pPr>
                      <a:r>
                        <a:rPr b="1" lang="en-US" sz="1200" spc="-1" strike="noStrike">
                          <a:solidFill>
                            <a:srgbClr val="58585b"/>
                          </a:solidFill>
                          <a:latin typeface="Arial"/>
                        </a:rPr>
                        <a:t>Step 3. Test the Theory to Determine Cause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Based on the probable causes, test your theories to determine which one is the cause of the problem.</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A technician may apply a quick fix to test and see if it solves the problem.</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If a quick fix does not correct the problem, you might need to research the problem further to establish the exact cause.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1" lang="en-US" sz="1200" spc="-1" strike="noStrike">
                          <a:solidFill>
                            <a:srgbClr val="58585b"/>
                          </a:solidFill>
                          <a:latin typeface="Arial"/>
                        </a:rPr>
                        <a:t>Step 4. Establish a Plan of Action and Implement the Solution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After you have determined the exact cause of the problem, establish a plan of action to resolve the problem and implement the solution.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36680">
                <a:tc>
                  <a:txBody>
                    <a:bodyPr lIns="47520" rIns="47520" tIns="47520" bIns="47520" anchor="ctr">
                      <a:noAutofit/>
                    </a:bodyPr>
                    <a:p>
                      <a:pPr>
                        <a:lnSpc>
                          <a:spcPct val="100000"/>
                        </a:lnSpc>
                        <a:buNone/>
                      </a:pPr>
                      <a:r>
                        <a:rPr b="1" lang="en-US" sz="1200" spc="-1" strike="noStrike">
                          <a:solidFill>
                            <a:srgbClr val="58585b"/>
                          </a:solidFill>
                          <a:latin typeface="Arial"/>
                        </a:rPr>
                        <a:t>Step 5. Verify Solution and Implement Preventive Measures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After you have corrected the problem, verify full functionality.</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If applicable, implement preventive measures.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607320">
                <a:tc>
                  <a:txBody>
                    <a:bodyPr lIns="47520" rIns="47520" tIns="47520" bIns="47520" anchor="ctr">
                      <a:noAutofit/>
                    </a:bodyPr>
                    <a:p>
                      <a:pPr>
                        <a:lnSpc>
                          <a:spcPct val="100000"/>
                        </a:lnSpc>
                        <a:buNone/>
                      </a:pPr>
                      <a:r>
                        <a:rPr b="1" lang="en-US" sz="1200" spc="-1" strike="noStrike">
                          <a:solidFill>
                            <a:srgbClr val="58585b"/>
                          </a:solidFill>
                          <a:latin typeface="Arial"/>
                        </a:rPr>
                        <a:t>Step 6. Document Findings, Actions, and Outcomes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In the final step of the troubleshooting process, document your findings, actions, and outcomes.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This is very important for future reference.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Methodologies</a:t>
            </a:r>
            <a:br/>
            <a:r>
              <a:rPr b="0" lang="en-US" sz="2400" spc="-1" strike="noStrike">
                <a:solidFill>
                  <a:srgbClr val="004c69"/>
                </a:solidFill>
                <a:latin typeface="Arial"/>
                <a:ea typeface="ＭＳ Ｐゴシック"/>
              </a:rPr>
              <a:t>Resolve or Escalate?</a:t>
            </a:r>
            <a:endParaRPr b="0" lang="en-US" sz="2400" spc="-1" strike="noStrike">
              <a:solidFill>
                <a:srgbClr val="58585b"/>
              </a:solidFill>
              <a:latin typeface="Arial"/>
            </a:endParaRPr>
          </a:p>
        </p:txBody>
      </p:sp>
      <p:sp>
        <p:nvSpPr>
          <p:cNvPr id="430"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In some situations, it may not be possible to resolve the problem immediately. A problem should be escalated when it requires a manager decision, some specific expertise, or network access level unavailable to the troubleshooting technician.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 company policy should clearly state when and how a technician should escalate a problem.</a:t>
            </a: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Methodologies</a:t>
            </a:r>
            <a:br/>
            <a:r>
              <a:rPr b="0" lang="en-US" sz="2400" spc="-1" strike="noStrike">
                <a:solidFill>
                  <a:srgbClr val="004c69"/>
                </a:solidFill>
                <a:latin typeface="Arial"/>
                <a:ea typeface="ＭＳ Ｐゴシック"/>
              </a:rPr>
              <a:t>The debug Command</a:t>
            </a:r>
            <a:endParaRPr b="0" lang="en-US" sz="2400" spc="-1" strike="noStrike">
              <a:solidFill>
                <a:srgbClr val="58585b"/>
              </a:solidFill>
              <a:latin typeface="Arial"/>
            </a:endParaRPr>
          </a:p>
        </p:txBody>
      </p:sp>
      <p:sp>
        <p:nvSpPr>
          <p:cNvPr id="432"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The IOS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command allows the administrator to display OS process, protocol, mechanism and event messages in real-time for analysis.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All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commands are entered in privileged EXEC mode. The Cisco IOS allows for narrowing the output of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to include only the relevant feature or subfeature. Use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commands only to troubleshoot specific problems.</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US" sz="1400" spc="-1" strike="noStrike">
                <a:solidFill>
                  <a:srgbClr val="000000"/>
                </a:solidFill>
                <a:latin typeface="Arial"/>
                <a:ea typeface="ＭＳ Ｐゴシック"/>
              </a:rPr>
              <a:t>To list a brief description of all the debugging command options, use the </a:t>
            </a:r>
            <a:r>
              <a:rPr b="1" lang="en-US" sz="1400" spc="-1" strike="noStrike">
                <a:solidFill>
                  <a:srgbClr val="000000"/>
                </a:solidFill>
                <a:latin typeface="Arial"/>
                <a:ea typeface="ＭＳ Ｐゴシック"/>
              </a:rPr>
              <a:t>debug ?</a:t>
            </a:r>
            <a:r>
              <a:rPr b="0" lang="en-US" sz="1400" spc="-1" strike="noStrike">
                <a:solidFill>
                  <a:srgbClr val="000000"/>
                </a:solidFill>
                <a:latin typeface="Arial"/>
                <a:ea typeface="ＭＳ Ｐゴシック"/>
              </a:rPr>
              <a:t> command in privileged EXEC mode at the command line.</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US" sz="1400" spc="-1" strike="noStrike">
                <a:solidFill>
                  <a:srgbClr val="000000"/>
                </a:solidFill>
                <a:latin typeface="Arial"/>
                <a:ea typeface="ＭＳ Ｐゴシック"/>
              </a:rPr>
              <a:t>To turn off a specific debugging feature, add the </a:t>
            </a:r>
            <a:r>
              <a:rPr b="1" lang="en-US" sz="1400" spc="-1" strike="noStrike">
                <a:solidFill>
                  <a:srgbClr val="000000"/>
                </a:solidFill>
                <a:latin typeface="Arial"/>
                <a:ea typeface="ＭＳ Ｐゴシック"/>
              </a:rPr>
              <a:t>no</a:t>
            </a:r>
            <a:r>
              <a:rPr b="0" lang="en-US" sz="1400" spc="-1" strike="noStrike">
                <a:solidFill>
                  <a:srgbClr val="000000"/>
                </a:solidFill>
                <a:latin typeface="Arial"/>
                <a:ea typeface="ＭＳ Ｐゴシック"/>
              </a:rPr>
              <a:t> keyword in front of the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command</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US" sz="1400" spc="-1" strike="noStrike">
                <a:solidFill>
                  <a:srgbClr val="000000"/>
                </a:solidFill>
                <a:latin typeface="Arial"/>
                <a:ea typeface="ＭＳ Ｐゴシック"/>
              </a:rPr>
              <a:t>Alternatively, you can enter the </a:t>
            </a:r>
            <a:r>
              <a:rPr b="1" lang="en-US" sz="1400" spc="-1" strike="noStrike">
                <a:solidFill>
                  <a:srgbClr val="000000"/>
                </a:solidFill>
                <a:latin typeface="Arial"/>
                <a:ea typeface="ＭＳ Ｐゴシック"/>
              </a:rPr>
              <a:t>undebug</a:t>
            </a:r>
            <a:r>
              <a:rPr b="0" lang="en-US" sz="1400" spc="-1" strike="noStrike">
                <a:solidFill>
                  <a:srgbClr val="000000"/>
                </a:solidFill>
                <a:latin typeface="Arial"/>
                <a:ea typeface="ＭＳ Ｐゴシック"/>
              </a:rPr>
              <a:t> form of the command in privileged EXEC mode.</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US" sz="1400" spc="-1" strike="noStrike">
                <a:solidFill>
                  <a:srgbClr val="000000"/>
                </a:solidFill>
                <a:latin typeface="Arial"/>
                <a:ea typeface="ＭＳ Ｐゴシック"/>
              </a:rPr>
              <a:t>To turn off all active debug commands at once, use the </a:t>
            </a:r>
            <a:r>
              <a:rPr b="1" lang="en-US" sz="1400" spc="-1" strike="noStrike">
                <a:solidFill>
                  <a:srgbClr val="000000"/>
                </a:solidFill>
                <a:latin typeface="Arial"/>
                <a:ea typeface="ＭＳ Ｐゴシック"/>
              </a:rPr>
              <a:t>undebug all</a:t>
            </a:r>
            <a:r>
              <a:rPr b="0" lang="en-US" sz="1400" spc="-1" strike="noStrike">
                <a:solidFill>
                  <a:srgbClr val="000000"/>
                </a:solidFill>
                <a:latin typeface="Arial"/>
                <a:ea typeface="ＭＳ Ｐゴシック"/>
              </a:rPr>
              <a:t> command.</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Be cautious using some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commands, as they may generate a substantial amount of output and use a large portion of system resources. The router could get so busy displaying </a:t>
            </a:r>
            <a:r>
              <a:rPr b="1" lang="en-US" sz="1400" spc="-1" strike="noStrike">
                <a:solidFill>
                  <a:srgbClr val="000000"/>
                </a:solidFill>
                <a:latin typeface="Arial"/>
                <a:ea typeface="ＭＳ Ｐゴシック"/>
              </a:rPr>
              <a:t>debug</a:t>
            </a:r>
            <a:r>
              <a:rPr b="0" lang="en-US" sz="1400" spc="-1" strike="noStrike">
                <a:solidFill>
                  <a:srgbClr val="000000"/>
                </a:solidFill>
                <a:latin typeface="Arial"/>
                <a:ea typeface="ＭＳ Ｐゴシック"/>
              </a:rPr>
              <a:t> messages that it would not have enough processing power to perform its network functions, or even listen to commands to turn off debugging. </a:t>
            </a: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Methodologies</a:t>
            </a:r>
            <a:br/>
            <a:r>
              <a:rPr b="0" lang="en-US" sz="2400" spc="-1" strike="noStrike">
                <a:solidFill>
                  <a:srgbClr val="004c69"/>
                </a:solidFill>
                <a:latin typeface="Arial"/>
                <a:ea typeface="ＭＳ Ｐゴシック"/>
              </a:rPr>
              <a:t>The terminal monitor Command</a:t>
            </a:r>
            <a:endParaRPr b="0" lang="en-US" sz="2400" spc="-1" strike="noStrike">
              <a:solidFill>
                <a:srgbClr val="58585b"/>
              </a:solidFill>
              <a:latin typeface="Arial"/>
            </a:endParaRPr>
          </a:p>
        </p:txBody>
      </p:sp>
      <p:sp>
        <p:nvSpPr>
          <p:cNvPr id="434" name="PlaceHolder 2"/>
          <p:cNvSpPr>
            <a:spLocks noGrp="1"/>
          </p:cNvSpPr>
          <p:nvPr>
            <p:ph/>
          </p:nvPr>
        </p:nvSpPr>
        <p:spPr>
          <a:xfrm>
            <a:off x="474840" y="731880"/>
            <a:ext cx="3856680" cy="36896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1" lang="en-US" sz="1600" spc="-1" strike="noStrike">
                <a:solidFill>
                  <a:srgbClr val="000000"/>
                </a:solidFill>
                <a:latin typeface="Arial"/>
                <a:ea typeface="ＭＳ Ｐゴシック"/>
              </a:rPr>
              <a:t>debug</a:t>
            </a:r>
            <a:r>
              <a:rPr b="0" lang="en-US" sz="1600" spc="-1" strike="noStrike">
                <a:solidFill>
                  <a:srgbClr val="000000"/>
                </a:solidFill>
                <a:latin typeface="Arial"/>
                <a:ea typeface="ＭＳ Ｐゴシック"/>
              </a:rPr>
              <a:t>  and certain other IOS message output is not automatically displayed on remote connections. This is because log messages are prevented from being displayed on vty lines.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To display log messages on a terminal (virtual console), use the </a:t>
            </a:r>
            <a:r>
              <a:rPr b="1" lang="en-US" sz="1600" spc="-1" strike="noStrike">
                <a:solidFill>
                  <a:srgbClr val="000000"/>
                </a:solidFill>
                <a:latin typeface="Arial"/>
                <a:ea typeface="ＭＳ Ｐゴシック"/>
              </a:rPr>
              <a:t>terminal monitor</a:t>
            </a:r>
            <a:r>
              <a:rPr b="0" lang="en-US" sz="1600" spc="-1" strike="noStrike">
                <a:solidFill>
                  <a:srgbClr val="000000"/>
                </a:solidFill>
                <a:latin typeface="Arial"/>
                <a:ea typeface="ＭＳ Ｐゴシック"/>
              </a:rPr>
              <a:t> privileged EXEC command. To stop logging messages on a terminal, use the </a:t>
            </a:r>
            <a:r>
              <a:rPr b="1" lang="en-US" sz="1600" spc="-1" strike="noStrike">
                <a:solidFill>
                  <a:srgbClr val="000000"/>
                </a:solidFill>
                <a:latin typeface="Arial"/>
                <a:ea typeface="ＭＳ Ｐゴシック"/>
              </a:rPr>
              <a:t>terminal no monitor</a:t>
            </a:r>
            <a:r>
              <a:rPr b="0" lang="en-US" sz="1600" spc="-1" strike="noStrike">
                <a:solidFill>
                  <a:srgbClr val="000000"/>
                </a:solidFill>
                <a:latin typeface="Arial"/>
                <a:ea typeface="ＭＳ Ｐゴシック"/>
              </a:rPr>
              <a:t> privileged EXEC command.</a:t>
            </a:r>
            <a:endParaRPr b="0" lang="en-US" sz="1600" spc="-1" strike="noStrike">
              <a:solidFill>
                <a:srgbClr val="58585b"/>
              </a:solidFill>
              <a:latin typeface="Arial"/>
            </a:endParaRPr>
          </a:p>
        </p:txBody>
      </p:sp>
      <p:pic>
        <p:nvPicPr>
          <p:cNvPr id="435" name="Picture 6" descr=""/>
          <p:cNvPicPr/>
          <p:nvPr/>
        </p:nvPicPr>
        <p:blipFill>
          <a:blip r:embed="rId1"/>
          <a:stretch/>
        </p:blipFill>
        <p:spPr>
          <a:xfrm>
            <a:off x="4465080" y="716040"/>
            <a:ext cx="4204080" cy="1693440"/>
          </a:xfrm>
          <a:prstGeom prst="rect">
            <a:avLst/>
          </a:prstGeom>
          <a:ln w="0">
            <a:noFill/>
          </a:ln>
        </p:spPr>
      </p:pic>
      <p:pic>
        <p:nvPicPr>
          <p:cNvPr id="436" name="Picture 5" descr=""/>
          <p:cNvPicPr/>
          <p:nvPr/>
        </p:nvPicPr>
        <p:blipFill>
          <a:blip r:embed="rId2"/>
          <a:stretch/>
        </p:blipFill>
        <p:spPr>
          <a:xfrm>
            <a:off x="4465080" y="2428920"/>
            <a:ext cx="4204080" cy="2196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17.7 Troubleshooting Scenarios</a:t>
            </a:r>
            <a:endParaRPr b="0" lang="en-US" sz="4600" spc="-1" strike="noStrike">
              <a:solidFill>
                <a:srgbClr val="58585b"/>
              </a:solidFill>
              <a:latin typeface="Arial"/>
            </a:endParaRPr>
          </a:p>
        </p:txBody>
      </p:sp>
    </p:spTree>
  </p:cSld>
  <p:transition spd="slow">
    <p:wipe dir="l"/>
  </p:transition>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Duplex Operation and Mismatch Issues</a:t>
            </a:r>
            <a:endParaRPr b="0" lang="en-US" sz="2400" spc="-1" strike="noStrike">
              <a:solidFill>
                <a:srgbClr val="58585b"/>
              </a:solidFill>
              <a:latin typeface="Arial"/>
            </a:endParaRPr>
          </a:p>
        </p:txBody>
      </p:sp>
      <p:sp>
        <p:nvSpPr>
          <p:cNvPr id="439" name="PlaceHolder 2"/>
          <p:cNvSpPr>
            <a:spLocks noGrp="1"/>
          </p:cNvSpPr>
          <p:nvPr>
            <p:ph/>
          </p:nvPr>
        </p:nvSpPr>
        <p:spPr>
          <a:xfrm>
            <a:off x="474840" y="731880"/>
            <a:ext cx="8279640" cy="368964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Interconnecting Ethernet interfaces must operate in the same duplex mode for best communication performance and to avoid inefficiency and latency on the link.</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Ethernet autonegotiation feature facilitates configuration, minimizes problems and maximizes link performance between two interconnecting Ethernet links. The connected devices first announce their supported capabilities and then choose the highest performance mode supported by both ends.</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If one of the two connected devices is operating in full-duplex and the other is operating in half-duplex, a duplex mismatch occurs. While data communication will occur through a link with a duplex mismatch, link performance will be very poor.</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Duplex mismatches are typically caused by a misconfigured interface or in rare instances by a failed autonegotiation. Duplex mismatches may be difficult to troubleshoot as the communication between devices still occurs.</a:t>
            </a: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IP Addressing Issues on IOS Devices</a:t>
            </a:r>
            <a:endParaRPr b="0" lang="en-US" sz="2400" spc="-1" strike="noStrike">
              <a:solidFill>
                <a:srgbClr val="58585b"/>
              </a:solidFill>
              <a:latin typeface="Arial"/>
            </a:endParaRPr>
          </a:p>
        </p:txBody>
      </p:sp>
      <p:sp>
        <p:nvSpPr>
          <p:cNvPr id="441" name="PlaceHolder 2"/>
          <p:cNvSpPr>
            <a:spLocks noGrp="1"/>
          </p:cNvSpPr>
          <p:nvPr>
            <p:ph/>
          </p:nvPr>
        </p:nvSpPr>
        <p:spPr>
          <a:xfrm>
            <a:off x="474840" y="731880"/>
            <a:ext cx="8279640" cy="1907280"/>
          </a:xfrm>
          <a:prstGeom prst="rect">
            <a:avLst/>
          </a:prstGeom>
          <a:noFill/>
          <a:ln w="0">
            <a:noFill/>
          </a:ln>
        </p:spPr>
        <p:txBody>
          <a:bodyPr anchor="t">
            <a:noAutofit/>
          </a:bodyPr>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Two common causes of incorrect IPv4 assignment are manual assignment mistakes or DHCP-related issues.</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Network administrators often have to manually assign IP addresses to devices such as servers and routers. If a mistake is made during the assignment, then communications issues with the device are very likely to occur.</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On an IOS device, use the </a:t>
            </a:r>
            <a:r>
              <a:rPr b="1" lang="en-US" sz="1400" spc="-1" strike="noStrike">
                <a:solidFill>
                  <a:srgbClr val="000000"/>
                </a:solidFill>
                <a:latin typeface="Arial"/>
                <a:ea typeface="ＭＳ Ｐゴシック"/>
              </a:rPr>
              <a:t>show ip interface</a:t>
            </a:r>
            <a:r>
              <a:rPr b="0" lang="en-US" sz="1400" spc="-1" strike="noStrike">
                <a:solidFill>
                  <a:srgbClr val="000000"/>
                </a:solidFill>
                <a:latin typeface="Arial"/>
                <a:ea typeface="ＭＳ Ｐゴシック"/>
              </a:rPr>
              <a:t> or </a:t>
            </a:r>
            <a:r>
              <a:rPr b="1" lang="en-US" sz="1400" spc="-1" strike="noStrike">
                <a:solidFill>
                  <a:srgbClr val="000000"/>
                </a:solidFill>
                <a:latin typeface="Arial"/>
                <a:ea typeface="ＭＳ Ｐゴシック"/>
              </a:rPr>
              <a:t>show ip interface brief</a:t>
            </a:r>
            <a:r>
              <a:rPr b="0" lang="en-US" sz="1400" spc="-1" strike="noStrike">
                <a:solidFill>
                  <a:srgbClr val="000000"/>
                </a:solidFill>
                <a:latin typeface="Arial"/>
                <a:ea typeface="ＭＳ Ｐゴシック"/>
              </a:rPr>
              <a:t> commands to verify what IPv4 addresses are assigned to the network interfaces. For example, issuing the </a:t>
            </a:r>
            <a:r>
              <a:rPr b="1" lang="en-US" sz="1400" spc="-1" strike="noStrike">
                <a:solidFill>
                  <a:srgbClr val="000000"/>
                </a:solidFill>
                <a:latin typeface="Arial"/>
                <a:ea typeface="ＭＳ Ｐゴシック"/>
              </a:rPr>
              <a:t>show ip interface</a:t>
            </a:r>
            <a:r>
              <a:rPr b="0" lang="en-US" sz="1400" spc="-1" strike="noStrike">
                <a:solidFill>
                  <a:srgbClr val="000000"/>
                </a:solidFill>
                <a:latin typeface="Arial"/>
                <a:ea typeface="ＭＳ Ｐゴシック"/>
              </a:rPr>
              <a:t> </a:t>
            </a:r>
            <a:r>
              <a:rPr b="1" lang="en-US" sz="1400" spc="-1" strike="noStrike">
                <a:solidFill>
                  <a:srgbClr val="000000"/>
                </a:solidFill>
                <a:latin typeface="Arial"/>
                <a:ea typeface="ＭＳ Ｐゴシック"/>
              </a:rPr>
              <a:t>brief</a:t>
            </a:r>
            <a:r>
              <a:rPr b="0" lang="en-US" sz="1400" spc="-1" strike="noStrike">
                <a:solidFill>
                  <a:srgbClr val="000000"/>
                </a:solidFill>
                <a:latin typeface="Arial"/>
                <a:ea typeface="ＭＳ Ｐゴシック"/>
              </a:rPr>
              <a:t> command as shown would validate the interface status on R1.</a:t>
            </a:r>
            <a:endParaRPr b="0" lang="en-US" sz="1400" spc="-1" strike="noStrike">
              <a:solidFill>
                <a:srgbClr val="58585b"/>
              </a:solidFill>
              <a:latin typeface="Arial"/>
            </a:endParaRPr>
          </a:p>
          <a:p>
            <a:pPr>
              <a:lnSpc>
                <a:spcPct val="100000"/>
              </a:lnSpc>
              <a:spcBef>
                <a:spcPts val="281"/>
              </a:spcBef>
              <a:buNone/>
            </a:pPr>
            <a:endParaRPr b="0" lang="en-US" sz="1400" spc="-1" strike="noStrike">
              <a:solidFill>
                <a:srgbClr val="58585b"/>
              </a:solidFill>
              <a:latin typeface="Arial"/>
            </a:endParaRPr>
          </a:p>
        </p:txBody>
      </p:sp>
      <p:pic>
        <p:nvPicPr>
          <p:cNvPr id="442" name="Picture 5" descr=""/>
          <p:cNvPicPr/>
          <p:nvPr/>
        </p:nvPicPr>
        <p:blipFill>
          <a:blip r:embed="rId1"/>
          <a:stretch/>
        </p:blipFill>
        <p:spPr>
          <a:xfrm>
            <a:off x="1485720" y="2639520"/>
            <a:ext cx="6257520" cy="1933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IP Addressing Issues on End Devices</a:t>
            </a:r>
            <a:endParaRPr b="0" lang="en-US" sz="2400" spc="-1" strike="noStrike">
              <a:solidFill>
                <a:srgbClr val="58585b"/>
              </a:solidFill>
              <a:latin typeface="Arial"/>
            </a:endParaRPr>
          </a:p>
        </p:txBody>
      </p:sp>
      <p:sp>
        <p:nvSpPr>
          <p:cNvPr id="444"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On Windows-based machines, when the device cannot contact a DHCP server, Windows will automatically assign an address belonging to the 169.254.0.0/16 range. This feature is called Automatic Private IP Addressing (APIPA). </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A computer with an APIPA address will not be able to communicate with other devices in the network because those devices will most likely not belong to the 169.254.0.0/16 network. </a:t>
            </a:r>
            <a:endParaRPr b="0" lang="en-US" sz="15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1" lang="en-US" sz="1400" spc="-1" strike="noStrike">
                <a:solidFill>
                  <a:srgbClr val="000000"/>
                </a:solidFill>
                <a:latin typeface="Arial"/>
                <a:ea typeface="ＭＳ Ｐゴシック"/>
              </a:rPr>
              <a:t>Note</a:t>
            </a:r>
            <a:r>
              <a:rPr b="0" lang="en-US" sz="1400" spc="-1" strike="noStrike">
                <a:solidFill>
                  <a:srgbClr val="000000"/>
                </a:solidFill>
                <a:latin typeface="Arial"/>
                <a:ea typeface="ＭＳ Ｐゴシック"/>
              </a:rPr>
              <a:t>: Other operating systems, such Linux and OS X, do not use APIPA.</a:t>
            </a:r>
            <a:endParaRPr b="0" lang="en-US" sz="14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If the device is unable to communicate with the DHCP server, then the server cannot assign an IPv4 address for the specific network and the device will not be able to communicate.</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To verify the IP addresses assigned to a Windows-based computer, use the </a:t>
            </a:r>
            <a:r>
              <a:rPr b="1" lang="en-US" sz="1500" spc="-1" strike="noStrike">
                <a:solidFill>
                  <a:srgbClr val="000000"/>
                </a:solidFill>
                <a:latin typeface="Arial"/>
                <a:ea typeface="ＭＳ Ｐゴシック"/>
              </a:rPr>
              <a:t>ipconfig</a:t>
            </a:r>
            <a:r>
              <a:rPr b="0" lang="en-US" sz="1500" spc="-1" strike="noStrike">
                <a:solidFill>
                  <a:srgbClr val="000000"/>
                </a:solidFill>
                <a:latin typeface="Arial"/>
                <a:ea typeface="ＭＳ Ｐゴシック"/>
              </a:rPr>
              <a:t> command.</a:t>
            </a:r>
            <a:endParaRPr b="0" lang="en-US" sz="1500" spc="-1" strike="noStrike">
              <a:solidFill>
                <a:srgbClr val="58585b"/>
              </a:solidFill>
              <a:latin typeface="Arial"/>
            </a:endParaRPr>
          </a:p>
          <a:p>
            <a:pPr>
              <a:lnSpc>
                <a:spcPct val="100000"/>
              </a:lnSpc>
              <a:spcBef>
                <a:spcPts val="281"/>
              </a:spcBef>
              <a:buNone/>
            </a:pP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Default Gateway Issues</a:t>
            </a:r>
            <a:endParaRPr b="0" lang="en-US" sz="2400" spc="-1" strike="noStrike">
              <a:solidFill>
                <a:srgbClr val="58585b"/>
              </a:solidFill>
              <a:latin typeface="Arial"/>
            </a:endParaRPr>
          </a:p>
        </p:txBody>
      </p:sp>
      <p:sp>
        <p:nvSpPr>
          <p:cNvPr id="446"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The default gateway for an end device is the closest networking device, belonging to the same network as the end device, that can forward traffic to other networks. If a device has an incorrect or nonexistent default gateway address, it will not be able to communicate with devices in remote networks. </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Similar to IPv4 addressing issues, default gateway problems can be related to misconfiguration (in the case of manual assignment) or DHCP problems (if automatic assignment is in use).</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To verify the default gateway on Windows-based computers, use the </a:t>
            </a:r>
            <a:r>
              <a:rPr b="1" lang="en-US" sz="1500" spc="-1" strike="noStrike">
                <a:solidFill>
                  <a:srgbClr val="000000"/>
                </a:solidFill>
                <a:latin typeface="Arial"/>
                <a:ea typeface="ＭＳ Ｐゴシック"/>
              </a:rPr>
              <a:t>ipconfig</a:t>
            </a:r>
            <a:r>
              <a:rPr b="0" lang="en-US" sz="1500" spc="-1" strike="noStrike">
                <a:solidFill>
                  <a:srgbClr val="000000"/>
                </a:solidFill>
                <a:latin typeface="Arial"/>
                <a:ea typeface="ＭＳ Ｐゴシック"/>
              </a:rPr>
              <a:t> command.</a:t>
            </a:r>
            <a:endParaRPr b="0" lang="en-US" sz="1500" spc="-1" strike="noStrike">
              <a:solidFill>
                <a:srgbClr val="58585b"/>
              </a:solidFill>
              <a:latin typeface="Arial"/>
            </a:endParaRPr>
          </a:p>
          <a:p>
            <a:pPr marL="343080" indent="-34308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On a router, use the </a:t>
            </a:r>
            <a:r>
              <a:rPr b="1" lang="en-US" sz="1500" spc="-1" strike="noStrike">
                <a:solidFill>
                  <a:srgbClr val="000000"/>
                </a:solidFill>
                <a:latin typeface="Arial"/>
                <a:ea typeface="ＭＳ Ｐゴシック"/>
              </a:rPr>
              <a:t>show ip route </a:t>
            </a:r>
            <a:r>
              <a:rPr b="0" lang="en-US" sz="1500" spc="-1" strike="noStrike">
                <a:solidFill>
                  <a:srgbClr val="000000"/>
                </a:solidFill>
                <a:latin typeface="Arial"/>
                <a:ea typeface="ＭＳ Ｐゴシック"/>
              </a:rPr>
              <a:t>command to list the routing table and verify that the default gateway, known as a default route, has been set. This route is used when the destination address of the packet does not match any other routes in its routing table.</a:t>
            </a:r>
            <a:endParaRPr b="0" lang="en-US" sz="1500" spc="-1" strike="noStrike">
              <a:solidFill>
                <a:srgbClr val="58585b"/>
              </a:solidFill>
              <a:latin typeface="Arial"/>
            </a:endParaRPr>
          </a:p>
          <a:p>
            <a:pPr>
              <a:lnSpc>
                <a:spcPct val="100000"/>
              </a:lnSpc>
              <a:spcBef>
                <a:spcPts val="281"/>
              </a:spcBef>
              <a:buNone/>
            </a:pPr>
            <a:endParaRPr b="0" lang="en-US" sz="1500" spc="-1" strike="noStrike">
              <a:solidFill>
                <a:srgbClr val="58585b"/>
              </a:solidFill>
              <a:latin typeface="Arial"/>
            </a:endParaRPr>
          </a:p>
          <a:p>
            <a:pPr>
              <a:lnSpc>
                <a:spcPct val="100000"/>
              </a:lnSpc>
              <a:spcBef>
                <a:spcPts val="281"/>
              </a:spcBef>
              <a:buNone/>
            </a:pP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Troubleshooting DNS Issues</a:t>
            </a:r>
            <a:endParaRPr b="0" lang="en-US" sz="2400" spc="-1" strike="noStrike">
              <a:solidFill>
                <a:srgbClr val="58585b"/>
              </a:solidFill>
              <a:latin typeface="Arial"/>
            </a:endParaRPr>
          </a:p>
        </p:txBody>
      </p:sp>
      <p:sp>
        <p:nvSpPr>
          <p:cNvPr id="448" name="PlaceHolder 2"/>
          <p:cNvSpPr>
            <a:spLocks noGrp="1"/>
          </p:cNvSpPr>
          <p:nvPr>
            <p:ph/>
          </p:nvPr>
        </p:nvSpPr>
        <p:spPr>
          <a:xfrm>
            <a:off x="474840" y="731880"/>
            <a:ext cx="8279640" cy="3689640"/>
          </a:xfrm>
          <a:prstGeom prst="rect">
            <a:avLst/>
          </a:prstGeom>
          <a:noFill/>
          <a:ln w="0">
            <a:noFill/>
          </a:ln>
        </p:spPr>
        <p:txBody>
          <a:bodyPr anchor="t">
            <a:noAutofit/>
          </a:bodyPr>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It is common for users to mistakenly relate the operation of an internet link to the availability of the DNS.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DNS server addresses can be manually or automatically assigned via DHCP.</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Although it is common for companies and organizations to manage their own DNS servers, any reachable DNS server can be used to resolve names.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Cisco offers OpenDNS which provides secure DNS service by filtering phishing and some malware sites. OpenDNS addresses are 208.67.222.222 and 208.67.220.220. Advanced features such as web content filtering and security are available to families and businesses.</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Use the </a:t>
            </a:r>
            <a:r>
              <a:rPr b="1" lang="en-US" sz="1400" spc="-1" strike="noStrike">
                <a:solidFill>
                  <a:srgbClr val="000000"/>
                </a:solidFill>
                <a:latin typeface="Arial"/>
                <a:ea typeface="ＭＳ Ｐゴシック"/>
              </a:rPr>
              <a:t>ipconfig /all </a:t>
            </a:r>
            <a:r>
              <a:rPr b="0" lang="en-US" sz="1400" spc="-1" strike="noStrike">
                <a:solidFill>
                  <a:srgbClr val="000000"/>
                </a:solidFill>
                <a:latin typeface="Arial"/>
                <a:ea typeface="ＭＳ Ｐゴシック"/>
              </a:rPr>
              <a:t>as shown to verify which DNS server is in use by the Windows computer.</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The </a:t>
            </a:r>
            <a:r>
              <a:rPr b="1" lang="en-US" sz="1400" spc="-1" strike="noStrike">
                <a:solidFill>
                  <a:srgbClr val="000000"/>
                </a:solidFill>
                <a:latin typeface="Arial"/>
                <a:ea typeface="ＭＳ Ｐゴシック"/>
              </a:rPr>
              <a:t>nslookup</a:t>
            </a:r>
            <a:r>
              <a:rPr b="0" lang="en-US" sz="1400" spc="-1" strike="noStrike">
                <a:solidFill>
                  <a:srgbClr val="000000"/>
                </a:solidFill>
                <a:latin typeface="Arial"/>
                <a:ea typeface="ＭＳ Ｐゴシック"/>
              </a:rPr>
              <a:t> command is another useful DNS troubleshooting tool for PCs. With </a:t>
            </a:r>
            <a:r>
              <a:rPr b="1" lang="en-US" sz="1400" spc="-1" strike="noStrike">
                <a:solidFill>
                  <a:srgbClr val="000000"/>
                </a:solidFill>
                <a:latin typeface="Arial"/>
                <a:ea typeface="ＭＳ Ｐゴシック"/>
              </a:rPr>
              <a:t>nslookup</a:t>
            </a:r>
            <a:r>
              <a:rPr b="0" lang="en-US" sz="1400" spc="-1" strike="noStrike">
                <a:solidFill>
                  <a:srgbClr val="000000"/>
                </a:solidFill>
                <a:latin typeface="Arial"/>
                <a:ea typeface="ＭＳ Ｐゴシック"/>
              </a:rPr>
              <a:t> a user can manually place DNS queries and analyze the DNS response. </a:t>
            </a: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Packet Tracer – Troubleshoot Connectivity Issues</a:t>
            </a:r>
            <a:endParaRPr b="0" lang="en-US" sz="2400" spc="-1" strike="noStrike">
              <a:solidFill>
                <a:srgbClr val="58585b"/>
              </a:solidFill>
              <a:latin typeface="Arial"/>
            </a:endParaRPr>
          </a:p>
        </p:txBody>
      </p:sp>
      <p:sp>
        <p:nvSpPr>
          <p:cNvPr id="450"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The objective of this Packet Tracer activity is to troubleshoot and resolve connectivity issues, if possible. Otherwise, the issues should be clearly documented and so they can be escalated.</a:t>
            </a:r>
            <a:endParaRPr b="0" lang="en-US" sz="18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0" y="0"/>
            <a:ext cx="8345160" cy="130140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Packet Tracer – Troubleshoot Connectivity Issues – Physical Mode</a:t>
            </a:r>
            <a:br/>
            <a:r>
              <a:rPr b="0" lang="en-US" sz="2400" spc="-1" strike="noStrike">
                <a:solidFill>
                  <a:srgbClr val="004c69"/>
                </a:solidFill>
                <a:latin typeface="Arial"/>
                <a:ea typeface="ＭＳ Ｐゴシック"/>
              </a:rPr>
              <a:t>Lab - Troubleshoot Connectivity Issues </a:t>
            </a:r>
            <a:endParaRPr b="0" lang="en-US" sz="2400" spc="-1" strike="noStrike">
              <a:solidFill>
                <a:srgbClr val="58585b"/>
              </a:solidFill>
              <a:latin typeface="Arial"/>
            </a:endParaRPr>
          </a:p>
        </p:txBody>
      </p:sp>
      <p:sp>
        <p:nvSpPr>
          <p:cNvPr id="452" name="PlaceHolder 2"/>
          <p:cNvSpPr>
            <a:spLocks noGrp="1"/>
          </p:cNvSpPr>
          <p:nvPr>
            <p:ph/>
          </p:nvPr>
        </p:nvSpPr>
        <p:spPr>
          <a:xfrm>
            <a:off x="432000" y="1596960"/>
            <a:ext cx="8279640" cy="368964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In this Packet Tracer Physical Mode activity and in the Lab, you will complete the following objectives: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Identify the Problem</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Implement Network Changes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Verify Full Functionality</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Document Findings and Configuration Changes</a:t>
            </a:r>
            <a:endParaRPr b="0" lang="en-US" sz="1800" spc="-1" strike="noStrike">
              <a:solidFill>
                <a:srgbClr val="58585b"/>
              </a:solidFill>
              <a:latin typeface="Arial"/>
            </a:endParaRPr>
          </a:p>
          <a:p>
            <a:pPr>
              <a:lnSpc>
                <a:spcPct val="100000"/>
              </a:lnSpc>
              <a:spcBef>
                <a:spcPts val="320"/>
              </a:spcBef>
              <a:buNone/>
              <a:tabLst>
                <a:tab algn="l" pos="0"/>
              </a:tabLst>
            </a:pPr>
            <a:endParaRPr b="0" lang="en-US" sz="18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17.8 Module Practice and Quiz</a:t>
            </a:r>
            <a:endParaRPr b="0" lang="en-US" sz="4600" spc="-1" strike="noStrike">
              <a:solidFill>
                <a:srgbClr val="58585b"/>
              </a:solidFill>
              <a:latin typeface="Arial"/>
            </a:endParaRPr>
          </a:p>
        </p:txBody>
      </p:sp>
    </p:spTree>
  </p:cSld>
  <p:transition spd="slow">
    <p:wipe dir="l"/>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0" y="0"/>
            <a:ext cx="8345160" cy="112968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Packet Tracer – Design and Build a Small Business Network – Physical Mode</a:t>
            </a:r>
            <a:br/>
            <a:r>
              <a:rPr b="0" lang="en-US" sz="2400" spc="-1" strike="noStrike">
                <a:solidFill>
                  <a:srgbClr val="004c69"/>
                </a:solidFill>
                <a:latin typeface="Arial"/>
                <a:ea typeface="ＭＳ Ｐゴシック"/>
              </a:rPr>
              <a:t>Lab – Design and Build a Small Business Network</a:t>
            </a:r>
            <a:endParaRPr b="0" lang="en-US" sz="2400" spc="-1" strike="noStrike">
              <a:solidFill>
                <a:srgbClr val="58585b"/>
              </a:solidFill>
              <a:latin typeface="Arial"/>
            </a:endParaRPr>
          </a:p>
        </p:txBody>
      </p:sp>
      <p:sp>
        <p:nvSpPr>
          <p:cNvPr id="455" name="PlaceHolder 2"/>
          <p:cNvSpPr>
            <a:spLocks noGrp="1"/>
          </p:cNvSpPr>
          <p:nvPr>
            <p:ph/>
          </p:nvPr>
        </p:nvSpPr>
        <p:spPr>
          <a:xfrm>
            <a:off x="432000" y="1291320"/>
            <a:ext cx="8279640" cy="25920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this Packet Tracer Physical Mode activity and in the Lab, you will complete the following objectives: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Design and build a network</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Explain how a small network of directly connected segments is created, configured, and verified</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Packet Tracer – Skills Integration Challenge</a:t>
            </a:r>
            <a:endParaRPr b="0" lang="en-US" sz="2400" spc="-1" strike="noStrike">
              <a:solidFill>
                <a:srgbClr val="58585b"/>
              </a:solidFill>
              <a:latin typeface="Arial"/>
            </a:endParaRPr>
          </a:p>
        </p:txBody>
      </p:sp>
      <p:sp>
        <p:nvSpPr>
          <p:cNvPr id="457"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this Packet Tracer activity, you will use all the skills you have acquired over throughout this course.</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Scenario:</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 router Central, ISP cluster, and the Web server are completely configured. You must create a new IPv4 addressing scheme that will accommodate 4 subnets using the 192.168.0.0/24 network. The IT department requires 25 hosts. The Sales department needs 50 hosts. The subnet for the rest of the staff requires 100 hosts. A Guest subnet will be added in the future to accommodate 25 hosts. You must also finish the basic security settings and interface configurations on R1. Then, you will configure the SVI interface and basic security settings on switches S1, S2, and S3.</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Troubleshooting Scenarios</a:t>
            </a:r>
            <a:br/>
            <a:r>
              <a:rPr b="0" lang="en-US" sz="2400" spc="-1" strike="noStrike">
                <a:solidFill>
                  <a:srgbClr val="004c69"/>
                </a:solidFill>
                <a:latin typeface="Arial"/>
                <a:ea typeface="ＭＳ Ｐゴシック"/>
              </a:rPr>
              <a:t>Packet Tracer – Troubleshooting Challenge</a:t>
            </a:r>
            <a:endParaRPr b="0" lang="en-US" sz="2400" spc="-1" strike="noStrike">
              <a:solidFill>
                <a:srgbClr val="58585b"/>
              </a:solidFill>
              <a:latin typeface="Arial"/>
            </a:endParaRPr>
          </a:p>
        </p:txBody>
      </p:sp>
      <p:sp>
        <p:nvSpPr>
          <p:cNvPr id="459"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this Packet Tracer activity, you will troubleshoot and resolve a number of issues in an existing LAN.</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61" name="PlaceHolder 2"/>
          <p:cNvSpPr>
            <a:spLocks noGrp="1"/>
          </p:cNvSpPr>
          <p:nvPr>
            <p:ph/>
          </p:nvPr>
        </p:nvSpPr>
        <p:spPr>
          <a:xfrm>
            <a:off x="145440" y="68760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Factors to consider when selecting network devices for a small network are cost, speed and types of ports/interfaces, expandability, and OS features and services.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When implementing a network, create an IP addressing scheme and use it on end devices, servers and peripherals, and intermediary devices.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Redundancy can be accomplished by installing duplicate equipment, but it can also be accomplished by supplying duplicate network links for critical areas.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routers and switches in a small network should be configured to support real-time traffic, such as voice and video, in an appropriate manner relative to other data traffic.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There are two forms of software programs or processes that provide access to the network: network applications and application layer services.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To scale a network, several elements are required: network documentation, device inventory, budget, and traffic analysis.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ping command is the most effective way to quickly test Layer 3 connectivity between a source and destination IP address.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Cisco IOS offers an "extended" mode of the ping command which lets the user create special types of pings by adjusting parameters related to the command operation. </a:t>
            </a:r>
            <a:endParaRPr b="0" lang="en-US" sz="1600" spc="-1" strike="noStrike">
              <a:solidFill>
                <a:srgbClr val="58585b"/>
              </a:solidFill>
              <a:latin typeface="Arial"/>
            </a:endParaRPr>
          </a:p>
          <a:p>
            <a:pPr>
              <a:lnSpc>
                <a:spcPct val="100000"/>
              </a:lnSpc>
              <a:buNone/>
            </a:pPr>
            <a:endParaRPr b="0" lang="en-US" sz="1600" spc="-1" strike="noStrike">
              <a:solidFill>
                <a:srgbClr val="58585b"/>
              </a:solidFill>
              <a:latin typeface="Arial"/>
            </a:endParaRPr>
          </a:p>
        </p:txBody>
      </p:sp>
    </p:spTree>
  </p:cSld>
  <p:transition spd="slow">
    <p:wipe dir="l"/>
  </p:transition>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63"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 trace returns a list of hops as a packet is routed through a network.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There is also an extended traceroute command. It allows the administrator to adjust parameters related to the command operation.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Network administrators view the IP addressing information (address, mask, router, and DNS) on a Windows host by issuing the ipconfig command. Other necessary commands are </a:t>
            </a:r>
            <a:r>
              <a:rPr b="1" lang="en-US" sz="1600" spc="-1" strike="noStrike">
                <a:solidFill>
                  <a:srgbClr val="000000"/>
                </a:solidFill>
                <a:latin typeface="Arial"/>
                <a:ea typeface="ＭＳ Ｐゴシック"/>
              </a:rPr>
              <a:t>ipconfig /all</a:t>
            </a:r>
            <a:r>
              <a:rPr b="0" lang="en-US" sz="1600" spc="-1" strike="noStrike">
                <a:solidFill>
                  <a:srgbClr val="000000"/>
                </a:solidFill>
                <a:latin typeface="Arial"/>
                <a:ea typeface="ＭＳ Ｐゴシック"/>
              </a:rPr>
              <a:t>, </a:t>
            </a:r>
            <a:r>
              <a:rPr b="1" lang="en-US" sz="1600" spc="-1" strike="noStrike">
                <a:solidFill>
                  <a:srgbClr val="000000"/>
                </a:solidFill>
                <a:latin typeface="Arial"/>
                <a:ea typeface="ＭＳ Ｐゴシック"/>
              </a:rPr>
              <a:t>ipconfig /release</a:t>
            </a:r>
            <a:r>
              <a:rPr b="0" lang="en-US" sz="1600" spc="-1" strike="noStrike">
                <a:solidFill>
                  <a:srgbClr val="000000"/>
                </a:solidFill>
                <a:latin typeface="Arial"/>
                <a:ea typeface="ＭＳ Ｐゴシック"/>
              </a:rPr>
              <a:t> and </a:t>
            </a:r>
            <a:r>
              <a:rPr b="1" lang="en-US" sz="1600" spc="-1" strike="noStrike">
                <a:solidFill>
                  <a:srgbClr val="000000"/>
                </a:solidFill>
                <a:latin typeface="Arial"/>
                <a:ea typeface="ＭＳ Ｐゴシック"/>
              </a:rPr>
              <a:t>ipconfig /renew</a:t>
            </a:r>
            <a:r>
              <a:rPr b="0" lang="en-US" sz="1600" spc="-1" strike="noStrike">
                <a:solidFill>
                  <a:srgbClr val="000000"/>
                </a:solidFill>
                <a:latin typeface="Arial"/>
                <a:ea typeface="ＭＳ Ｐゴシック"/>
              </a:rPr>
              <a:t>, and </a:t>
            </a:r>
            <a:r>
              <a:rPr b="1" lang="en-US" sz="1600" spc="-1" strike="noStrike">
                <a:solidFill>
                  <a:srgbClr val="000000"/>
                </a:solidFill>
                <a:latin typeface="Arial"/>
                <a:ea typeface="ＭＳ Ｐゴシック"/>
              </a:rPr>
              <a:t>ipconfig /displaydns</a:t>
            </a:r>
            <a:r>
              <a:rPr b="0" lang="en-US" sz="1600" spc="-1" strike="noStrike">
                <a:solidFill>
                  <a:srgbClr val="000000"/>
                </a:solidFill>
                <a:latin typeface="Arial"/>
                <a:ea typeface="ＭＳ Ｐゴシック"/>
              </a:rPr>
              <a:t>.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Verifying IP settings by using the GUI on a Linux machine will differ depending on the Linux distribution (distro) and desktop interface. Necessary commands are ifconfig, and ip address.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In the GUI of a Mac host, open Network Preferences &gt; Advanced to get the IP addressing information. Other IP addressing commands for Mac are ifconfig, and networksetup -listallnetworkservices and networksetup -getinfo &lt;network service&gt;.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arp</a:t>
            </a:r>
            <a:r>
              <a:rPr b="0" lang="en-US" sz="1600" spc="-1" strike="noStrike">
                <a:solidFill>
                  <a:srgbClr val="000000"/>
                </a:solidFill>
                <a:latin typeface="Arial"/>
                <a:ea typeface="ＭＳ Ｐゴシック"/>
              </a:rPr>
              <a:t> command is executed from the Windows, Linux, or Mac command prompt. The command lists all devices currently in the ARP cache of the host, which includes the IPv4 address, physical address, and the type of addressing (static/dynamic), for each device.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a:t>
            </a:r>
            <a:r>
              <a:rPr b="1" lang="en-US" sz="1600" spc="-1" strike="noStrike">
                <a:solidFill>
                  <a:srgbClr val="000000"/>
                </a:solidFill>
                <a:latin typeface="Arial"/>
                <a:ea typeface="ＭＳ Ｐゴシック"/>
              </a:rPr>
              <a:t>arp -a</a:t>
            </a:r>
            <a:r>
              <a:rPr b="0" lang="en-US" sz="1600" spc="-1" strike="noStrike">
                <a:solidFill>
                  <a:srgbClr val="000000"/>
                </a:solidFill>
                <a:latin typeface="Arial"/>
                <a:ea typeface="ＭＳ Ｐゴシック"/>
              </a:rPr>
              <a:t> command displays the known IP address and MAC address binding. </a:t>
            </a:r>
            <a:endParaRPr b="0" lang="en-US" sz="1600" spc="-1" strike="noStrike">
              <a:solidFill>
                <a:srgbClr val="58585b"/>
              </a:solidFill>
              <a:latin typeface="Arial"/>
            </a:endParaRPr>
          </a:p>
          <a:p>
            <a:pPr>
              <a:lnSpc>
                <a:spcPct val="100000"/>
              </a:lnSpc>
              <a:buNone/>
            </a:pPr>
            <a:endParaRPr b="0" lang="en-US" sz="1600" spc="-1" strike="noStrike">
              <a:solidFill>
                <a:srgbClr val="58585b"/>
              </a:solidFill>
              <a:latin typeface="Arial"/>
            </a:endParaRPr>
          </a:p>
        </p:txBody>
      </p:sp>
    </p:spTree>
  </p:cSld>
  <p:transition spd="slow">
    <p:wipe dir="l"/>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65" name="PlaceHolder 2"/>
          <p:cNvSpPr>
            <a:spLocks noGrp="1"/>
          </p:cNvSpPr>
          <p:nvPr>
            <p:ph/>
          </p:nvPr>
        </p:nvSpPr>
        <p:spPr>
          <a:xfrm>
            <a:off x="144000" y="687600"/>
            <a:ext cx="906624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Common show commands are </a:t>
            </a:r>
            <a:r>
              <a:rPr b="1" lang="en-US" sz="1450" spc="-1" strike="noStrike">
                <a:solidFill>
                  <a:srgbClr val="000000"/>
                </a:solidFill>
                <a:latin typeface="Arial"/>
                <a:ea typeface="ＭＳ Ｐゴシック"/>
              </a:rPr>
              <a:t>show running-config</a:t>
            </a:r>
            <a:r>
              <a:rPr b="0" lang="en-US" sz="1450" spc="-1" strike="noStrike">
                <a:solidFill>
                  <a:srgbClr val="000000"/>
                </a:solidFill>
                <a:latin typeface="Arial"/>
                <a:ea typeface="ＭＳ Ｐゴシック"/>
              </a:rPr>
              <a:t>, </a:t>
            </a:r>
            <a:r>
              <a:rPr b="1" lang="en-US" sz="1450" spc="-1" strike="noStrike">
                <a:solidFill>
                  <a:srgbClr val="000000"/>
                </a:solidFill>
                <a:latin typeface="Arial"/>
                <a:ea typeface="ＭＳ Ｐゴシック"/>
              </a:rPr>
              <a:t>show interfaces</a:t>
            </a:r>
            <a:r>
              <a:rPr b="0" lang="en-US" sz="1450" spc="-1" strike="noStrike">
                <a:solidFill>
                  <a:srgbClr val="000000"/>
                </a:solidFill>
                <a:latin typeface="Arial"/>
                <a:ea typeface="ＭＳ Ｐゴシック"/>
              </a:rPr>
              <a:t>, </a:t>
            </a:r>
            <a:r>
              <a:rPr b="1" lang="en-US" sz="1450" spc="-1" strike="noStrike">
                <a:solidFill>
                  <a:srgbClr val="000000"/>
                </a:solidFill>
                <a:latin typeface="Arial"/>
                <a:ea typeface="ＭＳ Ｐゴシック"/>
              </a:rPr>
              <a:t>show ip address</a:t>
            </a:r>
            <a:r>
              <a:rPr b="0" lang="en-US" sz="1450" spc="-1" strike="noStrike">
                <a:solidFill>
                  <a:srgbClr val="000000"/>
                </a:solidFill>
                <a:latin typeface="Arial"/>
                <a:ea typeface="ＭＳ Ｐゴシック"/>
              </a:rPr>
              <a:t>, </a:t>
            </a:r>
            <a:r>
              <a:rPr b="1" lang="en-US" sz="1450" spc="-1" strike="noStrike">
                <a:solidFill>
                  <a:srgbClr val="000000"/>
                </a:solidFill>
                <a:latin typeface="Arial"/>
                <a:ea typeface="ＭＳ Ｐゴシック"/>
              </a:rPr>
              <a:t>show arp</a:t>
            </a:r>
            <a:r>
              <a:rPr b="0" lang="en-US" sz="1450" spc="-1" strike="noStrike">
                <a:solidFill>
                  <a:srgbClr val="000000"/>
                </a:solidFill>
                <a:latin typeface="Arial"/>
                <a:ea typeface="ＭＳ Ｐゴシック"/>
              </a:rPr>
              <a:t>, </a:t>
            </a:r>
            <a:r>
              <a:rPr b="1" lang="en-US" sz="1450" spc="-1" strike="noStrike">
                <a:solidFill>
                  <a:srgbClr val="000000"/>
                </a:solidFill>
                <a:latin typeface="Arial"/>
                <a:ea typeface="ＭＳ Ｐゴシック"/>
              </a:rPr>
              <a:t>show ip route</a:t>
            </a:r>
            <a:r>
              <a:rPr b="0" lang="en-US" sz="1450" spc="-1" strike="noStrike">
                <a:solidFill>
                  <a:srgbClr val="000000"/>
                </a:solidFill>
                <a:latin typeface="Arial"/>
                <a:ea typeface="ＭＳ Ｐゴシック"/>
              </a:rPr>
              <a:t>, </a:t>
            </a:r>
            <a:r>
              <a:rPr b="1" lang="en-US" sz="1450" spc="-1" strike="noStrike">
                <a:solidFill>
                  <a:srgbClr val="000000"/>
                </a:solidFill>
                <a:latin typeface="Arial"/>
                <a:ea typeface="ＭＳ Ｐゴシック"/>
              </a:rPr>
              <a:t>show protocols</a:t>
            </a:r>
            <a:r>
              <a:rPr b="0" lang="en-US" sz="1450" spc="-1" strike="noStrike">
                <a:solidFill>
                  <a:srgbClr val="000000"/>
                </a:solidFill>
                <a:latin typeface="Arial"/>
                <a:ea typeface="ＭＳ Ｐゴシック"/>
              </a:rPr>
              <a:t>, and </a:t>
            </a:r>
            <a:r>
              <a:rPr b="1" lang="en-US" sz="1450" spc="-1" strike="noStrike">
                <a:solidFill>
                  <a:srgbClr val="000000"/>
                </a:solidFill>
                <a:latin typeface="Arial"/>
                <a:ea typeface="ＭＳ Ｐゴシック"/>
              </a:rPr>
              <a:t>show version</a:t>
            </a:r>
            <a:r>
              <a:rPr b="0" lang="en-US" sz="1450" spc="-1" strike="noStrike">
                <a:solidFill>
                  <a:srgbClr val="000000"/>
                </a:solidFill>
                <a:latin typeface="Arial"/>
                <a:ea typeface="ＭＳ Ｐゴシック"/>
              </a:rPr>
              <a:t>. The </a:t>
            </a:r>
            <a:r>
              <a:rPr b="1" lang="en-US" sz="1450" spc="-1" strike="noStrike">
                <a:solidFill>
                  <a:srgbClr val="000000"/>
                </a:solidFill>
                <a:latin typeface="Arial"/>
                <a:ea typeface="ＭＳ Ｐゴシック"/>
              </a:rPr>
              <a:t>show cdp neighbor </a:t>
            </a:r>
            <a:r>
              <a:rPr b="0" lang="en-US" sz="1450" spc="-1" strike="noStrike">
                <a:solidFill>
                  <a:srgbClr val="000000"/>
                </a:solidFill>
                <a:latin typeface="Arial"/>
                <a:ea typeface="ＭＳ Ｐゴシック"/>
              </a:rPr>
              <a:t>command provides the following information about each CDP neighbor device: identifiers, address list, port identifier, capabilities list, and platform. </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The </a:t>
            </a:r>
            <a:r>
              <a:rPr b="1" lang="en-US" sz="1450" spc="-1" strike="noStrike">
                <a:solidFill>
                  <a:srgbClr val="000000"/>
                </a:solidFill>
                <a:latin typeface="Arial"/>
                <a:ea typeface="ＭＳ Ｐゴシック"/>
              </a:rPr>
              <a:t>show cdp neighbors detail </a:t>
            </a:r>
            <a:r>
              <a:rPr b="0" lang="en-US" sz="1450" spc="-1" strike="noStrike">
                <a:solidFill>
                  <a:srgbClr val="000000"/>
                </a:solidFill>
                <a:latin typeface="Arial"/>
                <a:ea typeface="ＭＳ Ｐゴシック"/>
              </a:rPr>
              <a:t>command will help determine if one of the CDP neighbors has an IP configuration error. </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The </a:t>
            </a:r>
            <a:r>
              <a:rPr b="1" lang="en-US" sz="1450" spc="-1" strike="noStrike">
                <a:solidFill>
                  <a:srgbClr val="000000"/>
                </a:solidFill>
                <a:latin typeface="Arial"/>
                <a:ea typeface="ＭＳ Ｐゴシック"/>
              </a:rPr>
              <a:t>show ip interface brief </a:t>
            </a:r>
            <a:r>
              <a:rPr b="0" lang="en-US" sz="1450" spc="-1" strike="noStrike">
                <a:solidFill>
                  <a:srgbClr val="000000"/>
                </a:solidFill>
                <a:latin typeface="Arial"/>
                <a:ea typeface="ＭＳ Ｐゴシック"/>
              </a:rPr>
              <a:t>command output displays all interfaces on the router, the IP address assigned to each interface, if any, and the operational status of the interface.</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The six basic steps to troubleshooting Step 1. Identify the problem Step 2. Establish a theory of probably causes. Step 3. Test the theory to determine the cause. Step 4. Establish a plan of action and implement the solution. Step 5. Verify the solution and implement preventive measures. Step 6. Document findings, actions, and outcomes.</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A problem should be escalated when it requires a decision of a manager, some specific expertise, or network access level unavailable to the troubleshooting technician. </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OS processes, protocols, mechanisms and events generate messages to communicate their status. The IOS debug command allows the administrator to display these messages in real-time for analysis. </a:t>
            </a:r>
            <a:endParaRPr b="0" lang="en-US" sz="1450" spc="-1" strike="noStrike">
              <a:solidFill>
                <a:srgbClr val="58585b"/>
              </a:solidFill>
              <a:latin typeface="Arial"/>
            </a:endParaRPr>
          </a:p>
          <a:p>
            <a:pPr marL="169920" indent="-169920">
              <a:lnSpc>
                <a:spcPct val="100000"/>
              </a:lnSpc>
              <a:buClr>
                <a:srgbClr val="58585b"/>
              </a:buClr>
              <a:buSzPct val="90000"/>
              <a:buFont typeface="Arial"/>
              <a:buChar char="•"/>
            </a:pPr>
            <a:r>
              <a:rPr b="0" lang="en-US" sz="1450" spc="-1" strike="noStrike">
                <a:solidFill>
                  <a:srgbClr val="000000"/>
                </a:solidFill>
                <a:latin typeface="Arial"/>
                <a:ea typeface="ＭＳ Ｐゴシック"/>
              </a:rPr>
              <a:t>To display log messages on a terminal (virtual console), use the terminal monitor privileged EXEC command.</a:t>
            </a:r>
            <a:endParaRPr b="0" lang="en-US" sz="1450" spc="-1" strike="noStrike">
              <a:solidFill>
                <a:srgbClr val="58585b"/>
              </a:solidFill>
              <a:latin typeface="Arial"/>
            </a:endParaRPr>
          </a:p>
          <a:p>
            <a:pPr>
              <a:lnSpc>
                <a:spcPct val="100000"/>
              </a:lnSpc>
              <a:buNone/>
            </a:pPr>
            <a:endParaRPr b="0" lang="en-US" sz="1450" spc="-1" strike="noStrike">
              <a:solidFill>
                <a:srgbClr val="58585b"/>
              </a:solidFill>
              <a:latin typeface="Arial"/>
            </a:endParaRPr>
          </a:p>
        </p:txBody>
      </p:sp>
    </p:spTree>
  </p:cSld>
  <p:transition spd="slow">
    <p:wipe dir="l"/>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17: Build a Small Network</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sp>
        <p:nvSpPr>
          <p:cNvPr id="467" name="PlaceHolder 2"/>
          <p:cNvSpPr>
            <a:spLocks noGrp="1"/>
          </p:cNvSpPr>
          <p:nvPr>
            <p:ph/>
          </p:nvPr>
        </p:nvSpPr>
        <p:spPr>
          <a:xfrm>
            <a:off x="144000" y="798840"/>
            <a:ext cx="442764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network applications</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application layer services</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extended ping</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extended traceroute</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network Baseline</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1" lang="en-US" sz="1400" spc="-1" strike="noStrike">
                <a:solidFill>
                  <a:srgbClr val="000000"/>
                </a:solidFill>
                <a:latin typeface="Arial"/>
                <a:ea typeface="ＭＳ Ｐゴシック"/>
              </a:rPr>
              <a:t>ifconfig</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1" lang="en-US" sz="1400" spc="-1" strike="noStrike">
                <a:solidFill>
                  <a:srgbClr val="000000"/>
                </a:solidFill>
                <a:latin typeface="Arial"/>
                <a:ea typeface="ＭＳ Ｐゴシック"/>
              </a:rPr>
              <a:t>netsh interface ip delete arpcache</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00" spc="-1" strike="noStrike">
                <a:solidFill>
                  <a:srgbClr val="000000"/>
                </a:solidFill>
                <a:latin typeface="Arial"/>
                <a:ea typeface="ＭＳ Ｐゴシック"/>
              </a:rPr>
              <a:t>scientific method</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1" lang="en-US" sz="1400" spc="-1" strike="noStrike">
                <a:solidFill>
                  <a:srgbClr val="000000"/>
                </a:solidFill>
                <a:latin typeface="Arial"/>
                <a:ea typeface="ＭＳ Ｐゴシック"/>
              </a:rPr>
              <a:t>debug</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1" lang="en-US" sz="1400" spc="-1" strike="noStrike">
                <a:solidFill>
                  <a:srgbClr val="000000"/>
                </a:solidFill>
                <a:latin typeface="Arial"/>
                <a:ea typeface="ＭＳ Ｐゴシック"/>
              </a:rPr>
              <a:t>terminal monitor</a:t>
            </a:r>
            <a:endParaRPr b="0" lang="en-US" sz="1400" spc="-1" strike="noStrike">
              <a:solidFill>
                <a:srgbClr val="58585b"/>
              </a:solidFill>
              <a:latin typeface="Arial"/>
            </a:endParaRPr>
          </a:p>
          <a:p>
            <a:pPr>
              <a:lnSpc>
                <a:spcPct val="100000"/>
              </a:lnSpc>
              <a:spcBef>
                <a:spcPts val="601"/>
              </a:spcBef>
              <a:spcAft>
                <a:spcPts val="601"/>
              </a:spcAft>
              <a:buNone/>
            </a:pPr>
            <a:endParaRPr b="0" lang="en-US" sz="1400" spc="-1" strike="noStrike">
              <a:solidFill>
                <a:srgbClr val="58585b"/>
              </a:solidFill>
              <a:latin typeface="Arial"/>
            </a:endParaRPr>
          </a:p>
          <a:p>
            <a:pPr>
              <a:lnSpc>
                <a:spcPct val="100000"/>
              </a:lnSpc>
              <a:spcBef>
                <a:spcPts val="601"/>
              </a:spcBef>
              <a:spcAft>
                <a:spcPts val="601"/>
              </a:spcAft>
              <a:buNone/>
            </a:pPr>
            <a:endParaRPr b="0" lang="en-US" sz="1400" spc="-1" strike="noStrike">
              <a:solidFill>
                <a:srgbClr val="58585b"/>
              </a:solidFill>
              <a:latin typeface="Arial"/>
            </a:endParaRPr>
          </a:p>
        </p:txBody>
      </p:sp>
    </p:spTree>
  </p:cSld>
  <p:transition spd="slow">
    <p:wipe dir="l"/>
  </p:transition>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8929</TotalTime>
  <Application>LibreOffice/7.2.7.2$Windows_X86_64 LibreOffice_project/8d71d29d553c0f7dcbfa38fbfda25ee34cce99a2</Application>
  <AppVersion>15.0000</AppVersion>
  <Words>7683</Words>
  <Paragraphs>744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2025-06-11T18:07:44Z</dcterms:modified>
  <cp:revision>316</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11</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69</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71</vt:i4>
  </property>
</Properties>
</file>