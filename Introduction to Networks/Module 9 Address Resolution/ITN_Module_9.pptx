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media/image1.jpeg" ContentType="image/jpeg"/>
  <Override PartName="/ppt/media/image3.png" ContentType="image/png"/>
  <Override PartName="/ppt/media/image2.jpeg" ContentType="image/jpeg"/>
  <Override PartName="/ppt/media/image8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200" spc="-1" strike="noStrike">
                <a:solidFill>
                  <a:srgbClr val="58585b"/>
                </a:solidFill>
                <a:latin typeface="Arial"/>
              </a:rPr>
              <a:t>Click to move the slide</a:t>
            </a:r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JM" sz="2000" spc="-1" strike="noStrike">
                <a:latin typeface="Arial"/>
              </a:rPr>
              <a:t>Click to edit the notes format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JM" sz="1400" spc="-1" strike="noStrike">
                <a:latin typeface="Times New Roman"/>
              </a:rPr>
              <a:t>&lt;header&gt;</a:t>
            </a:r>
            <a:endParaRPr b="0" lang="en-JM" sz="1400" spc="-1" strike="noStrike">
              <a:latin typeface="Times New Roman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JM" sz="1400" spc="-1" strike="noStrike">
                <a:latin typeface="Times New Roman"/>
              </a:rPr>
              <a:t>&lt;date/time&gt;</a:t>
            </a:r>
            <a:endParaRPr b="0" lang="en-JM" sz="1400" spc="-1" strike="noStrike">
              <a:latin typeface="Times New Roman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JM" sz="1400" spc="-1" strike="noStrike">
                <a:latin typeface="Times New Roman"/>
              </a:rPr>
              <a:t>&lt;footer&gt;</a:t>
            </a:r>
            <a:endParaRPr b="0" lang="en-JM" sz="1400" spc="-1" strike="noStrike">
              <a:latin typeface="Times New Roman"/>
            </a:endParaRPr>
          </a:p>
        </p:txBody>
      </p:sp>
      <p:sp>
        <p:nvSpPr>
          <p:cNvPr id="33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buNone/>
            </a:pPr>
            <a:fld id="{C1B52F78-5934-4CAC-9D63-842F04B7A211}" type="slidenum">
              <a:rPr b="0" lang="en-JM" sz="1400" spc="-1" strike="noStrike">
                <a:latin typeface="Times New Roman"/>
              </a:rPr>
              <a:t>&lt;number&gt;</a:t>
            </a:fld>
            <a:endParaRPr b="0" lang="en-JM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Cisco Networking Academy Program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Introduction to Networks v7.0 (ITN)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Module 9: Address Resolution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JM" sz="1200" spc="-1" strike="noStrike"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4CAC202B-757B-43E1-A6E3-71CE62A818CC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angle 11"/>
          <p:cNvSpPr/>
          <p:nvPr/>
        </p:nvSpPr>
        <p:spPr>
          <a:xfrm>
            <a:off x="5929200" y="8680320"/>
            <a:ext cx="81252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720" rIns="18720" tIns="0" bIns="0" anchor="b">
            <a:noAutofit/>
          </a:bodyPr>
          <a:p>
            <a:pPr algn="r">
              <a:lnSpc>
                <a:spcPct val="100000"/>
              </a:lnSpc>
              <a:buNone/>
            </a:pPr>
            <a:fld id="{E083B701-0A0A-44C4-9985-F5A7A9EB1EEA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800" spc="-1" strike="noStrike">
              <a:latin typeface="Arial"/>
            </a:endParaRPr>
          </a:p>
        </p:txBody>
      </p:sp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9 - Address Resolution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9.0.2</a:t>
            </a:r>
            <a:endParaRPr b="0" lang="en-JM" sz="12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9 - Address Resolution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9.1 MAC and IP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JM" sz="1200" spc="-1" strike="noStrike"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E54D1066-0E48-4544-B1D1-EDFFBED8D0C3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9.1 – MAC and IP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9.1.1 – Destination on Same Network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FACE1D62-9775-4048-993A-018CEC3D0C8E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9.1 – MAC and IP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9.1.2 – Destination on Remote Network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AB58A617-7215-4438-A71D-77FB44432CDA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9.1 – MAC and IP</a:t>
            </a:r>
            <a:endParaRPr b="0" lang="en-JM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9.1.3 – Packet Tracer Identify MAC and IP Addresses</a:t>
            </a:r>
            <a:endParaRPr b="0" lang="en-JM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9.1.4 – Check Your Understanding – MAC and IP</a:t>
            </a:r>
            <a:endParaRPr b="0" lang="en-JM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JM" sz="2000" spc="-1" strike="noStrike"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4F44AB8E-0653-4CD8-9DB6-75CAA9C58F4B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9 - Address Resolution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9.2 ARP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JM" sz="1200" spc="-1" strike="noStrike"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5ADCF672-3438-4646-9246-E15C07DDA507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 – ARP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9.2.1 – ARP Overview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488D802C-EEB7-4E13-A313-DF499F608F82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 – ARP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9.2.2 – ARP Functions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C3368AC3-A3A2-427B-8D66-383353688BCB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 – ARP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9.2.3 –  Video - ARP Request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EB237EE4-4591-4A09-9736-63D2E6992CCC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 – ARP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9.2.4 – Video – ARP Operation - ARP Reply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7DF04D84-641E-4091-BEB1-459CD39CE0DE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 – ARP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9.2.5 – Video - ARP Role in Remote Communications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B73B0A39-BA82-4EC5-9B22-FBB654BFE9B2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 – ARP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9.2.6– Removing Entries from an ARP Table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82333A97-6165-4F6E-AD13-55A4F0379650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 – ARP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9.2.7 – ARP Tables on Networking Devices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DFACB99B-3A7C-4D5F-B96B-58BA06FA82ED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 – ARP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9.2.8 – ARP Issues – ARP Broadcast and ARP Spoofing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A45F8B02-3D3E-432C-8875-AF60228FD307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 – ARP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9.2.9 – Packet Tracer – Examine the ARP Table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9.2.10 – Check Your Understanding - ARP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JM" sz="2000" spc="-1" strike="noStrike"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8215A8EB-298F-4ED5-A24C-3B28F7ACAA54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9 - Address Resolution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9.3 IPv6 Neighbor Discovery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1149A9C3-CA6F-4F3E-8886-CB554298FF4B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9.3 – IPv6 Neighbor Discovery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9.3.1 – Video – IPv6 Neighbor Discovery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88D6E4C0-B698-40E4-B2EF-5FE77A32A79F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9.3 – IPv6 Neighbor Discovery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9.3.2 – IPv6 Neighbor Discovery Messages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4ECBA50E-1CD4-4B01-94D6-7E52011E1CF5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9.3 – IPv6 Neighbor Discovery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9.3.3 – IPv6 Neighbor Discovery – Address Resolution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03B7A4B1-8A7A-4C1D-86C8-71ADC9087148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9.3 – IPv6 Neighbor Discovery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9.3.4 – Packet Tracer – IPv6 Neighbor Discovery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9.3.5 – Check Your Understanding – Neighbor Discovery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548DEC52-7911-4459-BA6F-8A742FA5E882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9 - Address Resolution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9.4 Module Practice and Quiz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JM" sz="1200" spc="-1" strike="noStrike"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5E1E6C98-5A52-4B2B-878A-18226FA8A9BC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C6BE181D-4659-4AE6-BBCA-067D0FAE39CE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 – Address Resolution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9.4 – Module Practice and Quiz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9.4.1 – What did I learn in this module?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9.4.2 – Module Quiz – Address Resolution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2308BD48-DBD4-4479-AF5C-F69B6851B3BE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JM" sz="2000" spc="-1" strike="noStrike"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986A01D7-49E7-4711-A9E5-42AF5751E323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7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0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0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5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6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8c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7" hidden="1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28B0C993-26B3-47EA-8B3F-BEE35927A134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1" name="Rectangle 4" hidden="1"/>
          <p:cNvSpPr/>
          <p:nvPr/>
        </p:nvSpPr>
        <p:spPr>
          <a:xfrm>
            <a:off x="5648400" y="4741920"/>
            <a:ext cx="287676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3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7" name="Picture 2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body"/>
          </p:nvPr>
        </p:nvSpPr>
        <p:spPr>
          <a:xfrm>
            <a:off x="469440" y="4049640"/>
            <a:ext cx="4318920" cy="28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5000"/>
              </a:lnSpc>
              <a:spcBef>
                <a:spcPts val="1074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8c6f4"/>
                </a:solidFill>
                <a:latin typeface="Arial"/>
              </a:rPr>
              <a:t>Click to edit Master text styles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69440" y="4289400"/>
            <a:ext cx="4318920" cy="28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5000"/>
              </a:lnSpc>
              <a:spcBef>
                <a:spcPts val="1074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8c6f4"/>
                </a:solidFill>
                <a:latin typeface="Arial"/>
              </a:rPr>
              <a:t>Click to edit Master text styles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3320" y="2872080"/>
            <a:ext cx="5924880" cy="29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5000"/>
              </a:lnSpc>
              <a:spcBef>
                <a:spcPts val="1074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1c569"/>
                </a:solidFill>
                <a:latin typeface="Arial"/>
                <a:ea typeface="ＭＳ Ｐゴシック"/>
              </a:rPr>
              <a:t>Click to edit Master text styles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425880" y="2300760"/>
            <a:ext cx="5955120" cy="6444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38c6f4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3600" spc="-1" strike="noStrike">
              <a:solidFill>
                <a:srgbClr val="58585b"/>
              </a:solidFill>
              <a:latin typeface="Arial"/>
            </a:endParaRPr>
          </a:p>
        </p:txBody>
      </p:sp>
      <p:grpSp>
        <p:nvGrpSpPr>
          <p:cNvPr id="22" name="Group 4"/>
          <p:cNvGrpSpPr/>
          <p:nvPr/>
        </p:nvGrpSpPr>
        <p:grpSpPr>
          <a:xfrm>
            <a:off x="492120" y="395280"/>
            <a:ext cx="796680" cy="423360"/>
            <a:chOff x="492120" y="395280"/>
            <a:chExt cx="796680" cy="423360"/>
          </a:xfrm>
        </p:grpSpPr>
        <p:sp>
          <p:nvSpPr>
            <p:cNvPr id="23" name="Rectangle 5"/>
            <p:cNvSpPr/>
            <p:nvPr/>
          </p:nvSpPr>
          <p:spPr>
            <a:xfrm>
              <a:off x="717480" y="676440"/>
              <a:ext cx="34560" cy="13932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" name="Freeform 6"/>
            <p:cNvSpPr/>
            <p:nvPr/>
          </p:nvSpPr>
          <p:spPr>
            <a:xfrm>
              <a:off x="928800" y="674640"/>
              <a:ext cx="104400" cy="1440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" name="Freeform 7"/>
            <p:cNvSpPr/>
            <p:nvPr/>
          </p:nvSpPr>
          <p:spPr>
            <a:xfrm>
              <a:off x="563400" y="674640"/>
              <a:ext cx="105840" cy="1440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" name="Freeform 8"/>
            <p:cNvSpPr/>
            <p:nvPr/>
          </p:nvSpPr>
          <p:spPr>
            <a:xfrm>
              <a:off x="1071720" y="674640"/>
              <a:ext cx="144000" cy="1440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" name="Freeform 9"/>
            <p:cNvSpPr/>
            <p:nvPr/>
          </p:nvSpPr>
          <p:spPr>
            <a:xfrm>
              <a:off x="798480" y="674640"/>
              <a:ext cx="95040" cy="1440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" name="Freeform 10"/>
            <p:cNvSpPr/>
            <p:nvPr/>
          </p:nvSpPr>
          <p:spPr>
            <a:xfrm>
              <a:off x="492120" y="509760"/>
              <a:ext cx="34560" cy="709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" name="Freeform 11"/>
            <p:cNvSpPr/>
            <p:nvPr/>
          </p:nvSpPr>
          <p:spPr>
            <a:xfrm>
              <a:off x="58752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" name="Freeform 12"/>
            <p:cNvSpPr/>
            <p:nvPr/>
          </p:nvSpPr>
          <p:spPr>
            <a:xfrm>
              <a:off x="682560" y="395280"/>
              <a:ext cx="34560" cy="22032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" name="Freeform 13"/>
            <p:cNvSpPr/>
            <p:nvPr/>
          </p:nvSpPr>
          <p:spPr>
            <a:xfrm>
              <a:off x="77796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" name="Freeform 14"/>
            <p:cNvSpPr/>
            <p:nvPr/>
          </p:nvSpPr>
          <p:spPr>
            <a:xfrm>
              <a:off x="873000" y="509760"/>
              <a:ext cx="34560" cy="709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" name="Freeform 15"/>
            <p:cNvSpPr/>
            <p:nvPr/>
          </p:nvSpPr>
          <p:spPr>
            <a:xfrm>
              <a:off x="96840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" name="Freeform 16"/>
            <p:cNvSpPr/>
            <p:nvPr/>
          </p:nvSpPr>
          <p:spPr>
            <a:xfrm>
              <a:off x="1063800" y="395280"/>
              <a:ext cx="34560" cy="22032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" name="Freeform 17"/>
            <p:cNvSpPr/>
            <p:nvPr/>
          </p:nvSpPr>
          <p:spPr>
            <a:xfrm>
              <a:off x="115884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" name="Freeform 18"/>
            <p:cNvSpPr/>
            <p:nvPr/>
          </p:nvSpPr>
          <p:spPr>
            <a:xfrm>
              <a:off x="1254240" y="509760"/>
              <a:ext cx="34560" cy="709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FA3A1B23-D9F7-4319-AB7A-29CA0956324C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74" name="Rectangle 4"/>
          <p:cNvSpPr/>
          <p:nvPr/>
        </p:nvSpPr>
        <p:spPr>
          <a:xfrm>
            <a:off x="5648400" y="4741920"/>
            <a:ext cx="287676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75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76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0" name="PlaceHolder 1"/>
          <p:cNvSpPr>
            <a:spLocks noGrp="1"/>
          </p:cNvSpPr>
          <p:nvPr>
            <p:ph type="sldNum"/>
          </p:nvPr>
        </p:nvSpPr>
        <p:spPr>
          <a:xfrm>
            <a:off x="8473320" y="4954320"/>
            <a:ext cx="676440" cy="189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  <a:buNone/>
            </a:pPr>
            <a:fld id="{5A5143C4-80E8-4263-98DA-744BAEA1E365}" type="slidenum">
              <a:rPr b="0" lang="en-US" sz="530" spc="-1" strike="noStrike">
                <a:solidFill>
                  <a:srgbClr val="595959"/>
                </a:solidFill>
                <a:latin typeface="Arial"/>
                <a:ea typeface="ＭＳ Ｐゴシック"/>
              </a:rPr>
              <a:t>&lt;number&gt;</a:t>
            </a:fld>
            <a:endParaRPr b="0" lang="en-JM" sz="530" spc="-1" strike="noStrike"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144000" y="798840"/>
            <a:ext cx="8852760" cy="415512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Wingdings" charset="2"/>
              <a:buChar char="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Click to edit Master text styles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Second level</a:t>
            </a:r>
            <a:endParaRPr b="0" lang="en-US" sz="1400" spc="-1" strike="noStrike">
              <a:solidFill>
                <a:srgbClr val="58585b"/>
              </a:solidFill>
              <a:latin typeface="Arial"/>
            </a:endParaRPr>
          </a:p>
          <a:p>
            <a:pPr lvl="2" marL="43164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Third level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  <a:p>
            <a:pPr lvl="3" marL="50328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Fourth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7" hidden="1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9BC7CF59-F8F7-4E4D-9913-0100A570A30D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130" name="Rectangle 4" hidden="1"/>
          <p:cNvSpPr/>
          <p:nvPr/>
        </p:nvSpPr>
        <p:spPr>
          <a:xfrm>
            <a:off x="5648400" y="4741920"/>
            <a:ext cx="287676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131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132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0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6" name="Rectangle 6"/>
          <p:cNvSpPr/>
          <p:nvPr/>
        </p:nvSpPr>
        <p:spPr>
          <a:xfrm>
            <a:off x="0" y="0"/>
            <a:ext cx="9143640" cy="5142960"/>
          </a:xfrm>
          <a:prstGeom prst="rect">
            <a:avLst/>
          </a:prstGeom>
          <a:solidFill>
            <a:srgbClr val="0039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16520" y="915480"/>
            <a:ext cx="7597800" cy="2569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38c6f4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48" name="Rectangle 7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EC866E78-AEC9-4901-B54D-E814FD3513E3}" type="slidenum">
              <a:rPr b="0" lang="en-US" sz="600" spc="-1" strike="noStrike">
                <a:solidFill>
                  <a:srgbClr val="086d8e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149" name="Rectangle 4"/>
          <p:cNvSpPr/>
          <p:nvPr/>
        </p:nvSpPr>
        <p:spPr>
          <a:xfrm>
            <a:off x="5867640" y="4741920"/>
            <a:ext cx="265752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086d8e"/>
                </a:solidFill>
                <a:latin typeface="Arial"/>
              </a:rPr>
              <a:t>© 2016 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150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151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5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8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9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58585b"/>
                </a:solidFill>
                <a:latin typeface="Arial"/>
              </a:rPr>
              <a:t>Click to edit the outline text format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58585b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7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A9A8AC20-8D5C-4DE5-BD1D-CC9C3F699FD2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203" name="Rectangle 4"/>
          <p:cNvSpPr/>
          <p:nvPr/>
        </p:nvSpPr>
        <p:spPr>
          <a:xfrm>
            <a:off x="5648400" y="4741920"/>
            <a:ext cx="287676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204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205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0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5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19" name="PlaceHolder 1"/>
          <p:cNvSpPr>
            <a:spLocks noGrp="1"/>
          </p:cNvSpPr>
          <p:nvPr>
            <p:ph type="body"/>
          </p:nvPr>
        </p:nvSpPr>
        <p:spPr>
          <a:xfrm>
            <a:off x="474840" y="1347840"/>
            <a:ext cx="8279640" cy="3073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5840" indent="-285840"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  <a:ea typeface="ＭＳ Ｐゴシック"/>
              </a:rPr>
              <a:t>Click to edit Master text styles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title"/>
          </p:nvPr>
        </p:nvSpPr>
        <p:spPr>
          <a:xfrm>
            <a:off x="437760" y="34128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32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8c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7" hidden="1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596B6FBA-999F-406C-9B59-949205C3178E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258" name="Rectangle 4" hidden="1"/>
          <p:cNvSpPr/>
          <p:nvPr/>
        </p:nvSpPr>
        <p:spPr>
          <a:xfrm>
            <a:off x="5648400" y="4741920"/>
            <a:ext cx="287676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259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260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1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2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3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5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6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7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9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0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1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2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3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274" name="Picture 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65640"/>
          </a:xfrm>
          <a:prstGeom prst="rect">
            <a:avLst/>
          </a:prstGeom>
          <a:ln w="0">
            <a:noFill/>
          </a:ln>
        </p:spPr>
      </p:pic>
      <p:grpSp>
        <p:nvGrpSpPr>
          <p:cNvPr id="275" name="Group 4"/>
          <p:cNvGrpSpPr/>
          <p:nvPr/>
        </p:nvGrpSpPr>
        <p:grpSpPr>
          <a:xfrm>
            <a:off x="3746160" y="2129760"/>
            <a:ext cx="1617840" cy="860400"/>
            <a:chOff x="3746160" y="2129760"/>
            <a:chExt cx="1617840" cy="860400"/>
          </a:xfrm>
        </p:grpSpPr>
        <p:sp>
          <p:nvSpPr>
            <p:cNvPr id="276" name="Rectangle 5"/>
            <p:cNvSpPr/>
            <p:nvPr/>
          </p:nvSpPr>
          <p:spPr>
            <a:xfrm>
              <a:off x="4204080" y="2700360"/>
              <a:ext cx="70560" cy="28332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7" name="Freeform 6"/>
            <p:cNvSpPr/>
            <p:nvPr/>
          </p:nvSpPr>
          <p:spPr>
            <a:xfrm>
              <a:off x="4632480" y="2697120"/>
              <a:ext cx="212400" cy="2930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8" name="Freeform 7"/>
            <p:cNvSpPr/>
            <p:nvPr/>
          </p:nvSpPr>
          <p:spPr>
            <a:xfrm>
              <a:off x="3891240" y="2697120"/>
              <a:ext cx="215640" cy="2930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9" name="Freeform 8"/>
            <p:cNvSpPr/>
            <p:nvPr/>
          </p:nvSpPr>
          <p:spPr>
            <a:xfrm>
              <a:off x="4922640" y="2697120"/>
              <a:ext cx="293040" cy="29304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0" name="Freeform 9"/>
            <p:cNvSpPr/>
            <p:nvPr/>
          </p:nvSpPr>
          <p:spPr>
            <a:xfrm>
              <a:off x="4368240" y="2697120"/>
              <a:ext cx="192960" cy="29304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1" name="Freeform 10"/>
            <p:cNvSpPr/>
            <p:nvPr/>
          </p:nvSpPr>
          <p:spPr>
            <a:xfrm>
              <a:off x="3746160" y="2361960"/>
              <a:ext cx="70560" cy="1447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" name="Freeform 11"/>
            <p:cNvSpPr/>
            <p:nvPr/>
          </p:nvSpPr>
          <p:spPr>
            <a:xfrm>
              <a:off x="393984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Freeform 12"/>
            <p:cNvSpPr/>
            <p:nvPr/>
          </p:nvSpPr>
          <p:spPr>
            <a:xfrm>
              <a:off x="4133160" y="2129760"/>
              <a:ext cx="70560" cy="44748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4" name="Freeform 13"/>
            <p:cNvSpPr/>
            <p:nvPr/>
          </p:nvSpPr>
          <p:spPr>
            <a:xfrm>
              <a:off x="432648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5" name="Freeform 14"/>
            <p:cNvSpPr/>
            <p:nvPr/>
          </p:nvSpPr>
          <p:spPr>
            <a:xfrm>
              <a:off x="4519800" y="2361960"/>
              <a:ext cx="70560" cy="1447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" name="Freeform 15"/>
            <p:cNvSpPr/>
            <p:nvPr/>
          </p:nvSpPr>
          <p:spPr>
            <a:xfrm>
              <a:off x="471312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7" name="Freeform 16"/>
            <p:cNvSpPr/>
            <p:nvPr/>
          </p:nvSpPr>
          <p:spPr>
            <a:xfrm>
              <a:off x="4906440" y="2129760"/>
              <a:ext cx="70560" cy="44748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8" name="Freeform 17"/>
            <p:cNvSpPr/>
            <p:nvPr/>
          </p:nvSpPr>
          <p:spPr>
            <a:xfrm>
              <a:off x="510012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9" name="Freeform 18"/>
            <p:cNvSpPr/>
            <p:nvPr/>
          </p:nvSpPr>
          <p:spPr>
            <a:xfrm>
              <a:off x="5293440" y="2361960"/>
              <a:ext cx="70560" cy="1447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200" spc="-1" strike="noStrike">
                <a:solidFill>
                  <a:srgbClr val="58585b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58585b"/>
                </a:solidFill>
                <a:latin typeface="Arial"/>
              </a:rPr>
              <a:t>Click to edit the outline text format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58585b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469440" y="2316600"/>
            <a:ext cx="6672240" cy="1079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Module 9: Address Resolution</a:t>
            </a:r>
            <a:endParaRPr b="0" lang="en-US" sz="36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subTitle"/>
          </p:nvPr>
        </p:nvSpPr>
        <p:spPr>
          <a:xfrm>
            <a:off x="469440" y="3809520"/>
            <a:ext cx="2368440" cy="901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fe8fb"/>
                </a:solidFill>
                <a:latin typeface="Arial"/>
              </a:rPr>
              <a:t>Introduction to Networks v7.0 (ITN)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JM" sz="12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Module Objectives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37" name="Rectangle 1"/>
          <p:cNvSpPr/>
          <p:nvPr/>
        </p:nvSpPr>
        <p:spPr>
          <a:xfrm>
            <a:off x="364680" y="827280"/>
            <a:ext cx="80121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58585b"/>
                </a:solidFill>
                <a:latin typeface="Arial"/>
                <a:ea typeface="Calibri"/>
              </a:rPr>
              <a:t>Module Title: </a:t>
            </a: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Calibri"/>
              </a:rPr>
              <a:t>Address Resolution</a:t>
            </a:r>
            <a:endParaRPr b="0" lang="en-JM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JM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58585b"/>
                </a:solidFill>
                <a:latin typeface="Arial"/>
                <a:ea typeface="Calibri"/>
              </a:rPr>
              <a:t>Module Objective</a:t>
            </a: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Calibri"/>
              </a:rPr>
              <a:t>: Explain how ARP and ND enable communication on a network</a:t>
            </a:r>
            <a:r>
              <a:rPr b="0" lang="en-US" sz="1200" spc="-1" strike="noStrike">
                <a:solidFill>
                  <a:srgbClr val="58585b"/>
                </a:solidFill>
                <a:latin typeface="Calibri"/>
                <a:ea typeface="Calibri"/>
              </a:rPr>
              <a:t>.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JM" sz="1200" spc="-1" strike="noStrike">
              <a:latin typeface="Arial"/>
            </a:endParaRPr>
          </a:p>
        </p:txBody>
      </p:sp>
      <p:graphicFrame>
        <p:nvGraphicFramePr>
          <p:cNvPr id="338" name="Table 1"/>
          <p:cNvGraphicFramePr/>
          <p:nvPr/>
        </p:nvGraphicFramePr>
        <p:xfrm>
          <a:off x="349560" y="1952640"/>
          <a:ext cx="8444160" cy="1524960"/>
        </p:xfrm>
        <a:graphic>
          <a:graphicData uri="http://schemas.openxmlformats.org/drawingml/2006/table">
            <a:tbl>
              <a:tblPr/>
              <a:tblGrid>
                <a:gridCol w="2863800"/>
                <a:gridCol w="5580360"/>
              </a:tblGrid>
              <a:tr h="23220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Topic Title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Topic Objective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47664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MAC and IP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Compare the roles of the MAC address and the IP address.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33912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ARP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Describe the purpose of ARP.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47700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Neighbor Discovery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Describe the operation of IPv6 neighbor discovery.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</a:tbl>
          </a:graphicData>
        </a:graphic>
      </p:graphicFrame>
    </p:spTree>
  </p:cSld>
  <p:transition spd="slow">
    <p:wipe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416520" y="1788120"/>
            <a:ext cx="7597800" cy="929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9.1 MAC and IP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MAC and IP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Destination on Same Network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179280" y="731880"/>
            <a:ext cx="8532720" cy="2341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There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  <a:ea typeface="ＭＳ Ｐゴシック"/>
              </a:rPr>
              <a:t>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are two primary addresses assigned to a device on an Ethernet LAN: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416160" indent="-343080">
              <a:lnSpc>
                <a:spcPct val="95000"/>
              </a:lnSpc>
              <a:spcBef>
                <a:spcPts val="601"/>
              </a:spcBef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Layer 2 physical address (the MAC address)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 – Used for NIC to NIC communications on the same Ethernet network.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416160" indent="-343080">
              <a:lnSpc>
                <a:spcPct val="95000"/>
              </a:lnSpc>
              <a:spcBef>
                <a:spcPts val="601"/>
              </a:spcBef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Layer 3 logical address (the IP address)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 – Used to send the packet from the source device to the destination device. 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73080">
              <a:lnSpc>
                <a:spcPct val="95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Layer 2 addresses are used to deliver frames from one NIC to another NIC on the same network. If a destination IP address is on the same network, the destination MAC address will be that of the destination device.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42" name="Picture 1" descr=""/>
          <p:cNvPicPr/>
          <p:nvPr/>
        </p:nvPicPr>
        <p:blipFill>
          <a:blip r:embed="rId1"/>
          <a:stretch/>
        </p:blipFill>
        <p:spPr>
          <a:xfrm>
            <a:off x="2395800" y="3157560"/>
            <a:ext cx="4352040" cy="172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MAC and IP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Destination on Remote Network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179280" y="731880"/>
            <a:ext cx="8447760" cy="1589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When the destination IP address is on a remote network, the destination MAC address is that of the default gateway.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416160" indent="-343080">
              <a:lnSpc>
                <a:spcPct val="95000"/>
              </a:lnSpc>
              <a:spcBef>
                <a:spcPts val="601"/>
              </a:spcBef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ARP is used by IPv4 to associate the IPv4 address of a device with the MAC address of the device NIC.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416160" indent="-343080">
              <a:lnSpc>
                <a:spcPct val="95000"/>
              </a:lnSpc>
              <a:spcBef>
                <a:spcPts val="601"/>
              </a:spcBef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ICMPv6 is used by IPv6 to associate the IPv6 address of a device with the MAC address of the device NIC.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45" name="Picture 4" descr=""/>
          <p:cNvPicPr/>
          <p:nvPr/>
        </p:nvPicPr>
        <p:blipFill>
          <a:blip r:embed="rId1"/>
          <a:stretch/>
        </p:blipFill>
        <p:spPr>
          <a:xfrm>
            <a:off x="1100520" y="2321280"/>
            <a:ext cx="6480720" cy="247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17280" y="68040"/>
            <a:ext cx="906840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MAC and IP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Packet Tracer – Identify MAC and IP Addresses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432000" y="1121400"/>
            <a:ext cx="8279640" cy="3073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58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 this Packet Tracer, you will complete the following objectives: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Gather PDU Information for Local Network Communication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Gather PDU Information for Remote Network Communication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416520" y="1788120"/>
            <a:ext cx="7848000" cy="929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9.2 ARP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ARP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ARP Overview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474840" y="844200"/>
            <a:ext cx="4186800" cy="303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 device uses ARP to determine the destination MAC address of a local device when it knows its IPv4 address.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ARP provides two basic functions: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1" marL="416160" indent="-343080">
              <a:lnSpc>
                <a:spcPct val="95000"/>
              </a:lnSpc>
              <a:spcBef>
                <a:spcPts val="601"/>
              </a:spcBef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Resolving IPv4 addresses to MAC addresses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1" marL="416160" indent="-343080">
              <a:lnSpc>
                <a:spcPct val="95000"/>
              </a:lnSpc>
              <a:spcBef>
                <a:spcPts val="601"/>
              </a:spcBef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Maintaining an ARP table of IPv4 to MAC address mappings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51" name="Picture 5" descr=""/>
          <p:cNvPicPr/>
          <p:nvPr/>
        </p:nvPicPr>
        <p:blipFill>
          <a:blip r:embed="rId1"/>
          <a:stretch/>
        </p:blipFill>
        <p:spPr>
          <a:xfrm>
            <a:off x="4662000" y="844200"/>
            <a:ext cx="4079160" cy="279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ARP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ARP Functions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474840" y="844200"/>
            <a:ext cx="8279640" cy="3577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To send a frame, a device will search its ARP table for a destination IPv4 address and a corresponding MAC address.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416160" indent="-343080">
              <a:lnSpc>
                <a:spcPct val="95000"/>
              </a:lnSpc>
              <a:spcBef>
                <a:spcPts val="601"/>
              </a:spcBef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If the packet’s destination IPv4 address is on the same network, the device will search the ARP table for the destination IPv4 address.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416160" indent="-343080">
              <a:lnSpc>
                <a:spcPct val="95000"/>
              </a:lnSpc>
              <a:spcBef>
                <a:spcPts val="601"/>
              </a:spcBef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If the destination IPv4 address is on a different network, the device will search the ARP table for the IPv4 address of the default gateway.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416160" indent="-343080">
              <a:lnSpc>
                <a:spcPct val="95000"/>
              </a:lnSpc>
              <a:spcBef>
                <a:spcPts val="601"/>
              </a:spcBef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If the device locates the IPv4 address, its corresponding MAC address is used as the destination MAC address in the frame. 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416160" indent="-343080">
              <a:lnSpc>
                <a:spcPct val="95000"/>
              </a:lnSpc>
              <a:spcBef>
                <a:spcPts val="601"/>
              </a:spcBef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If there is no ARP table entry is found, then the device sends an ARP request.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ARP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Video - ARP Request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474840" y="844200"/>
            <a:ext cx="8279640" cy="3577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This video will cover an ARP request for a MAC address.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ARP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Video – ARP Operation - ARP Reply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474840" y="844200"/>
            <a:ext cx="8279640" cy="3577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This video will cover an ARP reply in response to an ARP request.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ARP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Video - ARP Role in Remote Communications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474840" y="844200"/>
            <a:ext cx="8279640" cy="3577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This video will cover how an ARP request will provide a host the MAC address of the default gateway.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ARP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Removing Entries from an ARP Table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474840" y="844200"/>
            <a:ext cx="8279640" cy="113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Entries in the ARP table are not permanent and are removed when an ARP cache timer expires after a specified period of time.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duration of the ARP cache timer differs depending on the operating system.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ARP table entries can also be removed manually by the administrator. 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62" name="Picture 4" descr=""/>
          <p:cNvPicPr/>
          <p:nvPr/>
        </p:nvPicPr>
        <p:blipFill>
          <a:blip r:embed="rId1"/>
          <a:stretch/>
        </p:blipFill>
        <p:spPr>
          <a:xfrm>
            <a:off x="1999080" y="2090880"/>
            <a:ext cx="3839400" cy="268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ARP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ARP Tables on Networking Devices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474840" y="844200"/>
            <a:ext cx="8279640" cy="731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</a:t>
            </a: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show ip arp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command displays the ARP table on a Cisco router.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</a:t>
            </a: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arp –a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command displays the ARP table on a Windows 10 PC.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65" name="TextBox 4"/>
          <p:cNvSpPr/>
          <p:nvPr/>
        </p:nvSpPr>
        <p:spPr>
          <a:xfrm>
            <a:off x="693720" y="1756440"/>
            <a:ext cx="7587720" cy="8204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CA" sz="1200" spc="-1" strike="noStrike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ＭＳ Ｐゴシック"/>
              </a:rPr>
              <a:t>R1# </a:t>
            </a:r>
            <a:r>
              <a:rPr b="1" lang="en-CA" sz="1200" spc="-1" strike="noStrike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ＭＳ Ｐゴシック"/>
              </a:rPr>
              <a:t>show ip arp          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CA" sz="1200" spc="-1" strike="noStrike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ＭＳ Ｐゴシック"/>
              </a:rPr>
              <a:t>Protocol  Address          Age (min)  Hardware Addr   Type   Interface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CA" sz="1200" spc="-1" strike="noStrike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ＭＳ Ｐゴシック"/>
              </a:rPr>
              <a:t>Internet  192.168.10.1            -   a0e0.af0d.e140  ARPA   GigabitEthernet0/0/0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JM" sz="1200" spc="-1" strike="noStrike">
              <a:latin typeface="Arial"/>
            </a:endParaRPr>
          </a:p>
        </p:txBody>
      </p:sp>
      <p:sp>
        <p:nvSpPr>
          <p:cNvPr id="366" name="TextBox 5"/>
          <p:cNvSpPr/>
          <p:nvPr/>
        </p:nvSpPr>
        <p:spPr>
          <a:xfrm>
            <a:off x="630000" y="3011400"/>
            <a:ext cx="7715160" cy="11854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CA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C:\Users\PC&gt; </a:t>
            </a:r>
            <a:r>
              <a:rPr b="1" lang="en-CA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arp -a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CA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 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CA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Interface: 192.168.1.124 --- 0x10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CA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CA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Internet Address      Physical Address      Type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CA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CA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192.168.1.1           c8-d7-19-cc-a0-86     dynamic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CA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  </a:t>
            </a:r>
            <a:r>
              <a:rPr b="0" lang="en-CA" sz="1200" spc="-1" strike="noStrike">
                <a:solidFill>
                  <a:srgbClr val="ffffff"/>
                </a:solidFill>
                <a:latin typeface="Courier New"/>
                <a:ea typeface="ＭＳ Ｐゴシック"/>
              </a:rPr>
              <a:t>192.168.1.101         08-3e-0c-f5-f7-77     dynamic</a:t>
            </a:r>
            <a:endParaRPr b="0" lang="en-JM" sz="1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ARP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ARP Issues – ARP Broadcasting and ARP Spoofing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/>
          </p:nvPr>
        </p:nvSpPr>
        <p:spPr>
          <a:xfrm>
            <a:off x="474840" y="844200"/>
            <a:ext cx="8279640" cy="1210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ARP requests are received and processed by every device on the local network.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Excessive ARP broadcasts can cause some reduction in performance.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ARP replies can be spoofed by a threat actor to perform an ARP poisoning attack.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Enterprise level switches include mitigation techniques to protect against ARP attacks.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69" name="Picture 4" descr=""/>
          <p:cNvPicPr/>
          <p:nvPr/>
        </p:nvPicPr>
        <p:blipFill>
          <a:blip r:embed="rId1"/>
          <a:stretch/>
        </p:blipFill>
        <p:spPr>
          <a:xfrm>
            <a:off x="2531160" y="2054880"/>
            <a:ext cx="4167000" cy="293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198000" y="284760"/>
            <a:ext cx="906840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ARP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Packet Tracer – Examine the ARP Table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/>
          </p:nvPr>
        </p:nvSpPr>
        <p:spPr>
          <a:xfrm>
            <a:off x="432000" y="1149840"/>
            <a:ext cx="8279640" cy="3073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58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 this Packet Tracer, you will complete the following objectives: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Examine an ARP Request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Examine a Switch MAC Address Table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Examine the ARP Process in Remote Communications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416520" y="1788120"/>
            <a:ext cx="7848000" cy="929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9.3 IPv6 Neighbor Discovery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IPv6 Neighbor Discovery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Video – IPv6 Neighbor Discovery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207360" y="848520"/>
            <a:ext cx="8547120" cy="357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This video will explain the process of how IPv6 performs address resolution using ICMPv6 neighbor solicitation and neighbor advertisement messages.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IPv6 Neighbor Discovery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IPv6 Neighbor Discovery Messages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474840" y="844200"/>
            <a:ext cx="8279640" cy="3577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IPv6 Neighbor Discovery (ND) protocol provides: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1" marL="416160" indent="-343080">
              <a:lnSpc>
                <a:spcPct val="95000"/>
              </a:lnSpc>
              <a:spcBef>
                <a:spcPts val="601"/>
              </a:spcBef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Address resolution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1" marL="416160" indent="-343080">
              <a:lnSpc>
                <a:spcPct val="95000"/>
              </a:lnSpc>
              <a:spcBef>
                <a:spcPts val="601"/>
              </a:spcBef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Router discovery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1" marL="416160" indent="-343080">
              <a:lnSpc>
                <a:spcPct val="95000"/>
              </a:lnSpc>
              <a:spcBef>
                <a:spcPts val="601"/>
              </a:spcBef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Redirection services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ICMPv6 Neighbor Solicitation (NS) and Neighbor Advertisement (NA) messages are used for device-to-device messaging such as address resolution.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ICMTPv6 Router Solicitation (RS) and Router Advertisement (RA) messages are used for messaging between devices and routers for router discovery.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ICMPv6 redirect messages are used by routers for better next-hop selection.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IPv6 Neighbor Discovery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IPv6 Neighbor Discovery – Address Resolution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/>
          </p:nvPr>
        </p:nvSpPr>
        <p:spPr>
          <a:xfrm>
            <a:off x="5250600" y="775080"/>
            <a:ext cx="3773160" cy="2728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IPv6 devices use ND to resolve the MAC address of a known IPv6 address.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ICMPv6 Neighbor Solicitation messages are sent using special Ethernet and IPv6 multicast addresses. 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79" name="Picture 1" descr=""/>
          <p:cNvPicPr/>
          <p:nvPr/>
        </p:nvPicPr>
        <p:blipFill>
          <a:blip r:embed="rId1"/>
          <a:stretch/>
        </p:blipFill>
        <p:spPr>
          <a:xfrm>
            <a:off x="399240" y="898920"/>
            <a:ext cx="4775760" cy="335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/>
          </p:nvPr>
        </p:nvSpPr>
        <p:spPr>
          <a:xfrm>
            <a:off x="394200" y="923760"/>
            <a:ext cx="8279640" cy="3073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5840" indent="-28584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 this Packet Tracer, you will complete the following objectives: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Part 1: IPv6 Neighbor Discovery Local Network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Part 2: IPv6 Neighbor discovery Remote Network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title"/>
          </p:nvPr>
        </p:nvSpPr>
        <p:spPr>
          <a:xfrm>
            <a:off x="0" y="68040"/>
            <a:ext cx="906840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IPv6 Neighbor Discovery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Packet Tracer – IPv6 Neighbor Discovery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416520" y="1747440"/>
            <a:ext cx="8280000" cy="9698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9.4 Module Practice and Quiz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Module Practice and Quiz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What did I learn in this module?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/>
          </p:nvPr>
        </p:nvSpPr>
        <p:spPr>
          <a:xfrm>
            <a:off x="144000" y="798840"/>
            <a:ext cx="8852760" cy="415512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Layer 2 physical addresses (i.e., Ethernet MAC addresses) are used to deliver the data link frame with the encapsulated IP packet from one NIC to another NIC on the same network. 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If the destination IP address is on the same network, the destination MAC address will be that of the destination device. 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When the destination IP address (IPv4 or IPv6) is on a remote network, the destination MAC address will be the address of the host default gateway (i.e., the router interface).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An IPv4 device uses ARP to determine the destination MAC address of a local device when it knows its IPv4 address.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ARP provides two basic functions: resolving IPv4 addresses to MAC addresses and maintaining a table of IPv4 to MAC address mappings.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After the ARP reply is received, the device will add the IPv4 address and the corresponding MAC address to its ARP table.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For each device, an ARP cache timer removes ARP entries that have not been used for a specified period of time.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IPv6 does not use ARP, it uses the ND protocol to resolve MAC addresses. 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An IPv6 device uses ICMPv6 Neighbor Discovery to determine the destination MAC address of a local device when it knows its IPv6 address.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60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Module 9: Address Resolution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New Terms and Commands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graphicFrame>
        <p:nvGraphicFramePr>
          <p:cNvPr id="386" name="Table 9"/>
          <p:cNvGraphicFramePr/>
          <p:nvPr/>
        </p:nvGraphicFramePr>
        <p:xfrm>
          <a:off x="144360" y="798480"/>
          <a:ext cx="8853120" cy="370440"/>
        </p:xfrm>
        <a:graphic>
          <a:graphicData uri="http://schemas.openxmlformats.org/drawingml/2006/table">
            <a:tbl>
              <a:tblPr/>
              <a:tblGrid>
                <a:gridCol w="4426560"/>
                <a:gridCol w="44265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Address Resolution Protocol (ARP)</a:t>
                      </a:r>
                      <a:endParaRPr b="0" lang="en-JM" sz="16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ARP table</a:t>
                      </a:r>
                      <a:endParaRPr b="0" lang="en-JM" sz="16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show ip arp</a:t>
                      </a:r>
                      <a:endParaRPr b="0" lang="en-JM" sz="16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arpr -a</a:t>
                      </a:r>
                      <a:endParaRPr b="0" lang="en-JM" sz="16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ICMPv6 Neighbor Discovery protocol (ND)</a:t>
                      </a:r>
                      <a:endParaRPr b="0" lang="en-JM" sz="16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ICMPv6 Neighbor Solicitation (NS) message</a:t>
                      </a:r>
                      <a:endParaRPr b="0" lang="en-JM" sz="16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ICMPv6 Neighbor Advertisement (NA) message</a:t>
                      </a:r>
                      <a:endParaRPr b="0" lang="en-JM" sz="16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ICMPv6 Router Solicitation (RS) message</a:t>
                      </a:r>
                      <a:endParaRPr b="0" lang="en-JM" sz="16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ICMPv6 Router Advertisement (RA) message</a:t>
                      </a:r>
                      <a:endParaRPr b="0" lang="en-JM" sz="1600" spc="-1" strike="noStrike"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ICMPv6 Redirect Message</a:t>
                      </a:r>
                      <a:endParaRPr b="0" lang="en-JM" sz="16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JM" sz="16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58585b"/>
                      </a:solidFill>
                    </a:lnL>
                    <a:lnR w="12240">
                      <a:solidFill>
                        <a:srgbClr val="58585b"/>
                      </a:solidFill>
                    </a:lnR>
                    <a:lnT w="12240">
                      <a:solidFill>
                        <a:srgbClr val="58585b"/>
                      </a:solidFill>
                    </a:lnT>
                    <a:lnB w="12240">
                      <a:solidFill>
                        <a:srgbClr val="58585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58585b"/>
                      </a:solidFill>
                    </a:lnL>
                    <a:lnR w="12240">
                      <a:solidFill>
                        <a:srgbClr val="58585b"/>
                      </a:solidFill>
                    </a:lnR>
                    <a:lnT w="12240">
                      <a:solidFill>
                        <a:srgbClr val="58585b"/>
                      </a:solidFill>
                    </a:lnT>
                    <a:lnB w="12240">
                      <a:solidFill>
                        <a:srgbClr val="58585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ransition spd="slow">
    <p:wipe dir="l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slow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F18ECBD8ED834DABF5ACC3DB9AA918" ma:contentTypeVersion="19" ma:contentTypeDescription="Create a new document." ma:contentTypeScope="" ma:versionID="0375978224eca4aeb78b7ba86ac1033c">
  <xsd:schema xmlns:xsd="http://www.w3.org/2001/XMLSchema" xmlns:xs="http://www.w3.org/2001/XMLSchema" xmlns:p="http://schemas.microsoft.com/office/2006/metadata/properties" xmlns:ns2="810553ce-449d-4340-bb0a-414d416a9b51" xmlns:ns3="20a0b39e-fcd0-423b-9f17-9d26d967be51" targetNamespace="http://schemas.microsoft.com/office/2006/metadata/properties" ma:root="true" ma:fieldsID="457d9a46ed9cd6c2ce95cb3d449ba463" ns2:_="" ns3:_="">
    <xsd:import namespace="810553ce-449d-4340-bb0a-414d416a9b51"/>
    <xsd:import namespace="20a0b39e-fcd0-423b-9f17-9d26d967be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Comment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553ce-449d-4340-bb0a-414d416a9b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Comments" ma:index="20" nillable="true" ma:displayName="Comments" ma:internalName="Comments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10261dd-85c0-4e16-8580-30375acfae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b39e-fcd0-423b-9f17-9d26d967be5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1fb9ddd-df90-44ec-9ce2-a3135905c5f1}" ma:internalName="TaxCatchAll" ma:showField="CatchAllData" ma:web="20a0b39e-fcd0-423b-9f17-9d26d967be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810553ce-449d-4340-bb0a-414d416a9b51" xsi:nil="true"/>
    <lcf76f155ced4ddcb4097134ff3c332f xmlns="810553ce-449d-4340-bb0a-414d416a9b51">
      <Terms xmlns="http://schemas.microsoft.com/office/infopath/2007/PartnerControls"/>
    </lcf76f155ced4ddcb4097134ff3c332f>
    <TaxCatchAll xmlns="20a0b39e-fcd0-423b-9f17-9d26d967be51" xsi:nil="true"/>
  </documentManagement>
</p:properties>
</file>

<file path=customXml/itemProps1.xml><?xml version="1.0" encoding="utf-8"?>
<ds:datastoreItem xmlns:ds="http://schemas.openxmlformats.org/officeDocument/2006/customXml" ds:itemID="{55932FB5-64BF-4308-AE49-A6A5A40C945A}"/>
</file>

<file path=customXml/itemProps2.xml><?xml version="1.0" encoding="utf-8"?>
<ds:datastoreItem xmlns:ds="http://schemas.openxmlformats.org/officeDocument/2006/customXml" ds:itemID="{BB8CE80A-87B1-407C-9F5D-910CBDB91782}"/>
</file>

<file path=customXml/itemProps3.xml><?xml version="1.0" encoding="utf-8"?>
<ds:datastoreItem xmlns:ds="http://schemas.openxmlformats.org/officeDocument/2006/customXml" ds:itemID="{E7385D1D-0DA6-4034-836A-EA67B4922A43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9281</TotalTime>
  <Application>LibreOffice/7.2.7.2$Windows_X86_64 LibreOffice_project/8d71d29d553c0f7dcbfa38fbfda25ee34cce99a2</Application>
  <AppVersion>15.0000</AppVersion>
  <Words>2337</Words>
  <Paragraphs>354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2019-10-18T06:21:22Z</dcterms:created>
  <dc:creator>Stephanie Harvey</dc:creator>
  <dc:description/>
  <dc:language>en-JM</dc:language>
  <cp:lastModifiedBy/>
  <dcterms:modified xsi:type="dcterms:W3CDTF">2025-04-28T16:30:04Z</dcterms:modified>
  <cp:revision>252</cp:revision>
  <dc:subject/>
  <dc:title>Chapter 2: Basic Switch and End Device Configuration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F9A496F7-57D7-4028-9572-D40DFDF3715A</vt:lpwstr>
  </property>
  <property fmtid="{D5CDD505-2E9C-101B-9397-08002B2CF9AE}" pid="3" name="ArticulatePath">
    <vt:lpwstr>ITE7_Chp9_by_jg</vt:lpwstr>
  </property>
  <property fmtid="{D5CDD505-2E9C-101B-9397-08002B2CF9AE}" pid="4" name="ContentTypeId">
    <vt:lpwstr>0x01010001F18ECBD8ED834DABF5ACC3DB9AA918</vt:lpwstr>
  </property>
  <property fmtid="{D5CDD505-2E9C-101B-9397-08002B2CF9AE}" pid="5" name="HiddenSlides">
    <vt:i4>6</vt:i4>
  </property>
  <property fmtid="{D5CDD505-2E9C-101B-9397-08002B2CF9AE}" pid="6" name="Jive_LatestUserAccountName">
    <vt:lpwstr>alljohns</vt:lpwstr>
  </property>
  <property fmtid="{D5CDD505-2E9C-101B-9397-08002B2CF9AE}" pid="7" name="Jive_VersionGuid">
    <vt:lpwstr>fd96a0b3-f68d-4727-8e4f-2128d37ed30a</vt:lpwstr>
  </property>
  <property fmtid="{D5CDD505-2E9C-101B-9397-08002B2CF9AE}" pid="8" name="Notes">
    <vt:i4>31</vt:i4>
  </property>
  <property fmtid="{D5CDD505-2E9C-101B-9397-08002B2CF9AE}" pid="9" name="Offisync_ProviderInitializationData">
    <vt:lpwstr>https://cisco.jiveon.com</vt:lpwstr>
  </property>
  <property fmtid="{D5CDD505-2E9C-101B-9397-08002B2CF9AE}" pid="10" name="Offisync_ServerID">
    <vt:lpwstr>07841bbc-cd3c-4a76-827f-75a2226890f4</vt:lpwstr>
  </property>
  <property fmtid="{D5CDD505-2E9C-101B-9397-08002B2CF9AE}" pid="11" name="Offisync_UniqueId">
    <vt:lpwstr>1702406</vt:lpwstr>
  </property>
  <property fmtid="{D5CDD505-2E9C-101B-9397-08002B2CF9AE}" pid="12" name="Offisync_UpdateToken">
    <vt:lpwstr>1</vt:lpwstr>
  </property>
  <property fmtid="{D5CDD505-2E9C-101B-9397-08002B2CF9AE}" pid="13" name="PresentationFormat">
    <vt:lpwstr>On-screen Show (16:9)</vt:lpwstr>
  </property>
  <property fmtid="{D5CDD505-2E9C-101B-9397-08002B2CF9AE}" pid="14" name="Slides">
    <vt:i4>33</vt:i4>
  </property>
</Properties>
</file>