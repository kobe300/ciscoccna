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1.xml.rels" ContentType="application/vnd.openxmlformats-package.relationships+xml"/>
  <Override PartName="/customXml/_rels/item2.xml.rels" ContentType="application/vnd.openxmlformats-package.relationships+xml"/>
  <Override PartName="/customXml/_rels/item3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18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22.xml.rels" ContentType="application/vnd.openxmlformats-package.relationships+xml"/>
  <Override PartName="/ppt/notesSlides/_rels/notesSlide23.xml.rels" ContentType="application/vnd.openxmlformats-package.relationships+xml"/>
  <Override PartName="/ppt/notesSlides/_rels/notesSlide24.xml.rels" ContentType="application/vnd.openxmlformats-package.relationships+xml"/>
  <Override PartName="/ppt/notesSlides/_rels/notesSlide25.xml.rels" ContentType="application/vnd.openxmlformats-package.relationships+xml"/>
  <Override PartName="/ppt/notesSlides/_rels/notesSlide26.xml.rels" ContentType="application/vnd.openxmlformats-package.relationships+xml"/>
  <Override PartName="/ppt/notesSlides/_rels/notesSlide27.xml.rels" ContentType="application/vnd.openxmlformats-package.relationships+xml"/>
  <Override PartName="/ppt/notesSlides/_rels/notesSlide28.xml.rels" ContentType="application/vnd.openxmlformats-package.relationships+xml"/>
  <Override PartName="/ppt/notesSlides/_rels/notesSlide29.xml.rels" ContentType="application/vnd.openxmlformats-package.relationships+xml"/>
  <Override PartName="/ppt/notesSlides/_rels/notesSlide30.xml.rels" ContentType="application/vnd.openxmlformats-package.relationships+xml"/>
  <Override PartName="/ppt/notesSlides/_rels/notesSlide31.xml.rels" ContentType="application/vnd.openxmlformats-package.relationships+xml"/>
  <Override PartName="/ppt/notesSlides/_rels/notesSlide32.xml.rels" ContentType="application/vnd.openxmlformats-package.relationships+xml"/>
  <Override PartName="/ppt/notesSlides/_rels/notesSlide33.xml.rels" ContentType="application/vnd.openxmlformats-package.relationships+xml"/>
  <Override PartName="/ppt/notesSlides/_rels/notesSlide34.xml.rels" ContentType="application/vnd.openxmlformats-package.relationships+xml"/>
  <Override PartName="/ppt/notesSlides/_rels/notesSlide35.xml.rels" ContentType="application/vnd.openxmlformats-package.relationships+xml"/>
  <Override PartName="/ppt/notesSlides/_rels/notesSlide36.xml.rels" ContentType="application/vnd.openxmlformats-package.relationships+xml"/>
  <Override PartName="/ppt/notesSlides/_rels/notesSlide37.xml.rels" ContentType="application/vnd.openxmlformats-package.relationships+xml"/>
  <Override PartName="/ppt/notesSlides/_rels/notesSlide38.xml.rels" ContentType="application/vnd.openxmlformats-package.relationships+xml"/>
  <Override PartName="/ppt/notesSlides/_rels/notesSlide39.xml.rels" ContentType="application/vnd.openxmlformats-package.relationship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media/image1.jpeg" ContentType="image/jpeg"/>
  <Override PartName="/ppt/media/image3.png" ContentType="image/png"/>
  <Override PartName="/ppt/media/image2.jpeg" ContentType="image/jpeg"/>
  <Override PartName="/ppt/media/image8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_rels/slide35.xml.rels" ContentType="application/vnd.openxmlformats-package.relationships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36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7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38.xml.rels" ContentType="application/vnd.openxmlformats-package.relationships+xml"/>
  <Override PartName="/ppt/slides/_rels/slide5.xml.rels" ContentType="application/vnd.openxmlformats-package.relationships+xml"/>
  <Override PartName="/ppt/slides/_rels/slide39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slides/_rels/slide27.xml.rels" ContentType="application/vnd.openxmlformats-package.relationships+xml"/>
  <Override PartName="/ppt/slides/_rels/slide28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31.xml.rels" ContentType="application/vnd.openxmlformats-package.relationships+xml"/>
  <Override PartName="/ppt/slides/_rels/slide32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40.xml.rels" ContentType="application/vnd.openxmlformats-package.relationships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move the slide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2000" spc="-1" strike="noStrike">
                <a:latin typeface="Arial"/>
              </a:rPr>
              <a:t>Click to edit the notes format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JM" sz="1400" spc="-1" strike="noStrike">
                <a:latin typeface="Times New Roman"/>
              </a:rPr>
              <a:t>&lt;header&gt;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r">
              <a:buNone/>
            </a:pPr>
            <a:r>
              <a:rPr b="0" lang="en-JM" sz="1400" spc="-1" strike="noStrike">
                <a:latin typeface="Times New Roman"/>
              </a:rPr>
              <a:t>&lt;date/time&gt;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277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r>
              <a:rPr b="0" lang="en-JM" sz="1400" spc="-1" strike="noStrike">
                <a:latin typeface="Times New Roman"/>
              </a:rPr>
              <a:t>&lt;footer&gt;</a:t>
            </a:r>
            <a:endParaRPr b="0" lang="en-JM" sz="1400" spc="-1" strike="noStrike">
              <a:latin typeface="Times New Roman"/>
            </a:endParaRPr>
          </a:p>
        </p:txBody>
      </p:sp>
      <p:sp>
        <p:nvSpPr>
          <p:cNvPr id="278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 algn="r">
              <a:buNone/>
            </a:pPr>
            <a:fld id="{D1D67E23-5FFF-411F-B649-8C713EA47532}" type="slidenum">
              <a:rPr b="0" lang="en-JM" sz="1400" spc="-1" strike="noStrike">
                <a:latin typeface="Times New Roman"/>
              </a:rPr>
              <a:t>&lt;number&gt;</a:t>
            </a:fld>
            <a:endParaRPr b="0" lang="en-JM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8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Cisco Networking Academy Program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Introduction to Networks v7.0 (ITN)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Module 8: Network Layer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38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A4F9697-B33F-445D-8AE1-FBB5DE974F3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Rectangle 11"/>
          <p:cNvSpPr/>
          <p:nvPr/>
        </p:nvSpPr>
        <p:spPr>
          <a:xfrm>
            <a:off x="5929200" y="8680320"/>
            <a:ext cx="812520" cy="2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720" rIns="18720" tIns="0" bIns="0" anchor="b">
            <a:noAutofit/>
          </a:bodyPr>
          <a:p>
            <a:pPr algn="r">
              <a:lnSpc>
                <a:spcPct val="100000"/>
              </a:lnSpc>
              <a:buNone/>
            </a:pPr>
            <a:fld id="{6A0C1314-ABEF-44A5-BC2F-D429450813DE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Arial"/>
            </a:endParaRPr>
          </a:p>
        </p:txBody>
      </p:sp>
      <p:sp>
        <p:nvSpPr>
          <p:cNvPr id="38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8.0 – Introduction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8.0.2 – </a:t>
            </a:r>
            <a:r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What will I learn to do in this module?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1200" spc="-1" strike="noStrike"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8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38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9356FDF-0594-43A7-9314-37125FBA376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F076E961-842B-477B-B50D-151A1B222DC4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389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8.1.1 –  </a:t>
            </a:r>
            <a:r>
              <a:rPr b="0" lang="en-US" sz="2000" spc="-1" strike="noStrike">
                <a:latin typeface="Arial"/>
                <a:ea typeface="ＭＳ Ｐゴシック"/>
              </a:rPr>
              <a:t>The Network Layer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A050FA5D-989C-4D7D-BD5A-B7500918C853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8.1.2 </a:t>
            </a:r>
            <a:r>
              <a:rPr b="0" lang="en-US" sz="1200" spc="-1" strike="noStrike">
                <a:latin typeface="Arial"/>
              </a:rPr>
              <a:t>– </a:t>
            </a:r>
            <a:r>
              <a:rPr b="0" lang="en-US" sz="2000" spc="-1" strike="noStrike">
                <a:latin typeface="Arial"/>
              </a:rPr>
              <a:t>IP Encapsulation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C3CF2A9-DD4B-4E3F-9F5D-8ADF64B082F1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6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8.1.3 </a:t>
            </a:r>
            <a:r>
              <a:rPr b="0" lang="en-US" sz="1200" spc="-1" strike="noStrike">
                <a:latin typeface="Arial"/>
              </a:rPr>
              <a:t>– </a:t>
            </a:r>
            <a:r>
              <a:rPr b="0" lang="en-US" sz="2000" spc="-1" strike="noStrike">
                <a:latin typeface="Arial"/>
              </a:rPr>
              <a:t>Characteristics of IP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7F2B25E-BD62-4FCB-8A37-B663DF18341F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399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8.1.4 </a:t>
            </a:r>
            <a:r>
              <a:rPr b="0" lang="en-US" sz="1200" spc="-1" strike="noStrike">
                <a:latin typeface="Arial"/>
              </a:rPr>
              <a:t>– </a:t>
            </a:r>
            <a:r>
              <a:rPr b="0" lang="en-US" sz="2000" spc="-1" strike="noStrike">
                <a:latin typeface="Arial"/>
              </a:rPr>
              <a:t>Connectionless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9931466-F134-4FE2-A112-0278FE5FB2FC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01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8.1.5 </a:t>
            </a:r>
            <a:r>
              <a:rPr b="0" lang="en-US" sz="1200" spc="-1" strike="noStrike">
                <a:latin typeface="Arial"/>
              </a:rPr>
              <a:t>– </a:t>
            </a:r>
            <a:r>
              <a:rPr b="0" lang="en-US" sz="2000" spc="-1" strike="noStrike">
                <a:latin typeface="Arial"/>
              </a:rPr>
              <a:t>Best Effort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B45A77B9-764D-4BA8-972E-FC592D6F8CA3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04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8.1.6 </a:t>
            </a:r>
            <a:r>
              <a:rPr b="0" lang="en-US" sz="1200" spc="-1" strike="noStrike">
                <a:latin typeface="Arial"/>
              </a:rPr>
              <a:t>– </a:t>
            </a:r>
            <a:r>
              <a:rPr b="0" lang="en-US" sz="2000" spc="-1" strike="noStrike">
                <a:latin typeface="Arial"/>
              </a:rPr>
              <a:t>Media Independent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8.1.7 </a:t>
            </a:r>
            <a:r>
              <a:rPr b="0" lang="en-US" sz="1200" spc="-1" strike="noStrike">
                <a:latin typeface="Arial"/>
              </a:rPr>
              <a:t>Check Your Understanding – </a:t>
            </a: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IP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 Characteristics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4911ED0-88DE-426A-AB9E-0575728F2779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8.1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Network Layer Characteristics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8.1.6 </a:t>
            </a:r>
            <a:r>
              <a:rPr b="0" lang="en-US" sz="1200" spc="-1" strike="noStrike">
                <a:latin typeface="Arial"/>
              </a:rPr>
              <a:t>– </a:t>
            </a:r>
            <a:r>
              <a:rPr b="0" lang="en-US" sz="2000" spc="-1" strike="noStrike">
                <a:latin typeface="Arial"/>
              </a:rPr>
              <a:t>Media Independent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8.1.7 </a:t>
            </a:r>
            <a:r>
              <a:rPr b="0" lang="en-US" sz="1200" spc="-1" strike="noStrike">
                <a:latin typeface="Arial"/>
              </a:rPr>
              <a:t>Check Your Understanding – </a:t>
            </a: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IP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 Characteristics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8.2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IPv4 Packet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1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AEEA1CE-A3D7-436C-AA66-45BE6568ACE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95DA58E3-DEBF-4E93-A4DE-1210250EBD2E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13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8.2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IPv4 Packet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8.2.1 – </a:t>
            </a:r>
            <a:r>
              <a:rPr b="0" lang="en-US" sz="2000" spc="-1" strike="noStrike">
                <a:latin typeface="Arial"/>
                <a:ea typeface="ＭＳ Ｐゴシック"/>
              </a:rPr>
              <a:t>IPv4 Packet Header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BE21176-D739-4C27-A791-8793F4AD7A42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16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8.2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IPv4 Packet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8.2.2 – </a:t>
            </a:r>
            <a:r>
              <a:rPr b="0" lang="en-US" sz="2000" spc="-1" strike="noStrike">
                <a:latin typeface="Arial"/>
                <a:ea typeface="ＭＳ Ｐゴシック"/>
              </a:rPr>
              <a:t>IPv4 Packet Header Fields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F646CC3B-EBF9-41CB-8873-BFA079E36A75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8.2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IPv4 Packet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8.2.2 – </a:t>
            </a:r>
            <a:r>
              <a:rPr b="0" lang="en-US" sz="2000" spc="-1" strike="noStrike">
                <a:latin typeface="Arial"/>
                <a:ea typeface="ＭＳ Ｐゴシック"/>
              </a:rPr>
              <a:t>IPv4 Packet Header Fields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2DEAA87-927D-40F6-935B-F45758D46076}" type="slidenum">
              <a:rPr b="0" lang="en-US" sz="800" spc="-1" strike="noStrike">
                <a:solidFill>
                  <a:srgbClr val="000000"/>
                </a:solidFill>
                <a:latin typeface="Arial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8.2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IPv4 Packet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8.2.3 – </a:t>
            </a:r>
            <a:r>
              <a:rPr b="0" lang="en-US" sz="2000" spc="-1" strike="noStrike">
                <a:latin typeface="Arial"/>
                <a:ea typeface="ＭＳ Ｐゴシック"/>
              </a:rPr>
              <a:t>Video – Sample IPv4 Headers in Wireshark 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8.2.4 </a:t>
            </a:r>
            <a:r>
              <a:rPr b="0" lang="en-US" sz="1200" spc="-1" strike="noStrike">
                <a:latin typeface="Arial"/>
                <a:ea typeface="ＭＳ Ｐゴシック"/>
              </a:rPr>
              <a:t>– Check Your Understanding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IPv4 Packet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2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A36F83C-4234-402F-A3D1-91A88E9B5F47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8.3.1 – </a:t>
            </a:r>
            <a:r>
              <a:rPr b="0" lang="en-US" sz="2000" spc="-1" strike="noStrike">
                <a:latin typeface="Arial"/>
                <a:ea typeface="ＭＳ Ｐゴシック"/>
              </a:rPr>
              <a:t>Limitations of IPv4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2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64B98DD-C3CA-45B6-BCDC-C1A2DEF1174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8.3.2 – </a:t>
            </a:r>
            <a:r>
              <a:rPr b="0" lang="en-US" sz="2000" spc="-1" strike="noStrike">
                <a:latin typeface="Arial"/>
                <a:ea typeface="ＭＳ Ｐゴシック"/>
              </a:rPr>
              <a:t> IPv6 Overview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20D4FF9-69AF-4FC0-9DB9-485846FFD54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8.3.3 – </a:t>
            </a:r>
            <a:r>
              <a:rPr b="0" lang="en-US" sz="2000" spc="-1" strike="noStrike">
                <a:latin typeface="Arial"/>
                <a:ea typeface="ＭＳ Ｐゴシック"/>
              </a:rPr>
              <a:t> IPv4 Packet Header Fields in the IPv6 Packet Header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D1EC4675-0AFF-4C06-B175-CEC47839317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8.3.4 – </a:t>
            </a:r>
            <a:r>
              <a:rPr b="0" lang="en-US" sz="2000" spc="-1" strike="noStrike">
                <a:latin typeface="Arial"/>
                <a:ea typeface="ＭＳ Ｐゴシック"/>
              </a:rPr>
              <a:t>IPv6 Packet Header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26C220C-78F1-4EE4-9D2D-5CB176D0350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8.3.4 – </a:t>
            </a:r>
            <a:r>
              <a:rPr b="0" lang="en-US" sz="2000" spc="-1" strike="noStrike">
                <a:latin typeface="Arial"/>
                <a:ea typeface="ＭＳ Ｐゴシック"/>
              </a:rPr>
              <a:t>IPv6 Packet Header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9799B2F-5258-460D-ADDF-605C8FD5EF7A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8.3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8.3.5 – </a:t>
            </a:r>
            <a:r>
              <a:rPr b="0" lang="en-US" sz="2000" spc="-1" strike="noStrike">
                <a:latin typeface="Arial"/>
                <a:ea typeface="ＭＳ Ｐゴシック"/>
              </a:rPr>
              <a:t> Video – Sample IPv6 Headers in Wireshark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  <a:ea typeface="ＭＳ Ｐゴシック"/>
              </a:rPr>
              <a:t>8.3.6 </a:t>
            </a:r>
            <a:r>
              <a:rPr b="0" lang="en-US" sz="1200" spc="-1" strike="noStrike">
                <a:latin typeface="Arial"/>
                <a:ea typeface="ＭＳ Ｐゴシック"/>
              </a:rPr>
              <a:t>– Check Your Understanding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IPv6 Packets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F96616CD-BC8D-4E42-A02C-112A21CD4DA2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8.4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How a Host Routes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4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CCA01715-C4FF-46BA-8F6D-634462CC51C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8.4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How a Host Routes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8.4.1 – Host Forwarding Decision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5B44A7FD-10B3-4967-8B74-36FBA7B3C64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8.4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How a Host Routes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8.4.1 – Host Forwarding Decision (Cont.)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250688AC-B95A-493A-A894-8B52FF21E04B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8.4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How a Host Routes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8.4.2 – Default Gateway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A54516B0-AEC3-45E3-8E3F-97AC1D1F8A1C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8.4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How a Host Routes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8.4.3 – A Host Routes to the Default Gateway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3B8A486-0D2C-4571-82E3-76439D8C9A3F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8.4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How a Host Routes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8.4.4 – Host Routing Tables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8.4.5 </a:t>
            </a:r>
            <a:r>
              <a:rPr b="0" lang="en-US" sz="1200" spc="-1" strike="noStrike">
                <a:latin typeface="Arial"/>
                <a:ea typeface="ＭＳ Ｐゴシック"/>
              </a:rPr>
              <a:t>– Check Your Understanding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  <a:ea typeface="ＭＳ Ｐゴシック"/>
              </a:rPr>
              <a:t>How a Host Routes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62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4F4A3FF1-50A3-4282-AC98-2CE38786132E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65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4E253EE-B859-48DB-9472-146AA7B72B3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8.5.1 – Router Packet Forwarding Decision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1B41B96-F246-466E-8A39-261A050423D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8.5.2 – IP Router Routing Table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27C2227-5A13-4E89-A344-67A70DD19D0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8.5.3 – </a:t>
            </a:r>
            <a:r>
              <a:rPr b="0" lang="en-US" sz="1200" spc="-1" strike="noStrike">
                <a:latin typeface="Arial"/>
              </a:rPr>
              <a:t>Static Routing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474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338ABD05-FC10-4803-8B5E-57300B643B5F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8.5.4 – </a:t>
            </a:r>
            <a:r>
              <a:rPr b="0" lang="en-US" sz="1200" spc="-1" strike="noStrike">
                <a:latin typeface="Arial"/>
              </a:rPr>
              <a:t>Dynamic Routing</a:t>
            </a:r>
            <a:endParaRPr b="0" lang="en-JM" sz="1200" spc="-1" strike="noStrike">
              <a:latin typeface="Arial"/>
            </a:endParaRPr>
          </a:p>
        </p:txBody>
      </p:sp>
      <p:sp>
        <p:nvSpPr>
          <p:cNvPr id="477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167D6489-DC7B-4368-9182-9DC847D8FF08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8.5.5 – Video – IPv4 Router Routing Tables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80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60E68B8B-51C5-400C-AB68-47EC1D9B3A05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8.5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8.5.6 – Introduction to an IPv4 Routing Table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8.5.7 – </a:t>
            </a:r>
            <a:r>
              <a:rPr b="0" lang="en-US" sz="1200" spc="-1" strike="noStrike">
                <a:latin typeface="Arial"/>
              </a:rPr>
              <a:t>Check Your Understanding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Introduction to Routing</a:t>
            </a:r>
            <a:endParaRPr b="0" lang="en-JM" sz="2000" spc="-1" strike="noStrike">
              <a:latin typeface="Arial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endParaRPr b="0" lang="en-JM" sz="2000" spc="-1" strike="noStrike"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F2A25924-E56F-4C8D-B630-94C04C8D5321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8.6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Module Practice and Quiz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7AA9414-42A9-4F1F-8AD9-BD569B7A1BA4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999999"/>
                </a:solidFill>
                <a:latin typeface="Arial"/>
              </a:rPr>
              <a:t>8 – Network Layer</a:t>
            </a:r>
            <a:endParaRPr b="0" lang="en-JM" sz="12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1200" spc="-1" strike="noStrike">
                <a:latin typeface="Arial"/>
              </a:rPr>
              <a:t>8.6 – </a:t>
            </a:r>
            <a:r>
              <a:rPr b="0" lang="en-US" sz="2000" spc="-1" strike="noStrike">
                <a:solidFill>
                  <a:srgbClr val="999999"/>
                </a:solidFill>
                <a:latin typeface="Arial"/>
              </a:rPr>
              <a:t>Module Practice and Quiz</a:t>
            </a:r>
            <a:endParaRPr b="0" lang="en-JM" sz="2000" spc="-1" strike="noStrike">
              <a:latin typeface="Arial"/>
            </a:endParaRPr>
          </a:p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8.6.1 – What did I learn in this module?</a:t>
            </a:r>
            <a:endParaRPr b="0" lang="en-JM" sz="2000" spc="-1" strike="noStrike">
              <a:latin typeface="Arial"/>
            </a:endParaRPr>
          </a:p>
        </p:txBody>
      </p:sp>
      <p:sp>
        <p:nvSpPr>
          <p:cNvPr id="489" name="PlaceHolder 3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039013CD-1F3C-4D99-8C18-4B945D63BF19}" type="slidenum"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1200" spc="-1" strike="noStrike"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E9AD7B57-DA32-405D-9CBB-A8CC9563AC34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2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New Terms and Commands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PlaceHolder 1"/>
          <p:cNvSpPr>
            <a:spLocks noGrp="1"/>
          </p:cNvSpPr>
          <p:nvPr>
            <p:ph type="sldNum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r">
              <a:lnSpc>
                <a:spcPct val="100000"/>
              </a:lnSpc>
              <a:buNone/>
            </a:pPr>
            <a:fld id="{87C2D1DB-BCB5-411A-8052-A7ACB1F113D1}" type="slidenum">
              <a:rPr b="0" lang="en-US" sz="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&lt;number&gt;</a:t>
            </a:fld>
            <a:endParaRPr b="0" lang="en-JM" sz="800" spc="-1" strike="noStrike">
              <a:latin typeface="Times New Roman"/>
            </a:endParaRPr>
          </a:p>
        </p:txBody>
      </p:sp>
      <p:sp>
        <p:nvSpPr>
          <p:cNvPr id="494" name="PlaceHolder 2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495" name="PlaceHolder 3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80000"/>
              </a:lnSpc>
              <a:buNone/>
            </a:pPr>
            <a:r>
              <a:rPr b="0" lang="en-US" sz="2000" spc="-1" strike="noStrike">
                <a:latin typeface="Arial"/>
              </a:rPr>
              <a:t>New Terms and Commands</a:t>
            </a:r>
            <a:endParaRPr b="0" lang="en-JM" sz="2000" spc="-1" strike="noStrike"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2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6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0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1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JM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6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7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5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0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5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69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70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71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72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61B3C866-8BA6-4667-875A-D8AEE7AC9A43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" name="Rectangle 4" hidden="1"/>
          <p:cNvSpPr/>
          <p:nvPr/>
        </p:nvSpPr>
        <p:spPr>
          <a:xfrm>
            <a:off x="5641920" y="4741920"/>
            <a:ext cx="288324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3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17" name="Picture 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body"/>
          </p:nvPr>
        </p:nvSpPr>
        <p:spPr>
          <a:xfrm>
            <a:off x="469440" y="404964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69440" y="4289400"/>
            <a:ext cx="4318920" cy="2876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8c6f4"/>
                </a:solidFill>
                <a:latin typeface="Arial"/>
              </a:rPr>
              <a:t>Click to edit Master text styles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3320" y="2872080"/>
            <a:ext cx="5924880" cy="298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>
              <a:lnSpc>
                <a:spcPct val="95000"/>
              </a:lnSpc>
              <a:spcBef>
                <a:spcPts val="1074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81c569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title"/>
          </p:nvPr>
        </p:nvSpPr>
        <p:spPr>
          <a:xfrm>
            <a:off x="425880" y="2300760"/>
            <a:ext cx="5955120" cy="64440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3600" spc="-1" strike="noStrike">
              <a:solidFill>
                <a:srgbClr val="58585b"/>
              </a:solidFill>
              <a:latin typeface="Arial"/>
            </a:endParaRPr>
          </a:p>
        </p:txBody>
      </p:sp>
      <p:grpSp>
        <p:nvGrpSpPr>
          <p:cNvPr id="22" name="Group 4"/>
          <p:cNvGrpSpPr/>
          <p:nvPr/>
        </p:nvGrpSpPr>
        <p:grpSpPr>
          <a:xfrm>
            <a:off x="492120" y="395280"/>
            <a:ext cx="796680" cy="423360"/>
            <a:chOff x="492120" y="395280"/>
            <a:chExt cx="796680" cy="423360"/>
          </a:xfrm>
        </p:grpSpPr>
        <p:sp>
          <p:nvSpPr>
            <p:cNvPr id="23" name="Rectangle 5"/>
            <p:cNvSpPr/>
            <p:nvPr/>
          </p:nvSpPr>
          <p:spPr>
            <a:xfrm>
              <a:off x="717480" y="676440"/>
              <a:ext cx="34560" cy="139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" name="Freeform 6"/>
            <p:cNvSpPr/>
            <p:nvPr/>
          </p:nvSpPr>
          <p:spPr>
            <a:xfrm>
              <a:off x="928800" y="674640"/>
              <a:ext cx="10440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" name="Freeform 7"/>
            <p:cNvSpPr/>
            <p:nvPr/>
          </p:nvSpPr>
          <p:spPr>
            <a:xfrm>
              <a:off x="563400" y="674640"/>
              <a:ext cx="105840" cy="1440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" name="Freeform 8"/>
            <p:cNvSpPr/>
            <p:nvPr/>
          </p:nvSpPr>
          <p:spPr>
            <a:xfrm>
              <a:off x="1071720" y="674640"/>
              <a:ext cx="144000" cy="1440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" name="Freeform 9"/>
            <p:cNvSpPr/>
            <p:nvPr/>
          </p:nvSpPr>
          <p:spPr>
            <a:xfrm>
              <a:off x="798480" y="674640"/>
              <a:ext cx="95040" cy="1440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" name="Freeform 10"/>
            <p:cNvSpPr/>
            <p:nvPr/>
          </p:nvSpPr>
          <p:spPr>
            <a:xfrm>
              <a:off x="49212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" name="Freeform 11"/>
            <p:cNvSpPr/>
            <p:nvPr/>
          </p:nvSpPr>
          <p:spPr>
            <a:xfrm>
              <a:off x="58752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" name="Freeform 12"/>
            <p:cNvSpPr/>
            <p:nvPr/>
          </p:nvSpPr>
          <p:spPr>
            <a:xfrm>
              <a:off x="68256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" name="Freeform 13"/>
            <p:cNvSpPr/>
            <p:nvPr/>
          </p:nvSpPr>
          <p:spPr>
            <a:xfrm>
              <a:off x="77796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" name="Freeform 14"/>
            <p:cNvSpPr/>
            <p:nvPr/>
          </p:nvSpPr>
          <p:spPr>
            <a:xfrm>
              <a:off x="87300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" name="Freeform 15"/>
            <p:cNvSpPr/>
            <p:nvPr/>
          </p:nvSpPr>
          <p:spPr>
            <a:xfrm>
              <a:off x="96840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4" name="Freeform 16"/>
            <p:cNvSpPr/>
            <p:nvPr/>
          </p:nvSpPr>
          <p:spPr>
            <a:xfrm>
              <a:off x="1063800" y="395280"/>
              <a:ext cx="34560" cy="22032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" name="Freeform 17"/>
            <p:cNvSpPr/>
            <p:nvPr/>
          </p:nvSpPr>
          <p:spPr>
            <a:xfrm>
              <a:off x="1158840" y="461880"/>
              <a:ext cx="34560" cy="1188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" name="Freeform 18"/>
            <p:cNvSpPr/>
            <p:nvPr/>
          </p:nvSpPr>
          <p:spPr>
            <a:xfrm>
              <a:off x="1254240" y="509760"/>
              <a:ext cx="34560" cy="709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A41165BB-49AE-4CB1-9291-F65B753D001A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74" name="Rectangle 4"/>
          <p:cNvSpPr/>
          <p:nvPr/>
        </p:nvSpPr>
        <p:spPr>
          <a:xfrm>
            <a:off x="5641920" y="4741920"/>
            <a:ext cx="288324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75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76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5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6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0" name="PlaceHolder 1"/>
          <p:cNvSpPr>
            <a:spLocks noGrp="1"/>
          </p:cNvSpPr>
          <p:nvPr>
            <p:ph type="sldNum"/>
          </p:nvPr>
        </p:nvSpPr>
        <p:spPr>
          <a:xfrm>
            <a:off x="8473320" y="4954320"/>
            <a:ext cx="676440" cy="189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r">
              <a:lnSpc>
                <a:spcPct val="100000"/>
              </a:lnSpc>
              <a:buNone/>
            </a:pPr>
            <a:fld id="{0A30AD19-2455-44A3-8DAD-E273ADA3342C}" type="slidenum">
              <a:rPr b="0" lang="en-US" sz="530" spc="-1" strike="noStrike">
                <a:solidFill>
                  <a:srgbClr val="595959"/>
                </a:solidFill>
                <a:latin typeface="Arial"/>
                <a:ea typeface="ＭＳ Ｐゴシック"/>
              </a:rPr>
              <a:t>&lt;number&gt;</a:t>
            </a:fld>
            <a:endParaRPr b="0" lang="en-JM" sz="530" spc="-1" strike="noStrike">
              <a:latin typeface="Times New Roman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144000" y="798840"/>
            <a:ext cx="8852760" cy="4155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Wingdings" charset="2"/>
              <a:buChar char="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Click to edit Master text styles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Second level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Third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3" marL="50328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Fourth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39F1769F-6F03-4EED-B499-7DD7F1392CBC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30" name="Rectangle 4" hidden="1"/>
          <p:cNvSpPr/>
          <p:nvPr/>
        </p:nvSpPr>
        <p:spPr>
          <a:xfrm>
            <a:off x="5641920" y="4741920"/>
            <a:ext cx="288324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31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32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6" name="Rectangle 6"/>
          <p:cNvSpPr/>
          <p:nvPr/>
        </p:nvSpPr>
        <p:spPr>
          <a:xfrm>
            <a:off x="0" y="0"/>
            <a:ext cx="9143640" cy="5142960"/>
          </a:xfrm>
          <a:prstGeom prst="rect">
            <a:avLst/>
          </a:prstGeom>
          <a:solidFill>
            <a:srgbClr val="0039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7597800" cy="25696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38c6f4"/>
                </a:solidFill>
                <a:latin typeface="Arial"/>
                <a:ea typeface="ＭＳ Ｐゴシック"/>
              </a:rPr>
              <a:t>Click to edit Master title style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148" name="Rectangle 7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9F5E5671-7F84-4A46-BD8F-D15954015CE2}" type="slidenum">
              <a:rPr b="0" lang="en-US" sz="600" spc="-1" strike="noStrike">
                <a:solidFill>
                  <a:srgbClr val="086d8e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149" name="Rectangle 4"/>
          <p:cNvSpPr/>
          <p:nvPr/>
        </p:nvSpPr>
        <p:spPr>
          <a:xfrm>
            <a:off x="5867640" y="4741920"/>
            <a:ext cx="265752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086d8e"/>
                </a:solidFill>
                <a:latin typeface="Arial"/>
              </a:rPr>
              <a:t>© 2016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150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151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rgbClr val="086d8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38c6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 7" hidden="1"/>
          <p:cNvSpPr/>
          <p:nvPr/>
        </p:nvSpPr>
        <p:spPr>
          <a:xfrm>
            <a:off x="8389080" y="4743360"/>
            <a:ext cx="47160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61560" rIns="61560" tIns="30960" bIns="30960" anchor="b">
            <a:spAutoFit/>
          </a:bodyPr>
          <a:p>
            <a:pPr algn="r">
              <a:lnSpc>
                <a:spcPct val="100000"/>
              </a:lnSpc>
              <a:buNone/>
            </a:pPr>
            <a:fld id="{41B24D09-EC95-47C6-B3FD-3D0497512346}" type="slidenum">
              <a:rPr b="0" lang="en-US" sz="600" spc="-1" strike="noStrike">
                <a:solidFill>
                  <a:srgbClr val="d9d9d9"/>
                </a:solidFill>
                <a:latin typeface="Arial"/>
              </a:rPr>
              <a:t>&lt;number&gt;</a:t>
            </a:fld>
            <a:endParaRPr b="0" lang="en-JM" sz="600" spc="-1" strike="noStrike">
              <a:latin typeface="Arial"/>
            </a:endParaRPr>
          </a:p>
        </p:txBody>
      </p:sp>
      <p:sp>
        <p:nvSpPr>
          <p:cNvPr id="203" name="Rectangle 4" hidden="1"/>
          <p:cNvSpPr/>
          <p:nvPr/>
        </p:nvSpPr>
        <p:spPr>
          <a:xfrm>
            <a:off x="5641920" y="4741920"/>
            <a:ext cx="2883240" cy="1537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61560" rIns="61560" tIns="30960" bIns="30960" anchor="b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600" spc="-1" strike="noStrike">
                <a:solidFill>
                  <a:srgbClr val="d9d9d9"/>
                </a:solidFill>
                <a:latin typeface="Arial"/>
              </a:rPr>
              <a:t>© 2019  Cisco and/or its affiliates. All rights reserved.   Cisco Confidential</a:t>
            </a:r>
            <a:endParaRPr b="0" lang="en-JM" sz="600" spc="-1" strike="noStrike">
              <a:latin typeface="Arial"/>
            </a:endParaRPr>
          </a:p>
        </p:txBody>
      </p:sp>
      <p:grpSp>
        <p:nvGrpSpPr>
          <p:cNvPr id="204" name="Group 4"/>
          <p:cNvGrpSpPr/>
          <p:nvPr/>
        </p:nvGrpSpPr>
        <p:grpSpPr>
          <a:xfrm>
            <a:off x="507960" y="4715280"/>
            <a:ext cx="339840" cy="180360"/>
            <a:chOff x="507960" y="4715280"/>
            <a:chExt cx="339840" cy="180360"/>
          </a:xfrm>
        </p:grpSpPr>
        <p:sp>
          <p:nvSpPr>
            <p:cNvPr id="205" name="Rectangle 5"/>
            <p:cNvSpPr/>
            <p:nvPr/>
          </p:nvSpPr>
          <p:spPr>
            <a:xfrm>
              <a:off x="604440" y="4835160"/>
              <a:ext cx="14400" cy="5940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Freeform 6"/>
            <p:cNvSpPr/>
            <p:nvPr/>
          </p:nvSpPr>
          <p:spPr>
            <a:xfrm>
              <a:off x="694440" y="4834440"/>
              <a:ext cx="4428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7" name="Freeform 7"/>
            <p:cNvSpPr/>
            <p:nvPr/>
          </p:nvSpPr>
          <p:spPr>
            <a:xfrm>
              <a:off x="538560" y="4834440"/>
              <a:ext cx="45000" cy="6120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8" name="Freeform 8"/>
            <p:cNvSpPr/>
            <p:nvPr/>
          </p:nvSpPr>
          <p:spPr>
            <a:xfrm>
              <a:off x="755280" y="4834440"/>
              <a:ext cx="61200" cy="6120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9" name="Freeform 9"/>
            <p:cNvSpPr/>
            <p:nvPr/>
          </p:nvSpPr>
          <p:spPr>
            <a:xfrm>
              <a:off x="639000" y="4834440"/>
              <a:ext cx="40320" cy="6120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0" name="Freeform 10"/>
            <p:cNvSpPr/>
            <p:nvPr/>
          </p:nvSpPr>
          <p:spPr>
            <a:xfrm>
              <a:off x="50796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1" name="Freeform 11"/>
            <p:cNvSpPr/>
            <p:nvPr/>
          </p:nvSpPr>
          <p:spPr>
            <a:xfrm>
              <a:off x="54864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2" name="Freeform 12"/>
            <p:cNvSpPr/>
            <p:nvPr/>
          </p:nvSpPr>
          <p:spPr>
            <a:xfrm>
              <a:off x="58932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3" name="Freeform 13"/>
            <p:cNvSpPr/>
            <p:nvPr/>
          </p:nvSpPr>
          <p:spPr>
            <a:xfrm>
              <a:off x="63000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Freeform 14"/>
            <p:cNvSpPr/>
            <p:nvPr/>
          </p:nvSpPr>
          <p:spPr>
            <a:xfrm>
              <a:off x="67068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5" name="Freeform 15"/>
            <p:cNvSpPr/>
            <p:nvPr/>
          </p:nvSpPr>
          <p:spPr>
            <a:xfrm>
              <a:off x="71136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6" name="Freeform 16"/>
            <p:cNvSpPr/>
            <p:nvPr/>
          </p:nvSpPr>
          <p:spPr>
            <a:xfrm>
              <a:off x="752040" y="4715280"/>
              <a:ext cx="14400" cy="9396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Freeform 17"/>
            <p:cNvSpPr/>
            <p:nvPr/>
          </p:nvSpPr>
          <p:spPr>
            <a:xfrm>
              <a:off x="792720" y="4743720"/>
              <a:ext cx="14400" cy="504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8" name="Freeform 18"/>
            <p:cNvSpPr/>
            <p:nvPr/>
          </p:nvSpPr>
          <p:spPr>
            <a:xfrm>
              <a:off x="833400" y="4763880"/>
              <a:ext cx="14400" cy="3024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pic>
        <p:nvPicPr>
          <p:cNvPr id="219" name="Picture 1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65640"/>
          </a:xfrm>
          <a:prstGeom prst="rect">
            <a:avLst/>
          </a:prstGeom>
          <a:ln w="0">
            <a:noFill/>
          </a:ln>
        </p:spPr>
      </p:pic>
      <p:grpSp>
        <p:nvGrpSpPr>
          <p:cNvPr id="220" name="Group 4"/>
          <p:cNvGrpSpPr/>
          <p:nvPr/>
        </p:nvGrpSpPr>
        <p:grpSpPr>
          <a:xfrm>
            <a:off x="3746160" y="2129760"/>
            <a:ext cx="1617840" cy="860400"/>
            <a:chOff x="3746160" y="2129760"/>
            <a:chExt cx="1617840" cy="860400"/>
          </a:xfrm>
        </p:grpSpPr>
        <p:sp>
          <p:nvSpPr>
            <p:cNvPr id="221" name="Rectangle 5"/>
            <p:cNvSpPr/>
            <p:nvPr/>
          </p:nvSpPr>
          <p:spPr>
            <a:xfrm>
              <a:off x="4204080" y="2700360"/>
              <a:ext cx="70560" cy="283320"/>
            </a:xfrm>
            <a:prstGeom prst="rect">
              <a:avLst/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2" name="Freeform 6"/>
            <p:cNvSpPr/>
            <p:nvPr/>
          </p:nvSpPr>
          <p:spPr>
            <a:xfrm>
              <a:off x="4632480" y="2697120"/>
              <a:ext cx="21240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Freeform 7"/>
            <p:cNvSpPr/>
            <p:nvPr/>
          </p:nvSpPr>
          <p:spPr>
            <a:xfrm>
              <a:off x="3891240" y="2697120"/>
              <a:ext cx="215640" cy="293040"/>
            </a:xfrm>
            <a:custGeom>
              <a:avLst/>
              <a:gdLst/>
              <a:ahLst/>
              <a:rect l="l" t="t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4" name="Freeform 8"/>
            <p:cNvSpPr/>
            <p:nvPr/>
          </p:nvSpPr>
          <p:spPr>
            <a:xfrm>
              <a:off x="4922640" y="2697120"/>
              <a:ext cx="293040" cy="293040"/>
            </a:xfrm>
            <a:custGeom>
              <a:avLst/>
              <a:gdLst/>
              <a:ahLst/>
              <a:rect l="l" t="t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5" name="Freeform 9"/>
            <p:cNvSpPr/>
            <p:nvPr/>
          </p:nvSpPr>
          <p:spPr>
            <a:xfrm>
              <a:off x="4368240" y="2697120"/>
              <a:ext cx="192960" cy="293040"/>
            </a:xfrm>
            <a:custGeom>
              <a:avLst/>
              <a:gdLst/>
              <a:ahLst/>
              <a:rect l="l" t="t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6" name="Freeform 10"/>
            <p:cNvSpPr/>
            <p:nvPr/>
          </p:nvSpPr>
          <p:spPr>
            <a:xfrm>
              <a:off x="374616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7" name="Freeform 11"/>
            <p:cNvSpPr/>
            <p:nvPr/>
          </p:nvSpPr>
          <p:spPr>
            <a:xfrm>
              <a:off x="393984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8" name="Freeform 12"/>
            <p:cNvSpPr/>
            <p:nvPr/>
          </p:nvSpPr>
          <p:spPr>
            <a:xfrm>
              <a:off x="413316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9" name="Freeform 13"/>
            <p:cNvSpPr/>
            <p:nvPr/>
          </p:nvSpPr>
          <p:spPr>
            <a:xfrm>
              <a:off x="432648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0" name="Freeform 14"/>
            <p:cNvSpPr/>
            <p:nvPr/>
          </p:nvSpPr>
          <p:spPr>
            <a:xfrm>
              <a:off x="451980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1" name="Freeform 15"/>
            <p:cNvSpPr/>
            <p:nvPr/>
          </p:nvSpPr>
          <p:spPr>
            <a:xfrm>
              <a:off x="4713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Freeform 16"/>
            <p:cNvSpPr/>
            <p:nvPr/>
          </p:nvSpPr>
          <p:spPr>
            <a:xfrm>
              <a:off x="4906440" y="2129760"/>
              <a:ext cx="70560" cy="447480"/>
            </a:xfrm>
            <a:custGeom>
              <a:avLst/>
              <a:gdLst/>
              <a:ahLst/>
              <a:rect l="l" t="t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3" name="Freeform 17"/>
            <p:cNvSpPr/>
            <p:nvPr/>
          </p:nvSpPr>
          <p:spPr>
            <a:xfrm>
              <a:off x="5100120" y="2265120"/>
              <a:ext cx="70560" cy="241200"/>
            </a:xfrm>
            <a:custGeom>
              <a:avLst/>
              <a:gdLst/>
              <a:ahLst/>
              <a:rect l="l" t="t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4" name="Freeform 18"/>
            <p:cNvSpPr/>
            <p:nvPr/>
          </p:nvSpPr>
          <p:spPr>
            <a:xfrm>
              <a:off x="5293440" y="2361960"/>
              <a:ext cx="70560" cy="144720"/>
            </a:xfrm>
            <a:custGeom>
              <a:avLst/>
              <a:gdLst/>
              <a:ahLst/>
              <a:rect l="l" t="t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3200" spc="-1" strike="noStrike">
                <a:solidFill>
                  <a:srgbClr val="58585b"/>
                </a:solidFill>
                <a:latin typeface="Arial"/>
              </a:rPr>
              <a:t>Click to edit the title text format</a:t>
            </a:r>
            <a:endParaRPr b="0" lang="en-US" sz="32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500" spc="-1" strike="noStrike">
                <a:solidFill>
                  <a:srgbClr val="58585b"/>
                </a:solidFill>
                <a:latin typeface="Arial"/>
              </a:rPr>
              <a:t>Click to edit the outline text format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58585b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58585b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Third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100" spc="-1" strike="noStrike">
                <a:solidFill>
                  <a:srgbClr val="58585b"/>
                </a:solidFill>
                <a:latin typeface="Arial"/>
              </a:rPr>
              <a:t>Fourth Outline Level</a:t>
            </a:r>
            <a:endParaRPr b="0" lang="en-US" sz="1100" spc="-1" strike="noStrike">
              <a:solidFill>
                <a:srgbClr val="58585b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58585b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291240" y="2125800"/>
            <a:ext cx="7237080" cy="12704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Module 8: Network Layer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subTitle"/>
          </p:nvPr>
        </p:nvSpPr>
        <p:spPr>
          <a:xfrm>
            <a:off x="469440" y="3809520"/>
            <a:ext cx="2368440" cy="90180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afe8fb"/>
                </a:solidFill>
                <a:latin typeface="Arial"/>
              </a:rPr>
              <a:t>Introduction to Networks v7.0 (ITN)</a:t>
            </a:r>
            <a:endParaRPr b="0" lang="en-JM" sz="12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JM" sz="1200" spc="-1" strike="noStrike">
              <a:latin typeface="Arial"/>
            </a:endParaRPr>
          </a:p>
        </p:txBody>
      </p:sp>
    </p:spTree>
  </p:cSld>
  <p:transition spd="slow">
    <p:wipe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6123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8: Topics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99360" y="654120"/>
            <a:ext cx="8768520" cy="2815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What will I learn to do in this module?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89280"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89280">
              <a:lnSpc>
                <a:spcPct val="100000"/>
              </a:lnSpc>
              <a:spcBef>
                <a:spcPts val="45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283" name="Table 2"/>
          <p:cNvGraphicFramePr/>
          <p:nvPr/>
        </p:nvGraphicFramePr>
        <p:xfrm>
          <a:off x="522360" y="1140120"/>
          <a:ext cx="8348040" cy="2615400"/>
        </p:xfrm>
        <a:graphic>
          <a:graphicData uri="http://schemas.openxmlformats.org/drawingml/2006/table">
            <a:tbl>
              <a:tblPr/>
              <a:tblGrid>
                <a:gridCol w="2715120"/>
                <a:gridCol w="5632920"/>
              </a:tblGrid>
              <a:tr h="2916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Title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Topic Objective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49140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Network Layer Characteristics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Explain how the network layer uses IP protocols for reliable communications.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IPv4 Packet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Explain the role of the major header fields in the IPv4 packet.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40212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IPv6 Packet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Explain the role of the major header fields in the IPv6 packet.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How a Host Routes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Explain how network devices use routing tables to direct packets to a destination network.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60336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Router Routing Tables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Explain the function of fields in the routing table of a router.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7597800" cy="180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8.1 Network Layer Characteristics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5269680" cy="7894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The Network Layer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/>
          </p:nvPr>
        </p:nvSpPr>
        <p:spPr>
          <a:xfrm>
            <a:off x="118800" y="834480"/>
            <a:ext cx="5150880" cy="31766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Provides services to allow end devices to exchange data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version 4 (IPv4) and IP version 6 (IPv6) are the principle network layer communication protocols.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network layer performs four basic operations: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Addressing end devices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Encapsulation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Routing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De-encapsulation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287" name="Picture 4" descr=""/>
          <p:cNvPicPr/>
          <p:nvPr/>
        </p:nvPicPr>
        <p:blipFill>
          <a:blip r:embed="rId1"/>
          <a:stretch/>
        </p:blipFill>
        <p:spPr>
          <a:xfrm>
            <a:off x="5351760" y="100080"/>
            <a:ext cx="3066840" cy="2016000"/>
          </a:xfrm>
          <a:prstGeom prst="rect">
            <a:avLst/>
          </a:prstGeom>
          <a:ln w="0">
            <a:noFill/>
          </a:ln>
        </p:spPr>
      </p:pic>
      <p:pic>
        <p:nvPicPr>
          <p:cNvPr id="288" name="Picture 6" descr=""/>
          <p:cNvPicPr/>
          <p:nvPr/>
        </p:nvPicPr>
        <p:blipFill>
          <a:blip r:embed="rId2"/>
          <a:stretch/>
        </p:blipFill>
        <p:spPr>
          <a:xfrm>
            <a:off x="5270040" y="2355480"/>
            <a:ext cx="3230280" cy="24577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 Encapsulation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124560" y="906120"/>
            <a:ext cx="3699720" cy="376416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encapsulates the transport layer segment.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can use either an IPv4 or IPv6 packet and not impact the layer 4 segment.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packet will be examined by all layer 3 devices as it traverses the network.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IP addressing does not change from source to destination.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Note: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NAT will change addressing, but will be discussed in a later module.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291" name="Picture 1" descr=""/>
          <p:cNvPicPr/>
          <p:nvPr/>
        </p:nvPicPr>
        <p:blipFill>
          <a:blip r:embed="rId1"/>
          <a:stretch/>
        </p:blipFill>
        <p:spPr>
          <a:xfrm>
            <a:off x="3824640" y="906120"/>
            <a:ext cx="5126400" cy="29066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Characteristics of IP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3" name="PlaceHolder 2"/>
          <p:cNvSpPr>
            <a:spLocks noGrp="1"/>
          </p:cNvSpPr>
          <p:nvPr>
            <p:ph/>
          </p:nvPr>
        </p:nvSpPr>
        <p:spPr>
          <a:xfrm>
            <a:off x="124560" y="894240"/>
            <a:ext cx="9019080" cy="19472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is meant to have low overhead and may be described as: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Connectionless 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Best Effort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Media Independent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Connectionless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/>
          </p:nvPr>
        </p:nvSpPr>
        <p:spPr>
          <a:xfrm>
            <a:off x="100800" y="858600"/>
            <a:ext cx="8852760" cy="210960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is Connectionless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does not establish a connection with the destination before sending the packet.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There is no control information needed (synchronizations, acknowledgments, etc.).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destination will receive the packet when it arrives, but no pre-notifications are sent by IP.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there is a need for connection-oriented traffic, then another protocol will handle this (typically TCP at the transport layer).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296" name="Picture 1" descr=""/>
          <p:cNvPicPr/>
          <p:nvPr/>
        </p:nvPicPr>
        <p:blipFill>
          <a:blip r:embed="rId1"/>
          <a:stretch/>
        </p:blipFill>
        <p:spPr>
          <a:xfrm>
            <a:off x="1629720" y="3027960"/>
            <a:ext cx="5883840" cy="1731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Best Effort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100800" y="858600"/>
            <a:ext cx="3772800" cy="284940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is Best Effort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will not guarantee delivery of the packet.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has reduced overhead since there is no mechanism to resend data that is not received.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does not expect acknowledgments.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does not know if the other device is operational or if it received the packet.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299" name="Picture 1" descr=""/>
          <p:cNvPicPr/>
          <p:nvPr/>
        </p:nvPicPr>
        <p:blipFill>
          <a:blip r:embed="rId1"/>
          <a:stretch/>
        </p:blipFill>
        <p:spPr>
          <a:xfrm>
            <a:off x="3980520" y="858600"/>
            <a:ext cx="4831200" cy="28494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Media Independent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/>
          </p:nvPr>
        </p:nvSpPr>
        <p:spPr>
          <a:xfrm>
            <a:off x="100800" y="798840"/>
            <a:ext cx="4028400" cy="385128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is unreliable:  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cannot manage or fix undelivered or corrupt packets.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cannot retransmit after an error.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cannot realign out of sequence packets.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must rely on other protocols for these functions.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is media Independent: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does not concern itself with the type of frame required at the data link layer or the media type at the physical layer.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can be sent over any media type: copper, fiber, or wireless.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02" name="Picture 1" descr=""/>
          <p:cNvPicPr/>
          <p:nvPr/>
        </p:nvPicPr>
        <p:blipFill>
          <a:blip r:embed="rId1"/>
          <a:stretch/>
        </p:blipFill>
        <p:spPr>
          <a:xfrm>
            <a:off x="4267080" y="1104120"/>
            <a:ext cx="4773600" cy="31762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 Characteristics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Media Independent (Contd.)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/>
          </p:nvPr>
        </p:nvSpPr>
        <p:spPr>
          <a:xfrm>
            <a:off x="100800" y="858600"/>
            <a:ext cx="4028400" cy="379188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network layer will establish the Maximum Transmission Unit (MTU).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Network layer receives this from control information sent by the data link layer.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network then establishes the MTU size.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Fragmentation is when Layer 3 splits the IPv4 packet into smaller units.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Fragmenting causes latency.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does not fragment packets.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Example: Router goes from Ethernet to a slow WAN with a smaller MTU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05" name="Picture 1" descr=""/>
          <p:cNvPicPr/>
          <p:nvPr/>
        </p:nvPicPr>
        <p:blipFill>
          <a:blip r:embed="rId1"/>
          <a:stretch/>
        </p:blipFill>
        <p:spPr>
          <a:xfrm>
            <a:off x="4267080" y="1104120"/>
            <a:ext cx="4773600" cy="31762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7597800" cy="180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8.2 IPv4 Packet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 Header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/>
          </p:nvPr>
        </p:nvSpPr>
        <p:spPr>
          <a:xfrm>
            <a:off x="246600" y="798840"/>
            <a:ext cx="8183520" cy="34970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is the primary communication protocol for the network layer.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network header has many purposes: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ensures the packet is sent in the correct direction (to the destination).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contains information for network layer processing in various fields.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information in the header is used by all layer 3 devices that handle the packet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31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 Header Fields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109800" y="792360"/>
            <a:ext cx="4690440" cy="28832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IPv4 network header characteristics: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is in binary.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Contains several fields of information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Diagram is read from left to right, 4 bytes per line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two most important fields are the source and destination.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Protocols may have may have one or more functions.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11" name="Picture 2" descr=""/>
          <p:cNvPicPr/>
          <p:nvPr/>
        </p:nvPicPr>
        <p:blipFill>
          <a:blip r:embed="rId1"/>
          <a:stretch/>
        </p:blipFill>
        <p:spPr>
          <a:xfrm>
            <a:off x="4782240" y="841320"/>
            <a:ext cx="4251600" cy="4080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31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 Header Fields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3" name="PlaceHolder 2"/>
          <p:cNvSpPr>
            <a:spLocks noGrp="1"/>
          </p:cNvSpPr>
          <p:nvPr>
            <p:ph/>
          </p:nvPr>
        </p:nvSpPr>
        <p:spPr>
          <a:xfrm>
            <a:off x="155520" y="792360"/>
            <a:ext cx="8723160" cy="54216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Significant fields in the IPv4 header: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314" name="Table 1"/>
          <p:cNvGraphicFramePr/>
          <p:nvPr/>
        </p:nvGraphicFramePr>
        <p:xfrm>
          <a:off x="164520" y="1417320"/>
          <a:ext cx="8750520" cy="2834280"/>
        </p:xfrm>
        <a:graphic>
          <a:graphicData uri="http://schemas.openxmlformats.org/drawingml/2006/table">
            <a:tbl>
              <a:tblPr/>
              <a:tblGrid>
                <a:gridCol w="2359080"/>
                <a:gridCol w="6391440"/>
              </a:tblGrid>
              <a:tr h="34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Version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This will be for v4, as opposed to v6, a 4 bit field= 0100  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67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Differentiated Services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Used for QoS: DiffServ – DS field or the older IntServ – ToS or Type of Service 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6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Header Checksum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Detect corruption in the IPv4 header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517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Time to Live (TTL)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Layer 3 hop count. When it becomes zero the router will discard the packet.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Protocol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I.D.s next level protocol: ICMP, TCP, UDP, etc.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Source IPv4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32 bit source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3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Destination IPV4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32 bit destination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829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– Sample IPv4 Headers in Wireshark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203040" y="987120"/>
            <a:ext cx="8592840" cy="210348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the following: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Ethernet packets in Wireshark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control information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difference between packets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8231040" cy="180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8.3 IPv6 Packets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Limitations of IPv4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/>
          </p:nvPr>
        </p:nvSpPr>
        <p:spPr>
          <a:xfrm>
            <a:off x="123480" y="867960"/>
            <a:ext cx="8672760" cy="357300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has three major limitations: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address depletion – We have basically run out of IPv4 addressing.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Lack of end-to-end connectivity – To make IPv4 survive this long, private addressing and NAT were created. This ended direct communications with public addressing.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Increased network complexity – NAT was meant as temporary solution and creates issues on the network as a side effect of manipulating the network headers addressing. NAT causes latency and troubleshooting issues.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Overview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1" name="PlaceHolder 2"/>
          <p:cNvSpPr>
            <a:spLocks noGrp="1"/>
          </p:cNvSpPr>
          <p:nvPr>
            <p:ph/>
          </p:nvPr>
        </p:nvSpPr>
        <p:spPr>
          <a:xfrm>
            <a:off x="123480" y="867960"/>
            <a:ext cx="3997440" cy="38408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was developed by Internet Engineering Task Force (IETF).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overcomes the limitations of IPv4.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Improvements that IPv6 provides: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Increased address space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– based on 128 bit address, not 32 bits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Improved packet handling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– simplified header with fewer fields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Eliminates the need for NAT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– since there is a huge amount of addressing, there is no need to use private addressing internally and be mapped to a shared public address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22" name="Picture 2" descr=""/>
          <p:cNvPicPr/>
          <p:nvPr/>
        </p:nvPicPr>
        <p:blipFill>
          <a:blip r:embed="rId1"/>
          <a:stretch/>
        </p:blipFill>
        <p:spPr>
          <a:xfrm>
            <a:off x="4257000" y="804600"/>
            <a:ext cx="4886640" cy="38858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IPv4 Packet Header Fields in the IPv6 Packet Header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123480" y="867960"/>
            <a:ext cx="3359520" cy="37328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IPv6 header is simplified, but not smaller.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header is fixed at 40 Bytes or octets long.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Several IPv4 fields were removed to improve performance.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Some IPv4 fields were removed to improve performance: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Flag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Fragment Offset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Header Checksum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25" name="Picture 3" descr=""/>
          <p:cNvPicPr/>
          <p:nvPr/>
        </p:nvPicPr>
        <p:blipFill>
          <a:blip r:embed="rId1"/>
          <a:stretch/>
        </p:blipFill>
        <p:spPr>
          <a:xfrm>
            <a:off x="3617280" y="969120"/>
            <a:ext cx="5526360" cy="35791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 Header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123480" y="867960"/>
            <a:ext cx="8242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Significant fields in the IPv6 header: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graphicFrame>
        <p:nvGraphicFramePr>
          <p:cNvPr id="328" name="Table 4"/>
          <p:cNvGraphicFramePr/>
          <p:nvPr/>
        </p:nvGraphicFramePr>
        <p:xfrm>
          <a:off x="219600" y="1449000"/>
          <a:ext cx="8750520" cy="3200040"/>
        </p:xfrm>
        <a:graphic>
          <a:graphicData uri="http://schemas.openxmlformats.org/drawingml/2006/table">
            <a:tbl>
              <a:tblPr/>
              <a:tblGrid>
                <a:gridCol w="2359080"/>
                <a:gridCol w="6391440"/>
              </a:tblGrid>
              <a:tr h="349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Function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Description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38160">
                      <a:solidFill>
                        <a:srgbClr val="ffffff"/>
                      </a:solidFill>
                    </a:lnB>
                    <a:solidFill>
                      <a:srgbClr val="004c69"/>
                    </a:solidFill>
                  </a:tcPr>
                </a:tc>
              </a:tr>
              <a:tr h="356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Version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This will be for v6, as opposed to v4, a 4 bit field= 0110  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67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Traffic Class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Used for QoS: Equivalent to DiffServ – DS field 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693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Flow Label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Informs device to handle identical flow labels the same way, 20 bit field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4914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Payload Length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This 16-bit field indicates the length of the data portion or payload of the IPv6 packet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Next Header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I.D.s next level protocol: ICMP, TCP, UDP, etc.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657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Hop Limit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Replaces TTL field Layer 3 hop count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Source IPv6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128 bit source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cccfd3"/>
                    </a:solidFill>
                  </a:tcPr>
                </a:tc>
              </a:tr>
              <a:tr h="3358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Destination IPV6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58585b"/>
                          </a:solidFill>
                          <a:latin typeface="Arial"/>
                        </a:rPr>
                        <a:t>128 bit destination address</a:t>
                      </a:r>
                      <a:endParaRPr b="0" lang="en-JM" sz="1400" spc="-1" strike="noStrike"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e7e8ea"/>
                    </a:solidFill>
                  </a:tcPr>
                </a:tc>
              </a:tr>
            </a:tbl>
          </a:graphicData>
        </a:graphic>
      </p:graphicFrame>
    </p:spTree>
  </p:cSld>
  <p:transition spd="slow">
    <p:wipe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 Header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/>
          </p:nvPr>
        </p:nvSpPr>
        <p:spPr>
          <a:xfrm>
            <a:off x="123480" y="867960"/>
            <a:ext cx="8242920" cy="307260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packet may also contain extension headers (EH).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EH headers characteristics: 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provide optional network layer information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are optional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are placed between IPv6 header and the payload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may be used for fragmentation, security, mobility support, etc.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Note: </a:t>
            </a: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Unlike IPv4, routers do not fragment IPv6 packets.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IPv6 Packets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– Sample IPv6 Headers in Wireshark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123480" y="867960"/>
            <a:ext cx="8581320" cy="21308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cover the following: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Ethernet packets in Wireshark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control information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difference between packets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8231040" cy="180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8.4 How a Host Routes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6854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How a Host Routes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Host Forwarding Decision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109800" y="711360"/>
            <a:ext cx="8516160" cy="2250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Packets are always created at the source.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Each host devices creates their own routing table.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host can send packets to the following: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Itself – 127.0.0.1 (IPv4), ::1 (IPv6)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Local Hosts – destination is on the same LAN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Remote Hosts – devices are not on the same LAN 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36" name="Picture 2" descr=""/>
          <p:cNvPicPr/>
          <p:nvPr/>
        </p:nvPicPr>
        <p:blipFill>
          <a:blip r:embed="rId1"/>
          <a:stretch/>
        </p:blipFill>
        <p:spPr>
          <a:xfrm>
            <a:off x="1711080" y="3071880"/>
            <a:ext cx="4799160" cy="19220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68544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How a Host Routes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Host Forwarding Decision (Cont.)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38" name="PlaceHolder 2"/>
          <p:cNvSpPr>
            <a:spLocks noGrp="1"/>
          </p:cNvSpPr>
          <p:nvPr>
            <p:ph/>
          </p:nvPr>
        </p:nvSpPr>
        <p:spPr>
          <a:xfrm>
            <a:off x="109800" y="711360"/>
            <a:ext cx="8915040" cy="2530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Source device determines whether the destination is local or remote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Method of determination: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– Source uses its own IP address and Subnet mask, along with the destination IP address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– Source uses the network address and prefix advertised by the local router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Local traffic is dumped out the host interface to be handled by an intermediary device.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Remote traffic is forwarded directly to the default gateway on the LAN.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39" name="Picture 2" descr=""/>
          <p:cNvPicPr/>
          <p:nvPr/>
        </p:nvPicPr>
        <p:blipFill>
          <a:blip r:embed="rId1"/>
          <a:stretch/>
        </p:blipFill>
        <p:spPr>
          <a:xfrm>
            <a:off x="2342160" y="3329640"/>
            <a:ext cx="4296240" cy="154476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How a Host Routes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Default Gateway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/>
          </p:nvPr>
        </p:nvSpPr>
        <p:spPr>
          <a:xfrm>
            <a:off x="365760" y="821160"/>
            <a:ext cx="8535240" cy="3375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router or layer 3 switch can be a default-gateway.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Features of a default gateway (DGW):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must have an IP address in the same range as the rest of the LAN.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can accept data from the LAN and is capable of forwarding traffic off of the LAN.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It can route to other networks.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If a device has no default gateway or a bad default gateway, its traffic will not be able to leave the LAN.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How a Host Routes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A Host Routes to the Default Gateway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/>
          </p:nvPr>
        </p:nvSpPr>
        <p:spPr>
          <a:xfrm>
            <a:off x="116280" y="821160"/>
            <a:ext cx="4115520" cy="379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host will know the default gateway (DGW) either statically or through DHCP in IPv4.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sends the DGW through a router solicitation (RS) or can be configured manually.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DGW is static route which will be a last resort route in the routing table.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All device on the LAN will need the DGW of the router if they intend to send traffic remotely.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44" name="Picture 2" descr=""/>
          <p:cNvPicPr/>
          <p:nvPr/>
        </p:nvPicPr>
        <p:blipFill>
          <a:blip r:embed="rId1"/>
          <a:stretch/>
        </p:blipFill>
        <p:spPr>
          <a:xfrm>
            <a:off x="4295880" y="1501200"/>
            <a:ext cx="4765320" cy="22291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How a Host Routes 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Host Routing Tables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/>
          </p:nvPr>
        </p:nvSpPr>
        <p:spPr>
          <a:xfrm>
            <a:off x="116280" y="821160"/>
            <a:ext cx="2818800" cy="379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On Windows, route print or netstat  -r to display the PC routing table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7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Three sections displayed by these two commands:</a:t>
            </a:r>
            <a:endParaRPr b="0" lang="en-US" sz="17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Interface List – all potential interfaces and MAC addressing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Routing Table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Routing Table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47" name="Picture 2" descr=""/>
          <p:cNvPicPr/>
          <p:nvPr/>
        </p:nvPicPr>
        <p:blipFill>
          <a:blip r:embed="rId1"/>
          <a:stretch/>
        </p:blipFill>
        <p:spPr>
          <a:xfrm>
            <a:off x="3483720" y="932760"/>
            <a:ext cx="5485320" cy="373824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8231040" cy="180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8.5 Introduction to Routing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Routing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Router Packet Forwarding Decision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173160" y="822240"/>
            <a:ext cx="8806680" cy="53856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What happens when the router receives the frame from the host device?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51" name="Picture 2" descr=""/>
          <p:cNvPicPr/>
          <p:nvPr/>
        </p:nvPicPr>
        <p:blipFill>
          <a:blip r:embed="rId1"/>
          <a:stretch/>
        </p:blipFill>
        <p:spPr>
          <a:xfrm>
            <a:off x="173160" y="1361160"/>
            <a:ext cx="5438880" cy="3316320"/>
          </a:xfrm>
          <a:prstGeom prst="rect">
            <a:avLst/>
          </a:prstGeom>
          <a:ln w="0">
            <a:noFill/>
          </a:ln>
        </p:spPr>
      </p:pic>
      <p:pic>
        <p:nvPicPr>
          <p:cNvPr id="352" name="Picture 4" descr=""/>
          <p:cNvPicPr/>
          <p:nvPr/>
        </p:nvPicPr>
        <p:blipFill>
          <a:blip r:embed="rId2"/>
          <a:stretch/>
        </p:blipFill>
        <p:spPr>
          <a:xfrm>
            <a:off x="5871240" y="2162160"/>
            <a:ext cx="2983320" cy="18774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Routing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IP Router Routing Table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290160" y="798840"/>
            <a:ext cx="8853480" cy="242244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There three types of routes in a router’s routing table: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Directly Connected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– These routes are automatically added by the router, provided the interface is active and has addressing.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Remote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– These are the routes the router does not have a direct connection and may be learned: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Manually – with a static route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Dynamically – by using a routing protocol to have the routers share their information with each other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Default Route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– this forwards all traffic to a specific direction when there is not a match in the routing table 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endParaRPr b="0" lang="en-US" sz="15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55" name="Picture 2" descr=""/>
          <p:cNvPicPr/>
          <p:nvPr/>
        </p:nvPicPr>
        <p:blipFill>
          <a:blip r:embed="rId1"/>
          <a:stretch/>
        </p:blipFill>
        <p:spPr>
          <a:xfrm>
            <a:off x="1578600" y="3222000"/>
            <a:ext cx="5351400" cy="152460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307980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Routing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Static Routing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57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3845520" cy="3066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Static Route Characteristics: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Must be configured manually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Must be adjusted manually by the administrator when there is a change in the topology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Good for small non-redundant networks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Often used in conjunction with a dynamic routing protocol for configuring a default route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58" name="Picture 4" descr=""/>
          <p:cNvPicPr/>
          <p:nvPr/>
        </p:nvPicPr>
        <p:blipFill>
          <a:blip r:embed="rId1"/>
          <a:stretch/>
        </p:blipFill>
        <p:spPr>
          <a:xfrm>
            <a:off x="3990240" y="228960"/>
            <a:ext cx="5007240" cy="2382480"/>
          </a:xfrm>
          <a:prstGeom prst="rect">
            <a:avLst/>
          </a:prstGeom>
          <a:ln w="0">
            <a:noFill/>
          </a:ln>
        </p:spPr>
      </p:pic>
      <p:pic>
        <p:nvPicPr>
          <p:cNvPr id="359" name="Picture 3" descr=""/>
          <p:cNvPicPr/>
          <p:nvPr/>
        </p:nvPicPr>
        <p:blipFill>
          <a:blip r:embed="rId2"/>
          <a:stretch/>
        </p:blipFill>
        <p:spPr>
          <a:xfrm>
            <a:off x="3990240" y="2687760"/>
            <a:ext cx="5007240" cy="21175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307980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Routing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Dynamic Routing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/>
          </p:nvPr>
        </p:nvSpPr>
        <p:spPr>
          <a:xfrm>
            <a:off x="144000" y="798840"/>
            <a:ext cx="3845520" cy="296208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Dynamic Routes Automatically: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Discover remote networks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Maintain up-to-date information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Choose the best path to the destination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Clr>
                <a:srgbClr val="58585b"/>
              </a:buClr>
              <a:buSzPct val="90000"/>
              <a:buFont typeface="Arial"/>
              <a:buChar char="•"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Find new best paths when there is a topology change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Dynamic routing can also share static default routes with the other routers.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62" name="Picture 2" descr=""/>
          <p:cNvPicPr/>
          <p:nvPr/>
        </p:nvPicPr>
        <p:blipFill>
          <a:blip r:embed="rId1"/>
          <a:stretch/>
        </p:blipFill>
        <p:spPr>
          <a:xfrm>
            <a:off x="3990240" y="358200"/>
            <a:ext cx="5007240" cy="1928520"/>
          </a:xfrm>
          <a:prstGeom prst="rect">
            <a:avLst/>
          </a:prstGeom>
          <a:ln w="0">
            <a:noFill/>
          </a:ln>
        </p:spPr>
      </p:pic>
      <p:pic>
        <p:nvPicPr>
          <p:cNvPr id="363" name="Picture 3" descr=""/>
          <p:cNvPicPr/>
          <p:nvPr/>
        </p:nvPicPr>
        <p:blipFill>
          <a:blip r:embed="rId2"/>
          <a:stretch/>
        </p:blipFill>
        <p:spPr>
          <a:xfrm>
            <a:off x="3990240" y="2312280"/>
            <a:ext cx="4644360" cy="247032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Routing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Video – IPv4 Router Routing Tables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5" name="PlaceHolder 2"/>
          <p:cNvSpPr>
            <a:spLocks noGrp="1"/>
          </p:cNvSpPr>
          <p:nvPr>
            <p:ph/>
          </p:nvPr>
        </p:nvSpPr>
        <p:spPr>
          <a:xfrm>
            <a:off x="249480" y="798840"/>
            <a:ext cx="8426520" cy="3093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video will explain the information in the IPv4 router routing table.</a:t>
            </a:r>
            <a:endParaRPr b="0" lang="en-US" sz="18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Routing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Introduction to an IPv4 Routing Table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67" name="PlaceHolder 2"/>
          <p:cNvSpPr>
            <a:spLocks noGrp="1"/>
          </p:cNvSpPr>
          <p:nvPr>
            <p:ph/>
          </p:nvPr>
        </p:nvSpPr>
        <p:spPr>
          <a:xfrm>
            <a:off x="135000" y="817200"/>
            <a:ext cx="3979440" cy="372312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CA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</a:t>
            </a:r>
            <a:r>
              <a:rPr b="1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route </a:t>
            </a:r>
            <a:r>
              <a:rPr b="0" lang="en-US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command shows the following route sources: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- Directly connected local interface IP address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– Directly connected network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– Static route was manually configured by an administrator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–  OSPF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1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</a:t>
            </a: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 – EIGRP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r>
              <a:rPr b="0" lang="en-CA" sz="15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This command shows types of routes:</a:t>
            </a:r>
            <a:endParaRPr b="0" lang="en-US" sz="15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Directly Connected – C and L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Remote Routes – O, D, etc.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  <a:p>
            <a:pPr lvl="1" marL="358920" indent="-21600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58585b"/>
              </a:buClr>
              <a:buFont typeface="Arial"/>
              <a:buChar char="•"/>
              <a:tabLst>
                <a:tab algn="l" pos="0"/>
              </a:tabLst>
            </a:pPr>
            <a:r>
              <a:rPr b="0" lang="en-CA" sz="14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Default Routes – S* </a:t>
            </a:r>
            <a:endParaRPr b="0" lang="en-US" sz="1400" spc="-1" strike="noStrike">
              <a:solidFill>
                <a:srgbClr val="58585b"/>
              </a:solidFill>
              <a:latin typeface="Arial"/>
            </a:endParaRPr>
          </a:p>
        </p:txBody>
      </p:sp>
      <p:pic>
        <p:nvPicPr>
          <p:cNvPr id="368" name="Picture 2" descr=""/>
          <p:cNvPicPr/>
          <p:nvPr/>
        </p:nvPicPr>
        <p:blipFill>
          <a:blip r:embed="rId1"/>
          <a:stretch/>
        </p:blipFill>
        <p:spPr>
          <a:xfrm>
            <a:off x="4239360" y="817200"/>
            <a:ext cx="4904280" cy="3899880"/>
          </a:xfrm>
          <a:prstGeom prst="rect">
            <a:avLst/>
          </a:prstGeom>
          <a:ln w="0">
            <a:noFill/>
          </a:ln>
        </p:spPr>
      </p:pic>
    </p:spTree>
  </p:cSld>
  <p:transition spd="slow">
    <p:wipe dir="l"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PlaceHolder 1"/>
          <p:cNvSpPr>
            <a:spLocks noGrp="1"/>
          </p:cNvSpPr>
          <p:nvPr>
            <p:ph type="title"/>
          </p:nvPr>
        </p:nvSpPr>
        <p:spPr>
          <a:xfrm>
            <a:off x="416520" y="915480"/>
            <a:ext cx="8231040" cy="180216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600" spc="-1" strike="noStrike">
                <a:solidFill>
                  <a:srgbClr val="afe8fb"/>
                </a:solidFill>
                <a:latin typeface="Arial"/>
                <a:ea typeface="ＭＳ Ｐゴシック"/>
              </a:rPr>
              <a:t>8.6 Module Practice and Quiz</a:t>
            </a:r>
            <a:endParaRPr b="0" lang="en-US" sz="4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Module Practice and Quiz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What did I learn in this module?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1" name="PlaceHolder 2"/>
          <p:cNvSpPr>
            <a:spLocks noGrp="1"/>
          </p:cNvSpPr>
          <p:nvPr>
            <p:ph/>
          </p:nvPr>
        </p:nvSpPr>
        <p:spPr>
          <a:xfrm>
            <a:off x="0" y="801360"/>
            <a:ext cx="8839800" cy="3873960"/>
          </a:xfrm>
          <a:prstGeom prst="rect">
            <a:avLst/>
          </a:prstGeom>
          <a:noFill/>
          <a:ln w="0">
            <a:noFill/>
          </a:ln>
        </p:spPr>
        <p:txBody>
          <a:bodyPr numCol="1" spcCol="0" rIns="182880" anchor="t">
            <a:noAutofit/>
          </a:bodyPr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is connectionless, best effort, and media independent.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does not guarantee packet delivery.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packet header consists of fields containing information about the packet.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overcomes IPv4 lack of end-to-end connectivity and increased network complexity.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device will determine if a destination is itself, another local host, and a remote host.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 default gateway is router that is part of the LAN and will be used as a door to other networks.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routing table contains a list of all known network addresses (prefixes) and where to forward the packet.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router uses longest subnet mask or prefix match.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lvl="2" marL="431640" indent="-16992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The routing table has three types of route entries: directly connected networks, remote networks, and a default route.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601"/>
              </a:spcBef>
              <a:spcAft>
                <a:spcPts val="601"/>
              </a:spcAft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</p:spTree>
  </p:cSld>
  <p:transition spd="slow">
    <p:wipe dir="l"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0" y="1584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New Terms and Commands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/>
          </p:nvPr>
        </p:nvSpPr>
        <p:spPr>
          <a:xfrm>
            <a:off x="286560" y="1028160"/>
            <a:ext cx="2721240" cy="3709440"/>
          </a:xfrm>
          <a:prstGeom prst="rect">
            <a:avLst/>
          </a:prstGeom>
          <a:noFill/>
          <a:ln w="0">
            <a:solidFill>
              <a:srgbClr val="004c69"/>
            </a:solidFill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Encapsulation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Routing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De-encapsulation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Data payload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Packet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Internet Protocol Version 4 (IPv4)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Internet Protocol Version 6 (IPv6)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Network Layer PDU = IP Packet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 Header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4" name="Content Placeholder 1"/>
          <p:cNvSpPr/>
          <p:nvPr/>
        </p:nvSpPr>
        <p:spPr>
          <a:xfrm>
            <a:off x="3008160" y="1019160"/>
            <a:ext cx="2850120" cy="370944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82080" rIns="82080" tIns="41040" bIns="41040" anchor="t">
            <a:noAutofit/>
          </a:bodyPr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Best effort delivery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Media independent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Connectionless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Unreliable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Maximum Transmission Unit (MTU)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Version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Differentiated Services (DS)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Time-to-Live (TTL)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Internet Control Message Protocol (ICMP)</a:t>
            </a:r>
            <a:endParaRPr b="0" lang="en-JM" sz="1600" spc="-1" strike="noStrike">
              <a:latin typeface="Arial"/>
            </a:endParaRPr>
          </a:p>
          <a:p>
            <a:pPr>
              <a:lnSpc>
                <a:spcPct val="95000"/>
              </a:lnSpc>
              <a:spcBef>
                <a:spcPts val="799"/>
              </a:spcBef>
              <a:buNone/>
              <a:tabLst>
                <a:tab algn="l" pos="0"/>
              </a:tabLst>
            </a:pPr>
            <a:endParaRPr b="0" lang="en-JM" sz="1600" spc="-1" strike="noStrike">
              <a:latin typeface="Arial"/>
            </a:endParaRPr>
          </a:p>
        </p:txBody>
      </p:sp>
      <p:sp>
        <p:nvSpPr>
          <p:cNvPr id="375" name="Content Placeholder 1"/>
          <p:cNvSpPr/>
          <p:nvPr/>
        </p:nvSpPr>
        <p:spPr>
          <a:xfrm>
            <a:off x="5858640" y="1028160"/>
            <a:ext cx="2840760" cy="365652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82080" rIns="82080" tIns="41040" bIns="41040" anchor="t">
            <a:noAutofit/>
          </a:bodyPr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Identification, Flags, Fragment Offset fields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Network Address Translation (NAT)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Traffic Class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Flow Label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Payload Length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Next Header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Hop Limit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Extension Headers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Local host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Remote host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Default Gateway</a:t>
            </a:r>
            <a:endParaRPr b="0" lang="en-JM" sz="1600" spc="-1" strike="noStrike">
              <a:latin typeface="Arial"/>
            </a:endParaRPr>
          </a:p>
        </p:txBody>
      </p:sp>
    </p:spTree>
  </p:cSld>
  <p:transition spd="med">
    <p:wipe dir="r"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PlaceHolder 1"/>
          <p:cNvSpPr>
            <a:spLocks noGrp="1"/>
          </p:cNvSpPr>
          <p:nvPr>
            <p:ph type="title"/>
          </p:nvPr>
        </p:nvSpPr>
        <p:spPr>
          <a:xfrm>
            <a:off x="0" y="41400"/>
            <a:ext cx="9143640" cy="757080"/>
          </a:xfrm>
          <a:prstGeom prst="rect">
            <a:avLst/>
          </a:prstGeom>
          <a:noFill/>
          <a:ln w="0">
            <a:noFill/>
          </a:ln>
        </p:spPr>
        <p:txBody>
          <a:bodyPr numCol="1" spcCol="0" anchor="ctr">
            <a:no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Network Layer</a:t>
            </a:r>
            <a:br/>
            <a:r>
              <a:rPr b="0" lang="en-US" sz="2400" spc="-1" strike="noStrike">
                <a:solidFill>
                  <a:srgbClr val="367187"/>
                </a:solidFill>
                <a:latin typeface="Arial"/>
                <a:ea typeface="ＭＳ Ｐゴシック"/>
              </a:rPr>
              <a:t>New Terms and Commands</a:t>
            </a:r>
            <a:endParaRPr b="0" lang="en-US" sz="24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7" name="PlaceHolder 2"/>
          <p:cNvSpPr>
            <a:spLocks noGrp="1"/>
          </p:cNvSpPr>
          <p:nvPr>
            <p:ph/>
          </p:nvPr>
        </p:nvSpPr>
        <p:spPr>
          <a:xfrm>
            <a:off x="276840" y="1019160"/>
            <a:ext cx="2721240" cy="37094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txBody>
          <a:bodyPr numCol="1" spcCol="0" rIns="182880" anchor="t">
            <a:noAutofit/>
          </a:bodyPr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netstat –r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route print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interface list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IPv4 Route Table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IPv6 Route Table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directly-connected routes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remote routes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default route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show ip route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route source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destination network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outgoing interface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administrative distance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  <a:p>
            <a:pPr marL="169920" indent="-169920">
              <a:lnSpc>
                <a:spcPct val="100000"/>
              </a:lnSpc>
              <a:buClr>
                <a:srgbClr val="58585b"/>
              </a:buClr>
              <a:buSzPct val="90000"/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metric</a:t>
            </a:r>
            <a:endParaRPr b="0" lang="en-US" sz="1600" spc="-1" strike="noStrike">
              <a:solidFill>
                <a:srgbClr val="58585b"/>
              </a:solidFill>
              <a:latin typeface="Arial"/>
            </a:endParaRPr>
          </a:p>
        </p:txBody>
      </p:sp>
      <p:sp>
        <p:nvSpPr>
          <p:cNvPr id="378" name="Content Placeholder 1"/>
          <p:cNvSpPr/>
          <p:nvPr/>
        </p:nvSpPr>
        <p:spPr>
          <a:xfrm>
            <a:off x="3006000" y="1019160"/>
            <a:ext cx="2850120" cy="370944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numCol="1" spcCol="0" lIns="82080" rIns="82080" tIns="41040" bIns="41040" anchor="t">
            <a:noAutofit/>
          </a:bodyPr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next-hop</a:t>
            </a:r>
            <a:endParaRPr b="0" lang="en-JM" sz="1600" spc="-1" strike="noStrike">
              <a:latin typeface="Arial"/>
            </a:endParaRPr>
          </a:p>
          <a:p>
            <a:pPr marL="236520" indent="-236520">
              <a:lnSpc>
                <a:spcPct val="95000"/>
              </a:lnSpc>
              <a:buClr>
                <a:srgbClr val="708ca1"/>
              </a:buClr>
              <a:buFont typeface="Arial"/>
              <a:buChar char="•"/>
            </a:pPr>
            <a:r>
              <a:rPr b="0" lang="en-US" sz="1600" spc="-1" strike="noStrike">
                <a:solidFill>
                  <a:srgbClr val="000000"/>
                </a:solidFill>
                <a:latin typeface="Arial"/>
                <a:ea typeface="ＭＳ Ｐゴシック"/>
              </a:rPr>
              <a:t>route timestamp</a:t>
            </a:r>
            <a:endParaRPr b="0" lang="en-JM" sz="1600" spc="-1" strike="noStrike">
              <a:latin typeface="Arial"/>
            </a:endParaRPr>
          </a:p>
        </p:txBody>
      </p:sp>
    </p:spTree>
  </p:cSld>
  <p:transition spd="med">
    <p:wipe dir="r"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transition spd="slow"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F18ECBD8ED834DABF5ACC3DB9AA918" ma:contentTypeVersion="19" ma:contentTypeDescription="Create a new document." ma:contentTypeScope="" ma:versionID="0375978224eca4aeb78b7ba86ac1033c">
  <xsd:schema xmlns:xsd="http://www.w3.org/2001/XMLSchema" xmlns:xs="http://www.w3.org/2001/XMLSchema" xmlns:p="http://schemas.microsoft.com/office/2006/metadata/properties" xmlns:ns2="810553ce-449d-4340-bb0a-414d416a9b51" xmlns:ns3="20a0b39e-fcd0-423b-9f17-9d26d967be51" targetNamespace="http://schemas.microsoft.com/office/2006/metadata/properties" ma:root="true" ma:fieldsID="457d9a46ed9cd6c2ce95cb3d449ba463" ns2:_="" ns3:_="">
    <xsd:import namespace="810553ce-449d-4340-bb0a-414d416a9b51"/>
    <xsd:import namespace="20a0b39e-fcd0-423b-9f17-9d26d967be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Comme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0553ce-449d-4340-bb0a-414d416a9b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Comments" ma:index="20" nillable="true" ma:displayName="Comments" ma:internalName="Comments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b39e-fcd0-423b-9f17-9d26d967be51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d1fb9ddd-df90-44ec-9ce2-a3135905c5f1}" ma:internalName="TaxCatchAll" ma:showField="CatchAllData" ma:web="20a0b39e-fcd0-423b-9f17-9d26d967be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mments xmlns="810553ce-449d-4340-bb0a-414d416a9b51" xsi:nil="true"/>
    <lcf76f155ced4ddcb4097134ff3c332f xmlns="810553ce-449d-4340-bb0a-414d416a9b51">
      <Terms xmlns="http://schemas.microsoft.com/office/infopath/2007/PartnerControls"/>
    </lcf76f155ced4ddcb4097134ff3c332f>
    <TaxCatchAll xmlns="20a0b39e-fcd0-423b-9f17-9d26d967be51" xsi:nil="true"/>
  </documentManagement>
</p:properties>
</file>

<file path=customXml/itemProps1.xml><?xml version="1.0" encoding="utf-8"?>
<ds:datastoreItem xmlns:ds="http://schemas.openxmlformats.org/officeDocument/2006/customXml" ds:itemID="{A73A1026-689F-4B8E-BC7F-3C0068866214}"/>
</file>

<file path=customXml/itemProps2.xml><?xml version="1.0" encoding="utf-8"?>
<ds:datastoreItem xmlns:ds="http://schemas.openxmlformats.org/officeDocument/2006/customXml" ds:itemID="{C177D7F0-778A-4342-8E51-470F7C8BA3CF}"/>
</file>

<file path=customXml/itemProps3.xml><?xml version="1.0" encoding="utf-8"?>
<ds:datastoreItem xmlns:ds="http://schemas.openxmlformats.org/officeDocument/2006/customXml" ds:itemID="{246F3D0B-6266-4355-A3E5-BBAAB265E035}"/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21046</TotalTime>
  <Application>LibreOffice/7.2.7.2$Windows_X86_64 LibreOffice_project/8d71d29d553c0f7dcbfa38fbfda25ee34cce99a2</Application>
  <AppVersion>15.0000</AppVersion>
  <Words>3768</Words>
  <Paragraphs>582</Paragraphs>
  <Company>Cisco Systems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2016-08-22T22:27:36Z</dcterms:created>
  <dc:creator>bvachon@cisco.com</dc:creator>
  <dc:description/>
  <dc:language>en-JM</dc:language>
  <cp:lastModifiedBy/>
  <dcterms:modified xsi:type="dcterms:W3CDTF">2025-04-28T16:29:21Z</dcterms:modified>
  <cp:revision>1036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F9A496F7-57D7-4028-9572-D40DFDF3715A</vt:lpwstr>
  </property>
  <property fmtid="{D5CDD505-2E9C-101B-9397-08002B2CF9AE}" pid="3" name="ArticulatePath">
    <vt:lpwstr>ITE7_Chp9_by_jg</vt:lpwstr>
  </property>
  <property fmtid="{D5CDD505-2E9C-101B-9397-08002B2CF9AE}" pid="4" name="ContentTypeId">
    <vt:lpwstr>0x01010001F18ECBD8ED834DABF5ACC3DB9AA918</vt:lpwstr>
  </property>
  <property fmtid="{D5CDD505-2E9C-101B-9397-08002B2CF9AE}" pid="5" name="HiddenSlides">
    <vt:i4>8</vt:i4>
  </property>
  <property fmtid="{D5CDD505-2E9C-101B-9397-08002B2CF9AE}" pid="6" name="Jive_LatestUserAccountName">
    <vt:lpwstr>alljohns</vt:lpwstr>
  </property>
  <property fmtid="{D5CDD505-2E9C-101B-9397-08002B2CF9AE}" pid="7" name="Jive_VersionGuid">
    <vt:lpwstr>fd96a0b3-f68d-4727-8e4f-2128d37ed30a</vt:lpwstr>
  </property>
  <property fmtid="{D5CDD505-2E9C-101B-9397-08002B2CF9AE}" pid="8" name="Notes">
    <vt:i4>46</vt:i4>
  </property>
  <property fmtid="{D5CDD505-2E9C-101B-9397-08002B2CF9AE}" pid="9" name="Offisync_ProviderInitializationData">
    <vt:lpwstr>https://cisco.jiveon.com</vt:lpwstr>
  </property>
  <property fmtid="{D5CDD505-2E9C-101B-9397-08002B2CF9AE}" pid="10" name="Offisync_ServerID">
    <vt:lpwstr>07841bbc-cd3c-4a76-827f-75a2226890f4</vt:lpwstr>
  </property>
  <property fmtid="{D5CDD505-2E9C-101B-9397-08002B2CF9AE}" pid="11" name="Offisync_UniqueId">
    <vt:lpwstr>1702406</vt:lpwstr>
  </property>
  <property fmtid="{D5CDD505-2E9C-101B-9397-08002B2CF9AE}" pid="12" name="Offisync_UpdateToken">
    <vt:lpwstr>1</vt:lpwstr>
  </property>
  <property fmtid="{D5CDD505-2E9C-101B-9397-08002B2CF9AE}" pid="13" name="PresentationFormat">
    <vt:lpwstr>On-screen Show (16:9)</vt:lpwstr>
  </property>
  <property fmtid="{D5CDD505-2E9C-101B-9397-08002B2CF9AE}" pid="14" name="Slides">
    <vt:i4>49</vt:i4>
  </property>
</Properties>
</file>