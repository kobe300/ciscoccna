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notesSlide36.xml" ContentType="application/vnd.openxmlformats-officedocument.presentationml.notesSlide+xml"/>
  <Override PartName="/ppt/media/image1.jpeg" ContentType="image/jpeg"/>
  <Override PartName="/ppt/media/image3.png" ContentType="image/png"/>
  <Override PartName="/ppt/media/image2.jpeg" ContentType="image/jpeg"/>
  <Override PartName="/ppt/media/image8.png" ContentType="image/png"/>
  <Override PartName="/ppt/media/image4.png" ContentType="image/png"/>
  <Override PartName="/ppt/media/image5.png" ContentType="image/png"/>
  <Override PartName="/ppt/media/image6.png" ContentType="image/png"/>
  <Override PartName="/ppt/media/image7.png" ContentType="image/png"/>
  <Override PartName="/ppt/media/image9.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31.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55.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56.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57.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58.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59.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60.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3200" spc="-1" strike="noStrike">
                <a:solidFill>
                  <a:srgbClr val="58585b"/>
                </a:solidFill>
                <a:latin typeface="Arial"/>
              </a:rPr>
              <a:t>Click to move the slide</a:t>
            </a:r>
            <a:endParaRPr b="0" lang="en-US" sz="3200" spc="-1" strike="noStrike">
              <a:solidFill>
                <a:srgbClr val="58585b"/>
              </a:solidFill>
              <a:latin typeface="Arial"/>
            </a:endParaRPr>
          </a:p>
        </p:txBody>
      </p:sp>
      <p:sp>
        <p:nvSpPr>
          <p:cNvPr id="3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JM" sz="2000" spc="-1" strike="noStrike">
                <a:latin typeface="Arial"/>
              </a:rPr>
              <a:t>Click to edit the notes format</a:t>
            </a:r>
            <a:endParaRPr b="0" lang="en-JM" sz="2000" spc="-1" strike="noStrike">
              <a:latin typeface="Arial"/>
            </a:endParaRPr>
          </a:p>
        </p:txBody>
      </p:sp>
      <p:sp>
        <p:nvSpPr>
          <p:cNvPr id="3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JM" sz="1400" spc="-1" strike="noStrike">
                <a:latin typeface="Times New Roman"/>
              </a:rPr>
              <a:t>&lt;header&gt;</a:t>
            </a:r>
            <a:endParaRPr b="0" lang="en-JM" sz="1400" spc="-1" strike="noStrike">
              <a:latin typeface="Times New Roman"/>
            </a:endParaRPr>
          </a:p>
        </p:txBody>
      </p:sp>
      <p:sp>
        <p:nvSpPr>
          <p:cNvPr id="331" name="PlaceHolder 4"/>
          <p:cNvSpPr>
            <a:spLocks noGrp="1"/>
          </p:cNvSpPr>
          <p:nvPr>
            <p:ph type="dt"/>
          </p:nvPr>
        </p:nvSpPr>
        <p:spPr>
          <a:xfrm>
            <a:off x="4278960" y="0"/>
            <a:ext cx="3280680" cy="534240"/>
          </a:xfrm>
          <a:prstGeom prst="rect">
            <a:avLst/>
          </a:prstGeom>
          <a:noFill/>
          <a:ln w="0">
            <a:noFill/>
          </a:ln>
        </p:spPr>
        <p:txBody>
          <a:bodyPr lIns="0" rIns="0" tIns="0" bIns="0" anchor="t">
            <a:noAutofit/>
          </a:bodyPr>
          <a:p>
            <a:pPr algn="r">
              <a:buNone/>
            </a:pPr>
            <a:r>
              <a:rPr b="0" lang="en-JM" sz="1400" spc="-1" strike="noStrike">
                <a:latin typeface="Times New Roman"/>
              </a:rPr>
              <a:t>&lt;date/time&gt;</a:t>
            </a:r>
            <a:endParaRPr b="0" lang="en-JM" sz="1400" spc="-1" strike="noStrike">
              <a:latin typeface="Times New Roman"/>
            </a:endParaRPr>
          </a:p>
        </p:txBody>
      </p:sp>
      <p:sp>
        <p:nvSpPr>
          <p:cNvPr id="332" name="PlaceHolder 5"/>
          <p:cNvSpPr>
            <a:spLocks noGrp="1"/>
          </p:cNvSpPr>
          <p:nvPr>
            <p:ph type="ftr"/>
          </p:nvPr>
        </p:nvSpPr>
        <p:spPr>
          <a:xfrm>
            <a:off x="0" y="10157400"/>
            <a:ext cx="3280680" cy="534240"/>
          </a:xfrm>
          <a:prstGeom prst="rect">
            <a:avLst/>
          </a:prstGeom>
          <a:noFill/>
          <a:ln w="0">
            <a:noFill/>
          </a:ln>
        </p:spPr>
        <p:txBody>
          <a:bodyPr lIns="0" rIns="0" tIns="0" bIns="0" anchor="b">
            <a:noAutofit/>
          </a:bodyPr>
          <a:p>
            <a:r>
              <a:rPr b="0" lang="en-JM" sz="1400" spc="-1" strike="noStrike">
                <a:latin typeface="Times New Roman"/>
              </a:rPr>
              <a:t>&lt;footer&gt;</a:t>
            </a:r>
            <a:endParaRPr b="0" lang="en-JM" sz="1400" spc="-1" strike="noStrike">
              <a:latin typeface="Times New Roman"/>
            </a:endParaRPr>
          </a:p>
        </p:txBody>
      </p:sp>
      <p:sp>
        <p:nvSpPr>
          <p:cNvPr id="333" name="PlaceHolder 6"/>
          <p:cNvSpPr>
            <a:spLocks noGrp="1"/>
          </p:cNvSpPr>
          <p:nvPr>
            <p:ph type="sldNum"/>
          </p:nvPr>
        </p:nvSpPr>
        <p:spPr>
          <a:xfrm>
            <a:off x="4278960" y="10157400"/>
            <a:ext cx="3280680" cy="534240"/>
          </a:xfrm>
          <a:prstGeom prst="rect">
            <a:avLst/>
          </a:prstGeom>
          <a:noFill/>
          <a:ln w="0">
            <a:noFill/>
          </a:ln>
        </p:spPr>
        <p:txBody>
          <a:bodyPr lIns="0" rIns="0" tIns="0" bIns="0" anchor="b">
            <a:noAutofit/>
          </a:bodyPr>
          <a:p>
            <a:pPr algn="r">
              <a:buNone/>
            </a:pPr>
            <a:fld id="{2720614A-8AA5-4133-9A1A-616121FE190A}" type="slidenum">
              <a:rPr b="0" lang="en-JM" sz="1400" spc="-1" strike="noStrike">
                <a:latin typeface="Times New Roman"/>
              </a:rPr>
              <a:t>&lt;number&gt;</a:t>
            </a:fld>
            <a:endParaRPr b="0" lang="en-JM"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380880" y="685800"/>
            <a:ext cx="6095520" cy="3428640"/>
          </a:xfrm>
          <a:prstGeom prst="rect">
            <a:avLst/>
          </a:prstGeom>
          <a:ln w="0">
            <a:noFill/>
          </a:ln>
        </p:spPr>
      </p:sp>
      <p:sp>
        <p:nvSpPr>
          <p:cNvPr id="41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Cisco Networking Academy Program</a:t>
            </a:r>
            <a:endParaRPr b="0" lang="en-JM" sz="2000" spc="-1" strike="noStrike">
              <a:latin typeface="Arial"/>
            </a:endParaRPr>
          </a:p>
          <a:p>
            <a:pPr marL="216000" indent="-216000">
              <a:lnSpc>
                <a:spcPct val="100000"/>
              </a:lnSpc>
              <a:buNone/>
            </a:pPr>
            <a:r>
              <a:rPr b="0" lang="en-US" sz="2000" spc="-1" strike="noStrike">
                <a:latin typeface="Arial"/>
              </a:rPr>
              <a:t>Introduction to Networks v7.0 (ITN)</a:t>
            </a:r>
            <a:endParaRPr b="0" lang="en-JM" sz="2000" spc="-1" strike="noStrike">
              <a:latin typeface="Arial"/>
            </a:endParaRPr>
          </a:p>
          <a:p>
            <a:pPr marL="216000" indent="-216000">
              <a:lnSpc>
                <a:spcPct val="100000"/>
              </a:lnSpc>
              <a:buNone/>
            </a:pPr>
            <a:r>
              <a:rPr b="0" lang="en-US" sz="2000" spc="-1" strike="noStrike">
                <a:latin typeface="Arial"/>
              </a:rPr>
              <a:t>Module 16: Network Security Fundamentals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1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680A564-36E5-4F2F-B23A-FD8C9F86E0E9}"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Rectangle 11"/>
          <p:cNvSpPr/>
          <p:nvPr/>
        </p:nvSpPr>
        <p:spPr>
          <a:xfrm>
            <a:off x="5929200" y="8680320"/>
            <a:ext cx="812520" cy="286920"/>
          </a:xfrm>
          <a:prstGeom prst="rect">
            <a:avLst/>
          </a:prstGeom>
          <a:noFill/>
          <a:ln w="0">
            <a:noFill/>
          </a:ln>
        </p:spPr>
        <p:style>
          <a:lnRef idx="0"/>
          <a:fillRef idx="0"/>
          <a:effectRef idx="0"/>
          <a:fontRef idx="minor"/>
        </p:style>
        <p:txBody>
          <a:bodyPr lIns="18720" rIns="18720" tIns="0" bIns="0" anchor="b">
            <a:noAutofit/>
          </a:bodyPr>
          <a:p>
            <a:pPr algn="r">
              <a:lnSpc>
                <a:spcPct val="100000"/>
              </a:lnSpc>
              <a:buNone/>
            </a:pPr>
            <a:fld id="{C8880ACE-EC97-46FF-819E-3960303A4098}" type="slidenum">
              <a:rPr b="0" lang="en-US" sz="800" spc="-1" strike="noStrike">
                <a:solidFill>
                  <a:srgbClr val="000000"/>
                </a:solidFill>
                <a:latin typeface="Arial"/>
                <a:ea typeface="ＭＳ Ｐゴシック"/>
              </a:rPr>
              <a:t>&lt;number&gt;</a:t>
            </a:fld>
            <a:endParaRPr b="0" lang="en-JM" sz="800" spc="-1" strike="noStrike">
              <a:latin typeface="Arial"/>
            </a:endParaRPr>
          </a:p>
        </p:txBody>
      </p:sp>
      <p:sp>
        <p:nvSpPr>
          <p:cNvPr id="413" name="PlaceHolder 1"/>
          <p:cNvSpPr>
            <a:spLocks noGrp="1"/>
          </p:cNvSpPr>
          <p:nvPr>
            <p:ph type="sldImg"/>
          </p:nvPr>
        </p:nvSpPr>
        <p:spPr>
          <a:xfrm>
            <a:off x="380880" y="685800"/>
            <a:ext cx="6095520" cy="3428640"/>
          </a:xfrm>
          <a:prstGeom prst="rect">
            <a:avLst/>
          </a:prstGeom>
          <a:ln w="0">
            <a:noFill/>
          </a:ln>
        </p:spPr>
      </p:sp>
      <p:sp>
        <p:nvSpPr>
          <p:cNvPr id="41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GB" sz="2000" spc="-1" strike="noStrike">
                <a:latin typeface="Arial"/>
              </a:rPr>
              <a:t>16- Network Security Fundamentals</a:t>
            </a:r>
            <a:endParaRPr b="0" lang="en-JM" sz="2000" spc="-1" strike="noStrike">
              <a:latin typeface="Arial"/>
            </a:endParaRPr>
          </a:p>
          <a:p>
            <a:pPr marL="216000" indent="-216000">
              <a:lnSpc>
                <a:spcPct val="100000"/>
              </a:lnSpc>
              <a:buNone/>
            </a:pPr>
            <a:r>
              <a:rPr b="0" lang="en-GB" sz="2000" spc="-1" strike="noStrike">
                <a:latin typeface="Arial"/>
              </a:rPr>
              <a:t>16.0.2- What will I learn to do in this module?</a:t>
            </a:r>
            <a:endParaRPr b="0" lang="en-JM" sz="20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380880" y="685800"/>
            <a:ext cx="6095520" cy="3428640"/>
          </a:xfrm>
          <a:prstGeom prst="rect">
            <a:avLst/>
          </a:prstGeom>
          <a:ln w="0">
            <a:noFill/>
          </a:ln>
        </p:spPr>
      </p:sp>
      <p:sp>
        <p:nvSpPr>
          <p:cNvPr id="41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16.0 Network Security Fundamentals</a:t>
            </a:r>
            <a:endParaRPr b="0" lang="en-JM" sz="2000" spc="-1" strike="noStrike">
              <a:latin typeface="Arial"/>
            </a:endParaRPr>
          </a:p>
          <a:p>
            <a:pPr marL="216000" indent="-216000">
              <a:lnSpc>
                <a:spcPct val="100000"/>
              </a:lnSpc>
              <a:buNone/>
            </a:pPr>
            <a:r>
              <a:rPr b="0" lang="en-US" sz="2000" spc="-1" strike="noStrike">
                <a:latin typeface="Arial"/>
              </a:rPr>
              <a:t>16.1 Security Threats and Vulnerabilities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1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E222128-3D27-4E7F-9B7E-750FA024C7FF}"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Img"/>
          </p:nvPr>
        </p:nvSpPr>
        <p:spPr>
          <a:xfrm>
            <a:off x="380880" y="685800"/>
            <a:ext cx="6095520" cy="3428640"/>
          </a:xfrm>
          <a:prstGeom prst="rect">
            <a:avLst/>
          </a:prstGeom>
          <a:ln w="0">
            <a:noFill/>
          </a:ln>
        </p:spPr>
      </p:sp>
      <p:sp>
        <p:nvSpPr>
          <p:cNvPr id="41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16.1 – Security Threats and Vulnerabilities</a:t>
            </a:r>
            <a:endParaRPr b="0" lang="en-JM" sz="2000" spc="-1" strike="noStrike">
              <a:latin typeface="Arial"/>
            </a:endParaRPr>
          </a:p>
          <a:p>
            <a:pPr marL="216000" indent="-216000">
              <a:lnSpc>
                <a:spcPct val="100000"/>
              </a:lnSpc>
              <a:buNone/>
            </a:pPr>
            <a:r>
              <a:rPr b="0" lang="en-US" sz="2000" spc="-1" strike="noStrike">
                <a:latin typeface="Arial"/>
              </a:rPr>
              <a:t>16.1.1 – Types of Threats</a:t>
            </a:r>
            <a:endParaRPr b="0" lang="en-JM" sz="2000" spc="-1" strike="noStrike">
              <a:latin typeface="Arial"/>
            </a:endParaRPr>
          </a:p>
        </p:txBody>
      </p:sp>
      <p:sp>
        <p:nvSpPr>
          <p:cNvPr id="42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DED5FB7-4EC5-4D3A-882A-32F7587C9FEA}"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380880" y="685800"/>
            <a:ext cx="6095520" cy="3428640"/>
          </a:xfrm>
          <a:prstGeom prst="rect">
            <a:avLst/>
          </a:prstGeom>
          <a:ln w="0">
            <a:noFill/>
          </a:ln>
        </p:spPr>
      </p:sp>
      <p:sp>
        <p:nvSpPr>
          <p:cNvPr id="42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16.1 – Security Threats and Vulnerabilities</a:t>
            </a:r>
            <a:endParaRPr b="0" lang="en-JM" sz="2000" spc="-1" strike="noStrike">
              <a:latin typeface="Arial"/>
            </a:endParaRPr>
          </a:p>
          <a:p>
            <a:pPr marL="216000" indent="-216000">
              <a:lnSpc>
                <a:spcPct val="100000"/>
              </a:lnSpc>
              <a:buNone/>
            </a:pPr>
            <a:r>
              <a:rPr b="0" lang="en-US" sz="2000" spc="-1" strike="noStrike">
                <a:latin typeface="Arial"/>
              </a:rPr>
              <a:t>16.1.2 – Types of Vulnerabilities</a:t>
            </a:r>
            <a:endParaRPr b="0" lang="en-JM" sz="2000" spc="-1" strike="noStrike">
              <a:latin typeface="Arial"/>
            </a:endParaRPr>
          </a:p>
        </p:txBody>
      </p:sp>
      <p:sp>
        <p:nvSpPr>
          <p:cNvPr id="42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2531210-AC09-4E84-8875-CC358CC95A4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380880" y="685800"/>
            <a:ext cx="6095520" cy="3428640"/>
          </a:xfrm>
          <a:prstGeom prst="rect">
            <a:avLst/>
          </a:prstGeom>
          <a:ln w="0">
            <a:noFill/>
          </a:ln>
        </p:spPr>
      </p:sp>
      <p:sp>
        <p:nvSpPr>
          <p:cNvPr id="42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16.1 – Security Threats and Vulnerabilities</a:t>
            </a:r>
            <a:endParaRPr b="0" lang="en-JM" sz="2000" spc="-1" strike="noStrike">
              <a:latin typeface="Arial"/>
            </a:endParaRPr>
          </a:p>
          <a:p>
            <a:pPr marL="216000" indent="-216000">
              <a:lnSpc>
                <a:spcPct val="100000"/>
              </a:lnSpc>
              <a:buNone/>
            </a:pPr>
            <a:r>
              <a:rPr b="0" lang="en-US" sz="2000" spc="-1" strike="noStrike">
                <a:latin typeface="Arial"/>
              </a:rPr>
              <a:t>16.1.3 – Physical Security</a:t>
            </a:r>
            <a:endParaRPr b="0" lang="en-JM" sz="2000" spc="-1" strike="noStrike">
              <a:latin typeface="Arial"/>
            </a:endParaRPr>
          </a:p>
          <a:p>
            <a:pPr marL="216000" indent="-216000">
              <a:lnSpc>
                <a:spcPct val="100000"/>
              </a:lnSpc>
              <a:buNone/>
            </a:pPr>
            <a:r>
              <a:rPr b="0" lang="en-US" sz="2000" spc="-1" strike="noStrike">
                <a:latin typeface="Arial"/>
              </a:rPr>
              <a:t>16.1.4 – Check Your Understanding – Security Threats and Vulnerabilities</a:t>
            </a:r>
            <a:endParaRPr b="0" lang="en-JM" sz="2000" spc="-1" strike="noStrike">
              <a:latin typeface="Arial"/>
            </a:endParaRPr>
          </a:p>
        </p:txBody>
      </p:sp>
      <p:sp>
        <p:nvSpPr>
          <p:cNvPr id="42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1F84767-3C8B-4778-81E8-217B21C98DE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380880" y="685800"/>
            <a:ext cx="6095520" cy="3428640"/>
          </a:xfrm>
          <a:prstGeom prst="rect">
            <a:avLst/>
          </a:prstGeom>
          <a:ln w="0">
            <a:noFill/>
          </a:ln>
        </p:spPr>
      </p:sp>
      <p:sp>
        <p:nvSpPr>
          <p:cNvPr id="42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16.0 Network Security Fundamentals</a:t>
            </a:r>
            <a:endParaRPr b="0" lang="en-JM" sz="2000" spc="-1" strike="noStrike">
              <a:latin typeface="Arial"/>
            </a:endParaRPr>
          </a:p>
          <a:p>
            <a:pPr marL="216000" indent="-216000">
              <a:lnSpc>
                <a:spcPct val="100000"/>
              </a:lnSpc>
              <a:buNone/>
            </a:pPr>
            <a:r>
              <a:rPr b="0" lang="en-US" sz="2000" spc="-1" strike="noStrike">
                <a:latin typeface="Arial"/>
              </a:rPr>
              <a:t>16.2 Network Attacks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2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F9E589F-9BDB-438E-ACC1-BE2EA0474C52}"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380880" y="685800"/>
            <a:ext cx="6095520" cy="3428640"/>
          </a:xfrm>
          <a:prstGeom prst="rect">
            <a:avLst/>
          </a:prstGeom>
          <a:ln w="0">
            <a:noFill/>
          </a:ln>
        </p:spPr>
      </p:sp>
      <p:sp>
        <p:nvSpPr>
          <p:cNvPr id="43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16.2 – Network Attacks</a:t>
            </a:r>
            <a:endParaRPr b="0" lang="en-JM" sz="2000" spc="-1" strike="noStrike">
              <a:latin typeface="Arial"/>
            </a:endParaRPr>
          </a:p>
          <a:p>
            <a:pPr marL="216000" indent="-216000">
              <a:lnSpc>
                <a:spcPct val="100000"/>
              </a:lnSpc>
              <a:buNone/>
            </a:pPr>
            <a:r>
              <a:rPr b="0" lang="en-US" sz="2000" spc="-1" strike="noStrike">
                <a:latin typeface="Arial"/>
              </a:rPr>
              <a:t>16.2.1 – Types of Malware</a:t>
            </a:r>
            <a:endParaRPr b="0" lang="en-JM" sz="2000" spc="-1" strike="noStrike">
              <a:latin typeface="Arial"/>
            </a:endParaRPr>
          </a:p>
        </p:txBody>
      </p:sp>
      <p:sp>
        <p:nvSpPr>
          <p:cNvPr id="43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C47B2BF-B685-40F9-AFFD-5A9174D777B5}"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380880" y="685800"/>
            <a:ext cx="6095520" cy="3428640"/>
          </a:xfrm>
          <a:prstGeom prst="rect">
            <a:avLst/>
          </a:prstGeom>
          <a:ln w="0">
            <a:noFill/>
          </a:ln>
        </p:spPr>
      </p:sp>
      <p:sp>
        <p:nvSpPr>
          <p:cNvPr id="43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16.2 – Network Attacks</a:t>
            </a:r>
            <a:endParaRPr b="0" lang="en-JM" sz="2000" spc="-1" strike="noStrike">
              <a:latin typeface="Arial"/>
            </a:endParaRPr>
          </a:p>
          <a:p>
            <a:pPr marL="216000" indent="-216000">
              <a:lnSpc>
                <a:spcPct val="100000"/>
              </a:lnSpc>
              <a:buNone/>
            </a:pPr>
            <a:r>
              <a:rPr b="0" lang="en-US" sz="2000" spc="-1" strike="noStrike">
                <a:latin typeface="Arial"/>
              </a:rPr>
              <a:t>16.2.2 – Reconnaissance Attacks</a:t>
            </a:r>
            <a:endParaRPr b="0" lang="en-JM" sz="2000" spc="-1" strike="noStrike">
              <a:latin typeface="Arial"/>
            </a:endParaRPr>
          </a:p>
        </p:txBody>
      </p:sp>
      <p:sp>
        <p:nvSpPr>
          <p:cNvPr id="43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3EBF733-AA9F-4306-BB39-FF1237B884D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380880" y="685800"/>
            <a:ext cx="6095520" cy="3428640"/>
          </a:xfrm>
          <a:prstGeom prst="rect">
            <a:avLst/>
          </a:prstGeom>
          <a:ln w="0">
            <a:noFill/>
          </a:ln>
        </p:spPr>
      </p:sp>
      <p:sp>
        <p:nvSpPr>
          <p:cNvPr id="43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16.2 – Network Attacks</a:t>
            </a:r>
            <a:endParaRPr b="0" lang="en-JM" sz="2000" spc="-1" strike="noStrike">
              <a:latin typeface="Arial"/>
            </a:endParaRPr>
          </a:p>
          <a:p>
            <a:pPr marL="216000" indent="-216000">
              <a:lnSpc>
                <a:spcPct val="100000"/>
              </a:lnSpc>
              <a:buNone/>
            </a:pPr>
            <a:r>
              <a:rPr b="0" lang="en-US" sz="2000" spc="-1" strike="noStrike">
                <a:latin typeface="Arial"/>
              </a:rPr>
              <a:t>16.2.3 – Access Attacks</a:t>
            </a:r>
            <a:endParaRPr b="0" lang="en-JM" sz="2000" spc="-1" strike="noStrike">
              <a:latin typeface="Arial"/>
            </a:endParaRPr>
          </a:p>
        </p:txBody>
      </p:sp>
      <p:sp>
        <p:nvSpPr>
          <p:cNvPr id="43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5C01313-61D4-4AA2-972E-D37B3A17732A}"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PlaceHolder 1"/>
          <p:cNvSpPr>
            <a:spLocks noGrp="1"/>
          </p:cNvSpPr>
          <p:nvPr>
            <p:ph type="sldImg"/>
          </p:nvPr>
        </p:nvSpPr>
        <p:spPr>
          <a:xfrm>
            <a:off x="380880" y="685800"/>
            <a:ext cx="6095520" cy="3428640"/>
          </a:xfrm>
          <a:prstGeom prst="rect">
            <a:avLst/>
          </a:prstGeom>
          <a:ln w="0">
            <a:noFill/>
          </a:ln>
        </p:spPr>
      </p:sp>
      <p:sp>
        <p:nvSpPr>
          <p:cNvPr id="44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16.2 – Network Attacks</a:t>
            </a:r>
            <a:endParaRPr b="0" lang="en-JM" sz="2000" spc="-1" strike="noStrike">
              <a:latin typeface="Arial"/>
            </a:endParaRPr>
          </a:p>
          <a:p>
            <a:pPr marL="216000" indent="-216000">
              <a:lnSpc>
                <a:spcPct val="100000"/>
              </a:lnSpc>
              <a:buNone/>
            </a:pPr>
            <a:r>
              <a:rPr b="0" lang="en-US" sz="2000" spc="-1" strike="noStrike">
                <a:latin typeface="Arial"/>
              </a:rPr>
              <a:t>16.2.4 – Denial-of-Service Attacks</a:t>
            </a:r>
            <a:endParaRPr b="0" lang="en-JM" sz="2000" spc="-1" strike="noStrike">
              <a:latin typeface="Arial"/>
            </a:endParaRPr>
          </a:p>
          <a:p>
            <a:pPr marL="216000" indent="-216000">
              <a:lnSpc>
                <a:spcPct val="100000"/>
              </a:lnSpc>
              <a:buNone/>
            </a:pPr>
            <a:r>
              <a:rPr b="0" lang="en-US" sz="2000" spc="-1" strike="noStrike">
                <a:latin typeface="Arial"/>
              </a:rPr>
              <a:t>16.2.5 – Check You Understanding – Network Attacks</a:t>
            </a:r>
            <a:endParaRPr b="0" lang="en-JM" sz="2000" spc="-1" strike="noStrike">
              <a:latin typeface="Arial"/>
            </a:endParaRPr>
          </a:p>
        </p:txBody>
      </p:sp>
      <p:sp>
        <p:nvSpPr>
          <p:cNvPr id="44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92DA129-18C5-4D33-B6DD-FC0277B2C74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sldImg"/>
          </p:nvPr>
        </p:nvSpPr>
        <p:spPr>
          <a:xfrm>
            <a:off x="380880" y="685800"/>
            <a:ext cx="6095520" cy="3428640"/>
          </a:xfrm>
          <a:prstGeom prst="rect">
            <a:avLst/>
          </a:prstGeom>
          <a:ln w="0">
            <a:noFill/>
          </a:ln>
        </p:spPr>
      </p:sp>
      <p:sp>
        <p:nvSpPr>
          <p:cNvPr id="44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16.2 – Network Attacks</a:t>
            </a:r>
            <a:endParaRPr b="0" lang="en-JM" sz="2000" spc="-1" strike="noStrike">
              <a:latin typeface="Arial"/>
            </a:endParaRPr>
          </a:p>
          <a:p>
            <a:pPr marL="216000" indent="-216000">
              <a:lnSpc>
                <a:spcPct val="100000"/>
              </a:lnSpc>
              <a:buNone/>
            </a:pPr>
            <a:r>
              <a:rPr b="0" lang="en-US" sz="2000" spc="-1" strike="noStrike">
                <a:latin typeface="Arial"/>
              </a:rPr>
              <a:t>16.2.6 – Lab – Research Network Security Threats</a:t>
            </a:r>
            <a:endParaRPr b="0" lang="en-JM" sz="2000" spc="-1" strike="noStrike">
              <a:latin typeface="Arial"/>
            </a:endParaRPr>
          </a:p>
        </p:txBody>
      </p:sp>
      <p:sp>
        <p:nvSpPr>
          <p:cNvPr id="44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12398DC-9D6D-43C5-8D0F-D2C55813281F}"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sldImg"/>
          </p:nvPr>
        </p:nvSpPr>
        <p:spPr>
          <a:xfrm>
            <a:off x="380880" y="685800"/>
            <a:ext cx="6095520" cy="3428640"/>
          </a:xfrm>
          <a:prstGeom prst="rect">
            <a:avLst/>
          </a:prstGeom>
          <a:ln w="0">
            <a:noFill/>
          </a:ln>
        </p:spPr>
      </p:sp>
      <p:sp>
        <p:nvSpPr>
          <p:cNvPr id="44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16.0 Network Security Fundamentals</a:t>
            </a:r>
            <a:endParaRPr b="0" lang="en-JM" sz="2000" spc="-1" strike="noStrike">
              <a:latin typeface="Arial"/>
            </a:endParaRPr>
          </a:p>
          <a:p>
            <a:pPr marL="216000" indent="-216000">
              <a:lnSpc>
                <a:spcPct val="100000"/>
              </a:lnSpc>
              <a:buNone/>
            </a:pPr>
            <a:r>
              <a:rPr b="0" lang="en-US" sz="2000" spc="-1" strike="noStrike">
                <a:latin typeface="Arial"/>
              </a:rPr>
              <a:t>16.3 Network Attack Mitigations</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4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52A4000-2A3A-4DF6-A0F6-E1A0724612E8}"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sldImg"/>
          </p:nvPr>
        </p:nvSpPr>
        <p:spPr>
          <a:xfrm>
            <a:off x="380880" y="685800"/>
            <a:ext cx="6095520" cy="3428640"/>
          </a:xfrm>
          <a:prstGeom prst="rect">
            <a:avLst/>
          </a:prstGeom>
          <a:ln w="0">
            <a:noFill/>
          </a:ln>
        </p:spPr>
      </p:sp>
      <p:sp>
        <p:nvSpPr>
          <p:cNvPr id="44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16.3 – Network Attack Mitigations</a:t>
            </a:r>
            <a:endParaRPr b="0" lang="en-JM" sz="2000" spc="-1" strike="noStrike">
              <a:latin typeface="Arial"/>
            </a:endParaRPr>
          </a:p>
          <a:p>
            <a:pPr marL="216000" indent="-216000">
              <a:lnSpc>
                <a:spcPct val="100000"/>
              </a:lnSpc>
              <a:buNone/>
            </a:pPr>
            <a:r>
              <a:rPr b="0" lang="en-US" sz="2000" spc="-1" strike="noStrike">
                <a:latin typeface="Arial"/>
              </a:rPr>
              <a:t>16.3.1 – The Defense-in-Depth Approach</a:t>
            </a:r>
            <a:endParaRPr b="0" lang="en-JM" sz="2000" spc="-1" strike="noStrike">
              <a:latin typeface="Arial"/>
            </a:endParaRPr>
          </a:p>
        </p:txBody>
      </p:sp>
      <p:sp>
        <p:nvSpPr>
          <p:cNvPr id="45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671F1A2-2C9B-43D4-927E-09379400D7B6}"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380880" y="685800"/>
            <a:ext cx="6095520" cy="3428640"/>
          </a:xfrm>
          <a:prstGeom prst="rect">
            <a:avLst/>
          </a:prstGeom>
          <a:ln w="0">
            <a:noFill/>
          </a:ln>
        </p:spPr>
      </p:sp>
      <p:sp>
        <p:nvSpPr>
          <p:cNvPr id="45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16.3 – Network Attack Mitigations</a:t>
            </a:r>
            <a:endParaRPr b="0" lang="en-JM" sz="2000" spc="-1" strike="noStrike">
              <a:latin typeface="Arial"/>
            </a:endParaRPr>
          </a:p>
          <a:p>
            <a:pPr marL="216000" indent="-216000">
              <a:lnSpc>
                <a:spcPct val="100000"/>
              </a:lnSpc>
              <a:buNone/>
            </a:pPr>
            <a:r>
              <a:rPr b="0" lang="en-US" sz="2000" spc="-1" strike="noStrike">
                <a:latin typeface="Arial"/>
              </a:rPr>
              <a:t>16.3.2 Keep Backups</a:t>
            </a:r>
            <a:endParaRPr b="0" lang="en-JM" sz="2000" spc="-1" strike="noStrike">
              <a:latin typeface="Arial"/>
            </a:endParaRPr>
          </a:p>
        </p:txBody>
      </p:sp>
      <p:sp>
        <p:nvSpPr>
          <p:cNvPr id="45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0BDAD5D-8245-457F-8163-FD387DBFE527}"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380880" y="685800"/>
            <a:ext cx="6095520" cy="3428640"/>
          </a:xfrm>
          <a:prstGeom prst="rect">
            <a:avLst/>
          </a:prstGeom>
          <a:ln w="0">
            <a:noFill/>
          </a:ln>
        </p:spPr>
      </p:sp>
      <p:sp>
        <p:nvSpPr>
          <p:cNvPr id="45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16.3 – Network Attack Mitigations</a:t>
            </a:r>
            <a:endParaRPr b="0" lang="en-JM" sz="2000" spc="-1" strike="noStrike">
              <a:latin typeface="Arial"/>
            </a:endParaRPr>
          </a:p>
          <a:p>
            <a:pPr marL="216000" indent="-216000">
              <a:lnSpc>
                <a:spcPct val="100000"/>
              </a:lnSpc>
              <a:buNone/>
            </a:pPr>
            <a:r>
              <a:rPr b="0" lang="en-US" sz="2000" spc="-1" strike="noStrike">
                <a:latin typeface="Arial"/>
              </a:rPr>
              <a:t>16.3.3 – Upgrade, Update, and Patch</a:t>
            </a:r>
            <a:endParaRPr b="0" lang="en-JM" sz="2000" spc="-1" strike="noStrike">
              <a:latin typeface="Arial"/>
            </a:endParaRPr>
          </a:p>
        </p:txBody>
      </p:sp>
      <p:sp>
        <p:nvSpPr>
          <p:cNvPr id="45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331A7EC-E4D4-4BA3-A38D-685AE2BEA24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380880" y="685800"/>
            <a:ext cx="6095520" cy="3428640"/>
          </a:xfrm>
          <a:prstGeom prst="rect">
            <a:avLst/>
          </a:prstGeom>
          <a:ln w="0">
            <a:noFill/>
          </a:ln>
        </p:spPr>
      </p:sp>
      <p:sp>
        <p:nvSpPr>
          <p:cNvPr id="45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16.3 – Network Attack Mitigations</a:t>
            </a:r>
            <a:endParaRPr b="0" lang="en-JM" sz="2000" spc="-1" strike="noStrike">
              <a:latin typeface="Arial"/>
            </a:endParaRPr>
          </a:p>
          <a:p>
            <a:pPr marL="216000" indent="-216000">
              <a:lnSpc>
                <a:spcPct val="100000"/>
              </a:lnSpc>
              <a:buNone/>
            </a:pPr>
            <a:r>
              <a:rPr b="0" lang="en-US" sz="2000" spc="-1" strike="noStrike">
                <a:latin typeface="Arial"/>
              </a:rPr>
              <a:t>16.3.4 – Authentication, Authorization, and Accounting</a:t>
            </a:r>
            <a:endParaRPr b="0" lang="en-JM" sz="2000" spc="-1" strike="noStrike">
              <a:latin typeface="Arial"/>
            </a:endParaRPr>
          </a:p>
        </p:txBody>
      </p:sp>
      <p:sp>
        <p:nvSpPr>
          <p:cNvPr id="45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72D2069-932D-4978-B073-0924F385F6E4}"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380880" y="685800"/>
            <a:ext cx="6095520" cy="3428640"/>
          </a:xfrm>
          <a:prstGeom prst="rect">
            <a:avLst/>
          </a:prstGeom>
          <a:ln w="0">
            <a:noFill/>
          </a:ln>
        </p:spPr>
      </p:sp>
      <p:sp>
        <p:nvSpPr>
          <p:cNvPr id="46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16.3 – Network Attack Mitigations</a:t>
            </a:r>
            <a:endParaRPr b="0" lang="en-JM" sz="2000" spc="-1" strike="noStrike">
              <a:latin typeface="Arial"/>
            </a:endParaRPr>
          </a:p>
          <a:p>
            <a:pPr marL="216000" indent="-216000">
              <a:lnSpc>
                <a:spcPct val="100000"/>
              </a:lnSpc>
              <a:buNone/>
            </a:pPr>
            <a:r>
              <a:rPr b="0" lang="en-US" sz="2000" spc="-1" strike="noStrike">
                <a:latin typeface="Arial"/>
              </a:rPr>
              <a:t>16.3.5 - Firewalls</a:t>
            </a:r>
            <a:endParaRPr b="0" lang="en-JM" sz="2000" spc="-1" strike="noStrike">
              <a:latin typeface="Arial"/>
            </a:endParaRPr>
          </a:p>
        </p:txBody>
      </p:sp>
      <p:sp>
        <p:nvSpPr>
          <p:cNvPr id="46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B7573F7-B533-4210-B98A-036D1E80BC5E}"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380880" y="685800"/>
            <a:ext cx="6095520" cy="3428640"/>
          </a:xfrm>
          <a:prstGeom prst="rect">
            <a:avLst/>
          </a:prstGeom>
          <a:ln w="0">
            <a:noFill/>
          </a:ln>
        </p:spPr>
      </p:sp>
      <p:sp>
        <p:nvSpPr>
          <p:cNvPr id="46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16.3 – Network Attack Mitigations</a:t>
            </a:r>
            <a:endParaRPr b="0" lang="en-JM" sz="2000" spc="-1" strike="noStrike">
              <a:latin typeface="Arial"/>
            </a:endParaRPr>
          </a:p>
          <a:p>
            <a:pPr marL="216000" indent="-216000">
              <a:lnSpc>
                <a:spcPct val="100000"/>
              </a:lnSpc>
              <a:buNone/>
            </a:pPr>
            <a:r>
              <a:rPr b="0" lang="en-US" sz="2000" spc="-1" strike="noStrike">
                <a:latin typeface="Arial"/>
              </a:rPr>
              <a:t>16.3.6 – Types of Firewalls</a:t>
            </a:r>
            <a:endParaRPr b="0" lang="en-JM" sz="2000" spc="-1" strike="noStrike">
              <a:latin typeface="Arial"/>
            </a:endParaRPr>
          </a:p>
        </p:txBody>
      </p:sp>
      <p:sp>
        <p:nvSpPr>
          <p:cNvPr id="46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5F6DE4A-AFCC-485E-A7AE-9AA72CBBFBC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380880" y="685800"/>
            <a:ext cx="6095520" cy="3428640"/>
          </a:xfrm>
          <a:prstGeom prst="rect">
            <a:avLst/>
          </a:prstGeom>
          <a:ln w="0">
            <a:noFill/>
          </a:ln>
        </p:spPr>
      </p:sp>
      <p:sp>
        <p:nvSpPr>
          <p:cNvPr id="46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16.3 – Network Attack Mitigations</a:t>
            </a:r>
            <a:endParaRPr b="0" lang="en-JM" sz="2000" spc="-1" strike="noStrike">
              <a:latin typeface="Arial"/>
            </a:endParaRPr>
          </a:p>
          <a:p>
            <a:pPr marL="216000" indent="-216000">
              <a:lnSpc>
                <a:spcPct val="100000"/>
              </a:lnSpc>
              <a:buNone/>
            </a:pPr>
            <a:r>
              <a:rPr b="0" lang="en-US" sz="2000" spc="-1" strike="noStrike">
                <a:latin typeface="Arial"/>
              </a:rPr>
              <a:t>16.3.7 – Endpoint Security</a:t>
            </a:r>
            <a:endParaRPr b="0" lang="en-JM" sz="2000" spc="-1" strike="noStrike">
              <a:latin typeface="Arial"/>
            </a:endParaRPr>
          </a:p>
          <a:p>
            <a:pPr marL="216000" indent="-216000">
              <a:lnSpc>
                <a:spcPct val="100000"/>
              </a:lnSpc>
              <a:buNone/>
            </a:pPr>
            <a:r>
              <a:rPr b="0" lang="en-US" sz="2000" spc="-1" strike="noStrike">
                <a:latin typeface="Arial"/>
              </a:rPr>
              <a:t>16.3.8 – Check Your Understanding – Network Attack Mitigation</a:t>
            </a:r>
            <a:endParaRPr b="0" lang="en-JM" sz="2000" spc="-1" strike="noStrike">
              <a:latin typeface="Arial"/>
            </a:endParaRPr>
          </a:p>
        </p:txBody>
      </p:sp>
      <p:sp>
        <p:nvSpPr>
          <p:cNvPr id="46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F68E6E7-E248-4715-986E-4CBE52C7F9C8}"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380880" y="685800"/>
            <a:ext cx="6095520" cy="3428640"/>
          </a:xfrm>
          <a:prstGeom prst="rect">
            <a:avLst/>
          </a:prstGeom>
          <a:ln w="0">
            <a:noFill/>
          </a:ln>
        </p:spPr>
      </p:sp>
      <p:sp>
        <p:nvSpPr>
          <p:cNvPr id="47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16.0 Network Security Fundamentals</a:t>
            </a:r>
            <a:endParaRPr b="0" lang="en-JM" sz="2000" spc="-1" strike="noStrike">
              <a:latin typeface="Arial"/>
            </a:endParaRPr>
          </a:p>
          <a:p>
            <a:pPr marL="216000" indent="-216000">
              <a:lnSpc>
                <a:spcPct val="100000"/>
              </a:lnSpc>
              <a:buNone/>
            </a:pPr>
            <a:r>
              <a:rPr b="0" lang="en-US" sz="2000" spc="-1" strike="noStrike">
                <a:latin typeface="Arial"/>
              </a:rPr>
              <a:t>16.4 Device Security</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7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2D882C5-6C1C-4535-9300-CDADDBD28AD7}"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380880" y="685800"/>
            <a:ext cx="6095520" cy="3428640"/>
          </a:xfrm>
          <a:prstGeom prst="rect">
            <a:avLst/>
          </a:prstGeom>
          <a:ln w="0">
            <a:noFill/>
          </a:ln>
        </p:spPr>
      </p:sp>
      <p:sp>
        <p:nvSpPr>
          <p:cNvPr id="47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16.4 – Device Security</a:t>
            </a:r>
            <a:endParaRPr b="0" lang="en-JM" sz="2000" spc="-1" strike="noStrike">
              <a:latin typeface="Arial"/>
            </a:endParaRPr>
          </a:p>
          <a:p>
            <a:pPr marL="216000" indent="-216000">
              <a:lnSpc>
                <a:spcPct val="100000"/>
              </a:lnSpc>
              <a:buNone/>
            </a:pPr>
            <a:r>
              <a:rPr b="0" lang="en-US" sz="2000" spc="-1" strike="noStrike">
                <a:latin typeface="Arial"/>
              </a:rPr>
              <a:t>16.4.1 – Cisco AutoSecure</a:t>
            </a:r>
            <a:endParaRPr b="0" lang="en-JM" sz="2000" spc="-1" strike="noStrike">
              <a:latin typeface="Arial"/>
            </a:endParaRPr>
          </a:p>
        </p:txBody>
      </p:sp>
      <p:sp>
        <p:nvSpPr>
          <p:cNvPr id="47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23D6301-F71A-46FB-BC2B-26446B12E173}"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380880" y="685800"/>
            <a:ext cx="6095520" cy="3428640"/>
          </a:xfrm>
          <a:prstGeom prst="rect">
            <a:avLst/>
          </a:prstGeom>
          <a:ln w="0">
            <a:noFill/>
          </a:ln>
        </p:spPr>
      </p:sp>
      <p:sp>
        <p:nvSpPr>
          <p:cNvPr id="47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16.4 – Device Security</a:t>
            </a:r>
            <a:endParaRPr b="0" lang="en-JM" sz="2000" spc="-1" strike="noStrike">
              <a:latin typeface="Arial"/>
            </a:endParaRPr>
          </a:p>
          <a:p>
            <a:pPr marL="216000" indent="-216000">
              <a:lnSpc>
                <a:spcPct val="100000"/>
              </a:lnSpc>
              <a:buNone/>
            </a:pPr>
            <a:r>
              <a:rPr b="0" lang="en-US" sz="2000" spc="-1" strike="noStrike">
                <a:latin typeface="Arial"/>
              </a:rPr>
              <a:t>16.4.2 - Passwords</a:t>
            </a:r>
            <a:endParaRPr b="0" lang="en-JM" sz="2000" spc="-1" strike="noStrike">
              <a:latin typeface="Arial"/>
            </a:endParaRPr>
          </a:p>
        </p:txBody>
      </p:sp>
      <p:sp>
        <p:nvSpPr>
          <p:cNvPr id="47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1896290-6AE7-4FB9-92B5-B6F629BB69CB}"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380880" y="685800"/>
            <a:ext cx="6095520" cy="3428640"/>
          </a:xfrm>
          <a:prstGeom prst="rect">
            <a:avLst/>
          </a:prstGeom>
          <a:ln w="0">
            <a:noFill/>
          </a:ln>
        </p:spPr>
      </p:sp>
      <p:sp>
        <p:nvSpPr>
          <p:cNvPr id="47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16.4 – Device Security</a:t>
            </a:r>
            <a:endParaRPr b="0" lang="en-JM" sz="2000" spc="-1" strike="noStrike">
              <a:latin typeface="Arial"/>
            </a:endParaRPr>
          </a:p>
          <a:p>
            <a:pPr marL="216000" indent="-216000">
              <a:lnSpc>
                <a:spcPct val="100000"/>
              </a:lnSpc>
              <a:buNone/>
            </a:pPr>
            <a:r>
              <a:rPr b="0" lang="en-US" sz="2000" spc="-1" strike="noStrike">
                <a:latin typeface="Arial"/>
              </a:rPr>
              <a:t>16.4.3 – Additional Password Security</a:t>
            </a:r>
            <a:endParaRPr b="0" lang="en-JM" sz="2000" spc="-1" strike="noStrike">
              <a:latin typeface="Arial"/>
            </a:endParaRPr>
          </a:p>
        </p:txBody>
      </p:sp>
      <p:sp>
        <p:nvSpPr>
          <p:cNvPr id="48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F190713-6F75-433C-BFB4-5B0B45B0C188}"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380880" y="685800"/>
            <a:ext cx="6095520" cy="3428640"/>
          </a:xfrm>
          <a:prstGeom prst="rect">
            <a:avLst/>
          </a:prstGeom>
          <a:ln w="0">
            <a:noFill/>
          </a:ln>
        </p:spPr>
      </p:sp>
      <p:sp>
        <p:nvSpPr>
          <p:cNvPr id="48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16.4 – Device Security</a:t>
            </a:r>
            <a:endParaRPr b="0" lang="en-JM" sz="2000" spc="-1" strike="noStrike">
              <a:latin typeface="Arial"/>
            </a:endParaRPr>
          </a:p>
          <a:p>
            <a:pPr marL="216000" indent="-216000">
              <a:lnSpc>
                <a:spcPct val="100000"/>
              </a:lnSpc>
              <a:buNone/>
            </a:pPr>
            <a:r>
              <a:rPr b="0" lang="en-US" sz="2000" spc="-1" strike="noStrike">
                <a:latin typeface="Arial"/>
              </a:rPr>
              <a:t>16.4.4 - Enable SSH</a:t>
            </a:r>
            <a:endParaRPr b="0" lang="en-JM" sz="2000" spc="-1" strike="noStrike">
              <a:latin typeface="Arial"/>
            </a:endParaRPr>
          </a:p>
        </p:txBody>
      </p:sp>
      <p:sp>
        <p:nvSpPr>
          <p:cNvPr id="48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AE502AB-8714-4EE9-AECF-1D73ABCD773C}"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380880" y="685800"/>
            <a:ext cx="6095520" cy="3428640"/>
          </a:xfrm>
          <a:prstGeom prst="rect">
            <a:avLst/>
          </a:prstGeom>
          <a:ln w="0">
            <a:noFill/>
          </a:ln>
        </p:spPr>
      </p:sp>
      <p:sp>
        <p:nvSpPr>
          <p:cNvPr id="48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16.4 – Device Security</a:t>
            </a:r>
            <a:endParaRPr b="0" lang="en-JM" sz="2000" spc="-1" strike="noStrike">
              <a:latin typeface="Arial"/>
            </a:endParaRPr>
          </a:p>
          <a:p>
            <a:pPr marL="216000" indent="-216000">
              <a:lnSpc>
                <a:spcPct val="100000"/>
              </a:lnSpc>
              <a:buNone/>
            </a:pPr>
            <a:r>
              <a:rPr b="0" lang="en-US" sz="2000" spc="-1" strike="noStrike">
                <a:latin typeface="Arial"/>
              </a:rPr>
              <a:t>16.4.5 – Disable Unused Services</a:t>
            </a:r>
            <a:endParaRPr b="0" lang="en-JM" sz="2000" spc="-1" strike="noStrike">
              <a:latin typeface="Arial"/>
            </a:endParaRPr>
          </a:p>
        </p:txBody>
      </p:sp>
      <p:sp>
        <p:nvSpPr>
          <p:cNvPr id="48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CD8F152-75CF-446A-AFB8-A078F6169912}"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380880" y="685800"/>
            <a:ext cx="6095520" cy="3428640"/>
          </a:xfrm>
          <a:prstGeom prst="rect">
            <a:avLst/>
          </a:prstGeom>
          <a:ln w="0">
            <a:noFill/>
          </a:ln>
        </p:spPr>
      </p:sp>
      <p:sp>
        <p:nvSpPr>
          <p:cNvPr id="48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16.4 – Device Security</a:t>
            </a:r>
            <a:endParaRPr b="0" lang="en-JM" sz="2000" spc="-1" strike="noStrike">
              <a:latin typeface="Arial"/>
            </a:endParaRPr>
          </a:p>
          <a:p>
            <a:pPr marL="216000" indent="-216000">
              <a:lnSpc>
                <a:spcPct val="100000"/>
              </a:lnSpc>
              <a:buNone/>
            </a:pPr>
            <a:r>
              <a:rPr b="0" lang="en-US" sz="2000" spc="-1" strike="noStrike">
                <a:latin typeface="Arial"/>
              </a:rPr>
              <a:t>16.4.6 – Packet Tracer – Configure Secure Passwords and SSH</a:t>
            </a:r>
            <a:endParaRPr b="0" lang="en-JM" sz="2000" spc="-1" strike="noStrike">
              <a:latin typeface="Arial"/>
            </a:endParaRPr>
          </a:p>
        </p:txBody>
      </p:sp>
      <p:sp>
        <p:nvSpPr>
          <p:cNvPr id="48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E666F4F-EF71-4E74-8E95-403FF4AC2EAA}"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380880" y="685800"/>
            <a:ext cx="6095520" cy="3428640"/>
          </a:xfrm>
          <a:prstGeom prst="rect">
            <a:avLst/>
          </a:prstGeom>
          <a:ln w="0">
            <a:noFill/>
          </a:ln>
        </p:spPr>
      </p:sp>
      <p:sp>
        <p:nvSpPr>
          <p:cNvPr id="49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 – Network Security Fundamentals</a:t>
            </a:r>
            <a:endParaRPr b="0" lang="en-JM" sz="2000" spc="-1" strike="noStrike">
              <a:latin typeface="Arial"/>
            </a:endParaRPr>
          </a:p>
          <a:p>
            <a:pPr marL="216000" indent="-216000">
              <a:lnSpc>
                <a:spcPct val="100000"/>
              </a:lnSpc>
              <a:buNone/>
            </a:pPr>
            <a:r>
              <a:rPr b="0" lang="en-US" sz="2000" spc="-1" strike="noStrike">
                <a:latin typeface="Arial"/>
              </a:rPr>
              <a:t>16.4 – Device Security</a:t>
            </a:r>
            <a:endParaRPr b="0" lang="en-JM" sz="2000" spc="-1" strike="noStrike">
              <a:latin typeface="Arial"/>
            </a:endParaRPr>
          </a:p>
          <a:p>
            <a:pPr marL="216000" indent="-216000">
              <a:lnSpc>
                <a:spcPct val="100000"/>
              </a:lnSpc>
              <a:buNone/>
            </a:pPr>
            <a:r>
              <a:rPr b="0" lang="en-US" sz="2000" spc="-1" strike="noStrike">
                <a:latin typeface="Arial"/>
              </a:rPr>
              <a:t>16.4.7 – Lab – Configure Network Devices with SSH</a:t>
            </a:r>
            <a:endParaRPr b="0" lang="en-JM" sz="2000" spc="-1" strike="noStrike">
              <a:latin typeface="Arial"/>
            </a:endParaRPr>
          </a:p>
        </p:txBody>
      </p:sp>
      <p:sp>
        <p:nvSpPr>
          <p:cNvPr id="49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AD579F1-CECC-4BC4-ACF3-040365D02489}" type="slidenum">
              <a:rPr b="0" lang="en-US" sz="1200" spc="-1" strike="noStrike">
                <a:latin typeface="Times New Roman"/>
              </a:rPr>
              <a:t>&lt;number&gt;</a:t>
            </a:fld>
            <a:endParaRPr b="0" lang="en-JM" sz="12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sldImg"/>
          </p:nvPr>
        </p:nvSpPr>
        <p:spPr>
          <a:xfrm>
            <a:off x="380880" y="685800"/>
            <a:ext cx="6095520" cy="3428640"/>
          </a:xfrm>
          <a:prstGeom prst="rect">
            <a:avLst/>
          </a:prstGeom>
          <a:ln w="0">
            <a:noFill/>
          </a:ln>
        </p:spPr>
      </p:sp>
      <p:sp>
        <p:nvSpPr>
          <p:cNvPr id="49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16.0 Network Security Fundamentals</a:t>
            </a:r>
            <a:endParaRPr b="0" lang="en-JM" sz="2000" spc="-1" strike="noStrike">
              <a:latin typeface="Arial"/>
            </a:endParaRPr>
          </a:p>
          <a:p>
            <a:pPr marL="216000" indent="-216000">
              <a:lnSpc>
                <a:spcPct val="100000"/>
              </a:lnSpc>
              <a:buNone/>
            </a:pPr>
            <a:r>
              <a:rPr b="0" lang="en-US" sz="2000" spc="-1" strike="noStrike">
                <a:latin typeface="Arial"/>
              </a:rPr>
              <a:t>16.5 Module Practice and Quiz</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9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AFEB9A7-8D66-4693-9852-304994AA24E4}"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80E18A8-FCE8-41CF-A1A4-2FA8C8EA9D46}"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97" name="PlaceHolder 2"/>
          <p:cNvSpPr>
            <a:spLocks noGrp="1"/>
          </p:cNvSpPr>
          <p:nvPr>
            <p:ph type="sldImg"/>
          </p:nvPr>
        </p:nvSpPr>
        <p:spPr>
          <a:xfrm>
            <a:off x="380880" y="685800"/>
            <a:ext cx="6095520" cy="3428640"/>
          </a:xfrm>
          <a:prstGeom prst="rect">
            <a:avLst/>
          </a:prstGeom>
          <a:ln w="0">
            <a:noFill/>
          </a:ln>
        </p:spPr>
      </p:sp>
      <p:sp>
        <p:nvSpPr>
          <p:cNvPr id="498"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latin typeface="Arial"/>
              </a:rPr>
              <a:t>16 – Network Security Fundamentals</a:t>
            </a:r>
            <a:endParaRPr b="0" lang="en-JM" sz="1200" spc="-1" strike="noStrike">
              <a:latin typeface="Arial"/>
            </a:endParaRPr>
          </a:p>
          <a:p>
            <a:pPr marL="216000" indent="-216000">
              <a:lnSpc>
                <a:spcPct val="100000"/>
              </a:lnSpc>
              <a:buNone/>
            </a:pPr>
            <a:r>
              <a:rPr b="0" lang="en-US" sz="1200" spc="-1" strike="noStrike">
                <a:latin typeface="Arial"/>
              </a:rPr>
              <a:t>16.5 – Module Practice and Quiz</a:t>
            </a:r>
            <a:endParaRPr b="0" lang="en-JM" sz="1200" spc="-1" strike="noStrike">
              <a:latin typeface="Arial"/>
            </a:endParaRPr>
          </a:p>
          <a:p>
            <a:pPr marL="216000" indent="-216000">
              <a:lnSpc>
                <a:spcPct val="100000"/>
              </a:lnSpc>
              <a:buNone/>
            </a:pPr>
            <a:r>
              <a:rPr b="0" lang="en-US" sz="1200" spc="-1" strike="noStrike">
                <a:latin typeface="Arial"/>
              </a:rPr>
              <a:t>16.5.1 – Packet Tracer – Secure Network Devices</a:t>
            </a:r>
            <a:endParaRPr b="0" lang="en-JM" sz="1200" spc="-1" strike="noStrike">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01986ED-14AE-414A-A45D-C97C2536AF62}"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500" name="PlaceHolder 2"/>
          <p:cNvSpPr>
            <a:spLocks noGrp="1"/>
          </p:cNvSpPr>
          <p:nvPr>
            <p:ph type="sldImg"/>
          </p:nvPr>
        </p:nvSpPr>
        <p:spPr>
          <a:xfrm>
            <a:off x="380880" y="685800"/>
            <a:ext cx="6095520" cy="3428640"/>
          </a:xfrm>
          <a:prstGeom prst="rect">
            <a:avLst/>
          </a:prstGeom>
          <a:ln w="0">
            <a:noFill/>
          </a:ln>
        </p:spPr>
      </p:sp>
      <p:sp>
        <p:nvSpPr>
          <p:cNvPr id="501"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latin typeface="Arial"/>
              </a:rPr>
              <a:t>16 – Network Security Fundamentals</a:t>
            </a:r>
            <a:endParaRPr b="0" lang="en-JM" sz="1200" spc="-1" strike="noStrike">
              <a:latin typeface="Arial"/>
            </a:endParaRPr>
          </a:p>
          <a:p>
            <a:pPr marL="216000" indent="-216000">
              <a:lnSpc>
                <a:spcPct val="100000"/>
              </a:lnSpc>
              <a:buNone/>
            </a:pPr>
            <a:r>
              <a:rPr b="0" lang="en-US" sz="1200" spc="-1" strike="noStrike">
                <a:latin typeface="Arial"/>
              </a:rPr>
              <a:t>16.5 – Module Practice and Quiz</a:t>
            </a:r>
            <a:endParaRPr b="0" lang="en-JM" sz="1200" spc="-1" strike="noStrike">
              <a:latin typeface="Arial"/>
            </a:endParaRPr>
          </a:p>
          <a:p>
            <a:pPr marL="216000" indent="-216000">
              <a:lnSpc>
                <a:spcPct val="100000"/>
              </a:lnSpc>
              <a:buNone/>
            </a:pPr>
            <a:r>
              <a:rPr b="0" lang="en-US" sz="1200" spc="-1" strike="noStrike">
                <a:latin typeface="Arial"/>
              </a:rPr>
              <a:t>16.5.2 – Lab – Secure Network Devices</a:t>
            </a:r>
            <a:endParaRPr b="0" lang="en-JM" sz="1200" spc="-1" strike="noStrike">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3CFE5F6-A7FC-498A-91A1-9D43EDB87F2E}"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503" name="PlaceHolder 2"/>
          <p:cNvSpPr>
            <a:spLocks noGrp="1"/>
          </p:cNvSpPr>
          <p:nvPr>
            <p:ph type="sldImg"/>
          </p:nvPr>
        </p:nvSpPr>
        <p:spPr>
          <a:xfrm>
            <a:off x="380880" y="685800"/>
            <a:ext cx="6095520" cy="3428640"/>
          </a:xfrm>
          <a:prstGeom prst="rect">
            <a:avLst/>
          </a:prstGeom>
          <a:ln w="0">
            <a:noFill/>
          </a:ln>
        </p:spPr>
      </p:sp>
      <p:sp>
        <p:nvSpPr>
          <p:cNvPr id="504"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latin typeface="Arial"/>
              </a:rPr>
              <a:t>16 – Network Security Fundamentals</a:t>
            </a:r>
            <a:endParaRPr b="0" lang="en-JM" sz="1200" spc="-1" strike="noStrike">
              <a:latin typeface="Arial"/>
            </a:endParaRPr>
          </a:p>
          <a:p>
            <a:pPr marL="216000" indent="-216000">
              <a:lnSpc>
                <a:spcPct val="100000"/>
              </a:lnSpc>
              <a:buNone/>
            </a:pPr>
            <a:r>
              <a:rPr b="0" lang="en-US" sz="1200" spc="-1" strike="noStrike">
                <a:latin typeface="Arial"/>
              </a:rPr>
              <a:t>16.5 – Module Practice and Quiz</a:t>
            </a:r>
            <a:endParaRPr b="0" lang="en-JM" sz="1200" spc="-1" strike="noStrike">
              <a:latin typeface="Arial"/>
            </a:endParaRPr>
          </a:p>
          <a:p>
            <a:pPr marL="216000" indent="-216000">
              <a:lnSpc>
                <a:spcPct val="100000"/>
              </a:lnSpc>
              <a:buNone/>
            </a:pPr>
            <a:r>
              <a:rPr b="0" lang="en-US" sz="1200" spc="-1" strike="noStrike">
                <a:latin typeface="Arial"/>
              </a:rPr>
              <a:t>16.5.3 – What did I learn in this module?</a:t>
            </a:r>
            <a:endParaRPr b="0" lang="en-JM" sz="1200" spc="-1" strike="noStrike">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3B24D5D-46BB-4845-A344-5BCDC471F5B9}"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506" name="PlaceHolder 2"/>
          <p:cNvSpPr>
            <a:spLocks noGrp="1"/>
          </p:cNvSpPr>
          <p:nvPr>
            <p:ph type="sldImg"/>
          </p:nvPr>
        </p:nvSpPr>
        <p:spPr>
          <a:xfrm>
            <a:off x="380880" y="685800"/>
            <a:ext cx="6095520" cy="3428640"/>
          </a:xfrm>
          <a:prstGeom prst="rect">
            <a:avLst/>
          </a:prstGeom>
          <a:ln w="0">
            <a:noFill/>
          </a:ln>
        </p:spPr>
      </p:sp>
      <p:sp>
        <p:nvSpPr>
          <p:cNvPr id="507"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latin typeface="Arial"/>
              </a:rPr>
              <a:t>16 – Network Security Fundamentals</a:t>
            </a:r>
            <a:endParaRPr b="0" lang="en-JM" sz="1200" spc="-1" strike="noStrike">
              <a:latin typeface="Arial"/>
            </a:endParaRPr>
          </a:p>
          <a:p>
            <a:pPr marL="216000" indent="-216000">
              <a:lnSpc>
                <a:spcPct val="100000"/>
              </a:lnSpc>
              <a:buNone/>
            </a:pPr>
            <a:r>
              <a:rPr b="0" lang="en-US" sz="1200" spc="-1" strike="noStrike">
                <a:latin typeface="Arial"/>
              </a:rPr>
              <a:t>16.5 – Module Practice and Quiz</a:t>
            </a:r>
            <a:endParaRPr b="0" lang="en-JM" sz="1200" spc="-1" strike="noStrike">
              <a:latin typeface="Arial"/>
            </a:endParaRPr>
          </a:p>
          <a:p>
            <a:pPr marL="216000" indent="-216000">
              <a:lnSpc>
                <a:spcPct val="100000"/>
              </a:lnSpc>
              <a:buNone/>
            </a:pPr>
            <a:r>
              <a:rPr b="0" lang="en-US" sz="1200" spc="-1" strike="noStrike">
                <a:latin typeface="Arial"/>
              </a:rPr>
              <a:t>16.5.3 – What did I learn in this module? (Cont.)</a:t>
            </a:r>
            <a:endParaRPr b="0" lang="en-JM" sz="1200" spc="-1" strike="noStrike">
              <a:latin typeface="Arial"/>
            </a:endParaRPr>
          </a:p>
          <a:p>
            <a:pPr marL="216000" indent="-216000">
              <a:lnSpc>
                <a:spcPct val="100000"/>
              </a:lnSpc>
              <a:buNone/>
            </a:pPr>
            <a:r>
              <a:rPr b="0" lang="en-US" sz="1200" spc="-1" strike="noStrike">
                <a:latin typeface="Arial"/>
              </a:rPr>
              <a:t>16.5.4 – Module Quiz – Network Security Fundamentals</a:t>
            </a:r>
            <a:endParaRPr b="0" lang="en-JM" sz="1200" spc="-1" strike="noStrike">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166F78D-99A5-4188-8BFA-A6D7E7E62942}"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509" name="PlaceHolder 2"/>
          <p:cNvSpPr>
            <a:spLocks noGrp="1"/>
          </p:cNvSpPr>
          <p:nvPr>
            <p:ph type="sldImg"/>
          </p:nvPr>
        </p:nvSpPr>
        <p:spPr>
          <a:xfrm>
            <a:off x="380880" y="685800"/>
            <a:ext cx="6095520" cy="3428640"/>
          </a:xfrm>
          <a:prstGeom prst="rect">
            <a:avLst/>
          </a:prstGeom>
          <a:ln w="0">
            <a:noFill/>
          </a:ln>
        </p:spPr>
      </p:sp>
      <p:sp>
        <p:nvSpPr>
          <p:cNvPr id="510"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1200" spc="-1" strike="noStrike">
                <a:latin typeface="Arial"/>
              </a:rPr>
              <a:t>16 – Network Security Fundamentals</a:t>
            </a:r>
            <a:endParaRPr b="0" lang="en-JM" sz="1200" spc="-1" strike="noStrike">
              <a:latin typeface="Arial"/>
            </a:endParaRPr>
          </a:p>
          <a:p>
            <a:pPr marL="216000" indent="-216000">
              <a:lnSpc>
                <a:spcPct val="100000"/>
              </a:lnSpc>
              <a:buNone/>
            </a:pPr>
            <a:r>
              <a:rPr b="0" lang="en-US" sz="1200" spc="-1" strike="noStrike">
                <a:latin typeface="Arial"/>
              </a:rPr>
              <a:t>16.5 – Module Practice and Quiz</a:t>
            </a:r>
            <a:endParaRPr b="0" lang="en-JM" sz="1200" spc="-1" strike="noStrike">
              <a:latin typeface="Arial"/>
            </a:endParaRPr>
          </a:p>
          <a:p>
            <a:pPr marL="216000" indent="-216000">
              <a:lnSpc>
                <a:spcPct val="100000"/>
              </a:lnSpc>
              <a:buNone/>
            </a:pPr>
            <a:r>
              <a:rPr b="0" lang="en-US" sz="1200" spc="-1" strike="noStrike">
                <a:latin typeface="Arial"/>
              </a:rPr>
              <a:t>16.5.3 – What did I learn in this module? (Cont.)</a:t>
            </a:r>
            <a:endParaRPr b="0" lang="en-JM" sz="1200" spc="-1" strike="noStrike">
              <a:latin typeface="Arial"/>
            </a:endParaRPr>
          </a:p>
          <a:p>
            <a:pPr marL="216000" indent="-216000">
              <a:lnSpc>
                <a:spcPct val="100000"/>
              </a:lnSpc>
              <a:buNone/>
            </a:pPr>
            <a:r>
              <a:rPr b="0" lang="en-US" sz="1200" spc="-1" strike="noStrike">
                <a:latin typeface="Arial"/>
              </a:rPr>
              <a:t>16.5.4 – Module Quiz – Network Security Fundamentals</a:t>
            </a:r>
            <a:endParaRPr b="0" lang="en-JM" sz="1200" spc="-1" strike="noStrike">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0873224-A4FE-4BF1-BD11-CB32DAA75F83}"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512" name="PlaceHolder 2"/>
          <p:cNvSpPr>
            <a:spLocks noGrp="1"/>
          </p:cNvSpPr>
          <p:nvPr>
            <p:ph type="sldImg"/>
          </p:nvPr>
        </p:nvSpPr>
        <p:spPr>
          <a:xfrm>
            <a:off x="380880" y="685800"/>
            <a:ext cx="6095520" cy="3428640"/>
          </a:xfrm>
          <a:prstGeom prst="rect">
            <a:avLst/>
          </a:prstGeom>
          <a:ln w="0">
            <a:noFill/>
          </a:ln>
        </p:spPr>
      </p:sp>
      <p:sp>
        <p:nvSpPr>
          <p:cNvPr id="513" name="PlaceHolder 3"/>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sldImg"/>
          </p:nvPr>
        </p:nvSpPr>
        <p:spPr>
          <a:xfrm>
            <a:off x="380880" y="685800"/>
            <a:ext cx="6095520" cy="3428640"/>
          </a:xfrm>
          <a:prstGeom prst="rect">
            <a:avLst/>
          </a:prstGeom>
          <a:ln w="0">
            <a:noFill/>
          </a:ln>
        </p:spPr>
      </p:sp>
      <p:sp>
        <p:nvSpPr>
          <p:cNvPr id="515"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
        <p:nvSpPr>
          <p:cNvPr id="51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CE7F903-181C-4112-B647-65106FE7A685}" type="slidenum">
              <a:rPr b="0" lang="en-US" sz="1200" spc="-1" strike="noStrike">
                <a:latin typeface="Times New Roman"/>
              </a:rPr>
              <a:t>&lt;number&gt;</a:t>
            </a:fld>
            <a:endParaRPr b="0" lang="en-JM"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9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2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4"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2"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8"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9"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6"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7"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8"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9"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0"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1"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2"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4"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2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2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29"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5"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37"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1"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3"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4"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9"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1"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2"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3"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4"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5"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6"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9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9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9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9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0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0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0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0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0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1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1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2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32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2.jpeg"/><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0" name="Rectangle 7" hidden="1"/>
          <p:cNvSpPr/>
          <p:nvPr/>
        </p:nvSpPr>
        <p:spPr>
          <a:xfrm>
            <a:off x="8520120" y="4743360"/>
            <a:ext cx="20952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EFE2E400-7C97-47F9-906E-92A8E3C853CB}" type="slidenum">
              <a:rPr b="0" lang="en-US" sz="600" spc="-1" strike="noStrike">
                <a:solidFill>
                  <a:srgbClr val="d9d9d9"/>
                </a:solidFill>
                <a:latin typeface="Arial"/>
              </a:rPr>
              <a:t>1</a:t>
            </a:fld>
            <a:endParaRPr b="0" lang="en-JM" sz="600" spc="-1" strike="noStrike">
              <a:latin typeface="Arial"/>
            </a:endParaRPr>
          </a:p>
        </p:txBody>
      </p:sp>
      <p:sp>
        <p:nvSpPr>
          <p:cNvPr id="1" name="Rectangle 4" hidden="1"/>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2" name="Group 4"/>
          <p:cNvGrpSpPr/>
          <p:nvPr/>
        </p:nvGrpSpPr>
        <p:grpSpPr>
          <a:xfrm>
            <a:off x="507960" y="4715280"/>
            <a:ext cx="339840" cy="180360"/>
            <a:chOff x="507960" y="4715280"/>
            <a:chExt cx="339840" cy="180360"/>
          </a:xfrm>
        </p:grpSpPr>
        <p:sp>
          <p:nvSpPr>
            <p:cNvPr id="3"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4"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5"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6"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7"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9"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0"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1"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2"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5"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6"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17" name="Picture 2" descr=""/>
          <p:cNvPicPr/>
          <p:nvPr/>
        </p:nvPicPr>
        <p:blipFill>
          <a:blip r:embed="rId2"/>
          <a:stretch/>
        </p:blipFill>
        <p:spPr>
          <a:xfrm>
            <a:off x="0" y="0"/>
            <a:ext cx="9143640" cy="5143320"/>
          </a:xfrm>
          <a:prstGeom prst="rect">
            <a:avLst/>
          </a:prstGeom>
          <a:ln w="0">
            <a:noFill/>
          </a:ln>
        </p:spPr>
      </p:pic>
      <p:sp>
        <p:nvSpPr>
          <p:cNvPr id="18" name="PlaceHolder 1"/>
          <p:cNvSpPr>
            <a:spLocks noGrp="1"/>
          </p:cNvSpPr>
          <p:nvPr>
            <p:ph type="body"/>
          </p:nvPr>
        </p:nvSpPr>
        <p:spPr>
          <a:xfrm>
            <a:off x="469440" y="404964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19" name="PlaceHolder 2"/>
          <p:cNvSpPr>
            <a:spLocks noGrp="1"/>
          </p:cNvSpPr>
          <p:nvPr>
            <p:ph type="body"/>
          </p:nvPr>
        </p:nvSpPr>
        <p:spPr>
          <a:xfrm>
            <a:off x="469440" y="428940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20" name="PlaceHolder 3"/>
          <p:cNvSpPr>
            <a:spLocks noGrp="1"/>
          </p:cNvSpPr>
          <p:nvPr>
            <p:ph type="body"/>
          </p:nvPr>
        </p:nvSpPr>
        <p:spPr>
          <a:xfrm>
            <a:off x="463320" y="2872080"/>
            <a:ext cx="5924880" cy="298800"/>
          </a:xfrm>
          <a:prstGeom prst="rect">
            <a:avLst/>
          </a:prstGeom>
          <a:noFill/>
          <a:ln w="0">
            <a:noFill/>
          </a:ln>
        </p:spPr>
        <p:txBody>
          <a:bodyPr anchor="t">
            <a:noAutofit/>
          </a:bodyPr>
          <a:p>
            <a:pPr>
              <a:lnSpc>
                <a:spcPct val="95000"/>
              </a:lnSpc>
              <a:spcBef>
                <a:spcPts val="1074"/>
              </a:spcBef>
              <a:buNone/>
              <a:tabLst>
                <a:tab algn="l" pos="0"/>
              </a:tabLst>
            </a:pPr>
            <a:r>
              <a:rPr b="0" lang="en-US" sz="2000" spc="-1" strike="noStrike">
                <a:solidFill>
                  <a:srgbClr val="81c569"/>
                </a:solidFill>
                <a:latin typeface="Arial"/>
                <a:ea typeface="ＭＳ Ｐゴシック"/>
              </a:rPr>
              <a:t>Click to edit Master text styles</a:t>
            </a:r>
            <a:endParaRPr b="0" lang="en-US" sz="2000" spc="-1" strike="noStrike">
              <a:solidFill>
                <a:srgbClr val="58585b"/>
              </a:solidFill>
              <a:latin typeface="Arial"/>
            </a:endParaRPr>
          </a:p>
        </p:txBody>
      </p:sp>
      <p:sp>
        <p:nvSpPr>
          <p:cNvPr id="21" name="PlaceHolder 4"/>
          <p:cNvSpPr>
            <a:spLocks noGrp="1"/>
          </p:cNvSpPr>
          <p:nvPr>
            <p:ph type="title"/>
          </p:nvPr>
        </p:nvSpPr>
        <p:spPr>
          <a:xfrm>
            <a:off x="425880" y="2300760"/>
            <a:ext cx="5955120" cy="64440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38c6f4"/>
                </a:solidFill>
                <a:latin typeface="Arial"/>
                <a:ea typeface="ＭＳ Ｐゴシック"/>
              </a:rPr>
              <a:t>Click to edit Master title style</a:t>
            </a:r>
            <a:endParaRPr b="0" lang="en-US" sz="3600" spc="-1" strike="noStrike">
              <a:solidFill>
                <a:srgbClr val="58585b"/>
              </a:solidFill>
              <a:latin typeface="Arial"/>
            </a:endParaRPr>
          </a:p>
        </p:txBody>
      </p:sp>
      <p:grpSp>
        <p:nvGrpSpPr>
          <p:cNvPr id="22" name="Group 4"/>
          <p:cNvGrpSpPr/>
          <p:nvPr/>
        </p:nvGrpSpPr>
        <p:grpSpPr>
          <a:xfrm>
            <a:off x="492120" y="395280"/>
            <a:ext cx="796680" cy="423360"/>
            <a:chOff x="492120" y="395280"/>
            <a:chExt cx="796680" cy="423360"/>
          </a:xfrm>
        </p:grpSpPr>
        <p:sp>
          <p:nvSpPr>
            <p:cNvPr id="23" name="Rectangle 5"/>
            <p:cNvSpPr/>
            <p:nvPr/>
          </p:nvSpPr>
          <p:spPr>
            <a:xfrm>
              <a:off x="717480" y="676440"/>
              <a:ext cx="34560" cy="139320"/>
            </a:xfrm>
            <a:prstGeom prst="rect">
              <a:avLst/>
            </a:prstGeom>
            <a:solidFill>
              <a:schemeClr val="accent5"/>
            </a:solidFill>
            <a:ln w="0">
              <a:noFill/>
            </a:ln>
          </p:spPr>
          <p:style>
            <a:lnRef idx="0"/>
            <a:fillRef idx="0"/>
            <a:effectRef idx="0"/>
            <a:fontRef idx="minor"/>
          </p:style>
        </p:sp>
        <p:sp>
          <p:nvSpPr>
            <p:cNvPr id="24" name="Freeform 6"/>
            <p:cNvSpPr/>
            <p:nvPr/>
          </p:nvSpPr>
          <p:spPr>
            <a:xfrm>
              <a:off x="928800" y="674640"/>
              <a:ext cx="104400" cy="1440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5" name="Freeform 7"/>
            <p:cNvSpPr/>
            <p:nvPr/>
          </p:nvSpPr>
          <p:spPr>
            <a:xfrm>
              <a:off x="563400" y="674640"/>
              <a:ext cx="105840" cy="1440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 name="Freeform 8"/>
            <p:cNvSpPr/>
            <p:nvPr/>
          </p:nvSpPr>
          <p:spPr>
            <a:xfrm>
              <a:off x="1071720" y="674640"/>
              <a:ext cx="144000" cy="1440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7" name="Freeform 9"/>
            <p:cNvSpPr/>
            <p:nvPr/>
          </p:nvSpPr>
          <p:spPr>
            <a:xfrm>
              <a:off x="798480" y="674640"/>
              <a:ext cx="95040" cy="1440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 name="Freeform 10"/>
            <p:cNvSpPr/>
            <p:nvPr/>
          </p:nvSpPr>
          <p:spPr>
            <a:xfrm>
              <a:off x="49212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9" name="Freeform 11"/>
            <p:cNvSpPr/>
            <p:nvPr/>
          </p:nvSpPr>
          <p:spPr>
            <a:xfrm>
              <a:off x="58752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0" name="Freeform 12"/>
            <p:cNvSpPr/>
            <p:nvPr/>
          </p:nvSpPr>
          <p:spPr>
            <a:xfrm>
              <a:off x="682560" y="395280"/>
              <a:ext cx="34560" cy="22032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1" name="Freeform 13"/>
            <p:cNvSpPr/>
            <p:nvPr/>
          </p:nvSpPr>
          <p:spPr>
            <a:xfrm>
              <a:off x="77796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2" name="Freeform 14"/>
            <p:cNvSpPr/>
            <p:nvPr/>
          </p:nvSpPr>
          <p:spPr>
            <a:xfrm>
              <a:off x="87300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3" name="Freeform 15"/>
            <p:cNvSpPr/>
            <p:nvPr/>
          </p:nvSpPr>
          <p:spPr>
            <a:xfrm>
              <a:off x="96840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4" name="Freeform 16"/>
            <p:cNvSpPr/>
            <p:nvPr/>
          </p:nvSpPr>
          <p:spPr>
            <a:xfrm>
              <a:off x="1063800" y="395280"/>
              <a:ext cx="34560" cy="22032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5" name="Freeform 17"/>
            <p:cNvSpPr/>
            <p:nvPr/>
          </p:nvSpPr>
          <p:spPr>
            <a:xfrm>
              <a:off x="115884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6" name="Freeform 18"/>
            <p:cNvSpPr/>
            <p:nvPr/>
          </p:nvSpPr>
          <p:spPr>
            <a:xfrm>
              <a:off x="1254240" y="509760"/>
              <a:ext cx="34560" cy="709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Rectangle 7"/>
          <p:cNvSpPr/>
          <p:nvPr/>
        </p:nvSpPr>
        <p:spPr>
          <a:xfrm>
            <a:off x="8520120" y="4743360"/>
            <a:ext cx="20952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00C32A90-7F9D-458B-8894-47FC2F32A3F5}" type="slidenum">
              <a:rPr b="0" lang="en-US" sz="600" spc="-1" strike="noStrike">
                <a:solidFill>
                  <a:srgbClr val="d9d9d9"/>
                </a:solidFill>
                <a:latin typeface="Arial"/>
              </a:rPr>
              <a:t>&lt;number&gt;</a:t>
            </a:fld>
            <a:endParaRPr b="0" lang="en-JM" sz="600" spc="-1" strike="noStrike">
              <a:latin typeface="Arial"/>
            </a:endParaRPr>
          </a:p>
        </p:txBody>
      </p:sp>
      <p:sp>
        <p:nvSpPr>
          <p:cNvPr id="74"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75" name="Group 4"/>
          <p:cNvGrpSpPr/>
          <p:nvPr/>
        </p:nvGrpSpPr>
        <p:grpSpPr>
          <a:xfrm>
            <a:off x="507960" y="4715280"/>
            <a:ext cx="339840" cy="180360"/>
            <a:chOff x="507960" y="4715280"/>
            <a:chExt cx="339840" cy="180360"/>
          </a:xfrm>
        </p:grpSpPr>
        <p:sp>
          <p:nvSpPr>
            <p:cNvPr id="76"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77"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8"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9"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80"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1"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2"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3"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4"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5"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6"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7"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8"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9"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90" name="PlaceHolder 1"/>
          <p:cNvSpPr>
            <a:spLocks noGrp="1"/>
          </p:cNvSpPr>
          <p:nvPr>
            <p:ph type="sldNum"/>
          </p:nvPr>
        </p:nvSpPr>
        <p:spPr>
          <a:xfrm>
            <a:off x="8473320" y="4954320"/>
            <a:ext cx="676440" cy="189000"/>
          </a:xfrm>
          <a:prstGeom prst="rect">
            <a:avLst/>
          </a:prstGeom>
          <a:noFill/>
          <a:ln w="0">
            <a:noFill/>
          </a:ln>
        </p:spPr>
        <p:txBody>
          <a:bodyPr anchor="ctr">
            <a:noAutofit/>
          </a:bodyPr>
          <a:p>
            <a:pPr algn="r">
              <a:lnSpc>
                <a:spcPct val="100000"/>
              </a:lnSpc>
              <a:buNone/>
            </a:pPr>
            <a:fld id="{53E62267-750B-460C-9371-4BD207E28525}" type="slidenum">
              <a:rPr b="0" lang="en-US" sz="530" spc="-1" strike="noStrike">
                <a:solidFill>
                  <a:srgbClr val="595959"/>
                </a:solidFill>
                <a:latin typeface="Arial"/>
                <a:ea typeface="ＭＳ Ｐゴシック"/>
              </a:rPr>
              <a:t>&lt;number&gt;</a:t>
            </a:fld>
            <a:endParaRPr b="0" lang="en-JM" sz="530" spc="-1" strike="noStrike">
              <a:latin typeface="Times New Roman"/>
            </a:endParaRPr>
          </a:p>
        </p:txBody>
      </p:sp>
      <p:sp>
        <p:nvSpPr>
          <p:cNvPr id="91" name="PlaceHolder 2"/>
          <p:cNvSpPr>
            <a:spLocks noGrp="1"/>
          </p:cNvSpPr>
          <p:nvPr>
            <p:ph type="body"/>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Wingdings" charset="2"/>
              <a:buChar char=""/>
            </a:pPr>
            <a:r>
              <a:rPr b="0" lang="en-US" sz="1500" spc="-1" strike="noStrike">
                <a:solidFill>
                  <a:srgbClr val="000000"/>
                </a:solidFill>
                <a:latin typeface="Arial"/>
                <a:ea typeface="ＭＳ Ｐゴシック"/>
              </a:rPr>
              <a:t>Click to edit Master text styles</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pPr>
            <a:r>
              <a:rPr b="0" lang="en-US" sz="1400" spc="-1" strike="noStrike">
                <a:solidFill>
                  <a:srgbClr val="000000"/>
                </a:solidFill>
                <a:latin typeface="Arial"/>
                <a:ea typeface="ＭＳ Ｐゴシック"/>
              </a:rPr>
              <a:t>Second level</a:t>
            </a:r>
            <a:endParaRPr b="0" lang="en-US" sz="14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200" spc="-1" strike="noStrike">
                <a:solidFill>
                  <a:srgbClr val="000000"/>
                </a:solidFill>
                <a:latin typeface="Arial"/>
                <a:ea typeface="ＭＳ Ｐゴシック"/>
              </a:rPr>
              <a:t>Third level</a:t>
            </a:r>
            <a:endParaRPr b="0" lang="en-US" sz="1200" spc="-1" strike="noStrike">
              <a:solidFill>
                <a:srgbClr val="58585b"/>
              </a:solidFill>
              <a:latin typeface="Arial"/>
            </a:endParaRPr>
          </a:p>
          <a:p>
            <a:pPr lvl="3" marL="503280" indent="-169920">
              <a:lnSpc>
                <a:spcPct val="100000"/>
              </a:lnSpc>
              <a:spcBef>
                <a:spcPts val="300"/>
              </a:spcBef>
              <a:spcAft>
                <a:spcPts val="300"/>
              </a:spcAft>
              <a:buClr>
                <a:srgbClr val="000000"/>
              </a:buClr>
              <a:buFont typeface="Arial"/>
              <a:buChar char="•"/>
            </a:pPr>
            <a:r>
              <a:rPr b="0" lang="en-US" sz="1100" spc="-1" strike="noStrike">
                <a:solidFill>
                  <a:srgbClr val="000000"/>
                </a:solidFill>
                <a:latin typeface="Arial"/>
                <a:ea typeface="ＭＳ Ｐゴシック"/>
              </a:rPr>
              <a:t>Fourth level</a:t>
            </a:r>
            <a:endParaRPr b="0" lang="en-US" sz="1100" spc="-1" strike="noStrike">
              <a:solidFill>
                <a:srgbClr val="58585b"/>
              </a:solidFill>
              <a:latin typeface="Arial"/>
            </a:endParaRPr>
          </a:p>
        </p:txBody>
      </p:sp>
      <p:sp>
        <p:nvSpPr>
          <p:cNvPr id="92" name="PlaceHolder 3"/>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Click to edit Master title style</a:t>
            </a:r>
            <a:endParaRPr b="0" lang="en-US" sz="24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Rectangle 7" hidden="1"/>
          <p:cNvSpPr/>
          <p:nvPr/>
        </p:nvSpPr>
        <p:spPr>
          <a:xfrm>
            <a:off x="8520120" y="4743360"/>
            <a:ext cx="20952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0D977635-8A54-469D-A920-1AB7E137E7DC}" type="slidenum">
              <a:rPr b="0" lang="en-US" sz="600" spc="-1" strike="noStrike">
                <a:solidFill>
                  <a:srgbClr val="d9d9d9"/>
                </a:solidFill>
                <a:latin typeface="Arial"/>
              </a:rPr>
              <a:t>&lt;number&gt;</a:t>
            </a:fld>
            <a:endParaRPr b="0" lang="en-JM" sz="600" spc="-1" strike="noStrike">
              <a:latin typeface="Arial"/>
            </a:endParaRPr>
          </a:p>
        </p:txBody>
      </p:sp>
      <p:sp>
        <p:nvSpPr>
          <p:cNvPr id="130" name="Rectangle 4" hidden="1"/>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131" name="Group 4"/>
          <p:cNvGrpSpPr/>
          <p:nvPr/>
        </p:nvGrpSpPr>
        <p:grpSpPr>
          <a:xfrm>
            <a:off x="507960" y="4715280"/>
            <a:ext cx="339840" cy="180360"/>
            <a:chOff x="507960" y="4715280"/>
            <a:chExt cx="339840" cy="180360"/>
          </a:xfrm>
        </p:grpSpPr>
        <p:sp>
          <p:nvSpPr>
            <p:cNvPr id="132"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133"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4"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5"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136"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137"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8"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9"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0"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1"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42"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3"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4"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5"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146" name="Rectangle 6"/>
          <p:cNvSpPr/>
          <p:nvPr/>
        </p:nvSpPr>
        <p:spPr>
          <a:xfrm>
            <a:off x="0" y="0"/>
            <a:ext cx="9143640" cy="5142960"/>
          </a:xfrm>
          <a:prstGeom prst="rect">
            <a:avLst/>
          </a:prstGeom>
          <a:solidFill>
            <a:srgbClr val="00394f"/>
          </a:solidFill>
          <a:ln>
            <a:noFill/>
          </a:ln>
        </p:spPr>
        <p:style>
          <a:lnRef idx="2">
            <a:schemeClr val="accent1">
              <a:shade val="50000"/>
            </a:schemeClr>
          </a:lnRef>
          <a:fillRef idx="1">
            <a:schemeClr val="accent1"/>
          </a:fillRef>
          <a:effectRef idx="0">
            <a:schemeClr val="accent1"/>
          </a:effectRef>
          <a:fontRef idx="minor"/>
        </p:style>
      </p:sp>
      <p:sp>
        <p:nvSpPr>
          <p:cNvPr id="147" name="PlaceHolder 1"/>
          <p:cNvSpPr>
            <a:spLocks noGrp="1"/>
          </p:cNvSpPr>
          <p:nvPr>
            <p:ph type="title"/>
          </p:nvPr>
        </p:nvSpPr>
        <p:spPr>
          <a:xfrm>
            <a:off x="416520" y="915480"/>
            <a:ext cx="7597800" cy="256968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38c6f4"/>
                </a:solidFill>
                <a:latin typeface="Arial"/>
                <a:ea typeface="ＭＳ Ｐゴシック"/>
              </a:rPr>
              <a:t>Click to edit Master title style</a:t>
            </a:r>
            <a:endParaRPr b="0" lang="en-US" sz="4600" spc="-1" strike="noStrike">
              <a:solidFill>
                <a:srgbClr val="58585b"/>
              </a:solidFill>
              <a:latin typeface="Arial"/>
            </a:endParaRPr>
          </a:p>
        </p:txBody>
      </p:sp>
      <p:sp>
        <p:nvSpPr>
          <p:cNvPr id="148" name="Rectangle 7"/>
          <p:cNvSpPr/>
          <p:nvPr/>
        </p:nvSpPr>
        <p:spPr>
          <a:xfrm>
            <a:off x="8520120" y="4743360"/>
            <a:ext cx="20952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B390F8E6-6BB5-4222-A673-9052D2188FB8}" type="slidenum">
              <a:rPr b="0" lang="en-US" sz="600" spc="-1" strike="noStrike">
                <a:solidFill>
                  <a:srgbClr val="086d8e"/>
                </a:solidFill>
                <a:latin typeface="Arial"/>
              </a:rPr>
              <a:t>&lt;number&gt;</a:t>
            </a:fld>
            <a:endParaRPr b="0" lang="en-JM" sz="600" spc="-1" strike="noStrike">
              <a:latin typeface="Arial"/>
            </a:endParaRPr>
          </a:p>
        </p:txBody>
      </p:sp>
      <p:sp>
        <p:nvSpPr>
          <p:cNvPr id="149"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086d8e"/>
                </a:solidFill>
                <a:latin typeface="Arial"/>
              </a:rPr>
              <a:t>© 2016  Cisco and/or its affiliates. All rights reserved.   Cisco Confidential</a:t>
            </a:r>
            <a:endParaRPr b="0" lang="en-JM" sz="600" spc="-1" strike="noStrike">
              <a:latin typeface="Arial"/>
            </a:endParaRPr>
          </a:p>
        </p:txBody>
      </p:sp>
      <p:grpSp>
        <p:nvGrpSpPr>
          <p:cNvPr id="150" name="Group 4"/>
          <p:cNvGrpSpPr/>
          <p:nvPr/>
        </p:nvGrpSpPr>
        <p:grpSpPr>
          <a:xfrm>
            <a:off x="507960" y="4715280"/>
            <a:ext cx="339840" cy="180360"/>
            <a:chOff x="507960" y="4715280"/>
            <a:chExt cx="339840" cy="180360"/>
          </a:xfrm>
        </p:grpSpPr>
        <p:sp>
          <p:nvSpPr>
            <p:cNvPr id="151" name="Rectangle 5"/>
            <p:cNvSpPr/>
            <p:nvPr/>
          </p:nvSpPr>
          <p:spPr>
            <a:xfrm>
              <a:off x="604440" y="4835160"/>
              <a:ext cx="14400" cy="59400"/>
            </a:xfrm>
            <a:prstGeom prst="rect">
              <a:avLst/>
            </a:prstGeom>
            <a:solidFill>
              <a:srgbClr val="086d8e"/>
            </a:solidFill>
            <a:ln w="0">
              <a:noFill/>
            </a:ln>
          </p:spPr>
          <p:style>
            <a:lnRef idx="0"/>
            <a:fillRef idx="0"/>
            <a:effectRef idx="0"/>
            <a:fontRef idx="minor"/>
          </p:style>
        </p:sp>
        <p:sp>
          <p:nvSpPr>
            <p:cNvPr id="152"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3"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4"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w="0">
              <a:noFill/>
            </a:ln>
          </p:spPr>
          <p:style>
            <a:lnRef idx="0"/>
            <a:fillRef idx="0"/>
            <a:effectRef idx="0"/>
            <a:fontRef idx="minor"/>
          </p:style>
        </p:sp>
        <p:sp>
          <p:nvSpPr>
            <p:cNvPr id="155"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w="0">
              <a:noFill/>
            </a:ln>
          </p:spPr>
          <p:style>
            <a:lnRef idx="0"/>
            <a:fillRef idx="0"/>
            <a:effectRef idx="0"/>
            <a:fontRef idx="minor"/>
          </p:style>
        </p:sp>
        <p:sp>
          <p:nvSpPr>
            <p:cNvPr id="156"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57"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58"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59"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0"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61"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2"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63"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4"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w="0">
              <a:noFill/>
            </a:ln>
          </p:spPr>
          <p:style>
            <a:lnRef idx="0"/>
            <a:fillRef idx="0"/>
            <a:effectRef idx="0"/>
            <a:fontRef idx="minor"/>
          </p:style>
        </p:sp>
      </p:grpSp>
      <p:sp>
        <p:nvSpPr>
          <p:cNvPr id="16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2" name="Rectangle 7"/>
          <p:cNvSpPr/>
          <p:nvPr/>
        </p:nvSpPr>
        <p:spPr>
          <a:xfrm>
            <a:off x="8520120" y="4743360"/>
            <a:ext cx="20952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70B7D6D9-36E1-476D-A3D1-64843DD72E76}" type="slidenum">
              <a:rPr b="0" lang="en-US" sz="600" spc="-1" strike="noStrike">
                <a:solidFill>
                  <a:srgbClr val="d9d9d9"/>
                </a:solidFill>
                <a:latin typeface="Arial"/>
              </a:rPr>
              <a:t>&lt;number&gt;</a:t>
            </a:fld>
            <a:endParaRPr b="0" lang="en-JM" sz="600" spc="-1" strike="noStrike">
              <a:latin typeface="Arial"/>
            </a:endParaRPr>
          </a:p>
        </p:txBody>
      </p:sp>
      <p:sp>
        <p:nvSpPr>
          <p:cNvPr id="203"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204" name="Group 4"/>
          <p:cNvGrpSpPr/>
          <p:nvPr/>
        </p:nvGrpSpPr>
        <p:grpSpPr>
          <a:xfrm>
            <a:off x="507960" y="4715280"/>
            <a:ext cx="339840" cy="180360"/>
            <a:chOff x="507960" y="4715280"/>
            <a:chExt cx="339840" cy="180360"/>
          </a:xfrm>
        </p:grpSpPr>
        <p:sp>
          <p:nvSpPr>
            <p:cNvPr id="205"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06"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7"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8"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09"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10"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1"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2"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3"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4"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5"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6"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7"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8"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19" name="PlaceHolder 1"/>
          <p:cNvSpPr>
            <a:spLocks noGrp="1"/>
          </p:cNvSpPr>
          <p:nvPr>
            <p:ph type="body"/>
          </p:nvPr>
        </p:nvSpPr>
        <p:spPr>
          <a:xfrm>
            <a:off x="474840" y="1347840"/>
            <a:ext cx="8279640" cy="3073680"/>
          </a:xfrm>
          <a:prstGeom prst="rect">
            <a:avLst/>
          </a:prstGeom>
          <a:noFill/>
          <a:ln w="0">
            <a:noFill/>
          </a:ln>
        </p:spPr>
        <p:txBody>
          <a:bodyPr anchor="t">
            <a:noAutofit/>
          </a:bodyPr>
          <a:p>
            <a:pPr marL="285840" indent="-285840" algn="ctr">
              <a:lnSpc>
                <a:spcPct val="100000"/>
              </a:lnSpc>
              <a:spcBef>
                <a:spcPts val="400"/>
              </a:spcBef>
              <a:buNone/>
              <a:tabLst>
                <a:tab algn="l" pos="0"/>
              </a:tabLst>
            </a:pPr>
            <a:r>
              <a:rPr b="0" lang="en-US" sz="2000" spc="-1" strike="noStrike">
                <a:solidFill>
                  <a:srgbClr val="ffffff"/>
                </a:solidFill>
                <a:latin typeface="Arial"/>
                <a:ea typeface="ＭＳ Ｐゴシック"/>
              </a:rPr>
              <a:t>Click to edit Master text styles</a:t>
            </a:r>
            <a:endParaRPr b="0" lang="en-US" sz="2000" spc="-1" strike="noStrike">
              <a:solidFill>
                <a:srgbClr val="58585b"/>
              </a:solidFill>
              <a:latin typeface="Arial"/>
            </a:endParaRPr>
          </a:p>
        </p:txBody>
      </p:sp>
      <p:sp>
        <p:nvSpPr>
          <p:cNvPr id="220" name="PlaceHolder 2"/>
          <p:cNvSpPr>
            <a:spLocks noGrp="1"/>
          </p:cNvSpPr>
          <p:nvPr>
            <p:ph type="title"/>
          </p:nvPr>
        </p:nvSpPr>
        <p:spPr>
          <a:xfrm>
            <a:off x="437760" y="341280"/>
            <a:ext cx="8345160" cy="731520"/>
          </a:xfrm>
          <a:prstGeom prst="rect">
            <a:avLst/>
          </a:prstGeom>
          <a:noFill/>
          <a:ln w="0">
            <a:noFill/>
          </a:ln>
        </p:spPr>
        <p:txBody>
          <a:bodyPr numCol="1" spcCol="0" anchor="ctr">
            <a:noAutofit/>
          </a:bodyPr>
          <a:p>
            <a:pPr>
              <a:lnSpc>
                <a:spcPct val="80000"/>
              </a:lnSpc>
              <a:buNone/>
            </a:pPr>
            <a:r>
              <a:rPr b="0" lang="en-US" sz="3200" spc="-1" strike="noStrike">
                <a:solidFill>
                  <a:srgbClr val="004c69"/>
                </a:solidFill>
                <a:latin typeface="Arial"/>
                <a:ea typeface="ＭＳ Ｐゴシック"/>
              </a:rPr>
              <a:t>Click to edit Master title style</a:t>
            </a:r>
            <a:endParaRPr b="0" lang="en-US" sz="32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257" name="Rectangle 7" hidden="1"/>
          <p:cNvSpPr/>
          <p:nvPr/>
        </p:nvSpPr>
        <p:spPr>
          <a:xfrm>
            <a:off x="8520120" y="4743360"/>
            <a:ext cx="20952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689BC08B-A68E-4563-9B82-8F1D9806E968}" type="slidenum">
              <a:rPr b="0" lang="en-US" sz="600" spc="-1" strike="noStrike">
                <a:solidFill>
                  <a:srgbClr val="d9d9d9"/>
                </a:solidFill>
                <a:latin typeface="Arial"/>
              </a:rPr>
              <a:t>&lt;number&gt;</a:t>
            </a:fld>
            <a:endParaRPr b="0" lang="en-JM" sz="600" spc="-1" strike="noStrike">
              <a:latin typeface="Arial"/>
            </a:endParaRPr>
          </a:p>
        </p:txBody>
      </p:sp>
      <p:sp>
        <p:nvSpPr>
          <p:cNvPr id="258" name="Rectangle 4" hidden="1"/>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259" name="Group 4"/>
          <p:cNvGrpSpPr/>
          <p:nvPr/>
        </p:nvGrpSpPr>
        <p:grpSpPr>
          <a:xfrm>
            <a:off x="507960" y="4715280"/>
            <a:ext cx="339840" cy="180360"/>
            <a:chOff x="507960" y="4715280"/>
            <a:chExt cx="339840" cy="180360"/>
          </a:xfrm>
        </p:grpSpPr>
        <p:sp>
          <p:nvSpPr>
            <p:cNvPr id="260"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61"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2"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3"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64"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65"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66"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7"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68"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69"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70"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1"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72"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73"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274" name="Picture 1" descr=""/>
          <p:cNvPicPr/>
          <p:nvPr/>
        </p:nvPicPr>
        <p:blipFill>
          <a:blip r:embed="rId2"/>
          <a:stretch/>
        </p:blipFill>
        <p:spPr>
          <a:xfrm>
            <a:off x="0" y="0"/>
            <a:ext cx="9143640" cy="5165640"/>
          </a:xfrm>
          <a:prstGeom prst="rect">
            <a:avLst/>
          </a:prstGeom>
          <a:ln w="0">
            <a:noFill/>
          </a:ln>
        </p:spPr>
      </p:pic>
      <p:grpSp>
        <p:nvGrpSpPr>
          <p:cNvPr id="275" name="Group 4"/>
          <p:cNvGrpSpPr/>
          <p:nvPr/>
        </p:nvGrpSpPr>
        <p:grpSpPr>
          <a:xfrm>
            <a:off x="3746160" y="2129760"/>
            <a:ext cx="1617840" cy="860400"/>
            <a:chOff x="3746160" y="2129760"/>
            <a:chExt cx="1617840" cy="860400"/>
          </a:xfrm>
        </p:grpSpPr>
        <p:sp>
          <p:nvSpPr>
            <p:cNvPr id="276" name="Rectangle 5"/>
            <p:cNvSpPr/>
            <p:nvPr/>
          </p:nvSpPr>
          <p:spPr>
            <a:xfrm>
              <a:off x="4204080" y="2700360"/>
              <a:ext cx="70560" cy="283320"/>
            </a:xfrm>
            <a:prstGeom prst="rect">
              <a:avLst/>
            </a:prstGeom>
            <a:solidFill>
              <a:schemeClr val="accent5"/>
            </a:solidFill>
            <a:ln w="0">
              <a:noFill/>
            </a:ln>
          </p:spPr>
          <p:style>
            <a:lnRef idx="0"/>
            <a:fillRef idx="0"/>
            <a:effectRef idx="0"/>
            <a:fontRef idx="minor"/>
          </p:style>
        </p:sp>
        <p:sp>
          <p:nvSpPr>
            <p:cNvPr id="277" name="Freeform 6"/>
            <p:cNvSpPr/>
            <p:nvPr/>
          </p:nvSpPr>
          <p:spPr>
            <a:xfrm>
              <a:off x="4632480" y="2697120"/>
              <a:ext cx="212400" cy="29304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8" name="Freeform 7"/>
            <p:cNvSpPr/>
            <p:nvPr/>
          </p:nvSpPr>
          <p:spPr>
            <a:xfrm>
              <a:off x="3891240" y="2697120"/>
              <a:ext cx="215640" cy="29304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79" name="Freeform 8"/>
            <p:cNvSpPr/>
            <p:nvPr/>
          </p:nvSpPr>
          <p:spPr>
            <a:xfrm>
              <a:off x="4922640" y="2697120"/>
              <a:ext cx="293040" cy="29304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80" name="Freeform 9"/>
            <p:cNvSpPr/>
            <p:nvPr/>
          </p:nvSpPr>
          <p:spPr>
            <a:xfrm>
              <a:off x="4368240" y="2697120"/>
              <a:ext cx="192960" cy="29304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1" name="Freeform 10"/>
            <p:cNvSpPr/>
            <p:nvPr/>
          </p:nvSpPr>
          <p:spPr>
            <a:xfrm>
              <a:off x="374616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2" name="Freeform 11"/>
            <p:cNvSpPr/>
            <p:nvPr/>
          </p:nvSpPr>
          <p:spPr>
            <a:xfrm>
              <a:off x="393984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3" name="Freeform 12"/>
            <p:cNvSpPr/>
            <p:nvPr/>
          </p:nvSpPr>
          <p:spPr>
            <a:xfrm>
              <a:off x="4133160" y="2129760"/>
              <a:ext cx="70560" cy="44748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4" name="Freeform 13"/>
            <p:cNvSpPr/>
            <p:nvPr/>
          </p:nvSpPr>
          <p:spPr>
            <a:xfrm>
              <a:off x="432648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5" name="Freeform 14"/>
            <p:cNvSpPr/>
            <p:nvPr/>
          </p:nvSpPr>
          <p:spPr>
            <a:xfrm>
              <a:off x="451980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86" name="Freeform 15"/>
            <p:cNvSpPr/>
            <p:nvPr/>
          </p:nvSpPr>
          <p:spPr>
            <a:xfrm>
              <a:off x="4713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7" name="Freeform 16"/>
            <p:cNvSpPr/>
            <p:nvPr/>
          </p:nvSpPr>
          <p:spPr>
            <a:xfrm>
              <a:off x="4906440" y="2129760"/>
              <a:ext cx="70560" cy="44748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88" name="Freeform 17"/>
            <p:cNvSpPr/>
            <p:nvPr/>
          </p:nvSpPr>
          <p:spPr>
            <a:xfrm>
              <a:off x="5100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89" name="Freeform 18"/>
            <p:cNvSpPr/>
            <p:nvPr/>
          </p:nvSpPr>
          <p:spPr>
            <a:xfrm>
              <a:off x="5293440" y="2361960"/>
              <a:ext cx="70560" cy="1447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3200" spc="-1" strike="noStrike">
                <a:solidFill>
                  <a:srgbClr val="58585b"/>
                </a:solidFill>
                <a:latin typeface="Arial"/>
              </a:rPr>
              <a:t>Click to edit the title text format</a:t>
            </a:r>
            <a:endParaRPr b="0" lang="en-US" sz="3200" spc="-1" strike="noStrike">
              <a:solidFill>
                <a:srgbClr val="58585b"/>
              </a:solidFill>
              <a:latin typeface="Arial"/>
            </a:endParaRPr>
          </a:p>
        </p:txBody>
      </p:sp>
      <p:sp>
        <p:nvSpPr>
          <p:cNvPr id="29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7.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7.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slideLayout" Target="../slideLayouts/slideLayout37.xml"/><Relationship Id="rId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7.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469440" y="2316600"/>
            <a:ext cx="6672240" cy="107964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afe8fb"/>
                </a:solidFill>
                <a:latin typeface="Arial"/>
                <a:ea typeface="ＭＳ Ｐゴシック"/>
              </a:rPr>
              <a:t>Module 16: Network Security Fundamentals</a:t>
            </a:r>
            <a:endParaRPr b="0" lang="en-US" sz="3600" spc="-1" strike="noStrike">
              <a:solidFill>
                <a:srgbClr val="58585b"/>
              </a:solidFill>
              <a:latin typeface="Arial"/>
            </a:endParaRPr>
          </a:p>
        </p:txBody>
      </p:sp>
      <p:sp>
        <p:nvSpPr>
          <p:cNvPr id="335" name="PlaceHolder 2"/>
          <p:cNvSpPr>
            <a:spLocks noGrp="1"/>
          </p:cNvSpPr>
          <p:nvPr>
            <p:ph type="subTitle"/>
          </p:nvPr>
        </p:nvSpPr>
        <p:spPr>
          <a:xfrm>
            <a:off x="469440" y="3809520"/>
            <a:ext cx="2368440" cy="901800"/>
          </a:xfrm>
          <a:prstGeom prst="rect">
            <a:avLst/>
          </a:prstGeom>
          <a:noFill/>
          <a:ln w="0">
            <a:noFill/>
          </a:ln>
        </p:spPr>
        <p:txBody>
          <a:bodyPr anchor="b">
            <a:noAutofit/>
          </a:bodyPr>
          <a:p>
            <a:pPr>
              <a:lnSpc>
                <a:spcPct val="100000"/>
              </a:lnSpc>
              <a:buNone/>
              <a:tabLst>
                <a:tab algn="l" pos="0"/>
              </a:tabLst>
            </a:pPr>
            <a:r>
              <a:rPr b="0" lang="en-US" sz="1200" spc="-1" strike="noStrike">
                <a:solidFill>
                  <a:srgbClr val="afe8fb"/>
                </a:solidFill>
                <a:latin typeface="Arial"/>
              </a:rPr>
              <a:t>Introduction to Networks v7.0 (ITN)</a:t>
            </a:r>
            <a:endParaRPr b="0" lang="en-JM" sz="1200" spc="-1" strike="noStrike">
              <a:latin typeface="Arial"/>
            </a:endParaRPr>
          </a:p>
          <a:p>
            <a:pPr>
              <a:lnSpc>
                <a:spcPct val="100000"/>
              </a:lnSpc>
              <a:buNone/>
              <a:tabLst>
                <a:tab algn="l" pos="0"/>
              </a:tabLst>
            </a:pPr>
            <a:endParaRPr b="0" lang="en-JM" sz="1200" spc="-1" strike="noStrike">
              <a:latin typeface="Arial"/>
            </a:endParaRPr>
          </a:p>
        </p:txBody>
      </p:sp>
    </p:spTree>
  </p:cSld>
  <p:transition spd="slow">
    <p:wipe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Module Objectives</a:t>
            </a:r>
            <a:endParaRPr b="0" lang="en-US" sz="2400" spc="-1" strike="noStrike">
              <a:solidFill>
                <a:srgbClr val="58585b"/>
              </a:solidFill>
              <a:latin typeface="Arial"/>
            </a:endParaRPr>
          </a:p>
        </p:txBody>
      </p:sp>
      <p:sp>
        <p:nvSpPr>
          <p:cNvPr id="337" name="PlaceHolder 2"/>
          <p:cNvSpPr>
            <a:spLocks noGrp="1"/>
          </p:cNvSpPr>
          <p:nvPr>
            <p:ph/>
          </p:nvPr>
        </p:nvSpPr>
        <p:spPr>
          <a:xfrm>
            <a:off x="144000" y="798840"/>
            <a:ext cx="8852760" cy="757080"/>
          </a:xfrm>
          <a:prstGeom prst="rect">
            <a:avLst/>
          </a:prstGeom>
          <a:noFill/>
          <a:ln w="0">
            <a:noFill/>
          </a:ln>
        </p:spPr>
        <p:txBody>
          <a:bodyPr numCol="1" spcCol="0" rIns="182880" anchor="t">
            <a:noAutofit/>
          </a:bodyPr>
          <a:p>
            <a:pPr>
              <a:lnSpc>
                <a:spcPct val="100000"/>
              </a:lnSpc>
              <a:buNone/>
              <a:tabLst>
                <a:tab algn="l" pos="0"/>
              </a:tabLst>
            </a:pPr>
            <a:r>
              <a:rPr b="1" lang="en-US" sz="1400" spc="-1" strike="noStrike">
                <a:solidFill>
                  <a:srgbClr val="58585b"/>
                </a:solidFill>
                <a:latin typeface="Arial"/>
                <a:ea typeface="Calibri"/>
              </a:rPr>
              <a:t>Module Title: </a:t>
            </a:r>
            <a:r>
              <a:rPr b="0" lang="en-US" sz="1400" spc="-1" strike="noStrike">
                <a:solidFill>
                  <a:srgbClr val="58585b"/>
                </a:solidFill>
                <a:latin typeface="Arial"/>
                <a:ea typeface="Calibri"/>
              </a:rPr>
              <a:t>Network Security Fundamentals</a:t>
            </a:r>
            <a:endParaRPr b="0" lang="en-US" sz="1400" spc="-1" strike="noStrike">
              <a:solidFill>
                <a:srgbClr val="58585b"/>
              </a:solidFill>
              <a:latin typeface="Arial"/>
            </a:endParaRPr>
          </a:p>
          <a:p>
            <a:pPr>
              <a:lnSpc>
                <a:spcPct val="100000"/>
              </a:lnSpc>
              <a:buNone/>
              <a:tabLst>
                <a:tab algn="l" pos="0"/>
              </a:tabLst>
            </a:pPr>
            <a:endParaRPr b="0" lang="en-US" sz="1400" spc="-1" strike="noStrike">
              <a:solidFill>
                <a:srgbClr val="58585b"/>
              </a:solidFill>
              <a:latin typeface="Arial"/>
            </a:endParaRPr>
          </a:p>
          <a:p>
            <a:pPr>
              <a:lnSpc>
                <a:spcPct val="100000"/>
              </a:lnSpc>
              <a:buNone/>
              <a:tabLst>
                <a:tab algn="l" pos="0"/>
              </a:tabLst>
            </a:pPr>
            <a:r>
              <a:rPr b="1" lang="en-US" sz="1400" spc="-1" strike="noStrike">
                <a:solidFill>
                  <a:srgbClr val="58585b"/>
                </a:solidFill>
                <a:latin typeface="Arial"/>
                <a:ea typeface="Calibri"/>
              </a:rPr>
              <a:t>Module Objective</a:t>
            </a:r>
            <a:r>
              <a:rPr b="0" lang="en-US" sz="1400" spc="-1" strike="noStrike">
                <a:solidFill>
                  <a:srgbClr val="58585b"/>
                </a:solidFill>
                <a:latin typeface="Arial"/>
                <a:ea typeface="Calibri"/>
              </a:rPr>
              <a:t>: </a:t>
            </a:r>
            <a:r>
              <a:rPr b="0" lang="en-US" sz="1400" spc="-1" strike="noStrike">
                <a:solidFill>
                  <a:srgbClr val="000000"/>
                </a:solidFill>
                <a:latin typeface="Arial"/>
                <a:ea typeface="ＭＳ Ｐゴシック"/>
              </a:rPr>
              <a:t>Configure switches and routers with device hardening features to enhance security.</a:t>
            </a:r>
            <a:endParaRPr b="0" lang="en-US" sz="1400" spc="-1" strike="noStrike">
              <a:solidFill>
                <a:srgbClr val="58585b"/>
              </a:solidFill>
              <a:latin typeface="Arial"/>
            </a:endParaRPr>
          </a:p>
          <a:p>
            <a:pPr>
              <a:lnSpc>
                <a:spcPct val="100000"/>
              </a:lnSpc>
              <a:spcBef>
                <a:spcPts val="601"/>
              </a:spcBef>
              <a:spcAft>
                <a:spcPts val="601"/>
              </a:spcAft>
              <a:buNone/>
              <a:tabLst>
                <a:tab algn="l" pos="0"/>
              </a:tabLst>
            </a:pPr>
            <a:endParaRPr b="0" lang="en-US" sz="1400" spc="-1" strike="noStrike">
              <a:solidFill>
                <a:srgbClr val="58585b"/>
              </a:solidFill>
              <a:latin typeface="Arial"/>
            </a:endParaRPr>
          </a:p>
        </p:txBody>
      </p:sp>
      <p:graphicFrame>
        <p:nvGraphicFramePr>
          <p:cNvPr id="338" name="Table 2"/>
          <p:cNvGraphicFramePr/>
          <p:nvPr/>
        </p:nvGraphicFramePr>
        <p:xfrm>
          <a:off x="692280" y="2036880"/>
          <a:ext cx="7756560" cy="1854000"/>
        </p:xfrm>
        <a:graphic>
          <a:graphicData uri="http://schemas.openxmlformats.org/drawingml/2006/table">
            <a:tbl>
              <a:tblPr/>
              <a:tblGrid>
                <a:gridCol w="3427560"/>
                <a:gridCol w="4329000"/>
              </a:tblGrid>
              <a:tr h="370800">
                <a:tc>
                  <a:txBody>
                    <a:bodyPr lIns="47520" rIns="47520" tIns="47520" bIns="47520" anchor="ctr">
                      <a:noAutofit/>
                    </a:bodyPr>
                    <a:p>
                      <a:pPr>
                        <a:lnSpc>
                          <a:spcPct val="100000"/>
                        </a:lnSpc>
                        <a:buNone/>
                      </a:pPr>
                      <a:r>
                        <a:rPr b="1" lang="en-US" sz="1400" spc="-1" strike="noStrike">
                          <a:solidFill>
                            <a:srgbClr val="ffffff"/>
                          </a:solidFill>
                          <a:latin typeface="Arial"/>
                        </a:rPr>
                        <a:t>Topic Title</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400" spc="-1" strike="noStrike">
                          <a:solidFill>
                            <a:srgbClr val="ffffff"/>
                          </a:solidFill>
                          <a:latin typeface="Arial"/>
                        </a:rPr>
                        <a:t>Topic Objective</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495000">
                <a:tc>
                  <a:txBody>
                    <a:bodyPr lIns="47520" rIns="47520" tIns="47520" bIns="47520" anchor="ctr">
                      <a:noAutofit/>
                    </a:bodyPr>
                    <a:p>
                      <a:pPr>
                        <a:lnSpc>
                          <a:spcPct val="100000"/>
                        </a:lnSpc>
                        <a:buNone/>
                      </a:pPr>
                      <a:r>
                        <a:rPr b="1" lang="en-US" sz="1400" spc="-1" strike="noStrike">
                          <a:solidFill>
                            <a:srgbClr val="ffffff"/>
                          </a:solidFill>
                          <a:latin typeface="Arial"/>
                        </a:rPr>
                        <a:t>Security Threats and Vulnerabilities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Explain why basic security measure are necessary on network devices.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47520" rIns="47520" tIns="47520" bIns="47520" anchor="ctr">
                      <a:noAutofit/>
                    </a:bodyPr>
                    <a:p>
                      <a:pPr>
                        <a:lnSpc>
                          <a:spcPct val="100000"/>
                        </a:lnSpc>
                        <a:buNone/>
                      </a:pPr>
                      <a:r>
                        <a:rPr b="1" lang="en-US" sz="1400" spc="-1" strike="noStrike">
                          <a:solidFill>
                            <a:srgbClr val="ffffff"/>
                          </a:solidFill>
                          <a:latin typeface="Arial"/>
                        </a:rPr>
                        <a:t>Network Attacks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Identify security vulnerabilities.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47520" rIns="47520" tIns="47520" bIns="47520" anchor="ctr">
                      <a:noAutofit/>
                    </a:bodyPr>
                    <a:p>
                      <a:pPr>
                        <a:lnSpc>
                          <a:spcPct val="100000"/>
                        </a:lnSpc>
                        <a:buNone/>
                      </a:pPr>
                      <a:r>
                        <a:rPr b="1" lang="en-US" sz="1400" spc="-1" strike="noStrike">
                          <a:solidFill>
                            <a:srgbClr val="ffffff"/>
                          </a:solidFill>
                          <a:latin typeface="Arial"/>
                        </a:rPr>
                        <a:t>Network Attack Mitigation</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Identify general mitigation techniques.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95000">
                <a:tc>
                  <a:txBody>
                    <a:bodyPr lIns="47520" rIns="47520" tIns="47520" bIns="47520" anchor="ctr">
                      <a:noAutofit/>
                    </a:bodyPr>
                    <a:p>
                      <a:pPr>
                        <a:lnSpc>
                          <a:spcPct val="100000"/>
                        </a:lnSpc>
                        <a:buNone/>
                      </a:pPr>
                      <a:r>
                        <a:rPr b="1" lang="en-US" sz="1400" spc="-1" strike="noStrike">
                          <a:solidFill>
                            <a:srgbClr val="ffffff"/>
                          </a:solidFill>
                          <a:latin typeface="Arial"/>
                        </a:rPr>
                        <a:t>Device Security</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400" spc="-1" strike="noStrike">
                          <a:solidFill>
                            <a:srgbClr val="58585b"/>
                          </a:solidFill>
                          <a:latin typeface="Arial"/>
                        </a:rPr>
                        <a:t>Configure network devices with device hardening features to mitigate security threats.</a:t>
                      </a:r>
                      <a:endParaRPr b="0" lang="en-JM" sz="14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p:transition spd="slow">
    <p:wipe dir="l"/>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416520" y="1788120"/>
            <a:ext cx="75978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16.1 Security Threats and Vulnerabilities</a:t>
            </a:r>
            <a:endParaRPr b="0" lang="en-US" sz="4600" spc="-1" strike="noStrike">
              <a:solidFill>
                <a:srgbClr val="58585b"/>
              </a:solidFill>
              <a:latin typeface="Arial"/>
            </a:endParaRPr>
          </a:p>
        </p:txBody>
      </p:sp>
    </p:spTree>
  </p:cSld>
  <p:transition spd="slow">
    <p:wipe dir="l"/>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Security Threats and Vulnerabilities</a:t>
            </a:r>
            <a:br/>
            <a:r>
              <a:rPr b="0" lang="en-US" sz="2400" spc="-1" strike="noStrike">
                <a:solidFill>
                  <a:srgbClr val="004c69"/>
                </a:solidFill>
                <a:latin typeface="Arial"/>
                <a:ea typeface="ＭＳ Ｐゴシック"/>
              </a:rPr>
              <a:t>Types of Threats</a:t>
            </a:r>
            <a:endParaRPr b="0" lang="en-US" sz="2400" spc="-1" strike="noStrike">
              <a:solidFill>
                <a:srgbClr val="58585b"/>
              </a:solidFill>
              <a:latin typeface="Arial"/>
            </a:endParaRPr>
          </a:p>
        </p:txBody>
      </p:sp>
      <p:sp>
        <p:nvSpPr>
          <p:cNvPr id="341"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Attacks on a network can be devastating and can result in a loss of time and money due to damage, or theft of important information or assets. Intruders can gain access to a network through software vulnerabilities, hardware attacks, or through guessing someone's username and password. Intruders who gain access by modifying software or exploiting software vulnerabilities are called threat actors.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After the threat actor gains access to the network, four types of threats may arise:</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Information Theft</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Data Loss and manipulation</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Identity Theft</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Disruption of Service</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Security Threats and Vulnerabilities</a:t>
            </a:r>
            <a:br/>
            <a:r>
              <a:rPr b="0" lang="en-US" sz="2400" spc="-1" strike="noStrike">
                <a:solidFill>
                  <a:srgbClr val="004c69"/>
                </a:solidFill>
                <a:latin typeface="Arial"/>
                <a:ea typeface="ＭＳ Ｐゴシック"/>
              </a:rPr>
              <a:t>Types of Vulnerabilities</a:t>
            </a:r>
            <a:endParaRPr b="0" lang="en-US" sz="2400" spc="-1" strike="noStrike">
              <a:solidFill>
                <a:srgbClr val="58585b"/>
              </a:solidFill>
              <a:latin typeface="Arial"/>
            </a:endParaRPr>
          </a:p>
        </p:txBody>
      </p:sp>
      <p:sp>
        <p:nvSpPr>
          <p:cNvPr id="343" name="PlaceHolder 2"/>
          <p:cNvSpPr>
            <a:spLocks noGrp="1"/>
          </p:cNvSpPr>
          <p:nvPr>
            <p:ph/>
          </p:nvPr>
        </p:nvSpPr>
        <p:spPr>
          <a:xfrm>
            <a:off x="123840" y="638280"/>
            <a:ext cx="8587800" cy="392292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Vulnerability is the degree of weakness in a network or a device. Some degree of vulnerability is inherent in routers, switches, desktops, servers, and even security devices. Typically, the network devices under attack are the endpoints, such as servers and desktop computers. </a:t>
            </a: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There are three primary vulnerabilities or weaknesses: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Technological Vulnerabilities might include TCP/IP Protocol weaknesses, Operating System Weaknesses, and Network Equipment weaknesses.</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Configuration Vulnerabilities might include unsecured user accounts, system accounts with easily guessed passwords, misconfigured internet services, unsecure default settings, and misconfigured network equipment.</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Security Policy Vulnerabilities might include lack of a written security policy, politics, lack of authentication continuity, logical access controls not applied, software and hardware installation and changes not following policy, and a nonexistent disaster recovery plan.</a:t>
            </a:r>
            <a:endParaRPr b="0" lang="en-US" sz="1600" spc="-1" strike="noStrike">
              <a:solidFill>
                <a:srgbClr val="58585b"/>
              </a:solidFill>
              <a:latin typeface="Arial"/>
            </a:endParaRPr>
          </a:p>
          <a:p>
            <a:pPr marL="73080">
              <a:lnSpc>
                <a:spcPct val="95000"/>
              </a:lnSpc>
              <a:spcBef>
                <a:spcPts val="601"/>
              </a:spcBef>
              <a:buNone/>
              <a:tabLst>
                <a:tab algn="l" pos="0"/>
              </a:tabLst>
            </a:pPr>
            <a:r>
              <a:rPr b="0" lang="en-US" sz="1600" spc="-1" strike="noStrike">
                <a:solidFill>
                  <a:srgbClr val="000000"/>
                </a:solidFill>
                <a:latin typeface="Arial"/>
                <a:ea typeface="ＭＳ Ｐゴシック"/>
              </a:rPr>
              <a:t>All three of these sources of vulnerabilities can leave a network or device open to various attacks, including malicious code attacks and network attacks.</a:t>
            </a:r>
            <a:endParaRPr b="0" lang="en-US" sz="1600" spc="-1" strike="noStrike">
              <a:solidFill>
                <a:srgbClr val="58585b"/>
              </a:solidFill>
              <a:latin typeface="Arial"/>
            </a:endParaRPr>
          </a:p>
          <a:p>
            <a:pPr marL="73080">
              <a:lnSpc>
                <a:spcPct val="95000"/>
              </a:lnSpc>
              <a:spcBef>
                <a:spcPts val="601"/>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0" y="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Security Threats and Vulnerabilities</a:t>
            </a:r>
            <a:br/>
            <a:r>
              <a:rPr b="0" lang="en-US" sz="2400" spc="-1" strike="noStrike">
                <a:solidFill>
                  <a:srgbClr val="004c69"/>
                </a:solidFill>
                <a:latin typeface="Arial"/>
                <a:ea typeface="ＭＳ Ｐゴシック"/>
              </a:rPr>
              <a:t>Physical Security</a:t>
            </a:r>
            <a:endParaRPr b="0" lang="en-US" sz="2400" spc="-1" strike="noStrike">
              <a:solidFill>
                <a:srgbClr val="58585b"/>
              </a:solidFill>
              <a:latin typeface="Arial"/>
            </a:endParaRPr>
          </a:p>
        </p:txBody>
      </p:sp>
      <p:sp>
        <p:nvSpPr>
          <p:cNvPr id="345" name="PlaceHolder 2"/>
          <p:cNvSpPr>
            <a:spLocks noGrp="1"/>
          </p:cNvSpPr>
          <p:nvPr>
            <p:ph/>
          </p:nvPr>
        </p:nvSpPr>
        <p:spPr>
          <a:xfrm>
            <a:off x="474840" y="731880"/>
            <a:ext cx="8279640" cy="368964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If network resources can be physically compromised, a threat actor can deny the use of network resources. The four classes of physical threats are as follows:</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Hardware threats -</a:t>
            </a:r>
            <a:r>
              <a:rPr b="0" lang="en-US" sz="1600" spc="-1" strike="noStrike">
                <a:solidFill>
                  <a:srgbClr val="000000"/>
                </a:solidFill>
                <a:latin typeface="Arial"/>
                <a:ea typeface="ＭＳ Ｐゴシック"/>
              </a:rPr>
              <a:t> This includes physical damage to servers, routers, switches, cabling plant, and workstations.</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Environmental threats -</a:t>
            </a:r>
            <a:r>
              <a:rPr b="0" lang="en-US" sz="1600" spc="-1" strike="noStrike">
                <a:solidFill>
                  <a:srgbClr val="000000"/>
                </a:solidFill>
                <a:latin typeface="Arial"/>
                <a:ea typeface="ＭＳ Ｐゴシック"/>
              </a:rPr>
              <a:t> This includes temperature extremes (too hot or too cold) or humidity extremes (too wet or too dry).</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Electrical threats -</a:t>
            </a:r>
            <a:r>
              <a:rPr b="0" lang="en-US" sz="1600" spc="-1" strike="noStrike">
                <a:solidFill>
                  <a:srgbClr val="000000"/>
                </a:solidFill>
                <a:latin typeface="Arial"/>
                <a:ea typeface="ＭＳ Ｐゴシック"/>
              </a:rPr>
              <a:t> This includes voltage spikes, insufficient supply voltage (brownouts), unconditioned power (noise), and total power loss.</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Maintenance threats -</a:t>
            </a:r>
            <a:r>
              <a:rPr b="0" lang="en-US" sz="1600" spc="-1" strike="noStrike">
                <a:solidFill>
                  <a:srgbClr val="000000"/>
                </a:solidFill>
                <a:latin typeface="Arial"/>
                <a:ea typeface="ＭＳ Ｐゴシック"/>
              </a:rPr>
              <a:t> This includes poor handling of key electrical components (electrostatic discharge), lack of critical spare parts, poor cabling, and poor labeling.</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A good plan for physical security must be created and implemented to address these issues. </a:t>
            </a:r>
            <a:endParaRPr b="0" lang="en-US" sz="1600" spc="-1" strike="noStrike">
              <a:solidFill>
                <a:srgbClr val="58585b"/>
              </a:solidFill>
              <a:latin typeface="Arial"/>
            </a:endParaRPr>
          </a:p>
          <a:p>
            <a:pPr>
              <a:lnSpc>
                <a:spcPct val="100000"/>
              </a:lnSpc>
              <a:spcBef>
                <a:spcPts val="40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16.2 Network Attacks</a:t>
            </a:r>
            <a:endParaRPr b="0" lang="en-US" sz="4600" spc="-1" strike="noStrike">
              <a:solidFill>
                <a:srgbClr val="58585b"/>
              </a:solidFill>
              <a:latin typeface="Arial"/>
            </a:endParaRPr>
          </a:p>
        </p:txBody>
      </p:sp>
    </p:spTree>
  </p:cSld>
  <p:transition spd="slow">
    <p:wipe dir="l"/>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Attacks</a:t>
            </a:r>
            <a:br/>
            <a:r>
              <a:rPr b="0" lang="en-US" sz="2400" spc="-1" strike="noStrike">
                <a:solidFill>
                  <a:srgbClr val="004c69"/>
                </a:solidFill>
                <a:latin typeface="Arial"/>
                <a:ea typeface="ＭＳ Ｐゴシック"/>
              </a:rPr>
              <a:t>Types of Malware</a:t>
            </a:r>
            <a:endParaRPr b="0" lang="en-US" sz="2400" spc="-1" strike="noStrike">
              <a:solidFill>
                <a:srgbClr val="58585b"/>
              </a:solidFill>
              <a:latin typeface="Arial"/>
            </a:endParaRPr>
          </a:p>
        </p:txBody>
      </p:sp>
      <p:sp>
        <p:nvSpPr>
          <p:cNvPr id="348" name="PlaceHolder 2"/>
          <p:cNvSpPr>
            <a:spLocks noGrp="1"/>
          </p:cNvSpPr>
          <p:nvPr>
            <p:ph/>
          </p:nvPr>
        </p:nvSpPr>
        <p:spPr>
          <a:xfrm>
            <a:off x="304920" y="763560"/>
            <a:ext cx="8449560" cy="3657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Malware is short for malicious software. It is code or software specifically designed to damage, disrupt, steal, or inflict “bad” or illegitimate action on data, hosts, or networks. The following are types of malware:</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Viruses - </a:t>
            </a:r>
            <a:r>
              <a:rPr b="0" lang="en-US" sz="1600" spc="-1" strike="noStrike">
                <a:solidFill>
                  <a:srgbClr val="000000"/>
                </a:solidFill>
                <a:latin typeface="Arial"/>
                <a:ea typeface="ＭＳ Ｐゴシック"/>
              </a:rPr>
              <a:t>A computer virus is a type of malware that propagates by inserting a copy of itself into, and becoming part of, another program. It spreads from one computer to another, leaving infections as it travels. </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Worms - </a:t>
            </a:r>
            <a:r>
              <a:rPr b="0" lang="en-US" sz="1600" spc="-1" strike="noStrike">
                <a:solidFill>
                  <a:srgbClr val="000000"/>
                </a:solidFill>
                <a:latin typeface="Arial"/>
                <a:ea typeface="ＭＳ Ｐゴシック"/>
              </a:rPr>
              <a:t>Computer worms are similar to viruses in that they replicate functional copies of themselves and can cause the same type of damage. In contrast to viruses, which require the spreading of an infected host file, worms are standalone software and do not require a host program or human help to propagate. </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Trojan Horses - </a:t>
            </a:r>
            <a:r>
              <a:rPr b="0" lang="en-US" sz="1600" spc="-1" strike="noStrike">
                <a:solidFill>
                  <a:srgbClr val="000000"/>
                </a:solidFill>
                <a:latin typeface="Arial"/>
                <a:ea typeface="ＭＳ Ｐゴシック"/>
              </a:rPr>
              <a:t>It is a harmful piece of software that looks legitimate. Unlike viruses and worms, Trojan horses do not reproduce by infecting other files. They self-replicate. Trojan horses must spread through user interaction such as opening an email attachment or downloading and running a file from the internet.</a:t>
            </a: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Attacks</a:t>
            </a:r>
            <a:br/>
            <a:r>
              <a:rPr b="0" lang="en-US" sz="2400" spc="-1" strike="noStrike">
                <a:solidFill>
                  <a:srgbClr val="004c69"/>
                </a:solidFill>
                <a:latin typeface="Arial"/>
                <a:ea typeface="ＭＳ Ｐゴシック"/>
              </a:rPr>
              <a:t>Reconnaissance Attacks</a:t>
            </a:r>
            <a:endParaRPr b="0" lang="en-US" sz="2400" spc="-1" strike="noStrike">
              <a:solidFill>
                <a:srgbClr val="58585b"/>
              </a:solidFill>
              <a:latin typeface="Arial"/>
            </a:endParaRPr>
          </a:p>
        </p:txBody>
      </p:sp>
      <p:sp>
        <p:nvSpPr>
          <p:cNvPr id="350" name="PlaceHolder 2"/>
          <p:cNvSpPr>
            <a:spLocks noGrp="1"/>
          </p:cNvSpPr>
          <p:nvPr>
            <p:ph/>
          </p:nvPr>
        </p:nvSpPr>
        <p:spPr>
          <a:xfrm>
            <a:off x="474840" y="763560"/>
            <a:ext cx="8279640" cy="3657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In addition to malicious code attacks, it is also possible for networks to fall prey to various network attacks. Network attacks can be classified into three major categories:</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400" spc="-1" strike="noStrike">
                <a:solidFill>
                  <a:srgbClr val="000000"/>
                </a:solidFill>
                <a:latin typeface="Arial"/>
                <a:ea typeface="ＭＳ Ｐゴシック"/>
              </a:rPr>
              <a:t>Reconnaissance attacks </a:t>
            </a:r>
            <a:r>
              <a:rPr b="0" lang="en-US" sz="1400" spc="-1" strike="noStrike">
                <a:solidFill>
                  <a:srgbClr val="000000"/>
                </a:solidFill>
                <a:latin typeface="Arial"/>
                <a:ea typeface="ＭＳ Ｐゴシック"/>
              </a:rPr>
              <a:t>- The discovery and mapping of systems, services, or vulnerabilities.</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400" spc="-1" strike="noStrike">
                <a:solidFill>
                  <a:srgbClr val="000000"/>
                </a:solidFill>
                <a:latin typeface="Arial"/>
                <a:ea typeface="ＭＳ Ｐゴシック"/>
              </a:rPr>
              <a:t>Access attacks </a:t>
            </a:r>
            <a:r>
              <a:rPr b="0" lang="en-US" sz="1400" spc="-1" strike="noStrike">
                <a:solidFill>
                  <a:srgbClr val="000000"/>
                </a:solidFill>
                <a:latin typeface="Arial"/>
                <a:ea typeface="ＭＳ Ｐゴシック"/>
              </a:rPr>
              <a:t>- The unauthorized manipulation of data, system access, or user privileges.</a:t>
            </a:r>
            <a:endParaRPr b="0" lang="en-US" sz="14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400" spc="-1" strike="noStrike">
                <a:solidFill>
                  <a:srgbClr val="000000"/>
                </a:solidFill>
                <a:latin typeface="Arial"/>
                <a:ea typeface="ＭＳ Ｐゴシック"/>
              </a:rPr>
              <a:t>Denial of service </a:t>
            </a:r>
            <a:r>
              <a:rPr b="0" lang="en-US" sz="1400" spc="-1" strike="noStrike">
                <a:solidFill>
                  <a:srgbClr val="000000"/>
                </a:solidFill>
                <a:latin typeface="Arial"/>
                <a:ea typeface="ＭＳ Ｐゴシック"/>
              </a:rPr>
              <a:t>- The disabling or corruption of networks, systems, or services.</a:t>
            </a:r>
            <a:endParaRPr b="0" lang="en-US" sz="1400" spc="-1" strike="noStrike">
              <a:solidFill>
                <a:srgbClr val="58585b"/>
              </a:solidFill>
              <a:latin typeface="Arial"/>
            </a:endParaRPr>
          </a:p>
          <a:p>
            <a:pPr>
              <a:lnSpc>
                <a:spcPct val="100000"/>
              </a:lnSpc>
              <a:spcBef>
                <a:spcPts val="320"/>
              </a:spcBef>
              <a:buNone/>
              <a:tabLst>
                <a:tab algn="l" pos="0"/>
              </a:tabLst>
            </a:pPr>
            <a:endParaRPr b="0" lang="en-US" sz="14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For reconnaissance attacks, external threat actors can use internet tools, such as the </a:t>
            </a:r>
            <a:r>
              <a:rPr b="1" lang="en-US" sz="1600" spc="-1" strike="noStrike">
                <a:solidFill>
                  <a:srgbClr val="000000"/>
                </a:solidFill>
                <a:latin typeface="Arial"/>
                <a:ea typeface="ＭＳ Ｐゴシック"/>
              </a:rPr>
              <a:t>nslookup</a:t>
            </a:r>
            <a:r>
              <a:rPr b="0" lang="en-US" sz="1600" spc="-1" strike="noStrike">
                <a:solidFill>
                  <a:srgbClr val="000000"/>
                </a:solidFill>
                <a:latin typeface="Arial"/>
                <a:ea typeface="ＭＳ Ｐゴシック"/>
              </a:rPr>
              <a:t> and </a:t>
            </a:r>
            <a:r>
              <a:rPr b="1" lang="en-US" sz="1600" spc="-1" strike="noStrike">
                <a:solidFill>
                  <a:srgbClr val="000000"/>
                </a:solidFill>
                <a:latin typeface="Arial"/>
                <a:ea typeface="ＭＳ Ｐゴシック"/>
              </a:rPr>
              <a:t>whois</a:t>
            </a:r>
            <a:r>
              <a:rPr b="0" lang="en-US" sz="1600" spc="-1" strike="noStrike">
                <a:solidFill>
                  <a:srgbClr val="000000"/>
                </a:solidFill>
                <a:latin typeface="Arial"/>
                <a:ea typeface="ＭＳ Ｐゴシック"/>
              </a:rPr>
              <a:t> utilities, to easily determine the IP address space assigned to a given corporation or entity. After the IP address space is determined, a threat actor can then ping the publicly available IP addresses to identify the addresses that are active. </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Attacks</a:t>
            </a:r>
            <a:br/>
            <a:r>
              <a:rPr b="0" lang="en-US" sz="2400" spc="-1" strike="noStrike">
                <a:solidFill>
                  <a:srgbClr val="004c69"/>
                </a:solidFill>
                <a:latin typeface="Arial"/>
                <a:ea typeface="ＭＳ Ｐゴシック"/>
              </a:rPr>
              <a:t>Access Attacks</a:t>
            </a:r>
            <a:endParaRPr b="0" lang="en-US" sz="2400" spc="-1" strike="noStrike">
              <a:solidFill>
                <a:srgbClr val="58585b"/>
              </a:solidFill>
              <a:latin typeface="Arial"/>
            </a:endParaRPr>
          </a:p>
        </p:txBody>
      </p:sp>
      <p:sp>
        <p:nvSpPr>
          <p:cNvPr id="352" name="PlaceHolder 2"/>
          <p:cNvSpPr>
            <a:spLocks noGrp="1"/>
          </p:cNvSpPr>
          <p:nvPr>
            <p:ph/>
          </p:nvPr>
        </p:nvSpPr>
        <p:spPr>
          <a:xfrm>
            <a:off x="474840" y="790920"/>
            <a:ext cx="8279640" cy="3630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Access attacks exploit known vulnerabilities in authentication services, FTP services, and web services to gain entry to web accounts, confidential databases, and other sensitive information. </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Access attacks can be classified into four types: </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Password attacks -</a:t>
            </a:r>
            <a:r>
              <a:rPr b="0" lang="en-US" sz="1600" spc="-1" strike="noStrike">
                <a:solidFill>
                  <a:srgbClr val="000000"/>
                </a:solidFill>
                <a:latin typeface="Arial"/>
                <a:ea typeface="ＭＳ Ｐゴシック"/>
              </a:rPr>
              <a:t> Implemented using brute force, trojan horse, and packet sniffers</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Trust exploitation - </a:t>
            </a:r>
            <a:r>
              <a:rPr b="0" lang="en-US" sz="1600" spc="-1" strike="noStrike">
                <a:solidFill>
                  <a:srgbClr val="000000"/>
                </a:solidFill>
                <a:latin typeface="Arial"/>
                <a:ea typeface="ＭＳ Ｐゴシック"/>
              </a:rPr>
              <a:t> A threat actor uses unauthorized privileges to gain access to a system, possibly compromising the target.</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Port redirection</a:t>
            </a:r>
            <a:r>
              <a:rPr b="0" lang="en-US" sz="1600" spc="-1" strike="noStrike">
                <a:solidFill>
                  <a:srgbClr val="000000"/>
                </a:solidFill>
                <a:latin typeface="Arial"/>
                <a:ea typeface="ＭＳ Ｐゴシック"/>
              </a:rPr>
              <a:t>: - A threat actor uses a compromised system as a base for attacks against other targets. For example, a threat actor using SSH (port 22) to connect to a compromised host A. Host A is trusted by host B and, therefore, the threat actor can use Telnet (port 23) to access it.</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Man-in-the middle -</a:t>
            </a:r>
            <a:r>
              <a:rPr b="0" lang="en-US" sz="1600" spc="-1" strike="noStrike">
                <a:solidFill>
                  <a:srgbClr val="000000"/>
                </a:solidFill>
                <a:latin typeface="Arial"/>
                <a:ea typeface="ＭＳ Ｐゴシック"/>
              </a:rPr>
              <a:t> The threat actor is positioned in between two legitimate entities in order to read or modify the data that passes between the two parties.</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Attacks</a:t>
            </a:r>
            <a:br/>
            <a:r>
              <a:rPr b="0" lang="en-US" sz="2400" spc="-1" strike="noStrike">
                <a:solidFill>
                  <a:srgbClr val="004c69"/>
                </a:solidFill>
                <a:latin typeface="Arial"/>
                <a:ea typeface="ＭＳ Ｐゴシック"/>
              </a:rPr>
              <a:t>Denial of Service Attacks</a:t>
            </a:r>
            <a:endParaRPr b="0" lang="en-US" sz="2400" spc="-1" strike="noStrike">
              <a:solidFill>
                <a:srgbClr val="58585b"/>
              </a:solidFill>
              <a:latin typeface="Arial"/>
            </a:endParaRPr>
          </a:p>
        </p:txBody>
      </p:sp>
      <p:sp>
        <p:nvSpPr>
          <p:cNvPr id="354" name="PlaceHolder 2"/>
          <p:cNvSpPr>
            <a:spLocks noGrp="1"/>
          </p:cNvSpPr>
          <p:nvPr>
            <p:ph/>
          </p:nvPr>
        </p:nvSpPr>
        <p:spPr>
          <a:xfrm>
            <a:off x="474840" y="763560"/>
            <a:ext cx="8279640" cy="3657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Denial of service (DoS) attacks are the most publicized form of attack and among the most difficult to eliminate. However, because of their ease of implementation and potentially significant damage, DoS attacks deserve special attention from security administrators.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DoS attacks take many forms. Ultimately, they prevent authorized people from using a service by consuming system resources. To help prevent DoS attacks it is important to stay up to date with the latest security updates for operating systems and applications.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DoS attacks are a major risk because they interrupt communication and cause significant loss of time and money. These attacks are relatively simple to conduct, even by an unskilled threat actor.</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A DDoS is similar to a DoS attack, but it originates from multiple, coordinated sources. For example, a threat actor builds a network of infected hosts, known as zombies. A network of zombies is called a botnet. The threat actor uses a command and control (CnC) program to instruct the botnet of zombies to carry out a DDoS attack.</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Attacks</a:t>
            </a:r>
            <a:br/>
            <a:r>
              <a:rPr b="0" lang="en-US" sz="2400" spc="-1" strike="noStrike">
                <a:solidFill>
                  <a:srgbClr val="004c69"/>
                </a:solidFill>
                <a:latin typeface="Arial"/>
                <a:ea typeface="ＭＳ Ｐゴシック"/>
              </a:rPr>
              <a:t>Lab – Research Network Security Threats</a:t>
            </a:r>
            <a:endParaRPr b="0" lang="en-US" sz="2400" spc="-1" strike="noStrike">
              <a:solidFill>
                <a:srgbClr val="58585b"/>
              </a:solidFill>
              <a:latin typeface="Arial"/>
            </a:endParaRPr>
          </a:p>
        </p:txBody>
      </p:sp>
      <p:sp>
        <p:nvSpPr>
          <p:cNvPr id="356" name="PlaceHolder 2"/>
          <p:cNvSpPr>
            <a:spLocks noGrp="1"/>
          </p:cNvSpPr>
          <p:nvPr>
            <p:ph/>
          </p:nvPr>
        </p:nvSpPr>
        <p:spPr>
          <a:xfrm>
            <a:off x="474840" y="763560"/>
            <a:ext cx="8279640" cy="3657600"/>
          </a:xfrm>
          <a:prstGeom prst="rect">
            <a:avLst/>
          </a:prstGeom>
          <a:noFill/>
          <a:ln w="0">
            <a:noFill/>
          </a:ln>
        </p:spPr>
        <p:txBody>
          <a:bodyPr anchor="t">
            <a:noAutofit/>
          </a:bodyPr>
          <a:p>
            <a:pPr marL="285840" indent="-285840">
              <a:lnSpc>
                <a:spcPct val="100000"/>
              </a:lnSpc>
              <a:spcBef>
                <a:spcPts val="400"/>
              </a:spcBef>
              <a:buNone/>
              <a:tabLst>
                <a:tab algn="l" pos="0"/>
              </a:tabLst>
            </a:pPr>
            <a:r>
              <a:rPr b="0" lang="en-US" sz="2000" spc="-1" strike="noStrike">
                <a:solidFill>
                  <a:srgbClr val="000000"/>
                </a:solidFill>
                <a:latin typeface="Arial"/>
                <a:ea typeface="ＭＳ Ｐゴシック"/>
              </a:rPr>
              <a:t>In this lab, you will complete the following objectives:</a:t>
            </a:r>
            <a:endParaRPr b="0" lang="en-US" sz="2000" spc="-1" strike="noStrike">
              <a:solidFill>
                <a:srgbClr val="58585b"/>
              </a:solidFill>
              <a:latin typeface="Arial"/>
            </a:endParaRPr>
          </a:p>
          <a:p>
            <a:pPr lvl="1" marL="358920" indent="-21600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Part 1: Explore the SANS Website</a:t>
            </a:r>
            <a:endParaRPr b="0" lang="en-US" sz="1600" spc="-1" strike="noStrike">
              <a:solidFill>
                <a:srgbClr val="58585b"/>
              </a:solidFill>
              <a:latin typeface="Arial"/>
            </a:endParaRPr>
          </a:p>
          <a:p>
            <a:pPr lvl="1" marL="358920" indent="-21600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Part 2: Identify Recent Network Security Threats</a:t>
            </a:r>
            <a:endParaRPr b="0" lang="en-US" sz="1600" spc="-1" strike="noStrike">
              <a:solidFill>
                <a:srgbClr val="58585b"/>
              </a:solidFill>
              <a:latin typeface="Arial"/>
            </a:endParaRPr>
          </a:p>
          <a:p>
            <a:pPr lvl="1" marL="358920" indent="-21600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Part 3: Detail a Specific Network Security Threat</a:t>
            </a:r>
            <a:endParaRPr b="0" lang="en-US" sz="1600" spc="-1" strike="noStrike">
              <a:solidFill>
                <a:srgbClr val="58585b"/>
              </a:solidFill>
              <a:latin typeface="Arial"/>
            </a:endParaRPr>
          </a:p>
          <a:p>
            <a:pPr marL="285840" indent="-285840">
              <a:lnSpc>
                <a:spcPct val="100000"/>
              </a:lnSpc>
              <a:spcBef>
                <a:spcPts val="40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16.3 Network Attack Mitigations</a:t>
            </a:r>
            <a:endParaRPr b="0" lang="en-US" sz="4600" spc="-1" strike="noStrike">
              <a:solidFill>
                <a:srgbClr val="58585b"/>
              </a:solidFill>
              <a:latin typeface="Arial"/>
            </a:endParaRPr>
          </a:p>
        </p:txBody>
      </p:sp>
    </p:spTree>
  </p:cSld>
  <p:transition spd="slow">
    <p:wipe dir="l"/>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 Mitigations</a:t>
            </a:r>
            <a:br/>
            <a:r>
              <a:rPr b="0" lang="en-US" sz="2400" spc="-1" strike="noStrike">
                <a:solidFill>
                  <a:srgbClr val="004c69"/>
                </a:solidFill>
                <a:latin typeface="Arial"/>
                <a:ea typeface="ＭＳ Ｐゴシック"/>
              </a:rPr>
              <a:t>The Defense-in-Depth Approach</a:t>
            </a:r>
            <a:endParaRPr b="0" lang="en-US" sz="2400" spc="-1" strike="noStrike">
              <a:solidFill>
                <a:srgbClr val="58585b"/>
              </a:solidFill>
              <a:latin typeface="Arial"/>
            </a:endParaRPr>
          </a:p>
        </p:txBody>
      </p:sp>
      <p:sp>
        <p:nvSpPr>
          <p:cNvPr id="359" name="Rectangle 5"/>
          <p:cNvSpPr/>
          <p:nvPr/>
        </p:nvSpPr>
        <p:spPr>
          <a:xfrm>
            <a:off x="228240" y="763560"/>
            <a:ext cx="4491360" cy="39841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600" spc="-1" strike="noStrike">
                <a:solidFill>
                  <a:srgbClr val="58585b"/>
                </a:solidFill>
                <a:latin typeface="Arial"/>
                <a:ea typeface="ＭＳ Ｐゴシック"/>
              </a:rPr>
              <a:t>To mitigate network attacks, you must first secure devices including routers, switches, servers, and hosts. Most organizations employ a defense-in-depth approach (also known as a layered approach) to security. This requires a combination of networking devices and services working in tandem.</a:t>
            </a:r>
            <a:endParaRPr b="0" lang="en-JM" sz="1600" spc="-1" strike="noStrike">
              <a:latin typeface="Arial"/>
            </a:endParaRPr>
          </a:p>
          <a:p>
            <a:pPr>
              <a:lnSpc>
                <a:spcPct val="100000"/>
              </a:lnSpc>
              <a:buNone/>
            </a:pPr>
            <a:endParaRPr b="0" lang="en-JM" sz="1600" spc="-1" strike="noStrike">
              <a:latin typeface="Arial"/>
            </a:endParaRPr>
          </a:p>
          <a:p>
            <a:pPr>
              <a:lnSpc>
                <a:spcPct val="100000"/>
              </a:lnSpc>
              <a:buNone/>
            </a:pPr>
            <a:r>
              <a:rPr b="0" lang="en-US" sz="1600" spc="-1" strike="noStrike">
                <a:solidFill>
                  <a:srgbClr val="58585b"/>
                </a:solidFill>
                <a:latin typeface="Arial"/>
                <a:ea typeface="ＭＳ Ｐゴシック"/>
              </a:rPr>
              <a:t>Several security devices and services are implemented to protect an organization’s users and assets against TCP/IP threats:</a:t>
            </a:r>
            <a:endParaRPr b="0" lang="en-JM" sz="1600" spc="-1" strike="noStrike">
              <a:latin typeface="Arial"/>
            </a:endParaRPr>
          </a:p>
          <a:p>
            <a:pPr lvl="1" marL="743040" indent="-285840">
              <a:lnSpc>
                <a:spcPct val="100000"/>
              </a:lnSpc>
              <a:buClr>
                <a:srgbClr val="58585b"/>
              </a:buClr>
              <a:buFont typeface="Arial"/>
              <a:buChar char="•"/>
            </a:pPr>
            <a:r>
              <a:rPr b="0" lang="en-US" sz="1600" spc="-1" strike="noStrike">
                <a:solidFill>
                  <a:srgbClr val="58585b"/>
                </a:solidFill>
                <a:latin typeface="Arial"/>
                <a:ea typeface="ＭＳ Ｐゴシック"/>
              </a:rPr>
              <a:t>VPN </a:t>
            </a:r>
            <a:endParaRPr b="0" lang="en-JM" sz="1600" spc="-1" strike="noStrike">
              <a:latin typeface="Arial"/>
            </a:endParaRPr>
          </a:p>
          <a:p>
            <a:pPr lvl="1" marL="743040" indent="-285840">
              <a:lnSpc>
                <a:spcPct val="100000"/>
              </a:lnSpc>
              <a:buClr>
                <a:srgbClr val="58585b"/>
              </a:buClr>
              <a:buFont typeface="Arial"/>
              <a:buChar char="•"/>
            </a:pPr>
            <a:r>
              <a:rPr b="0" lang="en-US" sz="1600" spc="-1" strike="noStrike">
                <a:solidFill>
                  <a:srgbClr val="58585b"/>
                </a:solidFill>
                <a:latin typeface="Arial"/>
                <a:ea typeface="ＭＳ Ｐゴシック"/>
              </a:rPr>
              <a:t>ASA Firewall </a:t>
            </a:r>
            <a:endParaRPr b="0" lang="en-JM" sz="1600" spc="-1" strike="noStrike">
              <a:latin typeface="Arial"/>
            </a:endParaRPr>
          </a:p>
          <a:p>
            <a:pPr lvl="1" marL="743040" indent="-285840">
              <a:lnSpc>
                <a:spcPct val="100000"/>
              </a:lnSpc>
              <a:buClr>
                <a:srgbClr val="58585b"/>
              </a:buClr>
              <a:buFont typeface="Arial"/>
              <a:buChar char="•"/>
            </a:pPr>
            <a:r>
              <a:rPr b="0" lang="en-US" sz="1600" spc="-1" strike="noStrike">
                <a:solidFill>
                  <a:srgbClr val="58585b"/>
                </a:solidFill>
                <a:latin typeface="Arial"/>
                <a:ea typeface="ＭＳ Ｐゴシック"/>
              </a:rPr>
              <a:t>IPS </a:t>
            </a:r>
            <a:endParaRPr b="0" lang="en-JM" sz="1600" spc="-1" strike="noStrike">
              <a:latin typeface="Arial"/>
            </a:endParaRPr>
          </a:p>
          <a:p>
            <a:pPr lvl="1" marL="743040" indent="-285840">
              <a:lnSpc>
                <a:spcPct val="100000"/>
              </a:lnSpc>
              <a:buClr>
                <a:srgbClr val="58585b"/>
              </a:buClr>
              <a:buFont typeface="Arial"/>
              <a:buChar char="•"/>
            </a:pPr>
            <a:r>
              <a:rPr b="0" lang="en-US" sz="1600" spc="-1" strike="noStrike">
                <a:solidFill>
                  <a:srgbClr val="58585b"/>
                </a:solidFill>
                <a:latin typeface="Arial"/>
                <a:ea typeface="ＭＳ Ｐゴシック"/>
              </a:rPr>
              <a:t>ESA/WSA </a:t>
            </a:r>
            <a:endParaRPr b="0" lang="en-JM" sz="1600" spc="-1" strike="noStrike">
              <a:latin typeface="Arial"/>
            </a:endParaRPr>
          </a:p>
          <a:p>
            <a:pPr lvl="1" marL="743040" indent="-285840">
              <a:lnSpc>
                <a:spcPct val="100000"/>
              </a:lnSpc>
              <a:buClr>
                <a:srgbClr val="58585b"/>
              </a:buClr>
              <a:buFont typeface="Arial"/>
              <a:buChar char="•"/>
            </a:pPr>
            <a:r>
              <a:rPr b="0" lang="en-US" sz="1600" spc="-1" strike="noStrike">
                <a:solidFill>
                  <a:srgbClr val="58585b"/>
                </a:solidFill>
                <a:latin typeface="Arial"/>
                <a:ea typeface="ＭＳ Ｐゴシック"/>
              </a:rPr>
              <a:t>AAA Server </a:t>
            </a:r>
            <a:endParaRPr b="0" lang="en-JM" sz="1600" spc="-1" strike="noStrike">
              <a:latin typeface="Arial"/>
            </a:endParaRPr>
          </a:p>
        </p:txBody>
      </p:sp>
      <p:pic>
        <p:nvPicPr>
          <p:cNvPr id="360" name="Content Placeholder 3" descr=""/>
          <p:cNvPicPr/>
          <p:nvPr/>
        </p:nvPicPr>
        <p:blipFill>
          <a:blip r:embed="rId1"/>
          <a:stretch/>
        </p:blipFill>
        <p:spPr>
          <a:xfrm>
            <a:off x="4822920" y="1102680"/>
            <a:ext cx="3931560" cy="29379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 Mitigations</a:t>
            </a:r>
            <a:br/>
            <a:r>
              <a:rPr b="0" lang="en-US" sz="2400" spc="-1" strike="noStrike">
                <a:solidFill>
                  <a:srgbClr val="004c69"/>
                </a:solidFill>
                <a:latin typeface="Arial"/>
                <a:ea typeface="ＭＳ Ｐゴシック"/>
              </a:rPr>
              <a:t>Keep Backups</a:t>
            </a:r>
            <a:endParaRPr b="0" lang="en-US" sz="2400" spc="-1" strike="noStrike">
              <a:solidFill>
                <a:srgbClr val="58585b"/>
              </a:solidFill>
              <a:latin typeface="Arial"/>
            </a:endParaRPr>
          </a:p>
        </p:txBody>
      </p:sp>
      <p:sp>
        <p:nvSpPr>
          <p:cNvPr id="362" name="PlaceHolder 2"/>
          <p:cNvSpPr>
            <a:spLocks noGrp="1"/>
          </p:cNvSpPr>
          <p:nvPr>
            <p:ph/>
          </p:nvPr>
        </p:nvSpPr>
        <p:spPr>
          <a:xfrm>
            <a:off x="133200" y="763560"/>
            <a:ext cx="8620920" cy="129348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Backing up device configurations and data is one of the most effective ways of protecting against data loss. Backups should be performed on a regular basis as identified in the security policy. Data backups are usually stored offsite to protect the backup media if anything happens to the main facility. </a:t>
            </a: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The table shows backup considerations and their descriptions.</a:t>
            </a: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p:txBody>
      </p:sp>
      <p:graphicFrame>
        <p:nvGraphicFramePr>
          <p:cNvPr id="363" name="Table 6"/>
          <p:cNvGraphicFramePr/>
          <p:nvPr/>
        </p:nvGraphicFramePr>
        <p:xfrm>
          <a:off x="704160" y="2170800"/>
          <a:ext cx="7640640" cy="1854000"/>
        </p:xfrm>
        <a:graphic>
          <a:graphicData uri="http://schemas.openxmlformats.org/drawingml/2006/table">
            <a:tbl>
              <a:tblPr/>
              <a:tblGrid>
                <a:gridCol w="1334520"/>
                <a:gridCol w="6306480"/>
              </a:tblGrid>
              <a:tr h="370800">
                <a:tc>
                  <a:txBody>
                    <a:bodyPr lIns="47520" rIns="47520" tIns="47520" bIns="47520" anchor="ctr">
                      <a:noAutofit/>
                    </a:bodyPr>
                    <a:p>
                      <a:pPr>
                        <a:lnSpc>
                          <a:spcPct val="100000"/>
                        </a:lnSpc>
                        <a:buNone/>
                      </a:pPr>
                      <a:r>
                        <a:rPr b="1" lang="en-US" sz="1200" spc="-1" strike="noStrike">
                          <a:solidFill>
                            <a:srgbClr val="ffffff"/>
                          </a:solidFill>
                          <a:latin typeface="Arial"/>
                        </a:rPr>
                        <a:t>Consideration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200" spc="-1" strike="noStrike">
                          <a:solidFill>
                            <a:srgbClr val="ffffff"/>
                          </a:solidFill>
                          <a:latin typeface="Arial"/>
                        </a:rPr>
                        <a:t>Description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607320">
                <a:tc>
                  <a:txBody>
                    <a:bodyPr lIns="47520" rIns="47520" tIns="47520" bIns="47520" anchor="ctr">
                      <a:noAutofit/>
                    </a:bodyPr>
                    <a:p>
                      <a:pPr>
                        <a:lnSpc>
                          <a:spcPct val="100000"/>
                        </a:lnSpc>
                        <a:buNone/>
                      </a:pPr>
                      <a:r>
                        <a:rPr b="0" lang="en-US" sz="1200" spc="-1" strike="noStrike">
                          <a:solidFill>
                            <a:srgbClr val="000000"/>
                          </a:solidFill>
                          <a:latin typeface="Arial"/>
                        </a:rPr>
                        <a:t>Frequency</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indent="-216000">
                        <a:lnSpc>
                          <a:spcPct val="100000"/>
                        </a:lnSpc>
                        <a:buClr>
                          <a:srgbClr val="000000"/>
                        </a:buClr>
                        <a:buFont typeface="Arial"/>
                        <a:buChar char="•"/>
                      </a:pPr>
                      <a:r>
                        <a:rPr b="0" lang="en-US" sz="1200" spc="-1" strike="noStrike">
                          <a:solidFill>
                            <a:srgbClr val="000000"/>
                          </a:solidFill>
                          <a:latin typeface="Arial"/>
                        </a:rPr>
                        <a:t>Perform backups on a regular basis as identified in the security policy.</a:t>
                      </a:r>
                      <a:endParaRPr b="0" lang="en-JM" sz="1200" spc="-1" strike="noStrike">
                        <a:latin typeface="Arial"/>
                      </a:endParaRPr>
                    </a:p>
                    <a:p>
                      <a:pPr indent="-216000">
                        <a:lnSpc>
                          <a:spcPct val="100000"/>
                        </a:lnSpc>
                        <a:buClr>
                          <a:srgbClr val="000000"/>
                        </a:buClr>
                        <a:buFont typeface="Arial"/>
                        <a:buChar char="•"/>
                      </a:pPr>
                      <a:r>
                        <a:rPr b="0" lang="en-US" sz="1200" spc="-1" strike="noStrike">
                          <a:solidFill>
                            <a:srgbClr val="000000"/>
                          </a:solidFill>
                          <a:latin typeface="Arial"/>
                        </a:rPr>
                        <a:t>Full backups can be time-consuming, therefore perform monthly or weekly backups with frequent partial backups of changed files.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36680">
                <a:tc>
                  <a:txBody>
                    <a:bodyPr lIns="47520" rIns="47520" tIns="47520" bIns="47520" anchor="ctr">
                      <a:noAutofit/>
                    </a:bodyPr>
                    <a:p>
                      <a:pPr>
                        <a:lnSpc>
                          <a:spcPct val="100000"/>
                        </a:lnSpc>
                        <a:buNone/>
                      </a:pPr>
                      <a:r>
                        <a:rPr b="0" lang="en-US" sz="1200" spc="-1" strike="noStrike">
                          <a:solidFill>
                            <a:srgbClr val="000000"/>
                          </a:solidFill>
                          <a:latin typeface="Arial"/>
                        </a:rPr>
                        <a:t>Storage</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indent="-216000">
                        <a:lnSpc>
                          <a:spcPct val="100000"/>
                        </a:lnSpc>
                        <a:buClr>
                          <a:srgbClr val="000000"/>
                        </a:buClr>
                        <a:buFont typeface="Arial"/>
                        <a:buChar char="•"/>
                      </a:pPr>
                      <a:r>
                        <a:rPr b="0" lang="en-US" sz="1200" spc="-1" strike="noStrike">
                          <a:solidFill>
                            <a:srgbClr val="000000"/>
                          </a:solidFill>
                          <a:latin typeface="Arial"/>
                        </a:rPr>
                        <a:t>Always validate backups to ensure the integrity of the data and validate the file restoration procedures.</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436680">
                <a:tc>
                  <a:txBody>
                    <a:bodyPr lIns="47520" rIns="47520" tIns="47520" bIns="47520" anchor="ctr">
                      <a:noAutofit/>
                    </a:bodyPr>
                    <a:p>
                      <a:pPr>
                        <a:lnSpc>
                          <a:spcPct val="100000"/>
                        </a:lnSpc>
                        <a:buNone/>
                      </a:pPr>
                      <a:r>
                        <a:rPr b="0" lang="en-US" sz="1200" spc="-1" strike="noStrike">
                          <a:solidFill>
                            <a:srgbClr val="000000"/>
                          </a:solidFill>
                          <a:latin typeface="Arial"/>
                        </a:rPr>
                        <a:t>Security</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indent="-216000">
                        <a:lnSpc>
                          <a:spcPct val="100000"/>
                        </a:lnSpc>
                        <a:buClr>
                          <a:srgbClr val="000000"/>
                        </a:buClr>
                        <a:buFont typeface="Arial"/>
                        <a:buChar char="•"/>
                      </a:pPr>
                      <a:r>
                        <a:rPr b="0" lang="en-US" sz="1200" spc="-1" strike="noStrike">
                          <a:solidFill>
                            <a:srgbClr val="000000"/>
                          </a:solidFill>
                          <a:latin typeface="Arial"/>
                        </a:rPr>
                        <a:t>Backups should be transported to an approved offsite storage location on a daily, weekly, or monthly rotation, as required by the security policy.</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436680">
                <a:tc>
                  <a:txBody>
                    <a:bodyPr lIns="47520" rIns="47520" tIns="47520" bIns="47520" anchor="ctr">
                      <a:noAutofit/>
                    </a:bodyPr>
                    <a:p>
                      <a:pPr>
                        <a:lnSpc>
                          <a:spcPct val="100000"/>
                        </a:lnSpc>
                        <a:buNone/>
                      </a:pPr>
                      <a:r>
                        <a:rPr b="0" lang="en-US" sz="1200" spc="-1" strike="noStrike">
                          <a:solidFill>
                            <a:srgbClr val="000000"/>
                          </a:solidFill>
                          <a:latin typeface="Arial"/>
                        </a:rPr>
                        <a:t>Validation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indent="-216000">
                        <a:lnSpc>
                          <a:spcPct val="100000"/>
                        </a:lnSpc>
                        <a:buClr>
                          <a:srgbClr val="000000"/>
                        </a:buClr>
                        <a:buFont typeface="Arial"/>
                        <a:buChar char="•"/>
                      </a:pPr>
                      <a:r>
                        <a:rPr b="0" lang="en-US" sz="1200" spc="-1" strike="noStrike">
                          <a:solidFill>
                            <a:srgbClr val="000000"/>
                          </a:solidFill>
                          <a:latin typeface="Arial"/>
                        </a:rPr>
                        <a:t>Backups should be protected using strong passwords. The password is required to restore the data.</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mc:AlternateContent>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 Mitigations</a:t>
            </a:r>
            <a:br/>
            <a:r>
              <a:rPr b="0" lang="en-US" sz="2400" spc="-1" strike="noStrike">
                <a:solidFill>
                  <a:srgbClr val="004c69"/>
                </a:solidFill>
                <a:latin typeface="Arial"/>
                <a:ea typeface="ＭＳ Ｐゴシック"/>
              </a:rPr>
              <a:t>Upgrade, Update, and Patch</a:t>
            </a:r>
            <a:endParaRPr b="0" lang="en-US" sz="2400" spc="-1" strike="noStrike">
              <a:solidFill>
                <a:srgbClr val="58585b"/>
              </a:solidFill>
              <a:latin typeface="Arial"/>
            </a:endParaRPr>
          </a:p>
        </p:txBody>
      </p:sp>
      <p:sp>
        <p:nvSpPr>
          <p:cNvPr id="365" name="PlaceHolder 2"/>
          <p:cNvSpPr>
            <a:spLocks noGrp="1"/>
          </p:cNvSpPr>
          <p:nvPr>
            <p:ph/>
          </p:nvPr>
        </p:nvSpPr>
        <p:spPr>
          <a:xfrm>
            <a:off x="474840" y="763560"/>
            <a:ext cx="4096800" cy="3657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As new malware is released, enterprises need to keep current with the latest versions of antivirus software.</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The most effective way to mitigate a worm attack is to download security updates from the operating system vendor and patch all vulnerable systems.</a:t>
            </a:r>
            <a:endParaRPr b="0" lang="en-US" sz="1600" spc="-1" strike="noStrike">
              <a:solidFill>
                <a:srgbClr val="58585b"/>
              </a:solidFill>
              <a:latin typeface="Arial"/>
            </a:endParaRPr>
          </a:p>
          <a:p>
            <a:pPr marL="285840" indent="-28584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One solution to the management of critical security patches is to make sure all end systems automatically download updates.</a:t>
            </a:r>
            <a:endParaRPr b="0" lang="en-US" sz="1600" spc="-1" strike="noStrike">
              <a:solidFill>
                <a:srgbClr val="58585b"/>
              </a:solidFill>
              <a:latin typeface="Arial"/>
            </a:endParaRPr>
          </a:p>
        </p:txBody>
      </p:sp>
      <p:pic>
        <p:nvPicPr>
          <p:cNvPr id="366" name="Picture 7" descr=""/>
          <p:cNvPicPr/>
          <p:nvPr/>
        </p:nvPicPr>
        <p:blipFill>
          <a:blip r:embed="rId1"/>
          <a:stretch/>
        </p:blipFill>
        <p:spPr>
          <a:xfrm>
            <a:off x="4572000" y="1037880"/>
            <a:ext cx="4311360" cy="250056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 Mitigations</a:t>
            </a:r>
            <a:br/>
            <a:r>
              <a:rPr b="0" lang="en-US" sz="2400" spc="-1" strike="noStrike">
                <a:solidFill>
                  <a:srgbClr val="004c69"/>
                </a:solidFill>
                <a:latin typeface="Arial"/>
                <a:ea typeface="ＭＳ Ｐゴシック"/>
              </a:rPr>
              <a:t>Authentication, Authorization, and Accounting</a:t>
            </a:r>
            <a:endParaRPr b="0" lang="en-US" sz="2400" spc="-1" strike="noStrike">
              <a:solidFill>
                <a:srgbClr val="58585b"/>
              </a:solidFill>
              <a:latin typeface="Arial"/>
            </a:endParaRPr>
          </a:p>
        </p:txBody>
      </p:sp>
      <p:sp>
        <p:nvSpPr>
          <p:cNvPr id="368" name="PlaceHolder 2"/>
          <p:cNvSpPr>
            <a:spLocks noGrp="1"/>
          </p:cNvSpPr>
          <p:nvPr>
            <p:ph/>
          </p:nvPr>
        </p:nvSpPr>
        <p:spPr>
          <a:xfrm>
            <a:off x="474840" y="763560"/>
            <a:ext cx="4252680" cy="3657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Authentication, authorization, and accounting (AAA, or “triple A”) network security services provide the primary framework to set up access control on network devices.</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AAA is a way to control who is permitted to access a network (authenticate), what actions they perform while accessing the network (authorize), and making a record of what was done while they are there (accounting).</a:t>
            </a:r>
            <a:endParaRPr b="0" lang="en-US" sz="1600" spc="-1" strike="noStrike">
              <a:solidFill>
                <a:srgbClr val="58585b"/>
              </a:solidFill>
              <a:latin typeface="Arial"/>
            </a:endParaRPr>
          </a:p>
          <a:p>
            <a:pPr marL="343080" indent="-343080">
              <a:lnSpc>
                <a:spcPct val="100000"/>
              </a:lnSpc>
              <a:spcBef>
                <a:spcPts val="320"/>
              </a:spcBef>
              <a:buClr>
                <a:srgbClr val="000000"/>
              </a:buClr>
              <a:buFont typeface="Arial"/>
              <a:buChar char="•"/>
              <a:tabLst>
                <a:tab algn="l" pos="0"/>
              </a:tabLst>
            </a:pPr>
            <a:r>
              <a:rPr b="0" lang="en-US" sz="1600" spc="-1" strike="noStrike">
                <a:solidFill>
                  <a:srgbClr val="000000"/>
                </a:solidFill>
                <a:latin typeface="Arial"/>
                <a:ea typeface="ＭＳ Ｐゴシック"/>
              </a:rPr>
              <a:t>The concept of AAA is similar to the use of a credit card. The credit card identifies who can use it, how much that user can spend, and keeps account of what items the user spent money on.</a:t>
            </a:r>
            <a:endParaRPr b="0" lang="en-US" sz="1600" spc="-1" strike="noStrike">
              <a:solidFill>
                <a:srgbClr val="58585b"/>
              </a:solidFill>
              <a:latin typeface="Arial"/>
            </a:endParaRPr>
          </a:p>
          <a:p>
            <a:pPr>
              <a:lnSpc>
                <a:spcPct val="100000"/>
              </a:lnSpc>
              <a:spcBef>
                <a:spcPts val="281"/>
              </a:spcBef>
              <a:buNone/>
              <a:tabLst>
                <a:tab algn="l" pos="0"/>
              </a:tabLst>
            </a:pPr>
            <a:endParaRPr b="0" lang="en-US" sz="1600" spc="-1" strike="noStrike">
              <a:solidFill>
                <a:srgbClr val="58585b"/>
              </a:solidFill>
              <a:latin typeface="Arial"/>
            </a:endParaRPr>
          </a:p>
        </p:txBody>
      </p:sp>
      <p:pic>
        <p:nvPicPr>
          <p:cNvPr id="369" name="Picture 1" descr=""/>
          <p:cNvPicPr/>
          <p:nvPr/>
        </p:nvPicPr>
        <p:blipFill>
          <a:blip r:embed="rId1"/>
          <a:stretch/>
        </p:blipFill>
        <p:spPr>
          <a:xfrm>
            <a:off x="4880160" y="943560"/>
            <a:ext cx="4263480" cy="32976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 Mitigations</a:t>
            </a:r>
            <a:br/>
            <a:r>
              <a:rPr b="0" lang="en-US" sz="2400" spc="-1" strike="noStrike">
                <a:solidFill>
                  <a:srgbClr val="004c69"/>
                </a:solidFill>
                <a:latin typeface="Arial"/>
                <a:ea typeface="ＭＳ Ｐゴシック"/>
              </a:rPr>
              <a:t>Firewalls</a:t>
            </a:r>
            <a:endParaRPr b="0" lang="en-US" sz="2400" spc="-1" strike="noStrike">
              <a:solidFill>
                <a:srgbClr val="58585b"/>
              </a:solidFill>
              <a:latin typeface="Arial"/>
            </a:endParaRPr>
          </a:p>
        </p:txBody>
      </p:sp>
      <p:sp>
        <p:nvSpPr>
          <p:cNvPr id="371" name="PlaceHolder 2"/>
          <p:cNvSpPr>
            <a:spLocks noGrp="1"/>
          </p:cNvSpPr>
          <p:nvPr>
            <p:ph/>
          </p:nvPr>
        </p:nvSpPr>
        <p:spPr>
          <a:xfrm>
            <a:off x="85680" y="763560"/>
            <a:ext cx="4530240" cy="3657600"/>
          </a:xfrm>
          <a:prstGeom prst="rect">
            <a:avLst/>
          </a:prstGeom>
          <a:noFill/>
          <a:ln w="0">
            <a:noFill/>
          </a:ln>
        </p:spPr>
        <p:txBody>
          <a:bodyPr anchor="t">
            <a:noAutofit/>
          </a:bodyPr>
          <a:p>
            <a:pPr>
              <a:lnSpc>
                <a:spcPct val="100000"/>
              </a:lnSpc>
              <a:spcBef>
                <a:spcPts val="320"/>
              </a:spcBef>
              <a:buNone/>
              <a:tabLst>
                <a:tab algn="l" pos="0"/>
              </a:tabLst>
            </a:pPr>
            <a:endParaRPr b="0" lang="en-US" sz="15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Network firewalls reside between two or more networks, control the traffic between them, and help prevent unauthorized access.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A firewall could allow outside users controlled access to specific services. For example, servers accessible to outside users are usually located on a special network referred to as the demilitarized zone (DMZ). The DMZ enables a network administrator to apply specific policies for hosts connected to that network.</a:t>
            </a:r>
            <a:endParaRPr b="0" lang="en-US" sz="1600" spc="-1" strike="noStrike">
              <a:solidFill>
                <a:srgbClr val="58585b"/>
              </a:solidFill>
              <a:latin typeface="Arial"/>
            </a:endParaRPr>
          </a:p>
        </p:txBody>
      </p:sp>
      <p:pic>
        <p:nvPicPr>
          <p:cNvPr id="372" name="Picture 7" descr=""/>
          <p:cNvPicPr/>
          <p:nvPr/>
        </p:nvPicPr>
        <p:blipFill>
          <a:blip r:embed="rId1"/>
          <a:stretch/>
        </p:blipFill>
        <p:spPr>
          <a:xfrm>
            <a:off x="4675320" y="448920"/>
            <a:ext cx="3611160" cy="1128240"/>
          </a:xfrm>
          <a:prstGeom prst="rect">
            <a:avLst/>
          </a:prstGeom>
          <a:ln w="0">
            <a:noFill/>
          </a:ln>
        </p:spPr>
      </p:pic>
      <p:pic>
        <p:nvPicPr>
          <p:cNvPr id="373" name="Picture 9" descr=""/>
          <p:cNvPicPr/>
          <p:nvPr/>
        </p:nvPicPr>
        <p:blipFill>
          <a:blip r:embed="rId2"/>
          <a:stretch/>
        </p:blipFill>
        <p:spPr>
          <a:xfrm>
            <a:off x="4675320" y="1486800"/>
            <a:ext cx="3611160" cy="1105920"/>
          </a:xfrm>
          <a:prstGeom prst="rect">
            <a:avLst/>
          </a:prstGeom>
          <a:ln w="0">
            <a:noFill/>
          </a:ln>
        </p:spPr>
      </p:pic>
      <p:pic>
        <p:nvPicPr>
          <p:cNvPr id="374" name="Picture 11" descr=""/>
          <p:cNvPicPr/>
          <p:nvPr/>
        </p:nvPicPr>
        <p:blipFill>
          <a:blip r:embed="rId3"/>
          <a:stretch/>
        </p:blipFill>
        <p:spPr>
          <a:xfrm>
            <a:off x="4861080" y="2786040"/>
            <a:ext cx="3239280" cy="183924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 Mitigations</a:t>
            </a:r>
            <a:br/>
            <a:r>
              <a:rPr b="0" lang="en-US" sz="2400" spc="-1" strike="noStrike">
                <a:solidFill>
                  <a:srgbClr val="004c69"/>
                </a:solidFill>
                <a:latin typeface="Arial"/>
                <a:ea typeface="ＭＳ Ｐゴシック"/>
              </a:rPr>
              <a:t>Types of Firewalls</a:t>
            </a:r>
            <a:endParaRPr b="0" lang="en-US" sz="2400" spc="-1" strike="noStrike">
              <a:solidFill>
                <a:srgbClr val="58585b"/>
              </a:solidFill>
              <a:latin typeface="Arial"/>
            </a:endParaRPr>
          </a:p>
        </p:txBody>
      </p:sp>
      <p:sp>
        <p:nvSpPr>
          <p:cNvPr id="376" name="PlaceHolder 2"/>
          <p:cNvSpPr>
            <a:spLocks noGrp="1"/>
          </p:cNvSpPr>
          <p:nvPr>
            <p:ph/>
          </p:nvPr>
        </p:nvSpPr>
        <p:spPr>
          <a:xfrm>
            <a:off x="474840" y="763560"/>
            <a:ext cx="8279640" cy="3657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Firewall products come packaged in various forms. These products use different techniques for determining what will be permitted or denied access to a network. They include the following:</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Packet filtering</a:t>
            </a:r>
            <a:r>
              <a:rPr b="0" lang="en-US" sz="1600" spc="-1" strike="noStrike">
                <a:solidFill>
                  <a:srgbClr val="000000"/>
                </a:solidFill>
                <a:latin typeface="Arial"/>
                <a:ea typeface="ＭＳ Ｐゴシック"/>
              </a:rPr>
              <a:t> - Prevents or allows access based on IP or MAC addresses</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Application filtering</a:t>
            </a:r>
            <a:r>
              <a:rPr b="0" lang="en-US" sz="1600" spc="-1" strike="noStrike">
                <a:solidFill>
                  <a:srgbClr val="000000"/>
                </a:solidFill>
                <a:latin typeface="Arial"/>
                <a:ea typeface="ＭＳ Ｐゴシック"/>
              </a:rPr>
              <a:t> - Prevents or allows access by specific application types based on port numbers</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URL filtering</a:t>
            </a:r>
            <a:r>
              <a:rPr b="0" lang="en-US" sz="1600" spc="-1" strike="noStrike">
                <a:solidFill>
                  <a:srgbClr val="000000"/>
                </a:solidFill>
                <a:latin typeface="Arial"/>
                <a:ea typeface="ＭＳ Ｐゴシック"/>
              </a:rPr>
              <a:t> - Prevents or allows access to websites based on specific URLs or keywords</a:t>
            </a:r>
            <a:endParaRPr b="0" lang="en-US" sz="16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1" lang="en-US" sz="1600" spc="-1" strike="noStrike">
                <a:solidFill>
                  <a:srgbClr val="000000"/>
                </a:solidFill>
                <a:latin typeface="Arial"/>
                <a:ea typeface="ＭＳ Ｐゴシック"/>
              </a:rPr>
              <a:t>Stateful packet inspection (SPI)</a:t>
            </a:r>
            <a:r>
              <a:rPr b="0" lang="en-US" sz="1600" spc="-1" strike="noStrike">
                <a:solidFill>
                  <a:srgbClr val="000000"/>
                </a:solidFill>
                <a:latin typeface="Arial"/>
                <a:ea typeface="ＭＳ Ｐゴシック"/>
              </a:rPr>
              <a:t> - Incoming packets must be legitimate responses to requests from internal hosts. Unsolicited packets are blocked unless permitted specifically. SPI can also include the capability to recognize and filter out specific types of attacks, such as denial of service (DoS).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Network Attack Mitigations</a:t>
            </a:r>
            <a:br/>
            <a:r>
              <a:rPr b="0" lang="en-US" sz="2400" spc="-1" strike="noStrike">
                <a:solidFill>
                  <a:srgbClr val="004c69"/>
                </a:solidFill>
                <a:latin typeface="Arial"/>
                <a:ea typeface="ＭＳ Ｐゴシック"/>
              </a:rPr>
              <a:t>Endpoint Security</a:t>
            </a:r>
            <a:endParaRPr b="0" lang="en-US" sz="2400" spc="-1" strike="noStrike">
              <a:solidFill>
                <a:srgbClr val="58585b"/>
              </a:solidFill>
              <a:latin typeface="Arial"/>
            </a:endParaRPr>
          </a:p>
        </p:txBody>
      </p:sp>
      <p:sp>
        <p:nvSpPr>
          <p:cNvPr id="378" name="PlaceHolder 2"/>
          <p:cNvSpPr>
            <a:spLocks noGrp="1"/>
          </p:cNvSpPr>
          <p:nvPr>
            <p:ph/>
          </p:nvPr>
        </p:nvSpPr>
        <p:spPr>
          <a:xfrm>
            <a:off x="474840" y="763560"/>
            <a:ext cx="8279640" cy="3657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An endpoint, or host, is an individual computer system or device that acts as a network client. Common endpoints are laptops, desktops, servers, smartphones, and tablets.</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Securing endpoint devices is one of the most challenging jobs of a network administrator because it involves human nature. A company must have well-documented policies in place and employees must be aware of these rules. </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Employees need to be trained on proper use of the network. Policies often include the use of antivirus software and host intrusion prevention. More comprehensive endpoint security solutions rely on network access control.</a:t>
            </a: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416520" y="1788120"/>
            <a:ext cx="7848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16.4 Device Security</a:t>
            </a:r>
            <a:endParaRPr b="0" lang="en-US" sz="4600" spc="-1" strike="noStrike">
              <a:solidFill>
                <a:srgbClr val="58585b"/>
              </a:solidFill>
              <a:latin typeface="Arial"/>
            </a:endParaRPr>
          </a:p>
        </p:txBody>
      </p:sp>
    </p:spTree>
  </p:cSld>
  <p:transition spd="slow">
    <p:wipe dir="l"/>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 Security</a:t>
            </a:r>
            <a:br/>
            <a:r>
              <a:rPr b="0" lang="en-US" sz="2400" spc="-1" strike="noStrike">
                <a:solidFill>
                  <a:srgbClr val="004c69"/>
                </a:solidFill>
                <a:latin typeface="Arial"/>
                <a:ea typeface="ＭＳ Ｐゴシック"/>
              </a:rPr>
              <a:t>Cisco AutoSecure</a:t>
            </a:r>
            <a:endParaRPr b="0" lang="en-US" sz="2400" spc="-1" strike="noStrike">
              <a:solidFill>
                <a:srgbClr val="58585b"/>
              </a:solidFill>
              <a:latin typeface="Arial"/>
            </a:endParaRPr>
          </a:p>
        </p:txBody>
      </p:sp>
      <p:sp>
        <p:nvSpPr>
          <p:cNvPr id="381" name="PlaceHolder 2"/>
          <p:cNvSpPr>
            <a:spLocks noGrp="1"/>
          </p:cNvSpPr>
          <p:nvPr>
            <p:ph/>
          </p:nvPr>
        </p:nvSpPr>
        <p:spPr>
          <a:xfrm>
            <a:off x="474840" y="763560"/>
            <a:ext cx="8279640" cy="3657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The security settings are set to the default values when a new operating system is installed on a device. In most cases, this level of security is inadequate. For Cisco routers, the Cisco AutoSecure feature can be used to assist securing the system.</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r>
              <a:rPr b="0" lang="en-US" sz="1600" spc="-1" strike="noStrike">
                <a:solidFill>
                  <a:srgbClr val="000000"/>
                </a:solidFill>
                <a:latin typeface="Arial"/>
                <a:ea typeface="ＭＳ Ｐゴシック"/>
              </a:rPr>
              <a:t>In addition, there are some simple steps that should be taken that apply to most operating systems:</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Default usernames and passwords should be changed immediately.</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Access to system resources should be restricted to only the individuals that are authorized to use those resources.</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Any unnecessary services and applications should be turned off and uninstalled when possible.</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Often, devices shipped from the manufacturer have been sitting in a warehouse for a period of time and do not have the most up-to-date patches installed. It is important to update any software and install any security patches prior to implementation.</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 Security</a:t>
            </a:r>
            <a:br/>
            <a:r>
              <a:rPr b="0" lang="en-US" sz="2400" spc="-1" strike="noStrike">
                <a:solidFill>
                  <a:srgbClr val="004c69"/>
                </a:solidFill>
                <a:latin typeface="Arial"/>
                <a:ea typeface="ＭＳ Ｐゴシック"/>
              </a:rPr>
              <a:t>Passwords</a:t>
            </a:r>
            <a:endParaRPr b="0" lang="en-US" sz="2400" spc="-1" strike="noStrike">
              <a:solidFill>
                <a:srgbClr val="58585b"/>
              </a:solidFill>
              <a:latin typeface="Arial"/>
            </a:endParaRPr>
          </a:p>
        </p:txBody>
      </p:sp>
      <p:sp>
        <p:nvSpPr>
          <p:cNvPr id="383" name="PlaceHolder 2"/>
          <p:cNvSpPr>
            <a:spLocks noGrp="1"/>
          </p:cNvSpPr>
          <p:nvPr>
            <p:ph/>
          </p:nvPr>
        </p:nvSpPr>
        <p:spPr>
          <a:xfrm>
            <a:off x="200160" y="628560"/>
            <a:ext cx="8943480" cy="4105080"/>
          </a:xfrm>
          <a:prstGeom prst="rect">
            <a:avLst/>
          </a:prstGeom>
          <a:noFill/>
          <a:ln w="0">
            <a:noFill/>
          </a:ln>
        </p:spPr>
        <p:txBody>
          <a:bodyPr anchor="t">
            <a:noAutofit/>
          </a:bodyPr>
          <a:p>
            <a:pPr>
              <a:lnSpc>
                <a:spcPct val="100000"/>
              </a:lnSpc>
              <a:spcBef>
                <a:spcPts val="300"/>
              </a:spcBef>
              <a:buNone/>
              <a:tabLst>
                <a:tab algn="l" pos="0"/>
              </a:tabLst>
            </a:pPr>
            <a:r>
              <a:rPr b="0" lang="en-US" sz="1500" spc="-1" strike="noStrike">
                <a:solidFill>
                  <a:srgbClr val="000000"/>
                </a:solidFill>
                <a:latin typeface="Arial"/>
                <a:ea typeface="ＭＳ Ｐゴシック"/>
              </a:rPr>
              <a:t>To protect network devices, it is important to use strong passwords. Here are standard guidelines to follow:</a:t>
            </a:r>
            <a:endParaRPr b="0" lang="en-US" sz="15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500" spc="-1" strike="noStrike">
                <a:solidFill>
                  <a:srgbClr val="000000"/>
                </a:solidFill>
                <a:latin typeface="Arial"/>
                <a:ea typeface="ＭＳ Ｐゴシック"/>
              </a:rPr>
              <a:t>Use a password length of at least eight characters, preferably 10 or more characters. </a:t>
            </a:r>
            <a:endParaRPr b="0" lang="en-US" sz="15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500" spc="-1" strike="noStrike">
                <a:solidFill>
                  <a:srgbClr val="000000"/>
                </a:solidFill>
                <a:latin typeface="Arial"/>
                <a:ea typeface="ＭＳ Ｐゴシック"/>
              </a:rPr>
              <a:t>Make passwords complex. Include a mix of uppercase and lowercase letters, numbers, symbols, and spaces, if allowed.</a:t>
            </a:r>
            <a:endParaRPr b="0" lang="en-US" sz="15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500" spc="-1" strike="noStrike">
                <a:solidFill>
                  <a:srgbClr val="000000"/>
                </a:solidFill>
                <a:latin typeface="Arial"/>
                <a:ea typeface="ＭＳ Ｐゴシック"/>
              </a:rPr>
              <a:t>Avoid passwords based on repetition, common dictionary words, letter or number sequences, usernames, relative or pet names, biographical information, such as birthdates, ID numbers, ancestor names, or other easily identifiable pieces of information.</a:t>
            </a:r>
            <a:endParaRPr b="0" lang="en-US" sz="15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500" spc="-1" strike="noStrike">
                <a:solidFill>
                  <a:srgbClr val="000000"/>
                </a:solidFill>
                <a:latin typeface="Arial"/>
                <a:ea typeface="ＭＳ Ｐゴシック"/>
              </a:rPr>
              <a:t>Deliberately misspell a password. For example, Smith = Smyth = 5mYth or Security = 5ecur1ty.</a:t>
            </a:r>
            <a:endParaRPr b="0" lang="en-US" sz="15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500" spc="-1" strike="noStrike">
                <a:solidFill>
                  <a:srgbClr val="000000"/>
                </a:solidFill>
                <a:latin typeface="Arial"/>
                <a:ea typeface="ＭＳ Ｐゴシック"/>
              </a:rPr>
              <a:t>Change passwords often. If a password is unknowingly compromised, the window of opportunity for the threat actor to use the password is limited.</a:t>
            </a:r>
            <a:endParaRPr b="0" lang="en-US" sz="1500" spc="-1" strike="noStrike">
              <a:solidFill>
                <a:srgbClr val="58585b"/>
              </a:solidFill>
              <a:latin typeface="Arial"/>
            </a:endParaRPr>
          </a:p>
          <a:p>
            <a:pPr lvl="1" marL="358920" indent="-285840">
              <a:lnSpc>
                <a:spcPct val="95000"/>
              </a:lnSpc>
              <a:spcBef>
                <a:spcPts val="601"/>
              </a:spcBef>
              <a:buClr>
                <a:srgbClr val="58585b"/>
              </a:buClr>
              <a:buFont typeface="Arial"/>
              <a:buChar char="•"/>
              <a:tabLst>
                <a:tab algn="l" pos="0"/>
              </a:tabLst>
            </a:pPr>
            <a:r>
              <a:rPr b="0" lang="en-US" sz="1500" spc="-1" strike="noStrike">
                <a:solidFill>
                  <a:srgbClr val="000000"/>
                </a:solidFill>
                <a:latin typeface="Arial"/>
                <a:ea typeface="ＭＳ Ｐゴシック"/>
              </a:rPr>
              <a:t>Do not write passwords down and leave them in obvious places such as on the desk or monitor.</a:t>
            </a:r>
            <a:endParaRPr b="0" lang="en-US" sz="1500" spc="-1" strike="noStrike">
              <a:solidFill>
                <a:srgbClr val="58585b"/>
              </a:solidFill>
              <a:latin typeface="Arial"/>
            </a:endParaRPr>
          </a:p>
          <a:p>
            <a:pPr>
              <a:lnSpc>
                <a:spcPct val="100000"/>
              </a:lnSpc>
              <a:spcBef>
                <a:spcPts val="300"/>
              </a:spcBef>
              <a:buNone/>
              <a:tabLst>
                <a:tab algn="l" pos="0"/>
              </a:tabLst>
            </a:pPr>
            <a:r>
              <a:rPr b="0" lang="en-US" sz="1500" spc="-1" strike="noStrike">
                <a:solidFill>
                  <a:srgbClr val="000000"/>
                </a:solidFill>
                <a:latin typeface="Arial"/>
                <a:ea typeface="ＭＳ Ｐゴシック"/>
              </a:rPr>
              <a:t>On Cisco routers, leading spaces are ignored for passwords, but spaces after the first character are not. Therefore, one method to create a strong password is to use the space bar and create a phrase made of many words. This is called a passphrase. A passphrase is often easier to remember than a simple password. It is also longer and harder to guess.</a:t>
            </a:r>
            <a:endParaRPr b="0" lang="en-US" sz="15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 Security</a:t>
            </a:r>
            <a:br/>
            <a:r>
              <a:rPr b="0" lang="en-US" sz="2400" spc="-1" strike="noStrike">
                <a:solidFill>
                  <a:srgbClr val="004c69"/>
                </a:solidFill>
                <a:latin typeface="Arial"/>
                <a:ea typeface="ＭＳ Ｐゴシック"/>
              </a:rPr>
              <a:t>Additional Password Security</a:t>
            </a:r>
            <a:endParaRPr b="0" lang="en-US" sz="2400" spc="-1" strike="noStrike">
              <a:solidFill>
                <a:srgbClr val="58585b"/>
              </a:solidFill>
              <a:latin typeface="Arial"/>
            </a:endParaRPr>
          </a:p>
        </p:txBody>
      </p:sp>
      <p:sp>
        <p:nvSpPr>
          <p:cNvPr id="385" name="PlaceHolder 2"/>
          <p:cNvSpPr>
            <a:spLocks noGrp="1"/>
          </p:cNvSpPr>
          <p:nvPr>
            <p:ph/>
          </p:nvPr>
        </p:nvSpPr>
        <p:spPr>
          <a:xfrm>
            <a:off x="0" y="763560"/>
            <a:ext cx="4349160" cy="38556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There are several steps that can be taken to help ensure that passwords remain secret on a Cisco router and switch including these:</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Encrypt all plaintext passwords with the </a:t>
            </a:r>
            <a:r>
              <a:rPr b="1" lang="en-US" sz="1600" spc="-1" strike="noStrike">
                <a:solidFill>
                  <a:srgbClr val="000000"/>
                </a:solidFill>
                <a:latin typeface="Arial"/>
                <a:ea typeface="ＭＳ Ｐゴシック"/>
              </a:rPr>
              <a:t>service password-encryption</a:t>
            </a:r>
            <a:r>
              <a:rPr b="0" lang="en-US" sz="1600" spc="-1" strike="noStrike">
                <a:solidFill>
                  <a:srgbClr val="000000"/>
                </a:solidFill>
                <a:latin typeface="Arial"/>
                <a:ea typeface="ＭＳ Ｐゴシック"/>
              </a:rPr>
              <a:t> command.</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Set a minimum acceptable password length with the </a:t>
            </a:r>
            <a:r>
              <a:rPr b="1" lang="en-US" sz="1600" spc="-1" strike="noStrike">
                <a:solidFill>
                  <a:srgbClr val="000000"/>
                </a:solidFill>
                <a:latin typeface="Arial"/>
                <a:ea typeface="ＭＳ Ｐゴシック"/>
              </a:rPr>
              <a:t>security passwords min-length</a:t>
            </a:r>
            <a:r>
              <a:rPr b="0" lang="en-US" sz="1600" spc="-1" strike="noStrike">
                <a:solidFill>
                  <a:srgbClr val="000000"/>
                </a:solidFill>
                <a:latin typeface="Arial"/>
                <a:ea typeface="ＭＳ Ｐゴシック"/>
              </a:rPr>
              <a:t> command.</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Deter brute-force password guessing attacks with the </a:t>
            </a:r>
            <a:r>
              <a:rPr b="1" lang="en-US" sz="1600" spc="-1" strike="noStrike">
                <a:solidFill>
                  <a:srgbClr val="000000"/>
                </a:solidFill>
                <a:latin typeface="Arial"/>
                <a:ea typeface="ＭＳ Ｐゴシック"/>
              </a:rPr>
              <a:t>login block-for </a:t>
            </a:r>
            <a:r>
              <a:rPr b="1" i="1" lang="en-US" sz="1600" spc="-1" strike="noStrike">
                <a:solidFill>
                  <a:srgbClr val="000000"/>
                </a:solidFill>
                <a:latin typeface="Arial"/>
                <a:ea typeface="ＭＳ Ｐゴシック"/>
              </a:rPr>
              <a:t>#</a:t>
            </a:r>
            <a:r>
              <a:rPr b="1" lang="en-US" sz="1600" spc="-1" strike="noStrike">
                <a:solidFill>
                  <a:srgbClr val="000000"/>
                </a:solidFill>
                <a:latin typeface="Arial"/>
                <a:ea typeface="ＭＳ Ｐゴシック"/>
              </a:rPr>
              <a:t> attempts </a:t>
            </a:r>
            <a:r>
              <a:rPr b="1" i="1" lang="en-US" sz="1600" spc="-1" strike="noStrike">
                <a:solidFill>
                  <a:srgbClr val="000000"/>
                </a:solidFill>
                <a:latin typeface="Arial"/>
                <a:ea typeface="ＭＳ Ｐゴシック"/>
              </a:rPr>
              <a:t>#</a:t>
            </a:r>
            <a:r>
              <a:rPr b="1" lang="en-US" sz="1600" spc="-1" strike="noStrike">
                <a:solidFill>
                  <a:srgbClr val="000000"/>
                </a:solidFill>
                <a:latin typeface="Arial"/>
                <a:ea typeface="ＭＳ Ｐゴシック"/>
              </a:rPr>
              <a:t> within </a:t>
            </a:r>
            <a:r>
              <a:rPr b="1" i="1" lang="en-US" sz="1600" spc="-1" strike="noStrike">
                <a:solidFill>
                  <a:srgbClr val="000000"/>
                </a:solidFill>
                <a:latin typeface="Arial"/>
                <a:ea typeface="ＭＳ Ｐゴシック"/>
              </a:rPr>
              <a:t>#</a:t>
            </a:r>
            <a:r>
              <a:rPr b="0" lang="en-US" sz="1600" spc="-1" strike="noStrike">
                <a:solidFill>
                  <a:srgbClr val="000000"/>
                </a:solidFill>
                <a:latin typeface="Arial"/>
                <a:ea typeface="ＭＳ Ｐゴシック"/>
              </a:rPr>
              <a:t> </a:t>
            </a:r>
            <a:r>
              <a:rPr b="0" lang="en-US" sz="1600" spc="-1" strike="noStrike">
                <a:solidFill>
                  <a:srgbClr val="58585b"/>
                </a:solidFill>
                <a:latin typeface="Arial"/>
                <a:ea typeface="ＭＳ Ｐゴシック"/>
              </a:rPr>
              <a:t>command.</a:t>
            </a:r>
            <a:endParaRPr b="0" lang="en-US" sz="1600" spc="-1" strike="noStrike">
              <a:solidFill>
                <a:srgbClr val="58585b"/>
              </a:solidFill>
              <a:latin typeface="Arial"/>
            </a:endParaRPr>
          </a:p>
          <a:p>
            <a:pPr lvl="1" marL="416160" indent="-343080">
              <a:lnSpc>
                <a:spcPct val="95000"/>
              </a:lnSpc>
              <a:spcBef>
                <a:spcPts val="601"/>
              </a:spcBef>
              <a:buClr>
                <a:srgbClr val="58585b"/>
              </a:buClr>
              <a:buFont typeface="Arial"/>
              <a:buChar char="•"/>
              <a:tabLst>
                <a:tab algn="l" pos="0"/>
              </a:tabLst>
            </a:pPr>
            <a:r>
              <a:rPr b="0" lang="en-US" sz="1600" spc="-1" strike="noStrike">
                <a:solidFill>
                  <a:srgbClr val="000000"/>
                </a:solidFill>
                <a:latin typeface="Arial"/>
                <a:ea typeface="ＭＳ Ｐゴシック"/>
              </a:rPr>
              <a:t>Disable an inactive privileged EXEC mode access after a specified amount of time with the </a:t>
            </a:r>
            <a:r>
              <a:rPr b="1" lang="en-US" sz="1600" spc="-1" strike="noStrike">
                <a:solidFill>
                  <a:srgbClr val="000000"/>
                </a:solidFill>
                <a:latin typeface="Arial"/>
                <a:ea typeface="ＭＳ Ｐゴシック"/>
              </a:rPr>
              <a:t>exec-timeout</a:t>
            </a:r>
            <a:r>
              <a:rPr b="0" lang="en-US" sz="1600" spc="-1" strike="noStrike">
                <a:solidFill>
                  <a:srgbClr val="000000"/>
                </a:solidFill>
                <a:latin typeface="Arial"/>
                <a:ea typeface="ＭＳ Ｐゴシック"/>
              </a:rPr>
              <a:t> command.</a:t>
            </a:r>
            <a:endParaRPr b="0" lang="en-US" sz="1600" spc="-1" strike="noStrike">
              <a:solidFill>
                <a:srgbClr val="58585b"/>
              </a:solidFill>
              <a:latin typeface="Arial"/>
            </a:endParaRPr>
          </a:p>
          <a:p>
            <a:pPr>
              <a:lnSpc>
                <a:spcPct val="100000"/>
              </a:lnSpc>
              <a:spcBef>
                <a:spcPts val="320"/>
              </a:spcBef>
              <a:buNone/>
              <a:tabLst>
                <a:tab algn="l" pos="0"/>
              </a:tabLst>
            </a:pPr>
            <a:endParaRPr b="0" lang="en-US" sz="1600" spc="-1" strike="noStrike">
              <a:solidFill>
                <a:srgbClr val="58585b"/>
              </a:solidFill>
              <a:latin typeface="Arial"/>
            </a:endParaRPr>
          </a:p>
        </p:txBody>
      </p:sp>
      <p:pic>
        <p:nvPicPr>
          <p:cNvPr id="386" name="Picture 6" descr=""/>
          <p:cNvPicPr/>
          <p:nvPr/>
        </p:nvPicPr>
        <p:blipFill>
          <a:blip r:embed="rId1"/>
          <a:stretch/>
        </p:blipFill>
        <p:spPr>
          <a:xfrm>
            <a:off x="4349520" y="1180080"/>
            <a:ext cx="4377600" cy="2782800"/>
          </a:xfrm>
          <a:prstGeom prst="rect">
            <a:avLst/>
          </a:prstGeom>
          <a:ln w="0">
            <a:noFill/>
          </a:ln>
        </p:spPr>
      </p:pic>
    </p:spTree>
  </p:cSld>
  <mc:AlternateContent>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 Security</a:t>
            </a:r>
            <a:br/>
            <a:r>
              <a:rPr b="0" lang="en-US" sz="2400" spc="-1" strike="noStrike">
                <a:solidFill>
                  <a:srgbClr val="004c69"/>
                </a:solidFill>
                <a:latin typeface="Arial"/>
                <a:ea typeface="ＭＳ Ｐゴシック"/>
              </a:rPr>
              <a:t>Enable SSH</a:t>
            </a:r>
            <a:endParaRPr b="0" lang="en-US" sz="2400" spc="-1" strike="noStrike">
              <a:solidFill>
                <a:srgbClr val="58585b"/>
              </a:solidFill>
              <a:latin typeface="Arial"/>
            </a:endParaRPr>
          </a:p>
        </p:txBody>
      </p:sp>
      <p:sp>
        <p:nvSpPr>
          <p:cNvPr id="388" name="PlaceHolder 2"/>
          <p:cNvSpPr>
            <a:spLocks noGrp="1"/>
          </p:cNvSpPr>
          <p:nvPr>
            <p:ph/>
          </p:nvPr>
        </p:nvSpPr>
        <p:spPr>
          <a:xfrm>
            <a:off x="95400" y="666720"/>
            <a:ext cx="8905680" cy="3924000"/>
          </a:xfrm>
          <a:prstGeom prst="rect">
            <a:avLst/>
          </a:prstGeom>
          <a:noFill/>
          <a:ln w="0">
            <a:noFill/>
          </a:ln>
        </p:spPr>
        <p:txBody>
          <a:bodyPr anchor="t">
            <a:noAutofit/>
          </a:bodyPr>
          <a:p>
            <a:pPr>
              <a:lnSpc>
                <a:spcPct val="100000"/>
              </a:lnSpc>
              <a:spcBef>
                <a:spcPts val="320"/>
              </a:spcBef>
              <a:buNone/>
              <a:tabLst>
                <a:tab algn="l" pos="0"/>
              </a:tabLst>
            </a:pPr>
            <a:r>
              <a:rPr b="0" lang="en-US" sz="1600" spc="-1" strike="noStrike">
                <a:solidFill>
                  <a:srgbClr val="000000"/>
                </a:solidFill>
                <a:latin typeface="Arial"/>
                <a:ea typeface="ＭＳ Ｐゴシック"/>
              </a:rPr>
              <a:t>It is possible to configure a Cisco device to support SSH using the following steps:</a:t>
            </a:r>
            <a:endParaRPr b="0" lang="en-US" sz="1600" spc="-1" strike="noStrike">
              <a:solidFill>
                <a:srgbClr val="58585b"/>
              </a:solidFill>
              <a:latin typeface="Arial"/>
            </a:endParaRPr>
          </a:p>
          <a:p>
            <a:pPr marL="343080" indent="-343080">
              <a:lnSpc>
                <a:spcPct val="100000"/>
              </a:lnSpc>
              <a:spcBef>
                <a:spcPts val="281"/>
              </a:spcBef>
              <a:buClr>
                <a:srgbClr val="000000"/>
              </a:buClr>
              <a:buFont typeface="Arial"/>
              <a:buAutoNum type="arabicPeriod"/>
              <a:tabLst>
                <a:tab algn="l" pos="0"/>
              </a:tabLst>
            </a:pPr>
            <a:r>
              <a:rPr b="1" lang="en-US" sz="1400" spc="-1" strike="noStrike">
                <a:solidFill>
                  <a:srgbClr val="000000"/>
                </a:solidFill>
                <a:latin typeface="Arial"/>
                <a:ea typeface="ＭＳ Ｐゴシック"/>
              </a:rPr>
              <a:t>Configure a unique device hostname</a:t>
            </a:r>
            <a:r>
              <a:rPr b="0" lang="en-US" sz="1400" spc="-1" strike="noStrike">
                <a:solidFill>
                  <a:srgbClr val="000000"/>
                </a:solidFill>
                <a:latin typeface="Arial"/>
                <a:ea typeface="ＭＳ Ｐゴシック"/>
              </a:rPr>
              <a:t>. A device must have a unique hostname other than the default.</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AutoNum type="arabicPeriod"/>
              <a:tabLst>
                <a:tab algn="l" pos="0"/>
              </a:tabLst>
            </a:pPr>
            <a:r>
              <a:rPr b="1" lang="en-US" sz="1400" spc="-1" strike="noStrike">
                <a:solidFill>
                  <a:srgbClr val="000000"/>
                </a:solidFill>
                <a:latin typeface="Arial"/>
                <a:ea typeface="ＭＳ Ｐゴシック"/>
              </a:rPr>
              <a:t>Configure the IP domain name</a:t>
            </a:r>
            <a:r>
              <a:rPr b="0" lang="en-US" sz="1400" spc="-1" strike="noStrike">
                <a:solidFill>
                  <a:srgbClr val="000000"/>
                </a:solidFill>
                <a:latin typeface="Arial"/>
                <a:ea typeface="ＭＳ Ｐゴシック"/>
              </a:rPr>
              <a:t>. Configure the IP domain name of the network by using the global configuration mode command </a:t>
            </a:r>
            <a:r>
              <a:rPr b="1" lang="en-US" sz="1400" spc="-1" strike="noStrike">
                <a:solidFill>
                  <a:srgbClr val="000000"/>
                </a:solidFill>
                <a:latin typeface="Arial"/>
                <a:ea typeface="ＭＳ Ｐゴシック"/>
              </a:rPr>
              <a:t>ip-domain name</a:t>
            </a:r>
            <a:r>
              <a:rPr b="0" lang="en-US" sz="1400" spc="-1" strike="noStrike">
                <a:solidFill>
                  <a:srgbClr val="000000"/>
                </a:solidFill>
                <a:latin typeface="Arial"/>
                <a:ea typeface="ＭＳ Ｐゴシック"/>
              </a:rPr>
              <a:t>.</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AutoNum type="arabicPeriod"/>
              <a:tabLst>
                <a:tab algn="l" pos="0"/>
              </a:tabLst>
            </a:pPr>
            <a:r>
              <a:rPr b="1" lang="en-US" sz="1400" spc="-1" strike="noStrike">
                <a:solidFill>
                  <a:srgbClr val="000000"/>
                </a:solidFill>
                <a:latin typeface="Arial"/>
                <a:ea typeface="ＭＳ Ｐゴシック"/>
              </a:rPr>
              <a:t>Generate a key to encrypt SSH traffic</a:t>
            </a:r>
            <a:r>
              <a:rPr b="0" lang="en-US" sz="1400" spc="-1" strike="noStrike">
                <a:solidFill>
                  <a:srgbClr val="000000"/>
                </a:solidFill>
                <a:latin typeface="Arial"/>
                <a:ea typeface="ＭＳ Ｐゴシック"/>
              </a:rPr>
              <a:t>. SSH encrypts traffic between source and destination. However, to do so, a unique authentication key must be generated by using the global configuration command </a:t>
            </a:r>
            <a:r>
              <a:rPr b="1" lang="en-US" sz="1400" spc="-1" strike="noStrike">
                <a:solidFill>
                  <a:srgbClr val="000000"/>
                </a:solidFill>
                <a:latin typeface="Arial"/>
                <a:ea typeface="ＭＳ Ｐゴシック"/>
              </a:rPr>
              <a:t>crypto key generate rsa general-keys modulus</a:t>
            </a:r>
            <a:r>
              <a:rPr b="0" lang="en-US" sz="1400" spc="-1" strike="noStrike">
                <a:solidFill>
                  <a:srgbClr val="000000"/>
                </a:solidFill>
                <a:latin typeface="Arial"/>
                <a:ea typeface="ＭＳ Ｐゴシック"/>
              </a:rPr>
              <a:t> </a:t>
            </a:r>
            <a:r>
              <a:rPr b="0" i="1" lang="en-US" sz="1400" spc="-1" strike="noStrike">
                <a:solidFill>
                  <a:srgbClr val="000000"/>
                </a:solidFill>
                <a:latin typeface="Arial"/>
                <a:ea typeface="ＭＳ Ｐゴシック"/>
              </a:rPr>
              <a:t>bits</a:t>
            </a:r>
            <a:r>
              <a:rPr b="0" lang="en-US" sz="1400" spc="-1" strike="noStrike">
                <a:solidFill>
                  <a:srgbClr val="000000"/>
                </a:solidFill>
                <a:latin typeface="Arial"/>
                <a:ea typeface="ＭＳ Ｐゴシック"/>
              </a:rPr>
              <a:t>. The modulus </a:t>
            </a:r>
            <a:r>
              <a:rPr b="0" i="1" lang="en-US" sz="1400" spc="-1" strike="noStrike">
                <a:solidFill>
                  <a:srgbClr val="000000"/>
                </a:solidFill>
                <a:latin typeface="Arial"/>
                <a:ea typeface="ＭＳ Ｐゴシック"/>
              </a:rPr>
              <a:t>bits</a:t>
            </a:r>
            <a:r>
              <a:rPr b="0" lang="en-US" sz="1400" spc="-1" strike="noStrike">
                <a:solidFill>
                  <a:srgbClr val="000000"/>
                </a:solidFill>
                <a:latin typeface="Arial"/>
                <a:ea typeface="ＭＳ Ｐゴシック"/>
              </a:rPr>
              <a:t> determines the size of the key and can be configured from 360 bits to 2048 bits. The larger the bit value, the more secure the key. However, larger bit values also take longer to encrypt and decrypt information. The minimum recommended modulus length is 1024 bits.</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AutoNum type="arabicPeriod"/>
              <a:tabLst>
                <a:tab algn="l" pos="0"/>
              </a:tabLst>
            </a:pPr>
            <a:r>
              <a:rPr b="1" lang="en-US" sz="1400" spc="-1" strike="noStrike">
                <a:solidFill>
                  <a:srgbClr val="000000"/>
                </a:solidFill>
                <a:latin typeface="Arial"/>
                <a:ea typeface="ＭＳ Ｐゴシック"/>
              </a:rPr>
              <a:t>Verify or create a local database entry</a:t>
            </a:r>
            <a:r>
              <a:rPr b="0" lang="en-US" sz="1400" spc="-1" strike="noStrike">
                <a:solidFill>
                  <a:srgbClr val="000000"/>
                </a:solidFill>
                <a:latin typeface="Arial"/>
                <a:ea typeface="ＭＳ Ｐゴシック"/>
              </a:rPr>
              <a:t>. Create a local database username entry using the </a:t>
            </a:r>
            <a:r>
              <a:rPr b="1" lang="en-US" sz="1400" spc="-1" strike="noStrike">
                <a:solidFill>
                  <a:srgbClr val="000000"/>
                </a:solidFill>
                <a:latin typeface="Arial"/>
                <a:ea typeface="ＭＳ Ｐゴシック"/>
              </a:rPr>
              <a:t>username</a:t>
            </a:r>
            <a:r>
              <a:rPr b="0" lang="en-US" sz="1400" spc="-1" strike="noStrike">
                <a:solidFill>
                  <a:srgbClr val="000000"/>
                </a:solidFill>
                <a:latin typeface="Arial"/>
                <a:ea typeface="ＭＳ Ｐゴシック"/>
              </a:rPr>
              <a:t> global configuration command.</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AutoNum type="arabicPeriod"/>
              <a:tabLst>
                <a:tab algn="l" pos="0"/>
              </a:tabLst>
            </a:pPr>
            <a:r>
              <a:rPr b="1" lang="en-US" sz="1400" spc="-1" strike="noStrike">
                <a:solidFill>
                  <a:srgbClr val="000000"/>
                </a:solidFill>
                <a:latin typeface="Arial"/>
                <a:ea typeface="ＭＳ Ｐゴシック"/>
              </a:rPr>
              <a:t>Authenticate against the local database</a:t>
            </a:r>
            <a:r>
              <a:rPr b="0" lang="en-US" sz="1400" spc="-1" strike="noStrike">
                <a:solidFill>
                  <a:srgbClr val="000000"/>
                </a:solidFill>
                <a:latin typeface="Arial"/>
                <a:ea typeface="ＭＳ Ｐゴシック"/>
              </a:rPr>
              <a:t>. Use the </a:t>
            </a:r>
            <a:r>
              <a:rPr b="1" lang="en-US" sz="1400" spc="-1" strike="noStrike">
                <a:solidFill>
                  <a:srgbClr val="000000"/>
                </a:solidFill>
                <a:latin typeface="Arial"/>
                <a:ea typeface="ＭＳ Ｐゴシック"/>
              </a:rPr>
              <a:t>login local</a:t>
            </a:r>
            <a:r>
              <a:rPr b="0" lang="en-US" sz="1400" spc="-1" strike="noStrike">
                <a:solidFill>
                  <a:srgbClr val="000000"/>
                </a:solidFill>
                <a:latin typeface="Arial"/>
                <a:ea typeface="ＭＳ Ｐゴシック"/>
              </a:rPr>
              <a:t> line configuration command to authenticate the vty line against the local database.</a:t>
            </a:r>
            <a:endParaRPr b="0" lang="en-US" sz="1400" spc="-1" strike="noStrike">
              <a:solidFill>
                <a:srgbClr val="58585b"/>
              </a:solidFill>
              <a:latin typeface="Arial"/>
            </a:endParaRPr>
          </a:p>
          <a:p>
            <a:pPr marL="343080" indent="-343080">
              <a:lnSpc>
                <a:spcPct val="100000"/>
              </a:lnSpc>
              <a:spcBef>
                <a:spcPts val="281"/>
              </a:spcBef>
              <a:buClr>
                <a:srgbClr val="000000"/>
              </a:buClr>
              <a:buFont typeface="Arial"/>
              <a:buAutoNum type="arabicPeriod"/>
              <a:tabLst>
                <a:tab algn="l" pos="0"/>
              </a:tabLst>
            </a:pPr>
            <a:r>
              <a:rPr b="1" lang="en-US" sz="1400" spc="-1" strike="noStrike">
                <a:solidFill>
                  <a:srgbClr val="000000"/>
                </a:solidFill>
                <a:latin typeface="Arial"/>
                <a:ea typeface="ＭＳ Ｐゴシック"/>
              </a:rPr>
              <a:t>Enable vty inbound SSH sessions</a:t>
            </a:r>
            <a:r>
              <a:rPr b="0" lang="en-US" sz="1400" spc="-1" strike="noStrike">
                <a:solidFill>
                  <a:srgbClr val="000000"/>
                </a:solidFill>
                <a:latin typeface="Arial"/>
                <a:ea typeface="ＭＳ Ｐゴシック"/>
              </a:rPr>
              <a:t>. By default, no input session is allowed on vty lines. You can specify multiple input protocols including Telnet and SSH using the </a:t>
            </a:r>
            <a:r>
              <a:rPr b="1" lang="en-US" sz="1400" spc="-1" strike="noStrike">
                <a:solidFill>
                  <a:srgbClr val="000000"/>
                </a:solidFill>
                <a:latin typeface="Arial"/>
                <a:ea typeface="ＭＳ Ｐゴシック"/>
              </a:rPr>
              <a:t>transport input [ssh | telnet]</a:t>
            </a:r>
            <a:r>
              <a:rPr b="0" lang="en-US" sz="1400" spc="-1" strike="noStrike">
                <a:solidFill>
                  <a:srgbClr val="000000"/>
                </a:solidFill>
                <a:latin typeface="Arial"/>
                <a:ea typeface="ＭＳ Ｐゴシック"/>
              </a:rPr>
              <a:t> command.</a:t>
            </a:r>
            <a:endParaRPr b="0" lang="en-US" sz="1400" spc="-1" strike="noStrike">
              <a:solidFill>
                <a:srgbClr val="58585b"/>
              </a:solidFill>
              <a:latin typeface="Arial"/>
            </a:endParaRPr>
          </a:p>
          <a:p>
            <a:pPr>
              <a:lnSpc>
                <a:spcPct val="100000"/>
              </a:lnSpc>
              <a:spcBef>
                <a:spcPts val="281"/>
              </a:spcBef>
              <a:buNone/>
              <a:tabLst>
                <a:tab algn="l" pos="0"/>
              </a:tabLst>
            </a:pPr>
            <a:endParaRPr b="0" lang="en-US" sz="14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 Security</a:t>
            </a:r>
            <a:br/>
            <a:r>
              <a:rPr b="0" lang="en-US" sz="2400" spc="-1" strike="noStrike">
                <a:solidFill>
                  <a:srgbClr val="004c69"/>
                </a:solidFill>
                <a:latin typeface="Arial"/>
                <a:ea typeface="ＭＳ Ｐゴシック"/>
              </a:rPr>
              <a:t>Disable Unused Services</a:t>
            </a:r>
            <a:endParaRPr b="0" lang="en-US" sz="2400" spc="-1" strike="noStrike">
              <a:solidFill>
                <a:srgbClr val="58585b"/>
              </a:solidFill>
              <a:latin typeface="Arial"/>
            </a:endParaRPr>
          </a:p>
        </p:txBody>
      </p:sp>
      <p:sp>
        <p:nvSpPr>
          <p:cNvPr id="390" name="PlaceHolder 2"/>
          <p:cNvSpPr>
            <a:spLocks noGrp="1"/>
          </p:cNvSpPr>
          <p:nvPr>
            <p:ph/>
          </p:nvPr>
        </p:nvSpPr>
        <p:spPr>
          <a:xfrm>
            <a:off x="142920" y="763560"/>
            <a:ext cx="8611560" cy="3657600"/>
          </a:xfrm>
          <a:prstGeom prst="rect">
            <a:avLst/>
          </a:prstGeom>
          <a:noFill/>
          <a:ln w="0">
            <a:noFill/>
          </a:ln>
        </p:spPr>
        <p:txBody>
          <a:bodyPr anchor="t">
            <a:noAutofit/>
          </a:bodyPr>
          <a:p>
            <a:pPr>
              <a:lnSpc>
                <a:spcPct val="100000"/>
              </a:lnSpc>
              <a:spcBef>
                <a:spcPts val="360"/>
              </a:spcBef>
              <a:buNone/>
              <a:tabLst>
                <a:tab algn="l" pos="0"/>
              </a:tabLst>
            </a:pPr>
            <a:r>
              <a:rPr b="0" lang="en-US" sz="1800" spc="-1" strike="noStrike">
                <a:solidFill>
                  <a:srgbClr val="000000"/>
                </a:solidFill>
                <a:latin typeface="Arial"/>
                <a:ea typeface="ＭＳ Ｐゴシック"/>
              </a:rPr>
              <a:t>Cisco routers and switches start with a list of active services that may or may not be required in your network. Disable any unused services to preserve system resources, such as CPU cycles and RAM, and prevent threat actors from exploiting these services. </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The type of services that are on by default will vary depending on the IOS version. For example, IOS-XE typically will have only HTTPS and DHCP ports open. You can verify this with the </a:t>
            </a:r>
            <a:r>
              <a:rPr b="1" lang="en-US" sz="1800" spc="-1" strike="noStrike">
                <a:solidFill>
                  <a:srgbClr val="000000"/>
                </a:solidFill>
                <a:latin typeface="Arial"/>
                <a:ea typeface="ＭＳ Ｐゴシック"/>
              </a:rPr>
              <a:t>show ip ports all</a:t>
            </a:r>
            <a:r>
              <a:rPr b="0" lang="en-US" sz="1800" spc="-1" strike="noStrike">
                <a:solidFill>
                  <a:srgbClr val="000000"/>
                </a:solidFill>
                <a:latin typeface="Arial"/>
                <a:ea typeface="ＭＳ Ｐゴシック"/>
              </a:rPr>
              <a:t> command.</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IOS versions prior to IOS-XE use the </a:t>
            </a:r>
            <a:r>
              <a:rPr b="1" lang="en-US" sz="1800" spc="-1" strike="noStrike">
                <a:solidFill>
                  <a:srgbClr val="000000"/>
                </a:solidFill>
                <a:latin typeface="Arial"/>
                <a:ea typeface="ＭＳ Ｐゴシック"/>
              </a:rPr>
              <a:t>show control-plane host open-ports</a:t>
            </a:r>
            <a:r>
              <a:rPr b="0" lang="en-US" sz="1800" spc="-1" strike="noStrike">
                <a:solidFill>
                  <a:srgbClr val="000000"/>
                </a:solidFill>
                <a:latin typeface="Arial"/>
                <a:ea typeface="ＭＳ Ｐゴシック"/>
              </a:rPr>
              <a:t> command. </a:t>
            </a:r>
            <a:endParaRPr b="0" lang="en-US" sz="18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 Security</a:t>
            </a:r>
            <a:br/>
            <a:r>
              <a:rPr b="0" lang="en-US" sz="2400" spc="-1" strike="noStrike">
                <a:solidFill>
                  <a:srgbClr val="004c69"/>
                </a:solidFill>
                <a:latin typeface="Arial"/>
                <a:ea typeface="ＭＳ Ｐゴシック"/>
              </a:rPr>
              <a:t>Packet Tracer – Configure Secure Passwords and SSH</a:t>
            </a:r>
            <a:endParaRPr b="0" lang="en-US" sz="2400" spc="-1" strike="noStrike">
              <a:solidFill>
                <a:srgbClr val="58585b"/>
              </a:solidFill>
              <a:latin typeface="Arial"/>
            </a:endParaRPr>
          </a:p>
        </p:txBody>
      </p:sp>
      <p:sp>
        <p:nvSpPr>
          <p:cNvPr id="392" name="PlaceHolder 2"/>
          <p:cNvSpPr>
            <a:spLocks noGrp="1"/>
          </p:cNvSpPr>
          <p:nvPr>
            <p:ph/>
          </p:nvPr>
        </p:nvSpPr>
        <p:spPr>
          <a:xfrm>
            <a:off x="474840" y="763560"/>
            <a:ext cx="8279640" cy="3657600"/>
          </a:xfrm>
          <a:prstGeom prst="rect">
            <a:avLst/>
          </a:prstGeom>
          <a:noFill/>
          <a:ln w="0">
            <a:noFill/>
          </a:ln>
        </p:spPr>
        <p:txBody>
          <a:bodyPr anchor="t">
            <a:noAutofit/>
          </a:bodyPr>
          <a:p>
            <a:pPr>
              <a:lnSpc>
                <a:spcPct val="100000"/>
              </a:lnSpc>
              <a:spcBef>
                <a:spcPts val="400"/>
              </a:spcBef>
              <a:buNone/>
              <a:tabLst>
                <a:tab algn="l" pos="0"/>
              </a:tabLst>
            </a:pPr>
            <a:r>
              <a:rPr b="0" lang="en-US" sz="2000" spc="-1" strike="noStrike">
                <a:solidFill>
                  <a:srgbClr val="000000"/>
                </a:solidFill>
                <a:latin typeface="Arial"/>
                <a:ea typeface="ＭＳ Ｐゴシック"/>
              </a:rPr>
              <a:t>In this Packet Tracer, you will configure passwords and SSH:</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The network administrator has asked you to prepare RTA and SW1 for deployment. Before they can be connected to the network, security measures must be enabled. </a:t>
            </a:r>
            <a:endParaRPr b="0" lang="en-US" sz="20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title"/>
          </p:nvPr>
        </p:nvSpPr>
        <p:spPr>
          <a:xfrm>
            <a:off x="0" y="32040"/>
            <a:ext cx="8345160" cy="731520"/>
          </a:xfrm>
          <a:prstGeom prst="rect">
            <a:avLst/>
          </a:prstGeom>
          <a:noFill/>
          <a:ln w="0">
            <a:noFill/>
          </a:ln>
        </p:spPr>
        <p:txBody>
          <a:bodyPr numCol="1" spcCol="0" anchor="ctr">
            <a:noAutofit/>
          </a:bodyPr>
          <a:p>
            <a:pPr>
              <a:lnSpc>
                <a:spcPct val="80000"/>
              </a:lnSpc>
              <a:buNone/>
            </a:pPr>
            <a:r>
              <a:rPr b="0" lang="en-US" sz="1600" spc="-1" strike="noStrike">
                <a:solidFill>
                  <a:srgbClr val="004c69"/>
                </a:solidFill>
                <a:latin typeface="Arial"/>
                <a:ea typeface="ＭＳ Ｐゴシック"/>
              </a:rPr>
              <a:t>Device Security</a:t>
            </a:r>
            <a:br/>
            <a:r>
              <a:rPr b="0" lang="en-US" sz="2400" spc="-1" strike="noStrike">
                <a:solidFill>
                  <a:srgbClr val="004c69"/>
                </a:solidFill>
                <a:latin typeface="Arial"/>
                <a:ea typeface="ＭＳ Ｐゴシック"/>
              </a:rPr>
              <a:t>Lab – Configure Network Devices with SSH</a:t>
            </a:r>
            <a:endParaRPr b="0" lang="en-US" sz="2400" spc="-1" strike="noStrike">
              <a:solidFill>
                <a:srgbClr val="58585b"/>
              </a:solidFill>
              <a:latin typeface="Arial"/>
            </a:endParaRPr>
          </a:p>
        </p:txBody>
      </p:sp>
      <p:sp>
        <p:nvSpPr>
          <p:cNvPr id="394" name="PlaceHolder 2"/>
          <p:cNvSpPr>
            <a:spLocks noGrp="1"/>
          </p:cNvSpPr>
          <p:nvPr>
            <p:ph/>
          </p:nvPr>
        </p:nvSpPr>
        <p:spPr>
          <a:xfrm>
            <a:off x="474840" y="763560"/>
            <a:ext cx="8279640" cy="3657600"/>
          </a:xfrm>
          <a:prstGeom prst="rect">
            <a:avLst/>
          </a:prstGeom>
          <a:noFill/>
          <a:ln w="0">
            <a:noFill/>
          </a:ln>
        </p:spPr>
        <p:txBody>
          <a:bodyPr anchor="t">
            <a:noAutofit/>
          </a:bodyPr>
          <a:p>
            <a:pPr marL="285840" indent="-285840">
              <a:lnSpc>
                <a:spcPct val="100000"/>
              </a:lnSpc>
              <a:spcBef>
                <a:spcPts val="400"/>
              </a:spcBef>
              <a:buNone/>
              <a:tabLst>
                <a:tab algn="l" pos="0"/>
              </a:tabLst>
            </a:pPr>
            <a:r>
              <a:rPr b="0" lang="en-US" sz="2000" spc="-1" strike="noStrike">
                <a:solidFill>
                  <a:srgbClr val="000000"/>
                </a:solidFill>
                <a:latin typeface="Arial"/>
                <a:ea typeface="ＭＳ Ｐゴシック"/>
              </a:rPr>
              <a:t>In this lab, you will complete the following objectives:</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1: Configure Basic Device Settings</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2: Configure the Router for SSH Access</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3: Configure the Switch for SSH Access</a:t>
            </a:r>
            <a:endParaRPr b="0" lang="en-US" sz="2000" spc="-1" strike="noStrike">
              <a:solidFill>
                <a:srgbClr val="58585b"/>
              </a:solidFill>
              <a:latin typeface="Arial"/>
            </a:endParaRPr>
          </a:p>
          <a:p>
            <a:pPr marL="343080" indent="-343080">
              <a:lnSpc>
                <a:spcPct val="100000"/>
              </a:lnSpc>
              <a:spcBef>
                <a:spcPts val="400"/>
              </a:spcBef>
              <a:buClr>
                <a:srgbClr val="000000"/>
              </a:buClr>
              <a:buFont typeface="Arial"/>
              <a:buChar char="•"/>
              <a:tabLst>
                <a:tab algn="l" pos="0"/>
              </a:tabLst>
            </a:pPr>
            <a:r>
              <a:rPr b="0" lang="en-US" sz="2000" spc="-1" strike="noStrike">
                <a:solidFill>
                  <a:srgbClr val="000000"/>
                </a:solidFill>
                <a:latin typeface="Arial"/>
                <a:ea typeface="ＭＳ Ｐゴシック"/>
              </a:rPr>
              <a:t>Part 4: SSH from the CLI on the Switch</a:t>
            </a:r>
            <a:endParaRPr b="0" lang="en-US" sz="2000" spc="-1" strike="noStrike">
              <a:solidFill>
                <a:srgbClr val="58585b"/>
              </a:solidFill>
              <a:latin typeface="Arial"/>
            </a:endParaRPr>
          </a:p>
          <a:p>
            <a:pPr marL="285840" indent="-285840">
              <a:lnSpc>
                <a:spcPct val="100000"/>
              </a:lnSpc>
              <a:spcBef>
                <a:spcPts val="400"/>
              </a:spcBef>
              <a:buNone/>
              <a:tabLst>
                <a:tab algn="l" pos="0"/>
              </a:tabLst>
            </a:pPr>
            <a:endParaRPr b="0" lang="en-US" sz="2000" spc="-1" strike="noStrike">
              <a:solidFill>
                <a:srgbClr val="58585b"/>
              </a:solidFill>
              <a:latin typeface="Arial"/>
            </a:endParaRPr>
          </a:p>
        </p:txBody>
      </p:sp>
    </p:spTree>
  </p:cSld>
  <mc:AlternateContent>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title"/>
          </p:nvPr>
        </p:nvSpPr>
        <p:spPr>
          <a:xfrm>
            <a:off x="416520" y="1747440"/>
            <a:ext cx="8280000" cy="96984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16.5 Module Practice and Quiz</a:t>
            </a:r>
            <a:endParaRPr b="0" lang="en-US" sz="4600" spc="-1" strike="noStrike">
              <a:solidFill>
                <a:srgbClr val="58585b"/>
              </a:solidFill>
              <a:latin typeface="Arial"/>
            </a:endParaRPr>
          </a:p>
        </p:txBody>
      </p:sp>
    </p:spTree>
  </p:cSld>
  <p:transition spd="slow">
    <p:wipe dir="l"/>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Packet Tracer – Secure Network Devices</a:t>
            </a:r>
            <a:endParaRPr b="0" lang="en-US" sz="2400" spc="-1" strike="noStrike">
              <a:solidFill>
                <a:srgbClr val="58585b"/>
              </a:solidFill>
              <a:latin typeface="Arial"/>
            </a:endParaRPr>
          </a:p>
        </p:txBody>
      </p:sp>
      <p:sp>
        <p:nvSpPr>
          <p:cNvPr id="397"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In this activity you will configure a router and a switch based on a list of requirements.</a:t>
            </a:r>
            <a:endParaRPr b="0" lang="en-US" sz="1800" spc="-1" strike="noStrike">
              <a:solidFill>
                <a:srgbClr val="58585b"/>
              </a:solidFill>
              <a:latin typeface="Arial"/>
            </a:endParaRPr>
          </a:p>
          <a:p>
            <a:pPr>
              <a:lnSpc>
                <a:spcPct val="100000"/>
              </a:lnSpc>
              <a:spcBef>
                <a:spcPts val="601"/>
              </a:spcBef>
              <a:spcAft>
                <a:spcPts val="601"/>
              </a:spcAft>
              <a:buNone/>
              <a:tabLst>
                <a:tab algn="l" pos="0"/>
              </a:tabLst>
            </a:pPr>
            <a:br/>
            <a:endParaRPr b="0" lang="en-US" sz="1800" spc="-1" strike="noStrike">
              <a:solidFill>
                <a:srgbClr val="58585b"/>
              </a:solidFill>
              <a:latin typeface="Arial"/>
            </a:endParaRPr>
          </a:p>
        </p:txBody>
      </p:sp>
    </p:spTree>
  </p:cSld>
  <p:transition spd="slow">
    <p:wipe dir="l"/>
  </p:transition>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Lab – Secure Network Devices</a:t>
            </a:r>
            <a:endParaRPr b="0" lang="en-US" sz="2400" spc="-1" strike="noStrike">
              <a:solidFill>
                <a:srgbClr val="58585b"/>
              </a:solidFill>
              <a:latin typeface="Arial"/>
            </a:endParaRPr>
          </a:p>
        </p:txBody>
      </p:sp>
      <p:sp>
        <p:nvSpPr>
          <p:cNvPr id="399"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a:lnSpc>
                <a:spcPct val="100000"/>
              </a:lnSpc>
              <a:spcBef>
                <a:spcPts val="360"/>
              </a:spcBef>
              <a:buNone/>
              <a:tabLst>
                <a:tab algn="l" pos="0"/>
              </a:tabLst>
            </a:pPr>
            <a:r>
              <a:rPr b="0" lang="en-US" sz="1800" spc="-1" strike="noStrike">
                <a:solidFill>
                  <a:srgbClr val="000000"/>
                </a:solidFill>
                <a:latin typeface="Arial"/>
                <a:ea typeface="ＭＳ Ｐゴシック"/>
              </a:rPr>
              <a:t>In this lab, you will complete the following objectives:</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Configure Basic Device Settings</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Configure Basic Security Measures on the Router</a:t>
            </a:r>
            <a:endParaRPr b="0" lang="en-US" sz="1800" spc="-1" strike="noStrike">
              <a:solidFill>
                <a:srgbClr val="58585b"/>
              </a:solidFill>
              <a:latin typeface="Arial"/>
            </a:endParaRPr>
          </a:p>
          <a:p>
            <a:pPr marL="343080" indent="-343080">
              <a:lnSpc>
                <a:spcPct val="100000"/>
              </a:lnSpc>
              <a:spcBef>
                <a:spcPts val="360"/>
              </a:spcBef>
              <a:buClr>
                <a:srgbClr val="000000"/>
              </a:buClr>
              <a:buFont typeface="Arial"/>
              <a:buChar char="•"/>
              <a:tabLst>
                <a:tab algn="l" pos="0"/>
              </a:tabLst>
            </a:pPr>
            <a:r>
              <a:rPr b="0" lang="en-US" sz="1800" spc="-1" strike="noStrike">
                <a:solidFill>
                  <a:srgbClr val="000000"/>
                </a:solidFill>
                <a:latin typeface="Arial"/>
                <a:ea typeface="ＭＳ Ｐゴシック"/>
              </a:rPr>
              <a:t>Configure Basic Security Measures on the Switch</a:t>
            </a:r>
            <a:endParaRPr b="0" lang="en-US" sz="1800" spc="-1" strike="noStrike">
              <a:solidFill>
                <a:srgbClr val="58585b"/>
              </a:solidFill>
              <a:latin typeface="Arial"/>
            </a:endParaRPr>
          </a:p>
          <a:p>
            <a:pPr>
              <a:lnSpc>
                <a:spcPct val="100000"/>
              </a:lnSpc>
              <a:spcBef>
                <a:spcPts val="601"/>
              </a:spcBef>
              <a:spcAft>
                <a:spcPts val="601"/>
              </a:spcAft>
              <a:buNone/>
              <a:tabLst>
                <a:tab algn="l" pos="0"/>
              </a:tabLst>
            </a:pPr>
            <a:br/>
            <a:endParaRPr b="0" lang="en-US" sz="1800" spc="-1" strike="noStrike">
              <a:solidFill>
                <a:srgbClr val="58585b"/>
              </a:solidFill>
              <a:latin typeface="Arial"/>
            </a:endParaRPr>
          </a:p>
        </p:txBody>
      </p:sp>
    </p:spTree>
  </p:cSld>
  <p:transition spd="slow">
    <p:wipe dir="l"/>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a:t>
            </a:r>
            <a:endParaRPr b="0" lang="en-US" sz="2400" spc="-1" strike="noStrike">
              <a:solidFill>
                <a:srgbClr val="58585b"/>
              </a:solidFill>
              <a:latin typeface="Arial"/>
            </a:endParaRPr>
          </a:p>
        </p:txBody>
      </p:sp>
      <p:sp>
        <p:nvSpPr>
          <p:cNvPr id="401"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After the threat actor gains access to the network, four types of threats may arise: information theft, data loss and manipulation, identity theft, and disruption of service.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There are three primary vulnerabilities or weaknesses: technological, configuration, and security policy.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 four classes of physical threats are: hardware, environmental, electrical, and maintenance.</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Malware is short for malicious software. It is code or software specifically designed to damage, disrupt, steal, or inflict “bad” or illegitimate action on data, hosts, or networks. Viruses, worms, and Trojan horses are types of malware.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Network attacks can be classified into three major categories: reconnaissance, access, and denial of service.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To mitigate network attacks, you must first secure devices including routers, switches, servers, and hosts. Most organizations employ a defense-in-depth approach to security. This requires a combination of networking devices and services working together.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Several security devices and services are implemented to protect an organization’s users and assets against TCP/IP threats: VPN, ASA firewall, IPS, ESA/WSA, and AAA server. </a:t>
            </a:r>
            <a:endParaRPr b="0" lang="en-US" sz="1600" spc="-1" strike="noStrike">
              <a:solidFill>
                <a:srgbClr val="58585b"/>
              </a:solidFill>
              <a:latin typeface="Arial"/>
            </a:endParaRPr>
          </a:p>
        </p:txBody>
      </p:sp>
    </p:spTree>
  </p:cSld>
  <p:transition spd="slow">
    <p:wipe dir="l"/>
  </p:transition>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 (Cont.)</a:t>
            </a:r>
            <a:endParaRPr b="0" lang="en-US" sz="2400" spc="-1" strike="noStrike">
              <a:solidFill>
                <a:srgbClr val="58585b"/>
              </a:solidFill>
              <a:latin typeface="Arial"/>
            </a:endParaRPr>
          </a:p>
        </p:txBody>
      </p:sp>
      <p:sp>
        <p:nvSpPr>
          <p:cNvPr id="403"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Infrastructure devices should have backups of configuration files and IOS images on an FTP or similar file server. If the computer or a router hardware fails, the data or configuration can be restored using the backup copy.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The most effective way to mitigate a worm attack is to download security updates from the operating system vendor and patch all vulnerable systems. To manage critical security patches, to make sure all end systems automatically download updates.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AAA is a way to control who is permitted to access a network (authenticate), what they can do while they are there (authorize), and what actions they perform while accessing the network (accounting).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Network firewalls reside between two or more networks, control the traffic between them, and help prevent unauthorized access.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Securing endpoint devices is critical to network security. A company must have well-documented policies in place, which may include the use of antivirus software and host intrusion prevention. More comprehensive endpoint security solutions rely on network access control.</a:t>
            </a:r>
            <a:endParaRPr b="0" lang="en-US" sz="1600" spc="-1" strike="noStrike">
              <a:solidFill>
                <a:srgbClr val="58585b"/>
              </a:solidFill>
              <a:latin typeface="Arial"/>
            </a:endParaRPr>
          </a:p>
          <a:p>
            <a:pPr>
              <a:lnSpc>
                <a:spcPct val="100000"/>
              </a:lnSpc>
              <a:spcBef>
                <a:spcPts val="601"/>
              </a:spcBef>
              <a:spcAft>
                <a:spcPts val="601"/>
              </a:spcAft>
              <a:buNone/>
            </a:pPr>
            <a:endParaRPr b="0" lang="en-US" sz="1600" spc="-1" strike="noStrike">
              <a:solidFill>
                <a:srgbClr val="58585b"/>
              </a:solidFill>
              <a:latin typeface="Arial"/>
            </a:endParaRPr>
          </a:p>
        </p:txBody>
      </p:sp>
    </p:spTree>
  </p:cSld>
  <p:transition spd="slow">
    <p:wipe dir="l"/>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 (Cont.)</a:t>
            </a:r>
            <a:endParaRPr b="0" lang="en-US" sz="2400" spc="-1" strike="noStrike">
              <a:solidFill>
                <a:srgbClr val="58585b"/>
              </a:solidFill>
              <a:latin typeface="Arial"/>
            </a:endParaRPr>
          </a:p>
        </p:txBody>
      </p:sp>
      <p:sp>
        <p:nvSpPr>
          <p:cNvPr id="405" name="PlaceHolder 2"/>
          <p:cNvSpPr>
            <a:spLocks noGrp="1"/>
          </p:cNvSpPr>
          <p:nvPr>
            <p:ph/>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For Cisco routers, the Cisco AutoSecure feature can be used to assist securing the system. For most OSs default usernames and passwords should be changed immediately, access to system resources should be restricted to only the individuals that are authorized to use those resources, and any unnecessary services and applications should be turned off and uninstalled when possible.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To protect network devices, it is important to use strong passwords. A passphrase is often easier to remember than a simple password. It is also longer and harder to guess. </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For routers and switches, encrypt all plaintext passwords, setting a minimum acceptable password length, deter brute-force password guessing attacks, and disable an inactive privileged EXEC mode access after a specified amount of time.</a:t>
            </a:r>
            <a:endParaRPr b="0" lang="en-US" sz="1600" spc="-1" strike="noStrike">
              <a:solidFill>
                <a:srgbClr val="58585b"/>
              </a:solidFill>
              <a:latin typeface="Arial"/>
            </a:endParaRPr>
          </a:p>
          <a:p>
            <a:pPr marL="169920" indent="-169920">
              <a:lnSpc>
                <a:spcPct val="100000"/>
              </a:lnSpc>
              <a:buClr>
                <a:srgbClr val="58585b"/>
              </a:buClr>
              <a:buSzPct val="90000"/>
              <a:buFont typeface="Arial"/>
              <a:buChar char="•"/>
            </a:pPr>
            <a:r>
              <a:rPr b="0" lang="en-US" sz="1600" spc="-1" strike="noStrike">
                <a:solidFill>
                  <a:srgbClr val="000000"/>
                </a:solidFill>
                <a:latin typeface="Arial"/>
                <a:ea typeface="ＭＳ Ｐゴシック"/>
              </a:rPr>
              <a:t>Configure appropriate devices to support SSH, and disable unused services.</a:t>
            </a:r>
            <a:endParaRPr b="0" lang="en-US" sz="1600" spc="-1" strike="noStrike">
              <a:solidFill>
                <a:srgbClr val="58585b"/>
              </a:solidFill>
              <a:latin typeface="Arial"/>
            </a:endParaRPr>
          </a:p>
          <a:p>
            <a:pPr>
              <a:lnSpc>
                <a:spcPct val="100000"/>
              </a:lnSpc>
              <a:spcBef>
                <a:spcPts val="601"/>
              </a:spcBef>
              <a:spcAft>
                <a:spcPts val="601"/>
              </a:spcAft>
              <a:buNone/>
            </a:pPr>
            <a:endParaRPr b="0" lang="en-US" sz="1600" spc="-1" strike="noStrike">
              <a:solidFill>
                <a:srgbClr val="58585b"/>
              </a:solidFill>
              <a:latin typeface="Arial"/>
            </a:endParaRPr>
          </a:p>
        </p:txBody>
      </p:sp>
    </p:spTree>
  </p:cSld>
  <p:transition spd="slow">
    <p:wipe dir="l"/>
  </p:transition>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406" name="PlaceHolder 1"/>
          <p:cNvSpPr>
            <a:spLocks noGrp="1"/>
          </p:cNvSpPr>
          <p:nvPr>
            <p:ph type="title"/>
          </p:nvPr>
        </p:nvSpPr>
        <p:spPr>
          <a:xfrm>
            <a:off x="0" y="32040"/>
            <a:ext cx="9143640" cy="608760"/>
          </a:xfrm>
          <a:prstGeom prst="rect">
            <a:avLst/>
          </a:prstGeom>
          <a:noFill/>
          <a:ln w="0">
            <a:noFill/>
          </a:ln>
        </p:spPr>
        <p:txBody>
          <a:bodyPr numCol="1" spcCol="0" anchor="ctr">
            <a:noAutofit/>
          </a:bodyPr>
          <a:p>
            <a:pPr>
              <a:lnSpc>
                <a:spcPct val="100000"/>
              </a:lnSpc>
              <a:buNone/>
            </a:pPr>
            <a:r>
              <a:rPr b="0" lang="en-US" sz="1400" spc="-1" strike="noStrike">
                <a:solidFill>
                  <a:srgbClr val="367187"/>
                </a:solidFill>
                <a:latin typeface="Arial"/>
                <a:ea typeface="ＭＳ Ｐゴシック"/>
              </a:rPr>
              <a:t>Module 16: Network Security Fundamentals</a:t>
            </a:r>
            <a:br/>
            <a:r>
              <a:rPr b="0" lang="en-US" sz="2400" spc="-1" strike="noStrike">
                <a:solidFill>
                  <a:srgbClr val="367187"/>
                </a:solidFill>
                <a:latin typeface="Arial"/>
                <a:ea typeface="ＭＳ Ｐゴシック"/>
              </a:rPr>
              <a:t>New Terms and Commands</a:t>
            </a:r>
            <a:endParaRPr b="0" lang="en-US" sz="2400" spc="-1" strike="noStrike">
              <a:solidFill>
                <a:srgbClr val="58585b"/>
              </a:solidFill>
              <a:latin typeface="Arial"/>
            </a:endParaRPr>
          </a:p>
        </p:txBody>
      </p:sp>
      <p:sp>
        <p:nvSpPr>
          <p:cNvPr id="407" name="PlaceHolder 2"/>
          <p:cNvSpPr>
            <a:spLocks noGrp="1"/>
          </p:cNvSpPr>
          <p:nvPr>
            <p:ph/>
          </p:nvPr>
        </p:nvSpPr>
        <p:spPr>
          <a:xfrm>
            <a:off x="239400" y="588240"/>
            <a:ext cx="4046400" cy="4125240"/>
          </a:xfrm>
          <a:prstGeom prst="rect">
            <a:avLst/>
          </a:prstGeom>
          <a:noFill/>
          <a:ln w="0">
            <a:solidFill>
              <a:srgbClr val="2c2c2d"/>
            </a:solid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threat actor</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malware</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reconnaissance attacks</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access attacks</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defense-in-depth</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authentication, authorization, and accounting (AAA)</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demilitarized zone (DMZ)</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Cisco AutoSecure</a:t>
            </a:r>
            <a:endParaRPr b="0" lang="en-US" sz="16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passphrase</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
        <p:nvSpPr>
          <p:cNvPr id="408" name="Content Placeholder 2"/>
          <p:cNvSpPr/>
          <p:nvPr/>
        </p:nvSpPr>
        <p:spPr>
          <a:xfrm>
            <a:off x="4373280" y="588240"/>
            <a:ext cx="4427640" cy="4125240"/>
          </a:xfrm>
          <a:prstGeom prst="rect">
            <a:avLst/>
          </a:prstGeom>
          <a:noFill/>
          <a:ln w="12700">
            <a:solidFill>
              <a:srgbClr val="000000"/>
            </a:solidFill>
            <a:miter/>
          </a:ln>
        </p:spPr>
        <p:style>
          <a:lnRef idx="0"/>
          <a:fillRef idx="0"/>
          <a:effectRef idx="0"/>
          <a:fontRef idx="minor"/>
        </p:style>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1" lang="en-US" sz="1600" spc="-1" strike="noStrike">
                <a:solidFill>
                  <a:srgbClr val="000000"/>
                </a:solidFill>
                <a:latin typeface="Arial"/>
                <a:ea typeface="ＭＳ Ｐゴシック"/>
              </a:rPr>
              <a:t>service password-encryption</a:t>
            </a:r>
            <a:endParaRPr b="0" lang="en-JM" sz="1600" spc="-1" strike="noStrike">
              <a:latin typeface="Arial"/>
            </a:endParaRPr>
          </a:p>
          <a:p>
            <a:pPr marL="169920" indent="-169920">
              <a:lnSpc>
                <a:spcPct val="100000"/>
              </a:lnSpc>
              <a:spcBef>
                <a:spcPts val="601"/>
              </a:spcBef>
              <a:spcAft>
                <a:spcPts val="601"/>
              </a:spcAft>
              <a:buClr>
                <a:srgbClr val="58585b"/>
              </a:buClr>
              <a:buSzPct val="90000"/>
              <a:buFont typeface="Arial"/>
              <a:buChar char="•"/>
            </a:pPr>
            <a:r>
              <a:rPr b="1" lang="en-US" sz="1600" spc="-1" strike="noStrike">
                <a:solidFill>
                  <a:srgbClr val="000000"/>
                </a:solidFill>
                <a:latin typeface="Arial"/>
                <a:ea typeface="ＭＳ Ｐゴシック"/>
              </a:rPr>
              <a:t>security passwords min-length </a:t>
            </a:r>
            <a:endParaRPr b="0" lang="en-JM" sz="1600" spc="-1" strike="noStrike">
              <a:latin typeface="Arial"/>
            </a:endParaRPr>
          </a:p>
          <a:p>
            <a:pPr marL="169920" indent="-169920">
              <a:lnSpc>
                <a:spcPct val="100000"/>
              </a:lnSpc>
              <a:spcBef>
                <a:spcPts val="601"/>
              </a:spcBef>
              <a:spcAft>
                <a:spcPts val="601"/>
              </a:spcAft>
              <a:buClr>
                <a:srgbClr val="58585b"/>
              </a:buClr>
              <a:buSzPct val="90000"/>
              <a:buFont typeface="Arial"/>
              <a:buChar char="•"/>
            </a:pPr>
            <a:r>
              <a:rPr b="1" lang="en-US" sz="1600" spc="-1" strike="noStrike">
                <a:solidFill>
                  <a:srgbClr val="000000"/>
                </a:solidFill>
                <a:latin typeface="Arial"/>
                <a:ea typeface="ＭＳ Ｐゴシック"/>
              </a:rPr>
              <a:t>login block-for</a:t>
            </a:r>
            <a:endParaRPr b="0" lang="en-JM" sz="1600" spc="-1" strike="noStrike">
              <a:latin typeface="Arial"/>
            </a:endParaRPr>
          </a:p>
          <a:p>
            <a:pPr marL="169920" indent="-169920">
              <a:lnSpc>
                <a:spcPct val="100000"/>
              </a:lnSpc>
              <a:spcBef>
                <a:spcPts val="601"/>
              </a:spcBef>
              <a:spcAft>
                <a:spcPts val="601"/>
              </a:spcAft>
              <a:buClr>
                <a:srgbClr val="58585b"/>
              </a:buClr>
              <a:buSzPct val="90000"/>
              <a:buFont typeface="Arial"/>
              <a:buChar char="•"/>
            </a:pPr>
            <a:r>
              <a:rPr b="1" lang="en-US" sz="1600" spc="-1" strike="noStrike">
                <a:solidFill>
                  <a:srgbClr val="000000"/>
                </a:solidFill>
                <a:latin typeface="Arial"/>
                <a:ea typeface="ＭＳ Ｐゴシック"/>
              </a:rPr>
              <a:t>exec-timeout</a:t>
            </a:r>
            <a:endParaRPr b="0" lang="en-JM" sz="1600" spc="-1" strike="noStrike">
              <a:latin typeface="Arial"/>
            </a:endParaRPr>
          </a:p>
          <a:p>
            <a:pPr marL="169920" indent="-169920">
              <a:lnSpc>
                <a:spcPct val="100000"/>
              </a:lnSpc>
              <a:spcBef>
                <a:spcPts val="601"/>
              </a:spcBef>
              <a:spcAft>
                <a:spcPts val="601"/>
              </a:spcAft>
              <a:buClr>
                <a:srgbClr val="58585b"/>
              </a:buClr>
              <a:buSzPct val="90000"/>
              <a:buFont typeface="Arial"/>
              <a:buChar char="•"/>
            </a:pPr>
            <a:r>
              <a:rPr b="1" lang="en-US" sz="1600" spc="-1" strike="noStrike">
                <a:solidFill>
                  <a:srgbClr val="000000"/>
                </a:solidFill>
                <a:latin typeface="Arial"/>
                <a:ea typeface="ＭＳ Ｐゴシック"/>
              </a:rPr>
              <a:t>crypto key generate rsa general-keys modulus</a:t>
            </a:r>
            <a:endParaRPr b="0" lang="en-JM" sz="1600" spc="-1" strike="noStrike">
              <a:latin typeface="Arial"/>
            </a:endParaRPr>
          </a:p>
          <a:p>
            <a:pPr marL="169920" indent="-169920">
              <a:lnSpc>
                <a:spcPct val="100000"/>
              </a:lnSpc>
              <a:spcBef>
                <a:spcPts val="601"/>
              </a:spcBef>
              <a:spcAft>
                <a:spcPts val="601"/>
              </a:spcAft>
              <a:buClr>
                <a:srgbClr val="58585b"/>
              </a:buClr>
              <a:buSzPct val="90000"/>
              <a:buFont typeface="Arial"/>
              <a:buChar char="•"/>
            </a:pPr>
            <a:r>
              <a:rPr b="1" lang="en-US" sz="1600" spc="-1" strike="noStrike">
                <a:solidFill>
                  <a:srgbClr val="000000"/>
                </a:solidFill>
                <a:latin typeface="Arial"/>
                <a:ea typeface="ＭＳ Ｐゴシック"/>
              </a:rPr>
              <a:t>username</a:t>
            </a:r>
            <a:r>
              <a:rPr b="0" lang="en-US" sz="1600" spc="-1" strike="noStrike">
                <a:solidFill>
                  <a:srgbClr val="000000"/>
                </a:solidFill>
                <a:latin typeface="Arial"/>
                <a:ea typeface="ＭＳ Ｐゴシック"/>
              </a:rPr>
              <a:t> </a:t>
            </a:r>
            <a:r>
              <a:rPr b="1" lang="en-US" sz="1600" spc="-1" strike="noStrike">
                <a:solidFill>
                  <a:srgbClr val="000000"/>
                </a:solidFill>
                <a:latin typeface="Arial"/>
                <a:ea typeface="ＭＳ Ｐゴシック"/>
              </a:rPr>
              <a:t>password | secret </a:t>
            </a:r>
            <a:endParaRPr b="0" lang="en-JM" sz="1600" spc="-1" strike="noStrike">
              <a:latin typeface="Arial"/>
            </a:endParaRPr>
          </a:p>
          <a:p>
            <a:pPr marL="169920" indent="-169920">
              <a:lnSpc>
                <a:spcPct val="100000"/>
              </a:lnSpc>
              <a:spcBef>
                <a:spcPts val="601"/>
              </a:spcBef>
              <a:spcAft>
                <a:spcPts val="601"/>
              </a:spcAft>
              <a:buClr>
                <a:srgbClr val="58585b"/>
              </a:buClr>
              <a:buSzPct val="90000"/>
              <a:buFont typeface="Arial"/>
              <a:buChar char="•"/>
            </a:pPr>
            <a:r>
              <a:rPr b="1" lang="en-US" sz="1600" spc="-1" strike="noStrike">
                <a:solidFill>
                  <a:srgbClr val="000000"/>
                </a:solidFill>
                <a:latin typeface="Arial"/>
                <a:ea typeface="ＭＳ Ｐゴシック"/>
              </a:rPr>
              <a:t>login local</a:t>
            </a:r>
            <a:endParaRPr b="0" lang="en-JM" sz="1600" spc="-1" strike="noStrike">
              <a:latin typeface="Arial"/>
            </a:endParaRPr>
          </a:p>
          <a:p>
            <a:pPr marL="169920" indent="-169920">
              <a:lnSpc>
                <a:spcPct val="100000"/>
              </a:lnSpc>
              <a:spcBef>
                <a:spcPts val="601"/>
              </a:spcBef>
              <a:spcAft>
                <a:spcPts val="601"/>
              </a:spcAft>
              <a:buClr>
                <a:srgbClr val="58585b"/>
              </a:buClr>
              <a:buSzPct val="90000"/>
              <a:buFont typeface="Arial"/>
              <a:buChar char="•"/>
            </a:pPr>
            <a:r>
              <a:rPr b="1" lang="en-US" sz="1600" spc="-1" strike="noStrike">
                <a:solidFill>
                  <a:srgbClr val="000000"/>
                </a:solidFill>
                <a:latin typeface="Arial"/>
                <a:ea typeface="ＭＳ Ｐゴシック"/>
              </a:rPr>
              <a:t>transport input ssh</a:t>
            </a:r>
            <a:endParaRPr b="0" lang="en-JM" sz="1600" spc="-1" strike="noStrike">
              <a:latin typeface="Arial"/>
            </a:endParaRPr>
          </a:p>
          <a:p>
            <a:pPr marL="169920" indent="-169920">
              <a:lnSpc>
                <a:spcPct val="100000"/>
              </a:lnSpc>
              <a:spcBef>
                <a:spcPts val="601"/>
              </a:spcBef>
              <a:spcAft>
                <a:spcPts val="601"/>
              </a:spcAft>
              <a:buClr>
                <a:srgbClr val="58585b"/>
              </a:buClr>
              <a:buSzPct val="90000"/>
              <a:buFont typeface="Arial"/>
              <a:buChar char="•"/>
            </a:pPr>
            <a:r>
              <a:rPr b="1" lang="en-US" sz="1600" spc="-1" strike="noStrike">
                <a:solidFill>
                  <a:srgbClr val="000000"/>
                </a:solidFill>
                <a:latin typeface="Arial"/>
                <a:ea typeface="ＭＳ Ｐゴシック"/>
              </a:rPr>
              <a:t>show ip ports all</a:t>
            </a:r>
            <a:endParaRPr b="0" lang="en-JM" sz="1600" spc="-1" strike="noStrike">
              <a:latin typeface="Arial"/>
            </a:endParaRPr>
          </a:p>
          <a:p>
            <a:pPr marL="169920" indent="-169920">
              <a:lnSpc>
                <a:spcPct val="100000"/>
              </a:lnSpc>
              <a:spcBef>
                <a:spcPts val="601"/>
              </a:spcBef>
              <a:spcAft>
                <a:spcPts val="601"/>
              </a:spcAft>
              <a:buClr>
                <a:srgbClr val="58585b"/>
              </a:buClr>
              <a:buSzPct val="90000"/>
              <a:buFont typeface="Arial"/>
              <a:buChar char="•"/>
            </a:pPr>
            <a:r>
              <a:rPr b="1" lang="en-US" sz="1600" spc="-1" strike="noStrike">
                <a:solidFill>
                  <a:srgbClr val="000000"/>
                </a:solidFill>
                <a:latin typeface="Arial"/>
                <a:ea typeface="ＭＳ Ｐゴシック"/>
              </a:rPr>
              <a:t>show control-plan host open-ports</a:t>
            </a:r>
            <a:endParaRPr b="0" lang="en-JM" sz="1600" spc="-1" strike="noStrike">
              <a:latin typeface="Arial"/>
            </a:endParaRPr>
          </a:p>
        </p:txBody>
      </p:sp>
    </p:spTree>
  </p:cSld>
  <p:transition spd="slow">
    <p:wipe dir="l"/>
  </p:transition>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transition spd="slow">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Default Theme</Template>
  <TotalTime>5362</TotalTime>
  <Application>LibreOffice/7.2.7.2$Windows_X86_64 LibreOffice_project/8d71d29d553c0f7dcbfa38fbfda25ee34cce99a2</Application>
  <AppVersion>15.0000</AppVersion>
  <Words>5114</Words>
  <Paragraphs>489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dc:description/>
  <dc:language>en-JM</dc:language>
  <cp:lastModifiedBy/>
  <dcterms:modified xsi:type="dcterms:W3CDTF">2025-06-11T18:07:13Z</dcterms:modified>
  <cp:revision>270</cp:revision>
  <dc:subject/>
  <dc:title>Chapter 2: Basic Switch and End Device Configuration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F9A496F7-57D7-4028-9572-D40DFDF3715A</vt:lpwstr>
  </property>
  <property fmtid="{D5CDD505-2E9C-101B-9397-08002B2CF9AE}" pid="3" name="ArticulatePath">
    <vt:lpwstr>ITE7_Chp9_by_jg</vt:lpwstr>
  </property>
  <property fmtid="{D5CDD505-2E9C-101B-9397-08002B2CF9AE}" pid="4" name="HiddenSlides">
    <vt:i4>7</vt:i4>
  </property>
  <property fmtid="{D5CDD505-2E9C-101B-9397-08002B2CF9AE}" pid="5" name="Jive_LatestUserAccountName">
    <vt:lpwstr>alljohns</vt:lpwstr>
  </property>
  <property fmtid="{D5CDD505-2E9C-101B-9397-08002B2CF9AE}" pid="6" name="Jive_VersionGuid">
    <vt:lpwstr>fd96a0b3-f68d-4727-8e4f-2128d37ed30a</vt:lpwstr>
  </property>
  <property fmtid="{D5CDD505-2E9C-101B-9397-08002B2CF9AE}" pid="7" name="Notes">
    <vt:i4>43</vt:i4>
  </property>
  <property fmtid="{D5CDD505-2E9C-101B-9397-08002B2CF9AE}" pid="8" name="Offisync_ProviderInitializationData">
    <vt:lpwstr>https://cisco.jiveon.com</vt:lpwstr>
  </property>
  <property fmtid="{D5CDD505-2E9C-101B-9397-08002B2CF9AE}" pid="9" name="Offisync_ServerID">
    <vt:lpwstr>07841bbc-cd3c-4a76-827f-75a2226890f4</vt:lpwstr>
  </property>
  <property fmtid="{D5CDD505-2E9C-101B-9397-08002B2CF9AE}" pid="10" name="Offisync_UniqueId">
    <vt:lpwstr>1702406</vt:lpwstr>
  </property>
  <property fmtid="{D5CDD505-2E9C-101B-9397-08002B2CF9AE}" pid="11" name="Offisync_UpdateToken">
    <vt:lpwstr>1</vt:lpwstr>
  </property>
  <property fmtid="{D5CDD505-2E9C-101B-9397-08002B2CF9AE}" pid="12" name="PresentationFormat">
    <vt:lpwstr>On-screen Show (16:9)</vt:lpwstr>
  </property>
  <property fmtid="{D5CDD505-2E9C-101B-9397-08002B2CF9AE}" pid="13" name="Slides">
    <vt:i4>45</vt:i4>
  </property>
</Properties>
</file>