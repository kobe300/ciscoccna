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30.xml.rels" ContentType="application/vnd.openxmlformats-package.relationships+xml"/>
  <Override PartName="/ppt/notesSlides/_rels/notesSlide31.xml.rels" ContentType="application/vnd.openxmlformats-package.relationships+xml"/>
  <Override PartName="/ppt/media/image1.jpeg" ContentType="image/jpeg"/>
  <Override PartName="/ppt/media/image3.png" ContentType="image/png"/>
  <Override PartName="/ppt/media/image2.jpeg" ContentType="image/jpeg"/>
  <Override PartName="/ppt/media/image4.png" ContentType="image/png"/>
  <Override PartName="/ppt/media/image5.png" ContentType="image/png"/>
  <Override PartName="/ppt/media/image6.png" ContentType="image/png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_rels/slideLayout31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60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3200" spc="-1" strike="noStrike">
                <a:solidFill>
                  <a:srgbClr val="58585b"/>
                </a:solidFill>
                <a:latin typeface="Arial"/>
              </a:rPr>
              <a:t>Click to move the slide</a:t>
            </a:r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JM" sz="2000" spc="-1" strike="noStrike">
                <a:latin typeface="Arial"/>
              </a:rPr>
              <a:t>Click to edit the notes format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JM" sz="1400" spc="-1" strike="noStrike">
                <a:latin typeface="Times New Roman"/>
              </a:rPr>
              <a:t>&lt;header&gt;</a:t>
            </a:r>
            <a:endParaRPr b="0" lang="en-JM" sz="1400" spc="-1" strike="noStrike">
              <a:latin typeface="Times New Roman"/>
            </a:endParaRPr>
          </a:p>
        </p:txBody>
      </p:sp>
      <p:sp>
        <p:nvSpPr>
          <p:cNvPr id="331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0" lang="en-JM" sz="1400" spc="-1" strike="noStrike">
                <a:latin typeface="Times New Roman"/>
              </a:rPr>
              <a:t>&lt;date/time&gt;</a:t>
            </a:r>
            <a:endParaRPr b="0" lang="en-JM" sz="1400" spc="-1" strike="noStrike">
              <a:latin typeface="Times New Roman"/>
            </a:endParaRPr>
          </a:p>
        </p:txBody>
      </p:sp>
      <p:sp>
        <p:nvSpPr>
          <p:cNvPr id="332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r>
              <a:rPr b="0" lang="en-JM" sz="1400" spc="-1" strike="noStrike">
                <a:latin typeface="Times New Roman"/>
              </a:rPr>
              <a:t>&lt;footer&gt;</a:t>
            </a:r>
            <a:endParaRPr b="0" lang="en-JM" sz="1400" spc="-1" strike="noStrike">
              <a:latin typeface="Times New Roman"/>
            </a:endParaRPr>
          </a:p>
        </p:txBody>
      </p:sp>
      <p:sp>
        <p:nvSpPr>
          <p:cNvPr id="333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buNone/>
            </a:pPr>
            <a:fld id="{E15A380E-7A2A-41D2-BC27-669C1C6E0978}" type="slidenum">
              <a:rPr b="0" lang="en-JM" sz="1400" spc="-1" strike="noStrike">
                <a:latin typeface="Times New Roman"/>
              </a:rPr>
              <a:t>&lt;number&gt;</a:t>
            </a:fld>
            <a:endParaRPr b="0" lang="en-JM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2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Cisco Networking Academy Program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Introduction to Networks v7.0 (ITN)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Module 10: Basic Router Configuration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JM" sz="2000" spc="-1" strike="noStrike">
              <a:latin typeface="Arial"/>
            </a:endParaRPr>
          </a:p>
        </p:txBody>
      </p:sp>
      <p:sp>
        <p:nvSpPr>
          <p:cNvPr id="423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D6E38BB1-9A0D-4CE6-AD68-E482618BF84F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Rectangle 11"/>
          <p:cNvSpPr/>
          <p:nvPr/>
        </p:nvSpPr>
        <p:spPr>
          <a:xfrm>
            <a:off x="5929200" y="8680320"/>
            <a:ext cx="81252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720" rIns="18720" tIns="0" bIns="0" anchor="b">
            <a:noAutofit/>
          </a:bodyPr>
          <a:p>
            <a:pPr algn="r">
              <a:lnSpc>
                <a:spcPct val="100000"/>
              </a:lnSpc>
              <a:buNone/>
            </a:pPr>
            <a:fld id="{EF997B3B-5221-42FA-8DF8-AB5FA11D6442}" type="slidenum">
              <a:rPr b="0" lang="en-US" sz="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&lt;number&gt;</a:t>
            </a:fld>
            <a:endParaRPr b="0" lang="en-JM" sz="800" spc="-1" strike="noStrike">
              <a:latin typeface="Arial"/>
            </a:endParaRPr>
          </a:p>
        </p:txBody>
      </p:sp>
      <p:sp>
        <p:nvSpPr>
          <p:cNvPr id="425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2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GB" sz="2000" spc="-1" strike="noStrike">
                <a:latin typeface="Arial"/>
              </a:rPr>
              <a:t>10 – Basic Router Configuration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GB" sz="2000" spc="-1" strike="noStrike">
                <a:latin typeface="Arial"/>
              </a:rPr>
              <a:t>10.0.2- What will I learn in this module?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JM" sz="2000" spc="-1" strike="noStrike"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2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 – Basic Router Configuration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10.1 Configure Initial Router Settings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JM" sz="2000" spc="-1" strike="noStrike">
              <a:latin typeface="Arial"/>
            </a:endParaRPr>
          </a:p>
        </p:txBody>
      </p:sp>
      <p:sp>
        <p:nvSpPr>
          <p:cNvPr id="429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99FFB0E4-5DE0-48F5-9C3D-7C37411F1ED3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3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 – Basic Router Configuration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10.1 – Configure Initial Router Settings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10.1.1 – Basic Routing Configuration Steps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432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CD1ACF2E-1300-4F64-948C-B4B46393A6EA}" type="slidenum">
              <a:rPr b="0" lang="en-US" sz="1200" spc="-1" strike="noStrike">
                <a:latin typeface="Times New Roman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3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 – Basic Router Configuration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10.1 – Configure Initial Router Settings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10.1.2 – Basic Routing Configuration Example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10.1.3 - Syntax Checker – Configure Initial Router Settings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435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25E54797-A705-4E79-AF0C-5B4F166F8FC8}" type="slidenum">
              <a:rPr b="0" lang="en-US" sz="1200" spc="-1" strike="noStrike">
                <a:latin typeface="Times New Roman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3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 – Basic Router Configuration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10.1 – Configure Initial Router Settings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10.1.4 – Packet Tracer – Configure Initial Router Settings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438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53CAABA4-1A59-4824-8636-5BC26053CFF8}" type="slidenum">
              <a:rPr b="0" lang="en-US" sz="1200" spc="-1" strike="noStrike">
                <a:latin typeface="Times New Roman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4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 – Basic Router Configuration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10.2 Configure Interfaces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JM" sz="2000" spc="-1" strike="noStrike">
              <a:latin typeface="Arial"/>
            </a:endParaRPr>
          </a:p>
        </p:txBody>
      </p:sp>
      <p:sp>
        <p:nvSpPr>
          <p:cNvPr id="441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12D44D3F-CC89-42A0-8FAD-0118590DB0F9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4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 – Basic Router Configuration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10.2 – Configure Interfaces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10.2.1 – Configure Router Interfaces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444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62C9BECD-7603-43BC-B4B5-995212695A19}" type="slidenum">
              <a:rPr b="0" lang="en-US" sz="1200" spc="-1" strike="noStrike">
                <a:latin typeface="Times New Roman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4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 – Basic Router Configuration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10.2 – Configure Interfaces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10.2.2 – Configure Router Interfaces Example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44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D92DDD18-D289-4489-921B-BB9C24F7CA93}" type="slidenum">
              <a:rPr b="0" lang="en-US" sz="1200" spc="-1" strike="noStrike">
                <a:latin typeface="Times New Roman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4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 – Basic Router Configuration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10.2 – Configure Interfaces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10.2.2 – Configure Router Interfaces Example (Cont.)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450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00787768-D398-48FF-833E-29EA239CB312}" type="slidenum">
              <a:rPr b="0" lang="en-US" sz="1200" spc="-1" strike="noStrike">
                <a:latin typeface="Times New Roman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5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 – Basic Router Configuration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10.2 – Configure Interfaces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10.2.3 – Verify Interface Configuration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453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3475A568-DBC4-43B6-809F-55CEAE68EE0C}" type="slidenum">
              <a:rPr b="0" lang="en-US" sz="1200" spc="-1" strike="noStrike">
                <a:latin typeface="Times New Roman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5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 – Basic Router Configuration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10.2 – Configure Interfaces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10.2.4 – Configuration Verification Commands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456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16006DB0-623D-4B70-8C31-D73482D1C2DD}" type="slidenum">
              <a:rPr b="0" lang="en-US" sz="1200" spc="-1" strike="noStrike">
                <a:latin typeface="Times New Roman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5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 – Basic Router Configuration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10.2 – Configure Interfaces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10.2.4 – Configuration Verification Commands (Cont.)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459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5615EB85-60D0-4D88-9F32-567C63121D95}" type="slidenum">
              <a:rPr b="0" lang="en-US" sz="1200" spc="-1" strike="noStrike">
                <a:latin typeface="Times New Roman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6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 – Basic Router Configuration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10.2 – Configure Interfaces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10.2.4 – Configuration Verification Commands (Cont.)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462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7D5FF986-921B-49F2-8B7B-C6ABB27E4A80}" type="slidenum">
              <a:rPr b="0" lang="en-US" sz="1200" spc="-1" strike="noStrike">
                <a:latin typeface="Times New Roman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6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 – Basic Router Configuration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10.2 – Configure Interfaces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10.2.4 – Configuration Verification Commands (Cont.)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465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9FB04307-30D2-4B0E-AB33-C25D6C6BADBC}" type="slidenum">
              <a:rPr b="0" lang="en-US" sz="1200" spc="-1" strike="noStrike">
                <a:latin typeface="Times New Roman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6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 – Basic Router Configuration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10.2 – Configure Interfaces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10.2.4 – Configuration Verification Commands (Cont.)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468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DC701F7D-53CD-42FD-99AC-730B012710C9}" type="slidenum">
              <a:rPr b="0" lang="en-US" sz="1200" spc="-1" strike="noStrike">
                <a:latin typeface="Times New Roman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7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 – Basic Router Configuration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10.2 – Configure Interfaces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10.2.4 – Configuration Verification Commands (Cont.)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10.2.5 Syntax Checker – Configure Interfaces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471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EDA6B610-A593-43A9-B35B-D00CB532FD7A}" type="slidenum">
              <a:rPr b="0" lang="en-US" sz="1200" spc="-1" strike="noStrike">
                <a:latin typeface="Times New Roman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7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 – Basic Router Configuration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10.3 Configure the Default Gateway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JM" sz="2000" spc="-1" strike="noStrike">
              <a:latin typeface="Arial"/>
            </a:endParaRPr>
          </a:p>
        </p:txBody>
      </p:sp>
      <p:sp>
        <p:nvSpPr>
          <p:cNvPr id="474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DE50BED1-BB16-4458-89B6-AA607010956A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7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 – Basic Router Configuration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10.3 – Configure the Default Gateway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10.3.1 – Default Gateway on a Host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47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93E767E1-D4FF-4E39-93C7-19F085254FA6}" type="slidenum">
              <a:rPr b="0" lang="en-US" sz="1200" spc="-1" strike="noStrike">
                <a:latin typeface="Times New Roman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7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 – Basic Router Configuration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10.3 – Configure the Default Gateway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10.3.2 – Default Gateway on a Switch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10.3.3 – Syntax Checker – Configure the Default Gateway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480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769AF9BE-A09C-4DDA-B237-ECFB9FD3A4F7}" type="slidenum">
              <a:rPr b="0" lang="en-US" sz="1200" spc="-1" strike="noStrike">
                <a:latin typeface="Times New Roman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8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 – Basic Router Configuration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10.3– Configure the Default Gateway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10.3.4 – Packet Tracer – Connect a Router to a LAN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483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0A97C21A-9C78-4322-ACF0-A44E539BD03A}" type="slidenum">
              <a:rPr b="0" lang="en-US" sz="1200" spc="-1" strike="noStrike">
                <a:latin typeface="Times New Roman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8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 – Basic Router Configuration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10.3– Configure the Default Gateway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10.3.5 – Packet Tracer – Troubleshoot Default Gateway Issues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486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EFD8E7F2-9C50-467F-943A-BAC1781AE54D}" type="slidenum">
              <a:rPr b="0" lang="en-US" sz="1200" spc="-1" strike="noStrike">
                <a:latin typeface="Times New Roman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8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 – Basic Router Configuration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10.4 Module Practice and Quiz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JM" sz="2000" spc="-1" strike="noStrike">
              <a:latin typeface="Arial"/>
            </a:endParaRPr>
          </a:p>
        </p:txBody>
      </p:sp>
      <p:sp>
        <p:nvSpPr>
          <p:cNvPr id="489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29B5C02B-D4EC-4410-BEF4-48A8EE156FF6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PlaceHolder 1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E9A6ACD3-F3F4-43B2-B3D6-EAC5642365F5}" type="slidenum">
              <a:rPr b="0" lang="en-US" sz="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&lt;number&gt;</a:t>
            </a:fld>
            <a:endParaRPr b="0" lang="en-JM" sz="800" spc="-1" strike="noStrike">
              <a:latin typeface="Times New Roman"/>
            </a:endParaRPr>
          </a:p>
        </p:txBody>
      </p:sp>
      <p:sp>
        <p:nvSpPr>
          <p:cNvPr id="491" name="PlaceHolder 2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92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 – Basic Router Configuration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10.4 – Module Practice and Quiz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10.4.1 – Video – Network Device Differences: Part 1</a:t>
            </a:r>
            <a:endParaRPr b="0" lang="en-JM" sz="2000" spc="-1" strike="noStrike">
              <a:latin typeface="Arial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PlaceHolder 1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93A2B6E2-B557-4B1C-AF5D-6D0C6CA03B33}" type="slidenum">
              <a:rPr b="0" lang="en-US" sz="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&lt;number&gt;</a:t>
            </a:fld>
            <a:endParaRPr b="0" lang="en-JM" sz="800" spc="-1" strike="noStrike">
              <a:latin typeface="Times New Roman"/>
            </a:endParaRPr>
          </a:p>
        </p:txBody>
      </p:sp>
      <p:sp>
        <p:nvSpPr>
          <p:cNvPr id="494" name="PlaceHolder 2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95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 – Basic Router Configuration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10.4 – Module Practice and Quiz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10.4.2 – Video – Network Device Differences: Part 2</a:t>
            </a:r>
            <a:endParaRPr b="0" lang="en-JM" sz="2000" spc="-1" strike="noStrike">
              <a:latin typeface="Arial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9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 – Basic Router Configuration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10.4– Configure the Default Gateway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10.4.3 – Packet Tracer – Basic Device Configuration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498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B2132F06-88EF-49B3-8352-4A5FA55221C3}" type="slidenum">
              <a:rPr b="0" lang="en-US" sz="1200" spc="-1" strike="noStrike">
                <a:latin typeface="Times New Roman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50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 – Basic Router Configuration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10.4– Configure the Default Gateway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10.4.4 – PTPM and Lab – Build a Switch and Router Network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501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12AEFB73-124E-4B8F-80C2-74980B0A5D33}" type="slidenum">
              <a:rPr b="0" lang="en-US" sz="1200" spc="-1" strike="noStrike">
                <a:latin typeface="Times New Roman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PlaceHolder 1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8323F256-5F93-49CE-B1B5-82BEB8F86CB4}" type="slidenum">
              <a:rPr b="0" lang="en-US" sz="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&lt;number&gt;</a:t>
            </a:fld>
            <a:endParaRPr b="0" lang="en-JM" sz="800" spc="-1" strike="noStrike">
              <a:latin typeface="Times New Roman"/>
            </a:endParaRPr>
          </a:p>
        </p:txBody>
      </p:sp>
      <p:sp>
        <p:nvSpPr>
          <p:cNvPr id="503" name="PlaceHolder 2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504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 – Basic Router Configuration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10.4 – Module Practice and Quiz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10.4.5 – What did I learn in this module?</a:t>
            </a:r>
            <a:endParaRPr b="0" lang="en-JM" sz="2000" spc="-1" strike="noStrike">
              <a:latin typeface="Arial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PlaceHolder 1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D92ADB33-1E5D-48C2-A7F9-6D41D6687A84}" type="slidenum">
              <a:rPr b="0" lang="en-US" sz="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&lt;number&gt;</a:t>
            </a:fld>
            <a:endParaRPr b="0" lang="en-JM" sz="800" spc="-1" strike="noStrike">
              <a:latin typeface="Times New Roman"/>
            </a:endParaRPr>
          </a:p>
        </p:txBody>
      </p:sp>
      <p:sp>
        <p:nvSpPr>
          <p:cNvPr id="506" name="PlaceHolder 2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507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 – Basic Router Configuration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10.4 – Module Practice and Quiz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10.4.5 – What did I learn in this module (Cont.)?</a:t>
            </a:r>
            <a:endParaRPr b="0" lang="en-JM" sz="2000" spc="-1" strike="noStrike">
              <a:latin typeface="Arial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PlaceHolder 1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1150B349-7FD0-4882-A879-8BEEB984ED97}" type="slidenum">
              <a:rPr b="0" lang="en-US" sz="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&lt;number&gt;</a:t>
            </a:fld>
            <a:endParaRPr b="0" lang="en-JM" sz="800" spc="-1" strike="noStrike">
              <a:latin typeface="Times New Roman"/>
            </a:endParaRPr>
          </a:p>
        </p:txBody>
      </p:sp>
      <p:sp>
        <p:nvSpPr>
          <p:cNvPr id="509" name="PlaceHolder 2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510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JM" sz="2000" spc="-1" strike="noStrike">
              <a:latin typeface="Arial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51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JM" sz="2000" spc="-1" strike="noStrike">
              <a:latin typeface="Arial"/>
            </a:endParaRPr>
          </a:p>
        </p:txBody>
      </p:sp>
      <p:sp>
        <p:nvSpPr>
          <p:cNvPr id="513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77D04E21-6B6E-4152-B5FF-5D44CBB57952}" type="slidenum">
              <a:rPr b="0" lang="en-US" sz="1200" spc="-1" strike="noStrike">
                <a:latin typeface="Times New Roman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JM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JM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71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72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JM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JM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26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27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28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JM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JM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7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82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8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9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94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99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00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01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JM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JM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3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37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4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4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49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53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54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55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56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JM" sz="3200" spc="-1" strike="noStrike"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9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JM" sz="3200" spc="-1" strike="noStrike"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0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0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0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0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1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1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1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1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1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2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2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2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2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2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2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2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49.xml"/><Relationship Id="rId4" Type="http://schemas.openxmlformats.org/officeDocument/2006/relationships/slideLayout" Target="../slideLayouts/slideLayout50.xml"/><Relationship Id="rId5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58.xml"/><Relationship Id="rId13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6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8c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7" hidden="1"/>
          <p:cNvSpPr/>
          <p:nvPr/>
        </p:nvSpPr>
        <p:spPr>
          <a:xfrm>
            <a:off x="8389080" y="4743360"/>
            <a:ext cx="471600" cy="153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1560" rIns="61560" tIns="30960" bIns="30960" anchor="b">
            <a:spAutoFit/>
          </a:bodyPr>
          <a:p>
            <a:pPr algn="r">
              <a:lnSpc>
                <a:spcPct val="100000"/>
              </a:lnSpc>
              <a:buNone/>
            </a:pPr>
            <a:fld id="{448D2771-55F4-457A-BDE4-B5F6DF8AEEE6}" type="slidenum">
              <a:rPr b="0" lang="en-US" sz="600" spc="-1" strike="noStrike">
                <a:solidFill>
                  <a:srgbClr val="d9d9d9"/>
                </a:solidFill>
                <a:latin typeface="Arial"/>
              </a:rPr>
              <a:t>&lt;number&gt;</a:t>
            </a:fld>
            <a:endParaRPr b="0" lang="en-JM" sz="600" spc="-1" strike="noStrike">
              <a:latin typeface="Arial"/>
            </a:endParaRPr>
          </a:p>
        </p:txBody>
      </p:sp>
      <p:sp>
        <p:nvSpPr>
          <p:cNvPr id="1" name="Rectangle 4" hidden="1"/>
          <p:cNvSpPr/>
          <p:nvPr/>
        </p:nvSpPr>
        <p:spPr>
          <a:xfrm>
            <a:off x="5676480" y="4741920"/>
            <a:ext cx="2848680" cy="153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61560" rIns="61560" tIns="30960" bIns="30960" anchor="b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600" spc="-1" strike="noStrike">
                <a:solidFill>
                  <a:srgbClr val="d9d9d9"/>
                </a:solidFill>
                <a:latin typeface="Arial"/>
              </a:rPr>
              <a:t>© 2019, 2021  Cisco and/or its affiliates. All rights reserved.   Cisco Confidential</a:t>
            </a:r>
            <a:endParaRPr b="0" lang="en-JM" sz="600" spc="-1" strike="noStrike">
              <a:latin typeface="Arial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507960" y="4715280"/>
            <a:ext cx="339840" cy="180360"/>
            <a:chOff x="507960" y="4715280"/>
            <a:chExt cx="339840" cy="180360"/>
          </a:xfrm>
        </p:grpSpPr>
        <p:sp>
          <p:nvSpPr>
            <p:cNvPr id="3" name="Rectangle 5"/>
            <p:cNvSpPr/>
            <p:nvPr/>
          </p:nvSpPr>
          <p:spPr>
            <a:xfrm>
              <a:off x="604440" y="4835160"/>
              <a:ext cx="14400" cy="59400"/>
            </a:xfrm>
            <a:prstGeom prst="rect">
              <a:avLst/>
            </a:pr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" name="Freeform 6"/>
            <p:cNvSpPr/>
            <p:nvPr/>
          </p:nvSpPr>
          <p:spPr>
            <a:xfrm>
              <a:off x="694440" y="4834440"/>
              <a:ext cx="44280" cy="6120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" name="Freeform 7"/>
            <p:cNvSpPr/>
            <p:nvPr/>
          </p:nvSpPr>
          <p:spPr>
            <a:xfrm>
              <a:off x="538560" y="4834440"/>
              <a:ext cx="45000" cy="6120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" name="Freeform 8"/>
            <p:cNvSpPr/>
            <p:nvPr/>
          </p:nvSpPr>
          <p:spPr>
            <a:xfrm>
              <a:off x="755280" y="4834440"/>
              <a:ext cx="61200" cy="61200"/>
            </a:xfrm>
            <a:custGeom>
              <a:avLst/>
              <a:gdLst/>
              <a:ahLst/>
              <a:rect l="l" t="t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" name="Freeform 9"/>
            <p:cNvSpPr/>
            <p:nvPr/>
          </p:nvSpPr>
          <p:spPr>
            <a:xfrm>
              <a:off x="639000" y="4834440"/>
              <a:ext cx="40320" cy="61200"/>
            </a:xfrm>
            <a:custGeom>
              <a:avLst/>
              <a:gdLst/>
              <a:ahLst/>
              <a:rect l="l" t="t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" name="Freeform 10"/>
            <p:cNvSpPr/>
            <p:nvPr/>
          </p:nvSpPr>
          <p:spPr>
            <a:xfrm>
              <a:off x="507960" y="4763880"/>
              <a:ext cx="14400" cy="3024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" name="Freeform 11"/>
            <p:cNvSpPr/>
            <p:nvPr/>
          </p:nvSpPr>
          <p:spPr>
            <a:xfrm>
              <a:off x="54864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" name="Freeform 12"/>
            <p:cNvSpPr/>
            <p:nvPr/>
          </p:nvSpPr>
          <p:spPr>
            <a:xfrm>
              <a:off x="589320" y="4715280"/>
              <a:ext cx="14400" cy="9396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" name="Freeform 13"/>
            <p:cNvSpPr/>
            <p:nvPr/>
          </p:nvSpPr>
          <p:spPr>
            <a:xfrm>
              <a:off x="63000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" name="Freeform 14"/>
            <p:cNvSpPr/>
            <p:nvPr/>
          </p:nvSpPr>
          <p:spPr>
            <a:xfrm>
              <a:off x="670680" y="4763880"/>
              <a:ext cx="14400" cy="3024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" name="Freeform 15"/>
            <p:cNvSpPr/>
            <p:nvPr/>
          </p:nvSpPr>
          <p:spPr>
            <a:xfrm>
              <a:off x="71136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" name="Freeform 16"/>
            <p:cNvSpPr/>
            <p:nvPr/>
          </p:nvSpPr>
          <p:spPr>
            <a:xfrm>
              <a:off x="752040" y="4715280"/>
              <a:ext cx="14400" cy="9396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" name="Freeform 17"/>
            <p:cNvSpPr/>
            <p:nvPr/>
          </p:nvSpPr>
          <p:spPr>
            <a:xfrm>
              <a:off x="79272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" name="Freeform 18"/>
            <p:cNvSpPr/>
            <p:nvPr/>
          </p:nvSpPr>
          <p:spPr>
            <a:xfrm>
              <a:off x="833400" y="4763880"/>
              <a:ext cx="14400" cy="3024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pic>
        <p:nvPicPr>
          <p:cNvPr id="17" name="Picture 2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body"/>
          </p:nvPr>
        </p:nvSpPr>
        <p:spPr>
          <a:xfrm>
            <a:off x="469440" y="4049640"/>
            <a:ext cx="4318920" cy="287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95000"/>
              </a:lnSpc>
              <a:spcBef>
                <a:spcPts val="1074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8c6f4"/>
                </a:solidFill>
                <a:latin typeface="Arial"/>
              </a:rPr>
              <a:t>Click to edit Master text styles</a:t>
            </a:r>
            <a:endParaRPr b="0" lang="en-US" sz="1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69440" y="4289400"/>
            <a:ext cx="4318920" cy="287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95000"/>
              </a:lnSpc>
              <a:spcBef>
                <a:spcPts val="1074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8c6f4"/>
                </a:solidFill>
                <a:latin typeface="Arial"/>
              </a:rPr>
              <a:t>Click to edit Master text styles</a:t>
            </a:r>
            <a:endParaRPr b="0" lang="en-US" sz="1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63320" y="2872080"/>
            <a:ext cx="5924880" cy="298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95000"/>
              </a:lnSpc>
              <a:spcBef>
                <a:spcPts val="1074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81c569"/>
                </a:solidFill>
                <a:latin typeface="Arial"/>
                <a:ea typeface="ＭＳ Ｐゴシック"/>
              </a:rPr>
              <a:t>Click to edit Master text styles</a:t>
            </a:r>
            <a:endParaRPr b="0" lang="en-US" sz="20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title"/>
          </p:nvPr>
        </p:nvSpPr>
        <p:spPr>
          <a:xfrm>
            <a:off x="425880" y="2300760"/>
            <a:ext cx="5955120" cy="64440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b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38c6f4"/>
                </a:solidFill>
                <a:latin typeface="Arial"/>
                <a:ea typeface="ＭＳ Ｐゴシック"/>
              </a:rPr>
              <a:t>Click to edit Master title style</a:t>
            </a:r>
            <a:endParaRPr b="0" lang="en-US" sz="3600" spc="-1" strike="noStrike">
              <a:solidFill>
                <a:srgbClr val="58585b"/>
              </a:solidFill>
              <a:latin typeface="Arial"/>
            </a:endParaRPr>
          </a:p>
        </p:txBody>
      </p:sp>
      <p:grpSp>
        <p:nvGrpSpPr>
          <p:cNvPr id="22" name="Group 4"/>
          <p:cNvGrpSpPr/>
          <p:nvPr/>
        </p:nvGrpSpPr>
        <p:grpSpPr>
          <a:xfrm>
            <a:off x="492120" y="395280"/>
            <a:ext cx="796680" cy="423360"/>
            <a:chOff x="492120" y="395280"/>
            <a:chExt cx="796680" cy="423360"/>
          </a:xfrm>
        </p:grpSpPr>
        <p:sp>
          <p:nvSpPr>
            <p:cNvPr id="23" name="Rectangle 5"/>
            <p:cNvSpPr/>
            <p:nvPr/>
          </p:nvSpPr>
          <p:spPr>
            <a:xfrm>
              <a:off x="717480" y="676440"/>
              <a:ext cx="34560" cy="139320"/>
            </a:xfrm>
            <a:prstGeom prst="rect">
              <a:avLst/>
            </a:pr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" name="Freeform 6"/>
            <p:cNvSpPr/>
            <p:nvPr/>
          </p:nvSpPr>
          <p:spPr>
            <a:xfrm>
              <a:off x="928800" y="674640"/>
              <a:ext cx="104400" cy="14400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" name="Freeform 7"/>
            <p:cNvSpPr/>
            <p:nvPr/>
          </p:nvSpPr>
          <p:spPr>
            <a:xfrm>
              <a:off x="563400" y="674640"/>
              <a:ext cx="105840" cy="14400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" name="Freeform 8"/>
            <p:cNvSpPr/>
            <p:nvPr/>
          </p:nvSpPr>
          <p:spPr>
            <a:xfrm>
              <a:off x="1071720" y="674640"/>
              <a:ext cx="144000" cy="144000"/>
            </a:xfrm>
            <a:custGeom>
              <a:avLst/>
              <a:gdLst/>
              <a:ahLst/>
              <a:rect l="l" t="t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" name="Freeform 9"/>
            <p:cNvSpPr/>
            <p:nvPr/>
          </p:nvSpPr>
          <p:spPr>
            <a:xfrm>
              <a:off x="798480" y="674640"/>
              <a:ext cx="95040" cy="144000"/>
            </a:xfrm>
            <a:custGeom>
              <a:avLst/>
              <a:gdLst/>
              <a:ahLst/>
              <a:rect l="l" t="t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" name="Freeform 10"/>
            <p:cNvSpPr/>
            <p:nvPr/>
          </p:nvSpPr>
          <p:spPr>
            <a:xfrm>
              <a:off x="492120" y="509760"/>
              <a:ext cx="34560" cy="7092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" name="Freeform 11"/>
            <p:cNvSpPr/>
            <p:nvPr/>
          </p:nvSpPr>
          <p:spPr>
            <a:xfrm>
              <a:off x="587520" y="461880"/>
              <a:ext cx="34560" cy="1188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" name="Freeform 12"/>
            <p:cNvSpPr/>
            <p:nvPr/>
          </p:nvSpPr>
          <p:spPr>
            <a:xfrm>
              <a:off x="682560" y="395280"/>
              <a:ext cx="34560" cy="22032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" name="Freeform 13"/>
            <p:cNvSpPr/>
            <p:nvPr/>
          </p:nvSpPr>
          <p:spPr>
            <a:xfrm>
              <a:off x="777960" y="461880"/>
              <a:ext cx="34560" cy="1188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" name="Freeform 14"/>
            <p:cNvSpPr/>
            <p:nvPr/>
          </p:nvSpPr>
          <p:spPr>
            <a:xfrm>
              <a:off x="873000" y="509760"/>
              <a:ext cx="34560" cy="7092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" name="Freeform 15"/>
            <p:cNvSpPr/>
            <p:nvPr/>
          </p:nvSpPr>
          <p:spPr>
            <a:xfrm>
              <a:off x="968400" y="461880"/>
              <a:ext cx="34560" cy="1188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" name="Freeform 16"/>
            <p:cNvSpPr/>
            <p:nvPr/>
          </p:nvSpPr>
          <p:spPr>
            <a:xfrm>
              <a:off x="1063800" y="395280"/>
              <a:ext cx="34560" cy="22032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" name="Freeform 17"/>
            <p:cNvSpPr/>
            <p:nvPr/>
          </p:nvSpPr>
          <p:spPr>
            <a:xfrm>
              <a:off x="1158840" y="461880"/>
              <a:ext cx="34560" cy="1188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" name="Freeform 18"/>
            <p:cNvSpPr/>
            <p:nvPr/>
          </p:nvSpPr>
          <p:spPr>
            <a:xfrm>
              <a:off x="1254240" y="509760"/>
              <a:ext cx="34560" cy="7092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"/>
          <p:cNvSpPr/>
          <p:nvPr/>
        </p:nvSpPr>
        <p:spPr>
          <a:xfrm>
            <a:off x="8389080" y="4743360"/>
            <a:ext cx="471600" cy="153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1560" rIns="61560" tIns="30960" bIns="30960" anchor="b">
            <a:spAutoFit/>
          </a:bodyPr>
          <a:p>
            <a:pPr algn="r">
              <a:lnSpc>
                <a:spcPct val="100000"/>
              </a:lnSpc>
              <a:buNone/>
            </a:pPr>
            <a:fld id="{54041414-98E6-4332-B79F-C89A3A51C049}" type="slidenum">
              <a:rPr b="0" lang="en-US" sz="600" spc="-1" strike="noStrike">
                <a:solidFill>
                  <a:srgbClr val="d9d9d9"/>
                </a:solidFill>
                <a:latin typeface="Arial"/>
              </a:rPr>
              <a:t>&lt;number&gt;</a:t>
            </a:fld>
            <a:endParaRPr b="0" lang="en-JM" sz="600" spc="-1" strike="noStrike">
              <a:latin typeface="Arial"/>
            </a:endParaRPr>
          </a:p>
        </p:txBody>
      </p:sp>
      <p:sp>
        <p:nvSpPr>
          <p:cNvPr id="74" name="Rectangle 4"/>
          <p:cNvSpPr/>
          <p:nvPr/>
        </p:nvSpPr>
        <p:spPr>
          <a:xfrm>
            <a:off x="5676480" y="4741920"/>
            <a:ext cx="2848680" cy="153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61560" rIns="61560" tIns="30960" bIns="30960" anchor="b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600" spc="-1" strike="noStrike">
                <a:solidFill>
                  <a:srgbClr val="d9d9d9"/>
                </a:solidFill>
                <a:latin typeface="Arial"/>
              </a:rPr>
              <a:t>© 2019, 2021  Cisco and/or its affiliates. All rights reserved.   Cisco Confidential</a:t>
            </a:r>
            <a:endParaRPr b="0" lang="en-JM" sz="600" spc="-1" strike="noStrike">
              <a:latin typeface="Arial"/>
            </a:endParaRPr>
          </a:p>
        </p:txBody>
      </p:sp>
      <p:grpSp>
        <p:nvGrpSpPr>
          <p:cNvPr id="75" name="Group 4"/>
          <p:cNvGrpSpPr/>
          <p:nvPr/>
        </p:nvGrpSpPr>
        <p:grpSpPr>
          <a:xfrm>
            <a:off x="507960" y="4715280"/>
            <a:ext cx="339840" cy="180360"/>
            <a:chOff x="507960" y="4715280"/>
            <a:chExt cx="339840" cy="180360"/>
          </a:xfrm>
        </p:grpSpPr>
        <p:sp>
          <p:nvSpPr>
            <p:cNvPr id="76" name="Rectangle 5"/>
            <p:cNvSpPr/>
            <p:nvPr/>
          </p:nvSpPr>
          <p:spPr>
            <a:xfrm>
              <a:off x="604440" y="4835160"/>
              <a:ext cx="14400" cy="59400"/>
            </a:xfrm>
            <a:prstGeom prst="rect">
              <a:avLst/>
            </a:pr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" name="Freeform 6"/>
            <p:cNvSpPr/>
            <p:nvPr/>
          </p:nvSpPr>
          <p:spPr>
            <a:xfrm>
              <a:off x="694440" y="4834440"/>
              <a:ext cx="44280" cy="6120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" name="Freeform 7"/>
            <p:cNvSpPr/>
            <p:nvPr/>
          </p:nvSpPr>
          <p:spPr>
            <a:xfrm>
              <a:off x="538560" y="4834440"/>
              <a:ext cx="45000" cy="6120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" name="Freeform 8"/>
            <p:cNvSpPr/>
            <p:nvPr/>
          </p:nvSpPr>
          <p:spPr>
            <a:xfrm>
              <a:off x="755280" y="4834440"/>
              <a:ext cx="61200" cy="61200"/>
            </a:xfrm>
            <a:custGeom>
              <a:avLst/>
              <a:gdLst/>
              <a:ahLst/>
              <a:rect l="l" t="t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" name="Freeform 9"/>
            <p:cNvSpPr/>
            <p:nvPr/>
          </p:nvSpPr>
          <p:spPr>
            <a:xfrm>
              <a:off x="639000" y="4834440"/>
              <a:ext cx="40320" cy="61200"/>
            </a:xfrm>
            <a:custGeom>
              <a:avLst/>
              <a:gdLst/>
              <a:ahLst/>
              <a:rect l="l" t="t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" name="Freeform 10"/>
            <p:cNvSpPr/>
            <p:nvPr/>
          </p:nvSpPr>
          <p:spPr>
            <a:xfrm>
              <a:off x="507960" y="4763880"/>
              <a:ext cx="14400" cy="3024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2" name="Freeform 11"/>
            <p:cNvSpPr/>
            <p:nvPr/>
          </p:nvSpPr>
          <p:spPr>
            <a:xfrm>
              <a:off x="54864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3" name="Freeform 12"/>
            <p:cNvSpPr/>
            <p:nvPr/>
          </p:nvSpPr>
          <p:spPr>
            <a:xfrm>
              <a:off x="589320" y="4715280"/>
              <a:ext cx="14400" cy="9396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4" name="Freeform 13"/>
            <p:cNvSpPr/>
            <p:nvPr/>
          </p:nvSpPr>
          <p:spPr>
            <a:xfrm>
              <a:off x="63000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5" name="Freeform 14"/>
            <p:cNvSpPr/>
            <p:nvPr/>
          </p:nvSpPr>
          <p:spPr>
            <a:xfrm>
              <a:off x="670680" y="4763880"/>
              <a:ext cx="14400" cy="3024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6" name="Freeform 15"/>
            <p:cNvSpPr/>
            <p:nvPr/>
          </p:nvSpPr>
          <p:spPr>
            <a:xfrm>
              <a:off x="71136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7" name="Freeform 16"/>
            <p:cNvSpPr/>
            <p:nvPr/>
          </p:nvSpPr>
          <p:spPr>
            <a:xfrm>
              <a:off x="752040" y="4715280"/>
              <a:ext cx="14400" cy="9396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8" name="Freeform 17"/>
            <p:cNvSpPr/>
            <p:nvPr/>
          </p:nvSpPr>
          <p:spPr>
            <a:xfrm>
              <a:off x="79272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9" name="Freeform 18"/>
            <p:cNvSpPr/>
            <p:nvPr/>
          </p:nvSpPr>
          <p:spPr>
            <a:xfrm>
              <a:off x="833400" y="4763880"/>
              <a:ext cx="14400" cy="3024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90" name="PlaceHolder 1"/>
          <p:cNvSpPr>
            <a:spLocks noGrp="1"/>
          </p:cNvSpPr>
          <p:nvPr>
            <p:ph type="sldNum"/>
          </p:nvPr>
        </p:nvSpPr>
        <p:spPr>
          <a:xfrm>
            <a:off x="8473320" y="4954320"/>
            <a:ext cx="676440" cy="189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  <a:buNone/>
            </a:pPr>
            <a:fld id="{26D43F78-EADC-4D6A-866D-82EC1F7DD744}" type="slidenum">
              <a:rPr b="0" lang="en-US" sz="530" spc="-1" strike="noStrike">
                <a:solidFill>
                  <a:srgbClr val="595959"/>
                </a:solidFill>
                <a:latin typeface="Arial"/>
                <a:ea typeface="ＭＳ Ｐゴシック"/>
              </a:rPr>
              <a:t>&lt;number&gt;</a:t>
            </a:fld>
            <a:endParaRPr b="0" lang="en-JM" sz="530" spc="-1" strike="noStrike">
              <a:latin typeface="Times New Roman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144000" y="798840"/>
            <a:ext cx="8852760" cy="4155120"/>
          </a:xfrm>
          <a:prstGeom prst="rect">
            <a:avLst/>
          </a:prstGeom>
          <a:noFill/>
          <a:ln w="0">
            <a:noFill/>
          </a:ln>
        </p:spPr>
        <p:txBody>
          <a:bodyPr numCol="1" spcCol="0" rIns="182880" anchor="t">
            <a:noAutofit/>
          </a:bodyPr>
          <a:p>
            <a:pPr marL="169920" indent="-1699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Wingdings" charset="2"/>
              <a:buChar char="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Click to edit Master text styles</a:t>
            </a:r>
            <a:endParaRPr b="0" lang="en-US" sz="1500" spc="-1" strike="noStrike">
              <a:solidFill>
                <a:srgbClr val="58585b"/>
              </a:solidFill>
              <a:latin typeface="Arial"/>
            </a:endParaRPr>
          </a:p>
          <a:p>
            <a:pPr lvl="1" marL="358920" indent="-216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Second level</a:t>
            </a:r>
            <a:endParaRPr b="0" lang="en-US" sz="1400" spc="-1" strike="noStrike">
              <a:solidFill>
                <a:srgbClr val="58585b"/>
              </a:solidFill>
              <a:latin typeface="Arial"/>
            </a:endParaRPr>
          </a:p>
          <a:p>
            <a:pPr lvl="2" marL="431640" indent="-16992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Third level</a:t>
            </a:r>
            <a:endParaRPr b="0" lang="en-US" sz="1200" spc="-1" strike="noStrike">
              <a:solidFill>
                <a:srgbClr val="58585b"/>
              </a:solidFill>
              <a:latin typeface="Arial"/>
            </a:endParaRPr>
          </a:p>
          <a:p>
            <a:pPr lvl="3" marL="503280" indent="-16992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Fourth level</a:t>
            </a:r>
            <a:endParaRPr b="0" lang="en-US" sz="11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title"/>
          </p:nvPr>
        </p:nvSpPr>
        <p:spPr>
          <a:xfrm>
            <a:off x="0" y="41400"/>
            <a:ext cx="9143640" cy="75708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Click to edit Master title style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ectangle 7" hidden="1"/>
          <p:cNvSpPr/>
          <p:nvPr/>
        </p:nvSpPr>
        <p:spPr>
          <a:xfrm>
            <a:off x="8389080" y="4743360"/>
            <a:ext cx="471600" cy="153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1560" rIns="61560" tIns="30960" bIns="30960" anchor="b">
            <a:spAutoFit/>
          </a:bodyPr>
          <a:p>
            <a:pPr algn="r">
              <a:lnSpc>
                <a:spcPct val="100000"/>
              </a:lnSpc>
              <a:buNone/>
            </a:pPr>
            <a:fld id="{17C98B83-DCF6-4285-BD2D-020816CCA70A}" type="slidenum">
              <a:rPr b="0" lang="en-US" sz="600" spc="-1" strike="noStrike">
                <a:solidFill>
                  <a:srgbClr val="d9d9d9"/>
                </a:solidFill>
                <a:latin typeface="Arial"/>
              </a:rPr>
              <a:t>&lt;number&gt;</a:t>
            </a:fld>
            <a:endParaRPr b="0" lang="en-JM" sz="600" spc="-1" strike="noStrike">
              <a:latin typeface="Arial"/>
            </a:endParaRPr>
          </a:p>
        </p:txBody>
      </p:sp>
      <p:sp>
        <p:nvSpPr>
          <p:cNvPr id="130" name="Rectangle 4" hidden="1"/>
          <p:cNvSpPr/>
          <p:nvPr/>
        </p:nvSpPr>
        <p:spPr>
          <a:xfrm>
            <a:off x="5676480" y="4741920"/>
            <a:ext cx="2848680" cy="153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61560" rIns="61560" tIns="30960" bIns="30960" anchor="b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600" spc="-1" strike="noStrike">
                <a:solidFill>
                  <a:srgbClr val="d9d9d9"/>
                </a:solidFill>
                <a:latin typeface="Arial"/>
              </a:rPr>
              <a:t>© 2019, 2021  Cisco and/or its affiliates. All rights reserved.   Cisco Confidential</a:t>
            </a:r>
            <a:endParaRPr b="0" lang="en-JM" sz="600" spc="-1" strike="noStrike">
              <a:latin typeface="Arial"/>
            </a:endParaRPr>
          </a:p>
        </p:txBody>
      </p:sp>
      <p:grpSp>
        <p:nvGrpSpPr>
          <p:cNvPr id="131" name="Group 4"/>
          <p:cNvGrpSpPr/>
          <p:nvPr/>
        </p:nvGrpSpPr>
        <p:grpSpPr>
          <a:xfrm>
            <a:off x="507960" y="4715280"/>
            <a:ext cx="339840" cy="180360"/>
            <a:chOff x="507960" y="4715280"/>
            <a:chExt cx="339840" cy="180360"/>
          </a:xfrm>
        </p:grpSpPr>
        <p:sp>
          <p:nvSpPr>
            <p:cNvPr id="132" name="Rectangle 5"/>
            <p:cNvSpPr/>
            <p:nvPr/>
          </p:nvSpPr>
          <p:spPr>
            <a:xfrm>
              <a:off x="604440" y="4835160"/>
              <a:ext cx="14400" cy="59400"/>
            </a:xfrm>
            <a:prstGeom prst="rect">
              <a:avLst/>
            </a:pr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3" name="Freeform 6"/>
            <p:cNvSpPr/>
            <p:nvPr/>
          </p:nvSpPr>
          <p:spPr>
            <a:xfrm>
              <a:off x="694440" y="4834440"/>
              <a:ext cx="44280" cy="6120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4" name="Freeform 7"/>
            <p:cNvSpPr/>
            <p:nvPr/>
          </p:nvSpPr>
          <p:spPr>
            <a:xfrm>
              <a:off x="538560" y="4834440"/>
              <a:ext cx="45000" cy="6120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5" name="Freeform 8"/>
            <p:cNvSpPr/>
            <p:nvPr/>
          </p:nvSpPr>
          <p:spPr>
            <a:xfrm>
              <a:off x="755280" y="4834440"/>
              <a:ext cx="61200" cy="61200"/>
            </a:xfrm>
            <a:custGeom>
              <a:avLst/>
              <a:gdLst/>
              <a:ahLst/>
              <a:rect l="l" t="t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6" name="Freeform 9"/>
            <p:cNvSpPr/>
            <p:nvPr/>
          </p:nvSpPr>
          <p:spPr>
            <a:xfrm>
              <a:off x="639000" y="4834440"/>
              <a:ext cx="40320" cy="61200"/>
            </a:xfrm>
            <a:custGeom>
              <a:avLst/>
              <a:gdLst/>
              <a:ahLst/>
              <a:rect l="l" t="t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7" name="Freeform 10"/>
            <p:cNvSpPr/>
            <p:nvPr/>
          </p:nvSpPr>
          <p:spPr>
            <a:xfrm>
              <a:off x="507960" y="4763880"/>
              <a:ext cx="14400" cy="3024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8" name="Freeform 11"/>
            <p:cNvSpPr/>
            <p:nvPr/>
          </p:nvSpPr>
          <p:spPr>
            <a:xfrm>
              <a:off x="54864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9" name="Freeform 12"/>
            <p:cNvSpPr/>
            <p:nvPr/>
          </p:nvSpPr>
          <p:spPr>
            <a:xfrm>
              <a:off x="589320" y="4715280"/>
              <a:ext cx="14400" cy="9396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0" name="Freeform 13"/>
            <p:cNvSpPr/>
            <p:nvPr/>
          </p:nvSpPr>
          <p:spPr>
            <a:xfrm>
              <a:off x="63000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1" name="Freeform 14"/>
            <p:cNvSpPr/>
            <p:nvPr/>
          </p:nvSpPr>
          <p:spPr>
            <a:xfrm>
              <a:off x="670680" y="4763880"/>
              <a:ext cx="14400" cy="3024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2" name="Freeform 15"/>
            <p:cNvSpPr/>
            <p:nvPr/>
          </p:nvSpPr>
          <p:spPr>
            <a:xfrm>
              <a:off x="71136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3" name="Freeform 16"/>
            <p:cNvSpPr/>
            <p:nvPr/>
          </p:nvSpPr>
          <p:spPr>
            <a:xfrm>
              <a:off x="752040" y="4715280"/>
              <a:ext cx="14400" cy="9396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4" name="Freeform 17"/>
            <p:cNvSpPr/>
            <p:nvPr/>
          </p:nvSpPr>
          <p:spPr>
            <a:xfrm>
              <a:off x="79272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5" name="Freeform 18"/>
            <p:cNvSpPr/>
            <p:nvPr/>
          </p:nvSpPr>
          <p:spPr>
            <a:xfrm>
              <a:off x="833400" y="4763880"/>
              <a:ext cx="14400" cy="3024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46" name="Rectangle 6"/>
          <p:cNvSpPr/>
          <p:nvPr/>
        </p:nvSpPr>
        <p:spPr>
          <a:xfrm>
            <a:off x="0" y="0"/>
            <a:ext cx="9143640" cy="5142960"/>
          </a:xfrm>
          <a:prstGeom prst="rect">
            <a:avLst/>
          </a:prstGeom>
          <a:solidFill>
            <a:srgbClr val="0039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416520" y="915480"/>
            <a:ext cx="7597800" cy="256968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b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600" spc="-1" strike="noStrike">
                <a:solidFill>
                  <a:srgbClr val="38c6f4"/>
                </a:solidFill>
                <a:latin typeface="Arial"/>
                <a:ea typeface="ＭＳ Ｐゴシック"/>
              </a:rPr>
              <a:t>Click to edit Master title style</a:t>
            </a:r>
            <a:endParaRPr b="0" lang="en-US" sz="46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48" name="Rectangle 7"/>
          <p:cNvSpPr/>
          <p:nvPr/>
        </p:nvSpPr>
        <p:spPr>
          <a:xfrm>
            <a:off x="8389080" y="4743360"/>
            <a:ext cx="471600" cy="153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1560" rIns="61560" tIns="30960" bIns="30960" anchor="b">
            <a:spAutoFit/>
          </a:bodyPr>
          <a:p>
            <a:pPr algn="r">
              <a:lnSpc>
                <a:spcPct val="100000"/>
              </a:lnSpc>
              <a:buNone/>
            </a:pPr>
            <a:fld id="{575849D1-EDAF-4AB4-B096-A19EEA3513FF}" type="slidenum">
              <a:rPr b="0" lang="en-US" sz="600" spc="-1" strike="noStrike">
                <a:solidFill>
                  <a:srgbClr val="086d8e"/>
                </a:solidFill>
                <a:latin typeface="Arial"/>
              </a:rPr>
              <a:t>&lt;number&gt;</a:t>
            </a:fld>
            <a:endParaRPr b="0" lang="en-JM" sz="600" spc="-1" strike="noStrike">
              <a:latin typeface="Arial"/>
            </a:endParaRPr>
          </a:p>
        </p:txBody>
      </p:sp>
      <p:sp>
        <p:nvSpPr>
          <p:cNvPr id="149" name="Rectangle 4"/>
          <p:cNvSpPr/>
          <p:nvPr/>
        </p:nvSpPr>
        <p:spPr>
          <a:xfrm>
            <a:off x="5867640" y="4741920"/>
            <a:ext cx="2657520" cy="153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61560" rIns="61560" tIns="30960" bIns="30960" anchor="b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600" spc="-1" strike="noStrike">
                <a:solidFill>
                  <a:srgbClr val="086d8e"/>
                </a:solidFill>
                <a:latin typeface="Arial"/>
              </a:rPr>
              <a:t>© 2016  Cisco and/or its affiliates. All rights reserved.   Cisco Confidential</a:t>
            </a:r>
            <a:endParaRPr b="0" lang="en-JM" sz="600" spc="-1" strike="noStrike">
              <a:latin typeface="Arial"/>
            </a:endParaRPr>
          </a:p>
        </p:txBody>
      </p:sp>
      <p:grpSp>
        <p:nvGrpSpPr>
          <p:cNvPr id="150" name="Group 4"/>
          <p:cNvGrpSpPr/>
          <p:nvPr/>
        </p:nvGrpSpPr>
        <p:grpSpPr>
          <a:xfrm>
            <a:off x="507960" y="4715280"/>
            <a:ext cx="339840" cy="180360"/>
            <a:chOff x="507960" y="4715280"/>
            <a:chExt cx="339840" cy="180360"/>
          </a:xfrm>
        </p:grpSpPr>
        <p:sp>
          <p:nvSpPr>
            <p:cNvPr id="151" name="Rectangle 5"/>
            <p:cNvSpPr/>
            <p:nvPr/>
          </p:nvSpPr>
          <p:spPr>
            <a:xfrm>
              <a:off x="604440" y="4835160"/>
              <a:ext cx="14400" cy="59400"/>
            </a:xfrm>
            <a:prstGeom prst="rect">
              <a:avLst/>
            </a:pr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2" name="Freeform 6"/>
            <p:cNvSpPr/>
            <p:nvPr/>
          </p:nvSpPr>
          <p:spPr>
            <a:xfrm>
              <a:off x="694440" y="4834440"/>
              <a:ext cx="44280" cy="6120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3" name="Freeform 7"/>
            <p:cNvSpPr/>
            <p:nvPr/>
          </p:nvSpPr>
          <p:spPr>
            <a:xfrm>
              <a:off x="538560" y="4834440"/>
              <a:ext cx="45000" cy="6120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4" name="Freeform 8"/>
            <p:cNvSpPr/>
            <p:nvPr/>
          </p:nvSpPr>
          <p:spPr>
            <a:xfrm>
              <a:off x="755280" y="4834440"/>
              <a:ext cx="61200" cy="61200"/>
            </a:xfrm>
            <a:custGeom>
              <a:avLst/>
              <a:gdLst/>
              <a:ahLst/>
              <a:rect l="l" t="t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5" name="Freeform 9"/>
            <p:cNvSpPr/>
            <p:nvPr/>
          </p:nvSpPr>
          <p:spPr>
            <a:xfrm>
              <a:off x="639000" y="4834440"/>
              <a:ext cx="40320" cy="61200"/>
            </a:xfrm>
            <a:custGeom>
              <a:avLst/>
              <a:gdLst/>
              <a:ahLst/>
              <a:rect l="l" t="t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6" name="Freeform 10"/>
            <p:cNvSpPr/>
            <p:nvPr/>
          </p:nvSpPr>
          <p:spPr>
            <a:xfrm>
              <a:off x="507960" y="4763880"/>
              <a:ext cx="14400" cy="3024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7" name="Freeform 11"/>
            <p:cNvSpPr/>
            <p:nvPr/>
          </p:nvSpPr>
          <p:spPr>
            <a:xfrm>
              <a:off x="54864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8" name="Freeform 12"/>
            <p:cNvSpPr/>
            <p:nvPr/>
          </p:nvSpPr>
          <p:spPr>
            <a:xfrm>
              <a:off x="589320" y="4715280"/>
              <a:ext cx="14400" cy="9396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9" name="Freeform 13"/>
            <p:cNvSpPr/>
            <p:nvPr/>
          </p:nvSpPr>
          <p:spPr>
            <a:xfrm>
              <a:off x="63000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0" name="Freeform 14"/>
            <p:cNvSpPr/>
            <p:nvPr/>
          </p:nvSpPr>
          <p:spPr>
            <a:xfrm>
              <a:off x="670680" y="4763880"/>
              <a:ext cx="14400" cy="3024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1" name="Freeform 15"/>
            <p:cNvSpPr/>
            <p:nvPr/>
          </p:nvSpPr>
          <p:spPr>
            <a:xfrm>
              <a:off x="71136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2" name="Freeform 16"/>
            <p:cNvSpPr/>
            <p:nvPr/>
          </p:nvSpPr>
          <p:spPr>
            <a:xfrm>
              <a:off x="752040" y="4715280"/>
              <a:ext cx="14400" cy="9396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3" name="Freeform 17"/>
            <p:cNvSpPr/>
            <p:nvPr/>
          </p:nvSpPr>
          <p:spPr>
            <a:xfrm>
              <a:off x="79272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4" name="Freeform 18"/>
            <p:cNvSpPr/>
            <p:nvPr/>
          </p:nvSpPr>
          <p:spPr>
            <a:xfrm>
              <a:off x="833400" y="4763880"/>
              <a:ext cx="14400" cy="3024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58585b"/>
                </a:solidFill>
                <a:latin typeface="Arial"/>
              </a:rPr>
              <a:t>Click to edit the outline text format</a:t>
            </a:r>
            <a:endParaRPr b="0" lang="en-US" sz="1500" spc="-1" strike="noStrike">
              <a:solidFill>
                <a:srgbClr val="58585b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58585b"/>
                </a:solidFill>
                <a:latin typeface="Arial"/>
              </a:rPr>
              <a:t>Second Outline Level</a:t>
            </a:r>
            <a:endParaRPr b="0" lang="en-US" sz="1200" spc="-1" strike="noStrike">
              <a:solidFill>
                <a:srgbClr val="58585b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58585b"/>
                </a:solidFill>
                <a:latin typeface="Arial"/>
              </a:rPr>
              <a:t>Third Outline Level</a:t>
            </a:r>
            <a:endParaRPr b="0" lang="en-US" sz="1100" spc="-1" strike="noStrike">
              <a:solidFill>
                <a:srgbClr val="58585b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58585b"/>
                </a:solidFill>
                <a:latin typeface="Arial"/>
              </a:rPr>
              <a:t>Fourth Outline Level</a:t>
            </a:r>
            <a:endParaRPr b="0" lang="en-US" sz="1100" spc="-1" strike="noStrike">
              <a:solidFill>
                <a:srgbClr val="58585b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58585b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58585b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58585b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58585b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58585b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Rectangle 7"/>
          <p:cNvSpPr/>
          <p:nvPr/>
        </p:nvSpPr>
        <p:spPr>
          <a:xfrm>
            <a:off x="8389080" y="4743360"/>
            <a:ext cx="471600" cy="153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1560" rIns="61560" tIns="30960" bIns="30960" anchor="b">
            <a:spAutoFit/>
          </a:bodyPr>
          <a:p>
            <a:pPr algn="r">
              <a:lnSpc>
                <a:spcPct val="100000"/>
              </a:lnSpc>
              <a:buNone/>
            </a:pPr>
            <a:fld id="{014BC55F-4ED8-4C00-8F24-1CF1657987C0}" type="slidenum">
              <a:rPr b="0" lang="en-US" sz="600" spc="-1" strike="noStrike">
                <a:solidFill>
                  <a:srgbClr val="d9d9d9"/>
                </a:solidFill>
                <a:latin typeface="Arial"/>
              </a:rPr>
              <a:t>&lt;number&gt;</a:t>
            </a:fld>
            <a:endParaRPr b="0" lang="en-JM" sz="600" spc="-1" strike="noStrike">
              <a:latin typeface="Arial"/>
            </a:endParaRPr>
          </a:p>
        </p:txBody>
      </p:sp>
      <p:sp>
        <p:nvSpPr>
          <p:cNvPr id="203" name="Rectangle 4"/>
          <p:cNvSpPr/>
          <p:nvPr/>
        </p:nvSpPr>
        <p:spPr>
          <a:xfrm>
            <a:off x="5676480" y="4741920"/>
            <a:ext cx="2848680" cy="153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61560" rIns="61560" tIns="30960" bIns="30960" anchor="b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600" spc="-1" strike="noStrike">
                <a:solidFill>
                  <a:srgbClr val="d9d9d9"/>
                </a:solidFill>
                <a:latin typeface="Arial"/>
              </a:rPr>
              <a:t>© 2019, 2021  Cisco and/or its affiliates. All rights reserved.   Cisco Confidential</a:t>
            </a:r>
            <a:endParaRPr b="0" lang="en-JM" sz="600" spc="-1" strike="noStrike">
              <a:latin typeface="Arial"/>
            </a:endParaRPr>
          </a:p>
        </p:txBody>
      </p:sp>
      <p:grpSp>
        <p:nvGrpSpPr>
          <p:cNvPr id="204" name="Group 4"/>
          <p:cNvGrpSpPr/>
          <p:nvPr/>
        </p:nvGrpSpPr>
        <p:grpSpPr>
          <a:xfrm>
            <a:off x="507960" y="4715280"/>
            <a:ext cx="339840" cy="180360"/>
            <a:chOff x="507960" y="4715280"/>
            <a:chExt cx="339840" cy="180360"/>
          </a:xfrm>
        </p:grpSpPr>
        <p:sp>
          <p:nvSpPr>
            <p:cNvPr id="205" name="Rectangle 5"/>
            <p:cNvSpPr/>
            <p:nvPr/>
          </p:nvSpPr>
          <p:spPr>
            <a:xfrm>
              <a:off x="604440" y="4835160"/>
              <a:ext cx="14400" cy="59400"/>
            </a:xfrm>
            <a:prstGeom prst="rect">
              <a:avLst/>
            </a:pr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6" name="Freeform 6"/>
            <p:cNvSpPr/>
            <p:nvPr/>
          </p:nvSpPr>
          <p:spPr>
            <a:xfrm>
              <a:off x="694440" y="4834440"/>
              <a:ext cx="44280" cy="6120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7" name="Freeform 7"/>
            <p:cNvSpPr/>
            <p:nvPr/>
          </p:nvSpPr>
          <p:spPr>
            <a:xfrm>
              <a:off x="538560" y="4834440"/>
              <a:ext cx="45000" cy="6120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8" name="Freeform 8"/>
            <p:cNvSpPr/>
            <p:nvPr/>
          </p:nvSpPr>
          <p:spPr>
            <a:xfrm>
              <a:off x="755280" y="4834440"/>
              <a:ext cx="61200" cy="61200"/>
            </a:xfrm>
            <a:custGeom>
              <a:avLst/>
              <a:gdLst/>
              <a:ahLst/>
              <a:rect l="l" t="t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9" name="Freeform 9"/>
            <p:cNvSpPr/>
            <p:nvPr/>
          </p:nvSpPr>
          <p:spPr>
            <a:xfrm>
              <a:off x="639000" y="4834440"/>
              <a:ext cx="40320" cy="61200"/>
            </a:xfrm>
            <a:custGeom>
              <a:avLst/>
              <a:gdLst/>
              <a:ahLst/>
              <a:rect l="l" t="t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0" name="Freeform 10"/>
            <p:cNvSpPr/>
            <p:nvPr/>
          </p:nvSpPr>
          <p:spPr>
            <a:xfrm>
              <a:off x="507960" y="4763880"/>
              <a:ext cx="14400" cy="3024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1" name="Freeform 11"/>
            <p:cNvSpPr/>
            <p:nvPr/>
          </p:nvSpPr>
          <p:spPr>
            <a:xfrm>
              <a:off x="54864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2" name="Freeform 12"/>
            <p:cNvSpPr/>
            <p:nvPr/>
          </p:nvSpPr>
          <p:spPr>
            <a:xfrm>
              <a:off x="589320" y="4715280"/>
              <a:ext cx="14400" cy="9396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3" name="Freeform 13"/>
            <p:cNvSpPr/>
            <p:nvPr/>
          </p:nvSpPr>
          <p:spPr>
            <a:xfrm>
              <a:off x="63000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4" name="Freeform 14"/>
            <p:cNvSpPr/>
            <p:nvPr/>
          </p:nvSpPr>
          <p:spPr>
            <a:xfrm>
              <a:off x="670680" y="4763880"/>
              <a:ext cx="14400" cy="3024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5" name="Freeform 15"/>
            <p:cNvSpPr/>
            <p:nvPr/>
          </p:nvSpPr>
          <p:spPr>
            <a:xfrm>
              <a:off x="71136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6" name="Freeform 16"/>
            <p:cNvSpPr/>
            <p:nvPr/>
          </p:nvSpPr>
          <p:spPr>
            <a:xfrm>
              <a:off x="752040" y="4715280"/>
              <a:ext cx="14400" cy="9396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7" name="Freeform 17"/>
            <p:cNvSpPr/>
            <p:nvPr/>
          </p:nvSpPr>
          <p:spPr>
            <a:xfrm>
              <a:off x="79272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8" name="Freeform 18"/>
            <p:cNvSpPr/>
            <p:nvPr/>
          </p:nvSpPr>
          <p:spPr>
            <a:xfrm>
              <a:off x="833400" y="4763880"/>
              <a:ext cx="14400" cy="3024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19" name="PlaceHolder 1"/>
          <p:cNvSpPr>
            <a:spLocks noGrp="1"/>
          </p:cNvSpPr>
          <p:nvPr>
            <p:ph type="body"/>
          </p:nvPr>
        </p:nvSpPr>
        <p:spPr>
          <a:xfrm>
            <a:off x="474840" y="1347840"/>
            <a:ext cx="8279640" cy="30736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85840" indent="-285840" algn="ctr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  <a:ea typeface="ＭＳ Ｐゴシック"/>
              </a:rPr>
              <a:t>Click to edit Master text styles</a:t>
            </a:r>
            <a:endParaRPr b="0" lang="en-US" sz="20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 type="title"/>
          </p:nvPr>
        </p:nvSpPr>
        <p:spPr>
          <a:xfrm>
            <a:off x="437760" y="341280"/>
            <a:ext cx="8345160" cy="731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32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Click to edit Master title style</a:t>
            </a:r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8c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Rectangle 7" hidden="1"/>
          <p:cNvSpPr/>
          <p:nvPr/>
        </p:nvSpPr>
        <p:spPr>
          <a:xfrm>
            <a:off x="8389080" y="4743360"/>
            <a:ext cx="471600" cy="153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1560" rIns="61560" tIns="30960" bIns="30960" anchor="b">
            <a:spAutoFit/>
          </a:bodyPr>
          <a:p>
            <a:pPr algn="r">
              <a:lnSpc>
                <a:spcPct val="100000"/>
              </a:lnSpc>
              <a:buNone/>
            </a:pPr>
            <a:fld id="{172A2778-2C3B-49B1-8D53-E601974DEF62}" type="slidenum">
              <a:rPr b="0" lang="en-US" sz="600" spc="-1" strike="noStrike">
                <a:solidFill>
                  <a:srgbClr val="d9d9d9"/>
                </a:solidFill>
                <a:latin typeface="Arial"/>
              </a:rPr>
              <a:t>&lt;number&gt;</a:t>
            </a:fld>
            <a:endParaRPr b="0" lang="en-JM" sz="600" spc="-1" strike="noStrike">
              <a:latin typeface="Arial"/>
            </a:endParaRPr>
          </a:p>
        </p:txBody>
      </p:sp>
      <p:sp>
        <p:nvSpPr>
          <p:cNvPr id="258" name="Rectangle 4" hidden="1"/>
          <p:cNvSpPr/>
          <p:nvPr/>
        </p:nvSpPr>
        <p:spPr>
          <a:xfrm>
            <a:off x="5676480" y="4741920"/>
            <a:ext cx="2848680" cy="153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61560" rIns="61560" tIns="30960" bIns="30960" anchor="b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600" spc="-1" strike="noStrike">
                <a:solidFill>
                  <a:srgbClr val="d9d9d9"/>
                </a:solidFill>
                <a:latin typeface="Arial"/>
              </a:rPr>
              <a:t>© 2019, 2021  Cisco and/or its affiliates. All rights reserved.   Cisco Confidential</a:t>
            </a:r>
            <a:endParaRPr b="0" lang="en-JM" sz="600" spc="-1" strike="noStrike">
              <a:latin typeface="Arial"/>
            </a:endParaRPr>
          </a:p>
        </p:txBody>
      </p:sp>
      <p:grpSp>
        <p:nvGrpSpPr>
          <p:cNvPr id="259" name="Group 4"/>
          <p:cNvGrpSpPr/>
          <p:nvPr/>
        </p:nvGrpSpPr>
        <p:grpSpPr>
          <a:xfrm>
            <a:off x="507960" y="4715280"/>
            <a:ext cx="339840" cy="180360"/>
            <a:chOff x="507960" y="4715280"/>
            <a:chExt cx="339840" cy="180360"/>
          </a:xfrm>
        </p:grpSpPr>
        <p:sp>
          <p:nvSpPr>
            <p:cNvPr id="260" name="Rectangle 5"/>
            <p:cNvSpPr/>
            <p:nvPr/>
          </p:nvSpPr>
          <p:spPr>
            <a:xfrm>
              <a:off x="604440" y="4835160"/>
              <a:ext cx="14400" cy="59400"/>
            </a:xfrm>
            <a:prstGeom prst="rect">
              <a:avLst/>
            </a:pr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1" name="Freeform 6"/>
            <p:cNvSpPr/>
            <p:nvPr/>
          </p:nvSpPr>
          <p:spPr>
            <a:xfrm>
              <a:off x="694440" y="4834440"/>
              <a:ext cx="44280" cy="6120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2" name="Freeform 7"/>
            <p:cNvSpPr/>
            <p:nvPr/>
          </p:nvSpPr>
          <p:spPr>
            <a:xfrm>
              <a:off x="538560" y="4834440"/>
              <a:ext cx="45000" cy="6120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3" name="Freeform 8"/>
            <p:cNvSpPr/>
            <p:nvPr/>
          </p:nvSpPr>
          <p:spPr>
            <a:xfrm>
              <a:off x="755280" y="4834440"/>
              <a:ext cx="61200" cy="61200"/>
            </a:xfrm>
            <a:custGeom>
              <a:avLst/>
              <a:gdLst/>
              <a:ahLst/>
              <a:rect l="l" t="t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4" name="Freeform 9"/>
            <p:cNvSpPr/>
            <p:nvPr/>
          </p:nvSpPr>
          <p:spPr>
            <a:xfrm>
              <a:off x="639000" y="4834440"/>
              <a:ext cx="40320" cy="61200"/>
            </a:xfrm>
            <a:custGeom>
              <a:avLst/>
              <a:gdLst/>
              <a:ahLst/>
              <a:rect l="l" t="t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5" name="Freeform 10"/>
            <p:cNvSpPr/>
            <p:nvPr/>
          </p:nvSpPr>
          <p:spPr>
            <a:xfrm>
              <a:off x="507960" y="4763880"/>
              <a:ext cx="14400" cy="3024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6" name="Freeform 11"/>
            <p:cNvSpPr/>
            <p:nvPr/>
          </p:nvSpPr>
          <p:spPr>
            <a:xfrm>
              <a:off x="54864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7" name="Freeform 12"/>
            <p:cNvSpPr/>
            <p:nvPr/>
          </p:nvSpPr>
          <p:spPr>
            <a:xfrm>
              <a:off x="589320" y="4715280"/>
              <a:ext cx="14400" cy="9396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8" name="Freeform 13"/>
            <p:cNvSpPr/>
            <p:nvPr/>
          </p:nvSpPr>
          <p:spPr>
            <a:xfrm>
              <a:off x="63000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9" name="Freeform 14"/>
            <p:cNvSpPr/>
            <p:nvPr/>
          </p:nvSpPr>
          <p:spPr>
            <a:xfrm>
              <a:off x="670680" y="4763880"/>
              <a:ext cx="14400" cy="3024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0" name="Freeform 15"/>
            <p:cNvSpPr/>
            <p:nvPr/>
          </p:nvSpPr>
          <p:spPr>
            <a:xfrm>
              <a:off x="71136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1" name="Freeform 16"/>
            <p:cNvSpPr/>
            <p:nvPr/>
          </p:nvSpPr>
          <p:spPr>
            <a:xfrm>
              <a:off x="752040" y="4715280"/>
              <a:ext cx="14400" cy="9396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2" name="Freeform 17"/>
            <p:cNvSpPr/>
            <p:nvPr/>
          </p:nvSpPr>
          <p:spPr>
            <a:xfrm>
              <a:off x="79272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3" name="Freeform 18"/>
            <p:cNvSpPr/>
            <p:nvPr/>
          </p:nvSpPr>
          <p:spPr>
            <a:xfrm>
              <a:off x="833400" y="4763880"/>
              <a:ext cx="14400" cy="3024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pic>
        <p:nvPicPr>
          <p:cNvPr id="274" name="Picture 1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65640"/>
          </a:xfrm>
          <a:prstGeom prst="rect">
            <a:avLst/>
          </a:prstGeom>
          <a:ln w="0">
            <a:noFill/>
          </a:ln>
        </p:spPr>
      </p:pic>
      <p:grpSp>
        <p:nvGrpSpPr>
          <p:cNvPr id="275" name="Group 4"/>
          <p:cNvGrpSpPr/>
          <p:nvPr/>
        </p:nvGrpSpPr>
        <p:grpSpPr>
          <a:xfrm>
            <a:off x="3746160" y="2129760"/>
            <a:ext cx="1617840" cy="860400"/>
            <a:chOff x="3746160" y="2129760"/>
            <a:chExt cx="1617840" cy="860400"/>
          </a:xfrm>
        </p:grpSpPr>
        <p:sp>
          <p:nvSpPr>
            <p:cNvPr id="276" name="Rectangle 5"/>
            <p:cNvSpPr/>
            <p:nvPr/>
          </p:nvSpPr>
          <p:spPr>
            <a:xfrm>
              <a:off x="4204080" y="2700360"/>
              <a:ext cx="70560" cy="283320"/>
            </a:xfrm>
            <a:prstGeom prst="rect">
              <a:avLst/>
            </a:pr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7" name="Freeform 6"/>
            <p:cNvSpPr/>
            <p:nvPr/>
          </p:nvSpPr>
          <p:spPr>
            <a:xfrm>
              <a:off x="4632480" y="2697120"/>
              <a:ext cx="212400" cy="29304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8" name="Freeform 7"/>
            <p:cNvSpPr/>
            <p:nvPr/>
          </p:nvSpPr>
          <p:spPr>
            <a:xfrm>
              <a:off x="3891240" y="2697120"/>
              <a:ext cx="215640" cy="29304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9" name="Freeform 8"/>
            <p:cNvSpPr/>
            <p:nvPr/>
          </p:nvSpPr>
          <p:spPr>
            <a:xfrm>
              <a:off x="4922640" y="2697120"/>
              <a:ext cx="293040" cy="293040"/>
            </a:xfrm>
            <a:custGeom>
              <a:avLst/>
              <a:gdLst/>
              <a:ahLst/>
              <a:rect l="l" t="t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0" name="Freeform 9"/>
            <p:cNvSpPr/>
            <p:nvPr/>
          </p:nvSpPr>
          <p:spPr>
            <a:xfrm>
              <a:off x="4368240" y="2697120"/>
              <a:ext cx="192960" cy="293040"/>
            </a:xfrm>
            <a:custGeom>
              <a:avLst/>
              <a:gdLst/>
              <a:ahLst/>
              <a:rect l="l" t="t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1" name="Freeform 10"/>
            <p:cNvSpPr/>
            <p:nvPr/>
          </p:nvSpPr>
          <p:spPr>
            <a:xfrm>
              <a:off x="3746160" y="2361960"/>
              <a:ext cx="70560" cy="14472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2" name="Freeform 11"/>
            <p:cNvSpPr/>
            <p:nvPr/>
          </p:nvSpPr>
          <p:spPr>
            <a:xfrm>
              <a:off x="3939840" y="2265120"/>
              <a:ext cx="70560" cy="2412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3" name="Freeform 12"/>
            <p:cNvSpPr/>
            <p:nvPr/>
          </p:nvSpPr>
          <p:spPr>
            <a:xfrm>
              <a:off x="4133160" y="2129760"/>
              <a:ext cx="70560" cy="44748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4" name="Freeform 13"/>
            <p:cNvSpPr/>
            <p:nvPr/>
          </p:nvSpPr>
          <p:spPr>
            <a:xfrm>
              <a:off x="4326480" y="2265120"/>
              <a:ext cx="70560" cy="2412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5" name="Freeform 14"/>
            <p:cNvSpPr/>
            <p:nvPr/>
          </p:nvSpPr>
          <p:spPr>
            <a:xfrm>
              <a:off x="4519800" y="2361960"/>
              <a:ext cx="70560" cy="14472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6" name="Freeform 15"/>
            <p:cNvSpPr/>
            <p:nvPr/>
          </p:nvSpPr>
          <p:spPr>
            <a:xfrm>
              <a:off x="4713120" y="2265120"/>
              <a:ext cx="70560" cy="2412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7" name="Freeform 16"/>
            <p:cNvSpPr/>
            <p:nvPr/>
          </p:nvSpPr>
          <p:spPr>
            <a:xfrm>
              <a:off x="4906440" y="2129760"/>
              <a:ext cx="70560" cy="44748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8" name="Freeform 17"/>
            <p:cNvSpPr/>
            <p:nvPr/>
          </p:nvSpPr>
          <p:spPr>
            <a:xfrm>
              <a:off x="5100120" y="2265120"/>
              <a:ext cx="70560" cy="2412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9" name="Freeform 18"/>
            <p:cNvSpPr/>
            <p:nvPr/>
          </p:nvSpPr>
          <p:spPr>
            <a:xfrm>
              <a:off x="5293440" y="2361960"/>
              <a:ext cx="70560" cy="14472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3200" spc="-1" strike="noStrike">
                <a:solidFill>
                  <a:srgbClr val="58585b"/>
                </a:solidFill>
                <a:latin typeface="Arial"/>
              </a:rPr>
              <a:t>Click to edit the title text format</a:t>
            </a:r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58585b"/>
                </a:solidFill>
                <a:latin typeface="Arial"/>
              </a:rPr>
              <a:t>Click to edit the outline text format</a:t>
            </a:r>
            <a:endParaRPr b="0" lang="en-US" sz="1500" spc="-1" strike="noStrike">
              <a:solidFill>
                <a:srgbClr val="58585b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58585b"/>
                </a:solidFill>
                <a:latin typeface="Arial"/>
              </a:rPr>
              <a:t>Second Outline Level</a:t>
            </a:r>
            <a:endParaRPr b="0" lang="en-US" sz="1200" spc="-1" strike="noStrike">
              <a:solidFill>
                <a:srgbClr val="58585b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58585b"/>
                </a:solidFill>
                <a:latin typeface="Arial"/>
              </a:rPr>
              <a:t>Third Outline Level</a:t>
            </a:r>
            <a:endParaRPr b="0" lang="en-US" sz="1100" spc="-1" strike="noStrike">
              <a:solidFill>
                <a:srgbClr val="58585b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58585b"/>
                </a:solidFill>
                <a:latin typeface="Arial"/>
              </a:rPr>
              <a:t>Fourth Outline Level</a:t>
            </a:r>
            <a:endParaRPr b="0" lang="en-US" sz="1100" spc="-1" strike="noStrike">
              <a:solidFill>
                <a:srgbClr val="58585b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58585b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58585b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58585b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58585b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58585b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7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7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7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7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3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subTitle"/>
          </p:nvPr>
        </p:nvSpPr>
        <p:spPr>
          <a:xfrm>
            <a:off x="469440" y="3809520"/>
            <a:ext cx="2368440" cy="9018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fe8fb"/>
                </a:solidFill>
                <a:latin typeface="Arial"/>
              </a:rPr>
              <a:t>Introduction to Networks v7.0 (ITN)</a:t>
            </a:r>
            <a:endParaRPr b="0" lang="en-JM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JM" sz="1200" spc="-1" strike="noStrike">
              <a:latin typeface="Arial"/>
            </a:endParaRPr>
          </a:p>
        </p:txBody>
      </p:sp>
      <p:sp>
        <p:nvSpPr>
          <p:cNvPr id="335" name="PlaceHolder 2"/>
          <p:cNvSpPr>
            <a:spLocks noGrp="1"/>
          </p:cNvSpPr>
          <p:nvPr>
            <p:ph type="title"/>
          </p:nvPr>
        </p:nvSpPr>
        <p:spPr>
          <a:xfrm>
            <a:off x="469440" y="2316600"/>
            <a:ext cx="6672240" cy="1079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b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afe8fb"/>
                </a:solidFill>
                <a:latin typeface="Arial"/>
                <a:ea typeface="ＭＳ Ｐゴシック"/>
              </a:rPr>
              <a:t>Module 10: Basic Router Configuration</a:t>
            </a:r>
            <a:endParaRPr b="0" lang="en-US" sz="36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  <p:transition spd="slow">
    <p:wipe dir="l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title"/>
          </p:nvPr>
        </p:nvSpPr>
        <p:spPr>
          <a:xfrm>
            <a:off x="0" y="41400"/>
            <a:ext cx="9143640" cy="75708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Module Objectives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37" name="Rectangle 1"/>
          <p:cNvSpPr/>
          <p:nvPr/>
        </p:nvSpPr>
        <p:spPr>
          <a:xfrm>
            <a:off x="364680" y="827280"/>
            <a:ext cx="801216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58585b"/>
                </a:solidFill>
                <a:latin typeface="Arial"/>
                <a:ea typeface="Calibri"/>
              </a:rPr>
              <a:t>Module Title: </a:t>
            </a:r>
            <a:r>
              <a:rPr b="0" lang="en-US" sz="1600" spc="-1" strike="noStrike">
                <a:solidFill>
                  <a:srgbClr val="58585b"/>
                </a:solidFill>
                <a:latin typeface="Arial"/>
                <a:ea typeface="Calibri"/>
              </a:rPr>
              <a:t>Basic Router Configuration</a:t>
            </a:r>
            <a:endParaRPr b="0" lang="en-JM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JM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58585b"/>
                </a:solidFill>
                <a:latin typeface="Arial"/>
                <a:ea typeface="Calibri"/>
              </a:rPr>
              <a:t>Module Objective</a:t>
            </a:r>
            <a:r>
              <a:rPr b="0" lang="en-US" sz="1600" spc="-1" strike="noStrike">
                <a:solidFill>
                  <a:srgbClr val="58585b"/>
                </a:solidFill>
                <a:latin typeface="Arial"/>
                <a:ea typeface="Calibri"/>
              </a:rPr>
              <a:t>: Implement initial settings on a router and end devices.</a:t>
            </a:r>
            <a:endParaRPr b="0" lang="en-JM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JM" sz="1600" spc="-1" strike="noStrike">
              <a:latin typeface="Arial"/>
            </a:endParaRPr>
          </a:p>
        </p:txBody>
      </p:sp>
      <p:graphicFrame>
        <p:nvGraphicFramePr>
          <p:cNvPr id="338" name="Table 1"/>
          <p:cNvGraphicFramePr/>
          <p:nvPr/>
        </p:nvGraphicFramePr>
        <p:xfrm>
          <a:off x="880200" y="2118960"/>
          <a:ext cx="6980400" cy="1420200"/>
        </p:xfrm>
        <a:graphic>
          <a:graphicData uri="http://schemas.openxmlformats.org/drawingml/2006/table">
            <a:tbl>
              <a:tblPr/>
              <a:tblGrid>
                <a:gridCol w="3490200"/>
                <a:gridCol w="3490200"/>
              </a:tblGrid>
              <a:tr h="216000">
                <a:tc>
                  <a:txBody>
                    <a:bodyPr lIns="68400" rIns="68400" tIns="0" bIns="0" anchor="t">
                      <a:noAutofit/>
                    </a:bodyPr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Topic Title</a:t>
                      </a:r>
                      <a:endParaRPr b="0" lang="en-JM" sz="1200" spc="-1" strike="noStrike"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Topic Objective</a:t>
                      </a:r>
                      <a:endParaRPr b="0" lang="en-JM" sz="1200" spc="-1" strike="noStrike"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</a:tr>
              <a:tr h="443880">
                <a:tc>
                  <a:txBody>
                    <a:bodyPr lIns="68400" rIns="68400" tIns="0" bIns="0" anchor="t">
                      <a:noAutofit/>
                    </a:bodyPr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Configure Initial Router Settings</a:t>
                      </a:r>
                      <a:endParaRPr b="0" lang="en-JM" sz="1200" spc="-1" strike="noStrike"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Configure initial settings on an IOS Cisco router.</a:t>
                      </a:r>
                      <a:endParaRPr b="0" lang="en-JM" sz="1200" spc="-1" strike="noStrike"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</a:tr>
              <a:tr h="390600">
                <a:tc>
                  <a:txBody>
                    <a:bodyPr lIns="68400" rIns="68400" tIns="0" bIns="0" anchor="t">
                      <a:noAutofit/>
                    </a:bodyPr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Configure Interfaces</a:t>
                      </a:r>
                      <a:endParaRPr b="0" lang="en-JM" sz="1200" spc="-1" strike="noStrike"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Configure two active interfaces on a Cisco IOS router.</a:t>
                      </a:r>
                      <a:endParaRPr b="0" lang="en-JM" sz="1200" spc="-1" strike="noStrike"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8ea"/>
                    </a:solidFill>
                  </a:tcPr>
                </a:tc>
              </a:tr>
              <a:tr h="443880">
                <a:tc>
                  <a:txBody>
                    <a:bodyPr lIns="68400" rIns="68400" tIns="0" bIns="0" anchor="t">
                      <a:noAutofit/>
                    </a:bodyPr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Configure the Default Gateway</a:t>
                      </a:r>
                      <a:endParaRPr b="0" lang="en-JM" sz="1200" spc="-1" strike="noStrike"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Configure devices to use the default gateway.</a:t>
                      </a:r>
                      <a:endParaRPr b="0" lang="en-JM" sz="1200" spc="-1" strike="noStrike"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</a:tr>
            </a:tbl>
          </a:graphicData>
        </a:graphic>
      </p:graphicFrame>
    </p:spTree>
  </p:cSld>
  <p:transition spd="slow">
    <p:wipe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title"/>
          </p:nvPr>
        </p:nvSpPr>
        <p:spPr>
          <a:xfrm>
            <a:off x="416520" y="1788120"/>
            <a:ext cx="7597800" cy="9291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b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600" spc="-1" strike="noStrike">
                <a:solidFill>
                  <a:srgbClr val="afe8fb"/>
                </a:solidFill>
                <a:latin typeface="Arial"/>
                <a:ea typeface="ＭＳ Ｐゴシック"/>
              </a:rPr>
              <a:t>10.1 Configure Initial Router Settings</a:t>
            </a:r>
            <a:endParaRPr b="0" lang="en-US" sz="46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  <p:transition spd="slow">
    <p:wipe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345160" cy="731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16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Configure Initial Router Settings</a:t>
            </a:r>
            <a:br/>
            <a:r>
              <a:rPr b="0" lang="en-US" sz="24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Basic Router Configuration Steps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41" name="PlaceHolder 2"/>
          <p:cNvSpPr>
            <a:spLocks noGrp="1"/>
          </p:cNvSpPr>
          <p:nvPr>
            <p:ph/>
          </p:nvPr>
        </p:nvSpPr>
        <p:spPr>
          <a:xfrm>
            <a:off x="419400" y="855360"/>
            <a:ext cx="3265200" cy="3516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85840" indent="-28584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SzPct val="90000"/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Configure the device name.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SzPct val="90000"/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Secure privileged EXEC mode.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SzPct val="90000"/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Secure user EXEC mode.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SzPct val="90000"/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Secure remote Telnet / SSH access.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SzPct val="90000"/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Encrypt all plaintext passwords.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SzPct val="90000"/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Provide legal notification and save the configuration.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42" name="TextBox 1"/>
          <p:cNvSpPr/>
          <p:nvPr/>
        </p:nvSpPr>
        <p:spPr>
          <a:xfrm>
            <a:off x="3798360" y="855360"/>
            <a:ext cx="4913280" cy="2728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Router(config)# </a:t>
            </a:r>
            <a:r>
              <a:rPr b="1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hostname </a:t>
            </a:r>
            <a:r>
              <a:rPr b="0" i="1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hostname</a:t>
            </a:r>
            <a:endParaRPr b="0" lang="en-JM" sz="1200" spc="-1" strike="noStrike">
              <a:latin typeface="Arial"/>
            </a:endParaRPr>
          </a:p>
        </p:txBody>
      </p:sp>
      <p:sp>
        <p:nvSpPr>
          <p:cNvPr id="343" name="TextBox 5"/>
          <p:cNvSpPr/>
          <p:nvPr/>
        </p:nvSpPr>
        <p:spPr>
          <a:xfrm>
            <a:off x="3798360" y="1256040"/>
            <a:ext cx="4913280" cy="2728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Router(config)# </a:t>
            </a:r>
            <a:r>
              <a:rPr b="1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enable secret </a:t>
            </a:r>
            <a:r>
              <a:rPr b="0" i="1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password</a:t>
            </a:r>
            <a:endParaRPr b="0" lang="en-JM" sz="1200" spc="-1" strike="noStrike">
              <a:latin typeface="Arial"/>
            </a:endParaRPr>
          </a:p>
        </p:txBody>
      </p:sp>
      <p:sp>
        <p:nvSpPr>
          <p:cNvPr id="344" name="TextBox 6"/>
          <p:cNvSpPr/>
          <p:nvPr/>
        </p:nvSpPr>
        <p:spPr>
          <a:xfrm>
            <a:off x="3798360" y="1656720"/>
            <a:ext cx="4913280" cy="6379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Router(config)# </a:t>
            </a:r>
            <a:r>
              <a:rPr b="1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line console 0</a:t>
            </a:r>
            <a:endParaRPr b="0" lang="en-JM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Router(config-line)# password </a:t>
            </a:r>
            <a:r>
              <a:rPr b="0" i="1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password</a:t>
            </a:r>
            <a:endParaRPr b="0" lang="en-JM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Router(config-line)# login</a:t>
            </a:r>
            <a:endParaRPr b="0" lang="en-JM" sz="1200" spc="-1" strike="noStrike">
              <a:latin typeface="Arial"/>
            </a:endParaRPr>
          </a:p>
        </p:txBody>
      </p:sp>
      <p:sp>
        <p:nvSpPr>
          <p:cNvPr id="345" name="TextBox 7"/>
          <p:cNvSpPr/>
          <p:nvPr/>
        </p:nvSpPr>
        <p:spPr>
          <a:xfrm>
            <a:off x="3839040" y="2413080"/>
            <a:ext cx="4844520" cy="82044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Router(config)# </a:t>
            </a:r>
            <a:r>
              <a:rPr b="1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line vty 0 4</a:t>
            </a:r>
            <a:endParaRPr b="0" lang="en-JM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Router(config-line)# password </a:t>
            </a:r>
            <a:r>
              <a:rPr b="0" i="1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password</a:t>
            </a:r>
            <a:endParaRPr b="0" lang="en-JM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Router(config-line)# login</a:t>
            </a:r>
            <a:endParaRPr b="0" lang="en-JM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Router(config-line)# transport input {ssh | telnet}</a:t>
            </a:r>
            <a:endParaRPr b="0" lang="en-JM" sz="1200" spc="-1" strike="noStrike">
              <a:latin typeface="Arial"/>
            </a:endParaRPr>
          </a:p>
        </p:txBody>
      </p:sp>
      <p:sp>
        <p:nvSpPr>
          <p:cNvPr id="346" name="TextBox 8"/>
          <p:cNvSpPr/>
          <p:nvPr/>
        </p:nvSpPr>
        <p:spPr>
          <a:xfrm>
            <a:off x="3798360" y="3352320"/>
            <a:ext cx="4913280" cy="2728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Router(config)# </a:t>
            </a:r>
            <a:r>
              <a:rPr b="1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service password encryption</a:t>
            </a:r>
            <a:endParaRPr b="0" lang="en-JM" sz="1200" spc="-1" strike="noStrike">
              <a:latin typeface="Arial"/>
            </a:endParaRPr>
          </a:p>
        </p:txBody>
      </p:sp>
      <p:sp>
        <p:nvSpPr>
          <p:cNvPr id="347" name="TextBox 9"/>
          <p:cNvSpPr/>
          <p:nvPr/>
        </p:nvSpPr>
        <p:spPr>
          <a:xfrm>
            <a:off x="3798360" y="3737160"/>
            <a:ext cx="4913280" cy="6379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Router(config)# </a:t>
            </a:r>
            <a:r>
              <a:rPr b="1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banner motd </a:t>
            </a:r>
            <a:r>
              <a:rPr b="1" i="1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# message #</a:t>
            </a:r>
            <a:endParaRPr b="0" lang="en-JM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Router(config)# end</a:t>
            </a:r>
            <a:endParaRPr b="0" lang="en-JM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Router# copy running-config startup-config</a:t>
            </a:r>
            <a:endParaRPr b="0" lang="en-JM" sz="12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345160" cy="731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16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Configure Initial Router Settings</a:t>
            </a:r>
            <a:br/>
            <a:r>
              <a:rPr b="0" lang="en-US" sz="24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Basic Router Configuration Example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49" name="PlaceHolder 2"/>
          <p:cNvSpPr>
            <a:spLocks noGrp="1"/>
          </p:cNvSpPr>
          <p:nvPr>
            <p:ph/>
          </p:nvPr>
        </p:nvSpPr>
        <p:spPr>
          <a:xfrm>
            <a:off x="281160" y="855360"/>
            <a:ext cx="3134880" cy="611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85840" indent="-28584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SzPct val="90000"/>
              <a:buFont typeface="Arial"/>
              <a:buChar char="•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Commands for basic router configuration on R1.</a:t>
            </a:r>
            <a:endParaRPr b="0" lang="en-US" sz="1500" spc="-1" strike="noStrike">
              <a:solidFill>
                <a:srgbClr val="58585b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SzPct val="90000"/>
              <a:buFont typeface="Arial"/>
              <a:buChar char="•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Configuration is saved to NVRAM.</a:t>
            </a:r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50" name="TextBox 1"/>
          <p:cNvSpPr/>
          <p:nvPr/>
        </p:nvSpPr>
        <p:spPr>
          <a:xfrm>
            <a:off x="3818520" y="855360"/>
            <a:ext cx="4893120" cy="355824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R1(config)# </a:t>
            </a:r>
            <a:r>
              <a:rPr b="1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hostname R1</a:t>
            </a:r>
            <a:endParaRPr b="0" lang="en-JM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R1(config)# </a:t>
            </a:r>
            <a:r>
              <a:rPr b="1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enable secret class</a:t>
            </a:r>
            <a:endParaRPr b="0" lang="en-JM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R1(config)# </a:t>
            </a:r>
            <a:r>
              <a:rPr b="1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line console 0</a:t>
            </a:r>
            <a:endParaRPr b="0" lang="en-JM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R1(config-line)# </a:t>
            </a:r>
            <a:r>
              <a:rPr b="1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password cisco</a:t>
            </a:r>
            <a:endParaRPr b="0" lang="en-JM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R1(config-line)# </a:t>
            </a:r>
            <a:r>
              <a:rPr b="1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login</a:t>
            </a:r>
            <a:endParaRPr b="0" lang="en-JM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R1</a:t>
            </a:r>
            <a:r>
              <a:rPr b="1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(</a:t>
            </a:r>
            <a:r>
              <a:rPr b="0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config-line)# </a:t>
            </a:r>
            <a:r>
              <a:rPr b="1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line vty 0 4</a:t>
            </a:r>
            <a:endParaRPr b="0" lang="en-JM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R1(config-line)# </a:t>
            </a:r>
            <a:r>
              <a:rPr b="1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password cisco</a:t>
            </a:r>
            <a:endParaRPr b="0" lang="en-JM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R1(config-line)# </a:t>
            </a:r>
            <a:r>
              <a:rPr b="1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login</a:t>
            </a:r>
            <a:endParaRPr b="0" lang="en-JM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R1(config-line)# </a:t>
            </a:r>
            <a:r>
              <a:rPr b="1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transport input ssh telnet</a:t>
            </a:r>
            <a:endParaRPr b="0" lang="en-JM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R1(config-line)# </a:t>
            </a:r>
            <a:r>
              <a:rPr b="1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exit</a:t>
            </a:r>
            <a:endParaRPr b="0" lang="en-JM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R1(config)# </a:t>
            </a:r>
            <a:r>
              <a:rPr b="1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service password encryption</a:t>
            </a:r>
            <a:endParaRPr b="0" lang="en-JM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R1(config)# </a:t>
            </a:r>
            <a:r>
              <a:rPr b="1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banner motd #</a:t>
            </a:r>
            <a:endParaRPr b="0" lang="en-JM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Enter TEXT message. End with a new line and the #</a:t>
            </a:r>
            <a:endParaRPr b="0" lang="en-JM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*********************************************** </a:t>
            </a:r>
            <a:endParaRPr b="0" lang="en-JM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WARNING: Unauthorized access is prohibited!</a:t>
            </a:r>
            <a:endParaRPr b="0" lang="en-JM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**********************************************</a:t>
            </a:r>
            <a:endParaRPr b="0" lang="en-JM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R1(config)# </a:t>
            </a:r>
            <a:r>
              <a:rPr b="1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exit</a:t>
            </a:r>
            <a:endParaRPr b="0" lang="en-JM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R1# </a:t>
            </a:r>
            <a:r>
              <a:rPr b="1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copy running-config startup-config</a:t>
            </a:r>
            <a:endParaRPr b="0" lang="en-JM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JM" sz="12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345160" cy="731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16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Configure Initial Router Settings</a:t>
            </a:r>
            <a:br/>
            <a:r>
              <a:rPr b="0" lang="en-US" sz="24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Packet Tracer – Configure Initial Router Settings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52" name="PlaceHolder 2"/>
          <p:cNvSpPr>
            <a:spLocks noGrp="1"/>
          </p:cNvSpPr>
          <p:nvPr>
            <p:ph/>
          </p:nvPr>
        </p:nvSpPr>
        <p:spPr>
          <a:xfrm>
            <a:off x="281160" y="855360"/>
            <a:ext cx="7814520" cy="24778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In this Packet Tracer, you will do the following:</a:t>
            </a: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SzPct val="90000"/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Verify the default router configuration.</a:t>
            </a: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SzPct val="90000"/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Configure and verify the initial router configuration.</a:t>
            </a: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SzPct val="90000"/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Save the running configuration file.</a:t>
            </a: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title"/>
          </p:nvPr>
        </p:nvSpPr>
        <p:spPr>
          <a:xfrm>
            <a:off x="416520" y="1788120"/>
            <a:ext cx="7848000" cy="9291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b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600" spc="-1" strike="noStrike">
                <a:solidFill>
                  <a:srgbClr val="afe8fb"/>
                </a:solidFill>
                <a:latin typeface="Arial"/>
                <a:ea typeface="ＭＳ Ｐゴシック"/>
              </a:rPr>
              <a:t>10.2 Configure Interfaces</a:t>
            </a:r>
            <a:endParaRPr b="0" lang="en-US" sz="46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  <p:transition spd="slow">
    <p:wipe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345160" cy="731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16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Configure Interfaces</a:t>
            </a:r>
            <a:br/>
            <a:r>
              <a:rPr b="0" lang="en-US" sz="24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Configure Router Interfaces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55" name="PlaceHolder 2"/>
          <p:cNvSpPr>
            <a:spLocks noGrp="1"/>
          </p:cNvSpPr>
          <p:nvPr>
            <p:ph/>
          </p:nvPr>
        </p:nvSpPr>
        <p:spPr>
          <a:xfrm>
            <a:off x="299160" y="806400"/>
            <a:ext cx="8454960" cy="5896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Configuring a router interface includes issuing the following commands:</a:t>
            </a:r>
            <a:endParaRPr b="0" lang="en-US" sz="20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56" name="TextBox 1"/>
          <p:cNvSpPr/>
          <p:nvPr/>
        </p:nvSpPr>
        <p:spPr>
          <a:xfrm>
            <a:off x="2823480" y="557604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7" name="Rectangle 1"/>
          <p:cNvSpPr/>
          <p:nvPr/>
        </p:nvSpPr>
        <p:spPr>
          <a:xfrm>
            <a:off x="1283040" y="1576440"/>
            <a:ext cx="6577560" cy="10047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Router(config)# </a:t>
            </a:r>
            <a:r>
              <a:rPr b="1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interface</a:t>
            </a:r>
            <a:r>
              <a:rPr b="0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</a:t>
            </a:r>
            <a:r>
              <a:rPr b="0" i="1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type-and-number</a:t>
            </a:r>
            <a:br/>
            <a:r>
              <a:rPr b="0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Router(config-if)# </a:t>
            </a:r>
            <a:r>
              <a:rPr b="1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description</a:t>
            </a:r>
            <a:r>
              <a:rPr b="0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</a:t>
            </a:r>
            <a:r>
              <a:rPr b="0" i="1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description-text</a:t>
            </a:r>
            <a:br/>
            <a:r>
              <a:rPr b="0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Router(config-if)# </a:t>
            </a:r>
            <a:r>
              <a:rPr b="1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ip address</a:t>
            </a:r>
            <a:r>
              <a:rPr b="0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</a:t>
            </a:r>
            <a:r>
              <a:rPr b="0" i="1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ipv4-address subnet-mask</a:t>
            </a:r>
            <a:br/>
            <a:r>
              <a:rPr b="0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Router(config-if)# </a:t>
            </a:r>
            <a:r>
              <a:rPr b="1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ipv6 address</a:t>
            </a:r>
            <a:r>
              <a:rPr b="0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</a:t>
            </a:r>
            <a:r>
              <a:rPr b="0" i="1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ipv6-address/prefix-length</a:t>
            </a:r>
            <a:br/>
            <a:r>
              <a:rPr b="0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Router(config-if)# </a:t>
            </a:r>
            <a:r>
              <a:rPr b="1" lang="en-US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no shutdown</a:t>
            </a: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</a:t>
            </a:r>
            <a:endParaRPr b="0" lang="en-JM" sz="900" spc="-1" strike="noStrike">
              <a:latin typeface="Arial"/>
            </a:endParaRPr>
          </a:p>
        </p:txBody>
      </p:sp>
      <p:sp>
        <p:nvSpPr>
          <p:cNvPr id="358" name="Content Placeholder 3"/>
          <p:cNvSpPr/>
          <p:nvPr/>
        </p:nvSpPr>
        <p:spPr>
          <a:xfrm>
            <a:off x="474840" y="2932200"/>
            <a:ext cx="8279640" cy="117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It is a good practice to use the </a:t>
            </a: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description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command to add information about the network connected to the interface.</a:t>
            </a:r>
            <a:endParaRPr b="0" lang="en-JM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The </a:t>
            </a: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no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shutdown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command activates the interface.</a:t>
            </a:r>
            <a:endParaRPr b="0" lang="en-JM" sz="20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345160" cy="731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16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Configure Interfaces</a:t>
            </a:r>
            <a:br/>
            <a:r>
              <a:rPr b="0" lang="en-US" sz="24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Configure Router Interfaces Example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60" name="PlaceHolder 2"/>
          <p:cNvSpPr>
            <a:spLocks noGrp="1"/>
          </p:cNvSpPr>
          <p:nvPr>
            <p:ph/>
          </p:nvPr>
        </p:nvSpPr>
        <p:spPr>
          <a:xfrm>
            <a:off x="474840" y="844200"/>
            <a:ext cx="7870320" cy="408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The commands to configure interface G0/0/0 on R1 are shown here:</a:t>
            </a:r>
            <a:endParaRPr b="0" lang="en-US" sz="20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61" name="TextBox 1"/>
          <p:cNvSpPr/>
          <p:nvPr/>
        </p:nvSpPr>
        <p:spPr>
          <a:xfrm>
            <a:off x="2823480" y="557604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62" name="Picture 5" descr=""/>
          <p:cNvPicPr/>
          <p:nvPr/>
        </p:nvPicPr>
        <p:blipFill>
          <a:blip r:embed="rId1"/>
          <a:stretch/>
        </p:blipFill>
        <p:spPr>
          <a:xfrm>
            <a:off x="1420200" y="1338840"/>
            <a:ext cx="4998600" cy="1505520"/>
          </a:xfrm>
          <a:prstGeom prst="rect">
            <a:avLst/>
          </a:prstGeom>
          <a:ln w="0">
            <a:noFill/>
          </a:ln>
        </p:spPr>
      </p:pic>
      <p:sp>
        <p:nvSpPr>
          <p:cNvPr id="363" name="TextBox 12"/>
          <p:cNvSpPr/>
          <p:nvPr/>
        </p:nvSpPr>
        <p:spPr>
          <a:xfrm>
            <a:off x="958320" y="2930400"/>
            <a:ext cx="6903360" cy="15991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R1(config)# </a:t>
            </a:r>
            <a:r>
              <a:rPr b="1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interface gigabitEthernet 0/0/0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R1(config-if)# </a:t>
            </a:r>
            <a:r>
              <a:rPr b="1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description Link to LAN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R1(config-if)# </a:t>
            </a:r>
            <a:r>
              <a:rPr b="1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ip address 192.168.10.1 255.255.255.0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R1(config-if)# </a:t>
            </a:r>
            <a:r>
              <a:rPr b="1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ipv6 address 2001:db8:acad:10::1/64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R1(config-if)# </a:t>
            </a:r>
            <a:r>
              <a:rPr b="1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no shutdown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R1(config-if)# </a:t>
            </a:r>
            <a:r>
              <a:rPr b="1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exit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R1(config)#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*Aug  1 01:43:53.435: %LINK-3-UPDOWN: Interface GigabitEthernet0/0/0, changed state to down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*Aug  1 01:43:56.447: %LINK-3-UPDOWN: Interface GigabitEthernet0/0/0, changed state to up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*Aug  1 01:43:57.447: %LINEPROTO-5-UPDOWN: Line protocol on Interface GigabitEthernet0/0/0, changed state to up</a:t>
            </a:r>
            <a:endParaRPr b="0" lang="en-JM" sz="9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345160" cy="731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16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Configure Interfaces</a:t>
            </a:r>
            <a:br/>
            <a:r>
              <a:rPr b="0" lang="en-US" sz="24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Configure Router Interfaces Example (Cont.)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65" name="PlaceHolder 2"/>
          <p:cNvSpPr>
            <a:spLocks noGrp="1"/>
          </p:cNvSpPr>
          <p:nvPr>
            <p:ph/>
          </p:nvPr>
        </p:nvSpPr>
        <p:spPr>
          <a:xfrm>
            <a:off x="474840" y="844200"/>
            <a:ext cx="7870320" cy="408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The commands to configure interface G0/0/1 on R1 are shown here:</a:t>
            </a:r>
            <a:endParaRPr b="0" lang="en-US" sz="20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66" name="TextBox 1"/>
          <p:cNvSpPr/>
          <p:nvPr/>
        </p:nvSpPr>
        <p:spPr>
          <a:xfrm>
            <a:off x="2823480" y="557604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67" name="Picture 5" descr=""/>
          <p:cNvPicPr/>
          <p:nvPr/>
        </p:nvPicPr>
        <p:blipFill>
          <a:blip r:embed="rId1"/>
          <a:stretch/>
        </p:blipFill>
        <p:spPr>
          <a:xfrm>
            <a:off x="1420200" y="1338840"/>
            <a:ext cx="4998600" cy="1505520"/>
          </a:xfrm>
          <a:prstGeom prst="rect">
            <a:avLst/>
          </a:prstGeom>
          <a:ln w="0">
            <a:noFill/>
          </a:ln>
        </p:spPr>
      </p:pic>
      <p:sp>
        <p:nvSpPr>
          <p:cNvPr id="368" name="TextBox 12"/>
          <p:cNvSpPr/>
          <p:nvPr/>
        </p:nvSpPr>
        <p:spPr>
          <a:xfrm>
            <a:off x="958320" y="2930400"/>
            <a:ext cx="6903360" cy="15991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R1(config)# </a:t>
            </a:r>
            <a:r>
              <a:rPr b="1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interface gigabitEthernet 0/0/1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R1(config-if)# </a:t>
            </a:r>
            <a:r>
              <a:rPr b="1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description Link to R2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R1(config-if)# </a:t>
            </a:r>
            <a:r>
              <a:rPr b="1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ip address 209.165.200.225 255.255.255.252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R1(config-if)# </a:t>
            </a:r>
            <a:r>
              <a:rPr b="1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ipv6 address 2001:db8:feed:224::1/64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R1(config-if)# </a:t>
            </a:r>
            <a:r>
              <a:rPr b="1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no shutdown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R1(config-if)# </a:t>
            </a:r>
            <a:r>
              <a:rPr b="1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exit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R1(config)#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*Aug  1 01:46:29.170: %LINK-3-UPDOWN: Interface GigabitEthernet0/0/1, changed state to down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*Aug  1 01:46:32.171: %LINK-3-UPDOWN: Interface GigabitEthernet0/0/1, changed state to up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*Aug  1 01:46:33.171: %LINEPROTO-5-UPDOWN: Line protocol on Interface GigabitEthernet0/0/1, changed state to up</a:t>
            </a:r>
            <a:endParaRPr b="0" lang="en-JM" sz="9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345160" cy="731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16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Configure Interfaces</a:t>
            </a:r>
            <a:br/>
            <a:r>
              <a:rPr b="0" lang="en-US" sz="24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Verify Interface Configuration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70" name="PlaceHolder 2"/>
          <p:cNvSpPr>
            <a:spLocks noGrp="1"/>
          </p:cNvSpPr>
          <p:nvPr>
            <p:ph/>
          </p:nvPr>
        </p:nvSpPr>
        <p:spPr>
          <a:xfrm>
            <a:off x="474840" y="844200"/>
            <a:ext cx="7870320" cy="8845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To verify interface configuration use the </a:t>
            </a: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show ip interface brief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and </a:t>
            </a: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show ipv6 interface brief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commands shown here:</a:t>
            </a:r>
            <a:endParaRPr b="0" lang="en-US" sz="20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71" name="TextBox 1"/>
          <p:cNvSpPr/>
          <p:nvPr/>
        </p:nvSpPr>
        <p:spPr>
          <a:xfrm>
            <a:off x="2823480" y="557604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72" name="TextBox 12"/>
          <p:cNvSpPr/>
          <p:nvPr/>
        </p:nvSpPr>
        <p:spPr>
          <a:xfrm>
            <a:off x="1721520" y="1940760"/>
            <a:ext cx="5700960" cy="7761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R1#  </a:t>
            </a:r>
            <a:r>
              <a:rPr b="1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show ip interface brief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Interface              IP-Address      OK? Method Status                Protocol 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GigabitEthernet0/0/0   192.168.10.1    YES manual up                    up 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GigabitEthernet0/0/1   209.165.200.225 YES manual up                    up 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Vlan1                  unassigned      YES unset  administratively down down </a:t>
            </a:r>
            <a:endParaRPr b="0" lang="en-JM" sz="900" spc="-1" strike="noStrike">
              <a:latin typeface="Arial"/>
            </a:endParaRPr>
          </a:p>
        </p:txBody>
      </p:sp>
      <p:sp>
        <p:nvSpPr>
          <p:cNvPr id="373" name="TextBox 6"/>
          <p:cNvSpPr/>
          <p:nvPr/>
        </p:nvSpPr>
        <p:spPr>
          <a:xfrm>
            <a:off x="1721520" y="2907720"/>
            <a:ext cx="5700960" cy="14619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R1#  </a:t>
            </a:r>
            <a:r>
              <a:rPr b="1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show ipv6 interface brief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GigabitEthernet0/0/0       [up/up]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  </a:t>
            </a: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FE80::201:C9FF:FE89:4501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  </a:t>
            </a: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2001:DB8:ACAD:10::1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GigabitEthernet0/0/1       [up/up]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  </a:t>
            </a: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FE80::201:C9FF:FE89:4502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  </a:t>
            </a: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2001:DB8:FEED:224::1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Vlan1                      [administratively down/down]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  </a:t>
            </a: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unassigned 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R1#</a:t>
            </a:r>
            <a:endParaRPr b="0" lang="en-JM" sz="9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345160" cy="731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16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Configure Interfaces</a:t>
            </a:r>
            <a:br/>
            <a:r>
              <a:rPr b="0" lang="en-US" sz="24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Configure Verification Commands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75" name="TextBox 4"/>
          <p:cNvSpPr/>
          <p:nvPr/>
        </p:nvSpPr>
        <p:spPr>
          <a:xfrm>
            <a:off x="474840" y="891000"/>
            <a:ext cx="80946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The table summarizes show commands used to verify interface configuration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.</a:t>
            </a:r>
            <a:endParaRPr b="0" lang="en-JM" sz="1600" spc="-1" strike="noStrike">
              <a:latin typeface="Arial"/>
            </a:endParaRPr>
          </a:p>
        </p:txBody>
      </p:sp>
      <p:graphicFrame>
        <p:nvGraphicFramePr>
          <p:cNvPr id="376" name="Content Placeholder 6"/>
          <p:cNvGraphicFramePr/>
          <p:nvPr/>
        </p:nvGraphicFramePr>
        <p:xfrm>
          <a:off x="675720" y="1419480"/>
          <a:ext cx="7893360" cy="2832840"/>
        </p:xfrm>
        <a:graphic>
          <a:graphicData uri="http://schemas.openxmlformats.org/drawingml/2006/table">
            <a:tbl>
              <a:tblPr/>
              <a:tblGrid>
                <a:gridCol w="3056040"/>
                <a:gridCol w="4837320"/>
              </a:tblGrid>
              <a:tr h="4554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Commands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Description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</a:tr>
              <a:tr h="5180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58585b"/>
                          </a:solidFill>
                          <a:latin typeface="Courier New"/>
                        </a:rPr>
                        <a:t>show ip interface brief</a:t>
                      </a:r>
                      <a:endParaRPr b="0" lang="en-JM" sz="14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58585b"/>
                          </a:solidFill>
                          <a:latin typeface="Courier New"/>
                        </a:rPr>
                        <a:t>show ipv6 interface brief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Displays all interfaces, their IP addresses, and their current status. 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</a:tr>
              <a:tr h="5180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58585b"/>
                          </a:solidFill>
                          <a:latin typeface="Courier New"/>
                        </a:rPr>
                        <a:t>show ip route</a:t>
                      </a:r>
                      <a:endParaRPr b="0" lang="en-JM" sz="14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58585b"/>
                          </a:solidFill>
                          <a:latin typeface="Courier New"/>
                        </a:rPr>
                        <a:t>show ipv6 route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Displays the contents of the IP routing tables stored in RAM.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8ea"/>
                    </a:solidFill>
                  </a:tcPr>
                </a:tc>
              </a:tr>
              <a:tr h="5180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58585b"/>
                          </a:solidFill>
                          <a:latin typeface="Courier New"/>
                        </a:rPr>
                        <a:t>show interfaces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Displays statistics for all interfaces on the device. Only displays the IPv4 addressing information.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</a:tr>
              <a:tr h="4554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58585b"/>
                          </a:solidFill>
                          <a:latin typeface="Courier New"/>
                        </a:rPr>
                        <a:t>show ip interfaces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Displays the IPv4 statistics for all interfaces on a router.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8ea"/>
                    </a:solidFill>
                  </a:tcPr>
                </a:tc>
              </a:tr>
              <a:tr h="4554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58585b"/>
                          </a:solidFill>
                          <a:latin typeface="Courier New"/>
                        </a:rPr>
                        <a:t>show ipv6 interfaces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Displays the IPv6 statistics for all interfaces on a router.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345160" cy="731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16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Configure Interfaces</a:t>
            </a:r>
            <a:br/>
            <a:r>
              <a:rPr b="0" lang="en-US" sz="24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Configure Verification Commands (Cont.)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78" name="TextBox 4"/>
          <p:cNvSpPr/>
          <p:nvPr/>
        </p:nvSpPr>
        <p:spPr>
          <a:xfrm>
            <a:off x="474840" y="891000"/>
            <a:ext cx="809460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View status of all interfaces with the </a:t>
            </a: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show ip interface brief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and </a:t>
            </a: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show ipv6 interface brief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commands, shown here:</a:t>
            </a:r>
            <a:endParaRPr b="0" lang="en-JM" sz="1600" spc="-1" strike="noStrike">
              <a:latin typeface="Arial"/>
            </a:endParaRPr>
          </a:p>
        </p:txBody>
      </p:sp>
      <p:sp>
        <p:nvSpPr>
          <p:cNvPr id="379" name="TextBox 7"/>
          <p:cNvSpPr/>
          <p:nvPr/>
        </p:nvSpPr>
        <p:spPr>
          <a:xfrm>
            <a:off x="1721520" y="1785600"/>
            <a:ext cx="5700960" cy="9133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R1# </a:t>
            </a:r>
            <a:r>
              <a:rPr b="1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show ip interface brief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Interface              IP-Address      OK? Method Status                Protocol 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GigabitEthernet0/0/0   192.168.10.1    YES manual up                    up 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GigabitEthernet0/0/1   209.165.200.225 YES manual up                    up 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Vlan1                  unassigned      YES unset  administratively down down 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R1#</a:t>
            </a:r>
            <a:endParaRPr b="0" lang="en-JM" sz="900" spc="-1" strike="noStrike">
              <a:latin typeface="Arial"/>
            </a:endParaRPr>
          </a:p>
        </p:txBody>
      </p:sp>
      <p:sp>
        <p:nvSpPr>
          <p:cNvPr id="380" name="TextBox 8"/>
          <p:cNvSpPr/>
          <p:nvPr/>
        </p:nvSpPr>
        <p:spPr>
          <a:xfrm>
            <a:off x="1721520" y="2928960"/>
            <a:ext cx="5700960" cy="14619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R1# </a:t>
            </a:r>
            <a:r>
              <a:rPr b="1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show ipv6 interface brief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GigabitEthernet0/0/0       [up/up]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  </a:t>
            </a: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FE80::201:C9FF:FE89:4501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  </a:t>
            </a: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2001:DB8:ACAD:10::1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GigabitEthernet0/0/1       [up/up]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  </a:t>
            </a: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FE80::201:C9FF:FE89:4502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  </a:t>
            </a: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2001:DB8:FEED:224::1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Vlan1                      [administratively down/down]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  </a:t>
            </a: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unassigned 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R1#</a:t>
            </a:r>
            <a:endParaRPr b="0" lang="en-JM" sz="9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345160" cy="731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16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Configure Interfaces</a:t>
            </a:r>
            <a:br/>
            <a:r>
              <a:rPr b="0" lang="en-US" sz="24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Configure Verification Commands (Cont.)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82" name="TextBox 4"/>
          <p:cNvSpPr/>
          <p:nvPr/>
        </p:nvSpPr>
        <p:spPr>
          <a:xfrm>
            <a:off x="474840" y="891000"/>
            <a:ext cx="809460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Display the contents of the IP routing tables with the </a:t>
            </a: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show ip route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and </a:t>
            </a: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show ipv6 route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commands as shown here:</a:t>
            </a:r>
            <a:endParaRPr b="0" lang="en-JM" sz="1600" spc="-1" strike="noStrike">
              <a:latin typeface="Arial"/>
            </a:endParaRPr>
          </a:p>
        </p:txBody>
      </p:sp>
      <p:sp>
        <p:nvSpPr>
          <p:cNvPr id="383" name="TextBox 7"/>
          <p:cNvSpPr/>
          <p:nvPr/>
        </p:nvSpPr>
        <p:spPr>
          <a:xfrm>
            <a:off x="1701360" y="1475640"/>
            <a:ext cx="5700960" cy="14619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R1# </a:t>
            </a:r>
            <a:r>
              <a:rPr b="1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show ip route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&lt; output omitted&gt;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Gateway of last resort is not set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    </a:t>
            </a: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192.168.10.0/24 is variably subnetted, 2 subnets, 2 masks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C        192.168.10.0/24 is directly connected, GigabitEthernet0/0/0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L        192.168.10.1/32 is directly connected, GigabitEthernet0/0/0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    </a:t>
            </a: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209.165.200.0/24 is variably subnetted, 2 subnets, 2 masks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C        209.165.200.224/30 is directly connected, GigabitEthernet0/0/1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L        209.165.200.225/32 is directly connected, GigabitEthernet0/0/1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R1#</a:t>
            </a:r>
            <a:endParaRPr b="0" lang="en-JM" sz="900" spc="-1" strike="noStrike">
              <a:latin typeface="Arial"/>
            </a:endParaRPr>
          </a:p>
        </p:txBody>
      </p:sp>
      <p:sp>
        <p:nvSpPr>
          <p:cNvPr id="384" name="TextBox 8"/>
          <p:cNvSpPr/>
          <p:nvPr/>
        </p:nvSpPr>
        <p:spPr>
          <a:xfrm>
            <a:off x="1721520" y="3035880"/>
            <a:ext cx="5700960" cy="187344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R1# show ipv6 route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&lt;output omitted&gt;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C   2001:DB8:ACAD:10::/64 [0/0]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   </a:t>
            </a: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via GigabitEthernet0/0/0, directly connected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L   2001:DB8:ACAD:10::1/128 [0/0]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   </a:t>
            </a: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via GigabitEthernet0/0/0, receive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C   2001:DB8:FEED:224::/64 [0/0]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   </a:t>
            </a: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via GigabitEthernet0/0/1, directly connected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L   2001:DB8:FEED:224::1/128 [0/0]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   </a:t>
            </a: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via GigabitEthernet0/0/1, receive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L   FF00::/8 [0/0]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   </a:t>
            </a: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via Null0, receive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R1#</a:t>
            </a:r>
            <a:endParaRPr b="0" lang="en-JM" sz="9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345160" cy="731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16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Configure Interfaces</a:t>
            </a:r>
            <a:br/>
            <a:r>
              <a:rPr b="0" lang="en-US" sz="24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Configure Verification Commands (Cont.)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86" name="TextBox 4"/>
          <p:cNvSpPr/>
          <p:nvPr/>
        </p:nvSpPr>
        <p:spPr>
          <a:xfrm>
            <a:off x="474840" y="891000"/>
            <a:ext cx="2638440" cy="10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Display statistics for all interfaces with the </a:t>
            </a: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show interfaces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command, as shown here:</a:t>
            </a:r>
            <a:endParaRPr b="0" lang="en-JM" sz="1600" spc="-1" strike="noStrike">
              <a:latin typeface="Arial"/>
            </a:endParaRPr>
          </a:p>
        </p:txBody>
      </p:sp>
      <p:sp>
        <p:nvSpPr>
          <p:cNvPr id="387" name="TextBox 7"/>
          <p:cNvSpPr/>
          <p:nvPr/>
        </p:nvSpPr>
        <p:spPr>
          <a:xfrm>
            <a:off x="3321000" y="891000"/>
            <a:ext cx="5419080" cy="36565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R1# </a:t>
            </a:r>
            <a:r>
              <a:rPr b="1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show interfaces gig0/0/0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GigabitEthernet0/0/0 is up, line protocol is up 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</a:t>
            </a: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Hardware is ISR4321-2x1GE, address is a0e0.af0d.e140 (bia  a0e0.af0d.e140)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</a:t>
            </a: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Description: Link to LAN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</a:t>
            </a: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Internet address is 192.168.10.1/24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</a:t>
            </a: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MTU 1500 bytes, BW 100000 Kbit/sec, DLY 100 usec, 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   </a:t>
            </a: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reliability 255/255, txload 1/255, rxload 1/255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</a:t>
            </a: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Encapsulation ARPA, loopback not set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</a:t>
            </a: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Keepalive not supported 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</a:t>
            </a: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Full Duplex, 100Mbps, link type is auto, media type is RJ45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</a:t>
            </a: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output flow-control is off, input flow-control is off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</a:t>
            </a: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ARP type: ARPA, ARP Timeout 04:00:00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</a:t>
            </a: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Last input 00:00:01, output 00:00:35, output hang never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</a:t>
            </a: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Last clearing of "show interface" counters never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</a:t>
            </a: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Input queue: 0/375/0/0 (size/max/drops/flushes); Total output     drops: 0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</a:t>
            </a: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Queueing strategy: fifo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</a:t>
            </a: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Output queue: 0/40 (size/max)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</a:t>
            </a: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5 minute input rate 0 bits/sec, 0 packets/sec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</a:t>
            </a: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5 minute output rate 0 bits/sec, 0 packets/sec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   </a:t>
            </a: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1180 packets input, 109486 bytes, 0 no buffer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   </a:t>
            </a: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Received 84 broadcasts (0 IP multicasts)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   </a:t>
            </a: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0 runts, 0 giants, 0 throttles 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&lt;output omitted&gt;</a:t>
            </a: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JM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R1#</a:t>
            </a:r>
            <a:endParaRPr b="0" lang="en-JM" sz="9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345160" cy="731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16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Configure Interfaces</a:t>
            </a:r>
            <a:br/>
            <a:r>
              <a:rPr b="0" lang="en-US" sz="24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Configure Verification Commands (Cont.)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89" name="TextBox 4"/>
          <p:cNvSpPr/>
          <p:nvPr/>
        </p:nvSpPr>
        <p:spPr>
          <a:xfrm>
            <a:off x="474840" y="891000"/>
            <a:ext cx="2638440" cy="10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Display IPv4 statistics for router interfaces with the </a:t>
            </a: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show ip interface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command, as shown here:</a:t>
            </a:r>
            <a:endParaRPr b="0" lang="en-JM" sz="1600" spc="-1" strike="noStrike">
              <a:latin typeface="Arial"/>
            </a:endParaRPr>
          </a:p>
        </p:txBody>
      </p:sp>
      <p:sp>
        <p:nvSpPr>
          <p:cNvPr id="390" name="TextBox 7"/>
          <p:cNvSpPr/>
          <p:nvPr/>
        </p:nvSpPr>
        <p:spPr>
          <a:xfrm>
            <a:off x="3553200" y="891000"/>
            <a:ext cx="4954680" cy="38973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R1# </a:t>
            </a:r>
            <a:r>
              <a:rPr b="1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show ip interface g0/0/0</a:t>
            </a:r>
            <a:endParaRPr b="0" lang="en-JM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GigabitEthernet0/0/0 is up, line protocol is up</a:t>
            </a:r>
            <a:endParaRPr b="0" lang="en-JM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</a:t>
            </a: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Internet address is 192.168.10.1/24</a:t>
            </a:r>
            <a:endParaRPr b="0" lang="en-JM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</a:t>
            </a: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Broadcast address is 255.255.255.255</a:t>
            </a:r>
            <a:endParaRPr b="0" lang="en-JM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</a:t>
            </a: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Address determined by setup command</a:t>
            </a:r>
            <a:endParaRPr b="0" lang="en-JM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</a:t>
            </a: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MTU is 1500 bytes</a:t>
            </a:r>
            <a:endParaRPr b="0" lang="en-JM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</a:t>
            </a: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Helper address is not set</a:t>
            </a:r>
            <a:endParaRPr b="0" lang="en-JM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</a:t>
            </a: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Directed broadcast forwarding is disabled</a:t>
            </a:r>
            <a:endParaRPr b="0" lang="en-JM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</a:t>
            </a: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Outgoing Common access list is not set </a:t>
            </a:r>
            <a:endParaRPr b="0" lang="en-JM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</a:t>
            </a: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Outgoing access list is not set</a:t>
            </a:r>
            <a:endParaRPr b="0" lang="en-JM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</a:t>
            </a: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Inbound Common access list is not set </a:t>
            </a:r>
            <a:endParaRPr b="0" lang="en-JM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</a:t>
            </a: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Inbound  access list is not set</a:t>
            </a:r>
            <a:endParaRPr b="0" lang="en-JM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</a:t>
            </a: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Proxy ARP is enabled</a:t>
            </a:r>
            <a:endParaRPr b="0" lang="en-JM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</a:t>
            </a: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Local Proxy ARP is disabled</a:t>
            </a:r>
            <a:endParaRPr b="0" lang="en-JM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</a:t>
            </a: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Security level is default</a:t>
            </a:r>
            <a:endParaRPr b="0" lang="en-JM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</a:t>
            </a: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Split horizon is enabled</a:t>
            </a:r>
            <a:endParaRPr b="0" lang="en-JM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</a:t>
            </a: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ICMP redirects are always sent</a:t>
            </a:r>
            <a:endParaRPr b="0" lang="en-JM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</a:t>
            </a: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ICMP unreachables are always sent</a:t>
            </a:r>
            <a:endParaRPr b="0" lang="en-JM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</a:t>
            </a: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ICMP mask replies are never sent</a:t>
            </a:r>
            <a:endParaRPr b="0" lang="en-JM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</a:t>
            </a: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IP fast switching is enabled</a:t>
            </a:r>
            <a:endParaRPr b="0" lang="en-JM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</a:t>
            </a: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IP Flow switching is disabled</a:t>
            </a:r>
            <a:endParaRPr b="0" lang="en-JM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JM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&lt;output omitted&gt;</a:t>
            </a:r>
            <a:endParaRPr b="0" lang="en-JM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JM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R1#</a:t>
            </a:r>
            <a:endParaRPr b="0" lang="en-JM" sz="10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345160" cy="731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16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Configure Interfaces</a:t>
            </a:r>
            <a:br/>
            <a:r>
              <a:rPr b="0" lang="en-US" sz="24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Configure Verification Commands (Cont.)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92" name="TextBox 4"/>
          <p:cNvSpPr/>
          <p:nvPr/>
        </p:nvSpPr>
        <p:spPr>
          <a:xfrm>
            <a:off x="474840" y="891000"/>
            <a:ext cx="2638440" cy="10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Display IPv6 statistics for router interfaces with the </a:t>
            </a: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show ipv6 interface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command shown here:</a:t>
            </a:r>
            <a:endParaRPr b="0" lang="en-JM" sz="1600" spc="-1" strike="noStrike">
              <a:latin typeface="Arial"/>
            </a:endParaRPr>
          </a:p>
        </p:txBody>
      </p:sp>
      <p:sp>
        <p:nvSpPr>
          <p:cNvPr id="393" name="TextBox 7"/>
          <p:cNvSpPr/>
          <p:nvPr/>
        </p:nvSpPr>
        <p:spPr>
          <a:xfrm>
            <a:off x="3553200" y="891000"/>
            <a:ext cx="4954680" cy="328824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R1# </a:t>
            </a:r>
            <a:r>
              <a:rPr b="1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show ipv6 interface g0/0/0</a:t>
            </a:r>
            <a:endParaRPr b="0" lang="en-JM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GigabitEthernet0/0/0 is up, line protocol is up</a:t>
            </a:r>
            <a:endParaRPr b="0" lang="en-JM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</a:t>
            </a: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IPv6 is enabled, link-local address is FE80::868A:8DFF:FE44:49B0</a:t>
            </a:r>
            <a:endParaRPr b="0" lang="en-JM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</a:t>
            </a: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No Virtual link-local address(es):</a:t>
            </a:r>
            <a:endParaRPr b="0" lang="en-JM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</a:t>
            </a: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Description: Link to LAN</a:t>
            </a:r>
            <a:endParaRPr b="0" lang="en-JM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</a:t>
            </a: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Global unicast address(es):</a:t>
            </a:r>
            <a:endParaRPr b="0" lang="en-JM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  </a:t>
            </a: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2001:DB8:ACAD:10::1, subnet is 2001:DB8:ACAD:10::/64</a:t>
            </a:r>
            <a:endParaRPr b="0" lang="en-JM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</a:t>
            </a: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Joined group address(es):</a:t>
            </a:r>
            <a:endParaRPr b="0" lang="en-JM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  </a:t>
            </a: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FF02::1</a:t>
            </a:r>
            <a:endParaRPr b="0" lang="en-JM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  </a:t>
            </a: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FF02::1:FF00:1</a:t>
            </a:r>
            <a:endParaRPr b="0" lang="en-JM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  </a:t>
            </a: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FF02::1:FF44:49B0</a:t>
            </a:r>
            <a:endParaRPr b="0" lang="en-JM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</a:t>
            </a: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MTU is 1500 bytes</a:t>
            </a:r>
            <a:endParaRPr b="0" lang="en-JM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</a:t>
            </a: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ICMP error messages limited to one every 100 milliseconds</a:t>
            </a:r>
            <a:endParaRPr b="0" lang="en-JM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</a:t>
            </a: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ICMP redirects are enabled</a:t>
            </a:r>
            <a:endParaRPr b="0" lang="en-JM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</a:t>
            </a: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ICMP unreachables are sent</a:t>
            </a:r>
            <a:endParaRPr b="0" lang="en-JM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</a:t>
            </a: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ND DAD is enabled, number of DAD attempts: 1</a:t>
            </a:r>
            <a:endParaRPr b="0" lang="en-JM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</a:t>
            </a: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ND reachable time is 30000 milliseconds (using 30000)</a:t>
            </a:r>
            <a:endParaRPr b="0" lang="en-JM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</a:t>
            </a: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ND NS retransmit interval is 1000 milliseconds</a:t>
            </a:r>
            <a:endParaRPr b="0" lang="en-JM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JM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R1#</a:t>
            </a:r>
            <a:endParaRPr b="0" lang="en-JM" sz="10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PlaceHolder 1"/>
          <p:cNvSpPr>
            <a:spLocks noGrp="1"/>
          </p:cNvSpPr>
          <p:nvPr>
            <p:ph type="title"/>
          </p:nvPr>
        </p:nvSpPr>
        <p:spPr>
          <a:xfrm>
            <a:off x="416520" y="1788120"/>
            <a:ext cx="7848000" cy="9291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b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600" spc="-1" strike="noStrike">
                <a:solidFill>
                  <a:srgbClr val="afe8fb"/>
                </a:solidFill>
                <a:latin typeface="Arial"/>
                <a:ea typeface="ＭＳ Ｐゴシック"/>
              </a:rPr>
              <a:t>10.3 Configure the Default Gateway</a:t>
            </a:r>
            <a:endParaRPr b="0" lang="en-US" sz="46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  <p:transition spd="slow">
    <p:wipe dir="l"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345160" cy="731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16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Configure the Default Gateway</a:t>
            </a:r>
            <a:br/>
            <a:r>
              <a:rPr b="0" lang="en-US" sz="24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Default Gateway on a Host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96" name="TextBox 9"/>
          <p:cNvSpPr/>
          <p:nvPr/>
        </p:nvSpPr>
        <p:spPr>
          <a:xfrm>
            <a:off x="474840" y="891000"/>
            <a:ext cx="3392280" cy="30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The default gateway is used when a host sends a packet to a device on another network.</a:t>
            </a:r>
            <a:endParaRPr b="0" lang="en-JM" sz="16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The default gateway address is generally the router interface address attached to the local network of the host.</a:t>
            </a:r>
            <a:endParaRPr b="0" lang="en-JM" sz="16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To reach PC3, PC1 addresses a packet with the IPv4 address of PC3, but forwards the packet to its default gateway, the G0/0/0 interface of R1.</a:t>
            </a:r>
            <a:endParaRPr b="0" lang="en-JM" sz="1600" spc="-1" strike="noStrike">
              <a:latin typeface="Arial"/>
            </a:endParaRPr>
          </a:p>
        </p:txBody>
      </p:sp>
      <p:sp>
        <p:nvSpPr>
          <p:cNvPr id="397" name="TextBox 3"/>
          <p:cNvSpPr/>
          <p:nvPr/>
        </p:nvSpPr>
        <p:spPr>
          <a:xfrm>
            <a:off x="4258440" y="3771000"/>
            <a:ext cx="444312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Note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: The IP address of the host and the router interface must be in the same network.</a:t>
            </a:r>
            <a:endParaRPr b="0" lang="en-JM" sz="1600" spc="-1" strike="noStrike">
              <a:latin typeface="Arial"/>
            </a:endParaRPr>
          </a:p>
        </p:txBody>
      </p:sp>
      <p:pic>
        <p:nvPicPr>
          <p:cNvPr id="398" name="Picture 5" descr=""/>
          <p:cNvPicPr/>
          <p:nvPr/>
        </p:nvPicPr>
        <p:blipFill>
          <a:blip r:embed="rId1"/>
          <a:stretch/>
        </p:blipFill>
        <p:spPr>
          <a:xfrm>
            <a:off x="4704480" y="715680"/>
            <a:ext cx="3021120" cy="2938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345160" cy="731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16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Configure the Default Gateway</a:t>
            </a:r>
            <a:br/>
            <a:r>
              <a:rPr b="0" lang="en-US" sz="24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Default Gateway on a Switch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400" name="TextBox 9"/>
          <p:cNvSpPr/>
          <p:nvPr/>
        </p:nvSpPr>
        <p:spPr>
          <a:xfrm>
            <a:off x="474840" y="891000"/>
            <a:ext cx="3144600" cy="31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A switch must have a default gateway address configured to remotely manage the switch from another network.</a:t>
            </a:r>
            <a:endParaRPr b="0" lang="en-JM" sz="18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To configure an IPv4 default gateway on a switch, use the </a:t>
            </a: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ip default-gateway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</a:t>
            </a:r>
            <a:r>
              <a:rPr b="0" i="1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ip-address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global configuration command.</a:t>
            </a:r>
            <a:endParaRPr b="0" lang="en-JM" sz="1800" spc="-1" strike="noStrike">
              <a:latin typeface="Arial"/>
            </a:endParaRPr>
          </a:p>
        </p:txBody>
      </p:sp>
      <p:pic>
        <p:nvPicPr>
          <p:cNvPr id="401" name="Picture 5" descr=""/>
          <p:cNvPicPr/>
          <p:nvPr/>
        </p:nvPicPr>
        <p:blipFill>
          <a:blip r:embed="rId1"/>
          <a:stretch/>
        </p:blipFill>
        <p:spPr>
          <a:xfrm>
            <a:off x="3855960" y="816480"/>
            <a:ext cx="4927320" cy="3088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345160" cy="731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16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Configure Initial Router Settings</a:t>
            </a:r>
            <a:br/>
            <a:r>
              <a:rPr b="0" lang="en-US" sz="24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Packet Tracer – Connect a Router to a LAN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403" name="PlaceHolder 2"/>
          <p:cNvSpPr>
            <a:spLocks noGrp="1"/>
          </p:cNvSpPr>
          <p:nvPr>
            <p:ph/>
          </p:nvPr>
        </p:nvSpPr>
        <p:spPr>
          <a:xfrm>
            <a:off x="281160" y="855360"/>
            <a:ext cx="7814520" cy="24778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In this Packet Tracer, you will do the following:</a:t>
            </a: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SzPct val="90000"/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Display the router information.</a:t>
            </a: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SzPct val="90000"/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Configure router interfaces. </a:t>
            </a: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SzPct val="90000"/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Verify the configuration.</a:t>
            </a: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345160" cy="731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16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Configure Initial Router Settings</a:t>
            </a:r>
            <a:br/>
            <a:r>
              <a:rPr b="0" lang="en-US" sz="24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Packet Tracer – Troubleshoot Default Gateway Issues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405" name="PlaceHolder 2"/>
          <p:cNvSpPr>
            <a:spLocks noGrp="1"/>
          </p:cNvSpPr>
          <p:nvPr>
            <p:ph/>
          </p:nvPr>
        </p:nvSpPr>
        <p:spPr>
          <a:xfrm>
            <a:off x="281160" y="855360"/>
            <a:ext cx="7814520" cy="24778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In this Packet Tracer, you will do the following:</a:t>
            </a: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SzPct val="90000"/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Verify the network documentation and use tests to isolate problems.</a:t>
            </a: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SzPct val="90000"/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Determine an appropriate solution for a given problem.</a:t>
            </a: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SzPct val="90000"/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Implement the solution.</a:t>
            </a: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SzPct val="90000"/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Test to verify the problem is resolved.</a:t>
            </a: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SzPct val="90000"/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Document the solution.</a:t>
            </a: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laceHolder 1"/>
          <p:cNvSpPr>
            <a:spLocks noGrp="1"/>
          </p:cNvSpPr>
          <p:nvPr>
            <p:ph type="title"/>
          </p:nvPr>
        </p:nvSpPr>
        <p:spPr>
          <a:xfrm>
            <a:off x="416520" y="1747440"/>
            <a:ext cx="8280000" cy="9698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b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600" spc="-1" strike="noStrike">
                <a:solidFill>
                  <a:srgbClr val="afe8fb"/>
                </a:solidFill>
                <a:latin typeface="Arial"/>
                <a:ea typeface="ＭＳ Ｐゴシック"/>
              </a:rPr>
              <a:t>10.4 Module Practice and Quiz</a:t>
            </a:r>
            <a:endParaRPr b="0" lang="en-US" sz="46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  <p:transition spd="slow">
    <p:wipe dir="l"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title"/>
          </p:nvPr>
        </p:nvSpPr>
        <p:spPr>
          <a:xfrm>
            <a:off x="0" y="41400"/>
            <a:ext cx="9143640" cy="75708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Module Practice and Quiz</a:t>
            </a:r>
            <a:br/>
            <a:r>
              <a:rPr b="0" lang="en-US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Video – Network Device Differences: Part 1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408" name="PlaceHolder 2"/>
          <p:cNvSpPr>
            <a:spLocks noGrp="1"/>
          </p:cNvSpPr>
          <p:nvPr>
            <p:ph/>
          </p:nvPr>
        </p:nvSpPr>
        <p:spPr>
          <a:xfrm>
            <a:off x="144000" y="798840"/>
            <a:ext cx="8852760" cy="4155120"/>
          </a:xfrm>
          <a:prstGeom prst="rect">
            <a:avLst/>
          </a:prstGeom>
          <a:noFill/>
          <a:ln w="0">
            <a:noFill/>
          </a:ln>
        </p:spPr>
        <p:txBody>
          <a:bodyPr numCol="1" spcCol="0" rIns="18288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This video will cover the different physical characteristics of the following:</a:t>
            </a: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  <a:p>
            <a:pPr lvl="2" marL="262080" indent="-16992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Cisco 4000 Series Router.</a:t>
            </a: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  <a:p>
            <a:pPr lvl="2" marL="262080" indent="-16992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Cisco 2900 Series Router.</a:t>
            </a: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  <a:p>
            <a:pPr lvl="2" marL="262080" indent="-16992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Cisco 1900 Series Router.</a:t>
            </a: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  <p:transition spd="slow">
    <p:wipe dir="l"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PlaceHolder 1"/>
          <p:cNvSpPr>
            <a:spLocks noGrp="1"/>
          </p:cNvSpPr>
          <p:nvPr>
            <p:ph type="title"/>
          </p:nvPr>
        </p:nvSpPr>
        <p:spPr>
          <a:xfrm>
            <a:off x="0" y="41400"/>
            <a:ext cx="9143640" cy="75708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Module Practice and Quiz</a:t>
            </a:r>
            <a:br/>
            <a:r>
              <a:rPr b="0" lang="en-US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Video – Network Device Differences: Part 2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410" name="PlaceHolder 2"/>
          <p:cNvSpPr>
            <a:spLocks noGrp="1"/>
          </p:cNvSpPr>
          <p:nvPr>
            <p:ph/>
          </p:nvPr>
        </p:nvSpPr>
        <p:spPr>
          <a:xfrm>
            <a:off x="144000" y="798840"/>
            <a:ext cx="8852760" cy="4155120"/>
          </a:xfrm>
          <a:prstGeom prst="rect">
            <a:avLst/>
          </a:prstGeom>
          <a:noFill/>
          <a:ln w="0">
            <a:noFill/>
          </a:ln>
        </p:spPr>
        <p:txBody>
          <a:bodyPr numCol="1" spcCol="0" rIns="18288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This video will cover the different configurations of the following:</a:t>
            </a: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  <a:p>
            <a:pPr lvl="2" marL="262080" indent="-16992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Cisco 4000 Series Router.</a:t>
            </a: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  <a:p>
            <a:pPr lvl="2" marL="262080" indent="-16992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Cisco 2900 Series Router.</a:t>
            </a: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  <a:p>
            <a:pPr lvl="2" marL="262080" indent="-16992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Cisco 1900 Series Router.</a:t>
            </a: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  <p:transition spd="slow">
    <p:wipe dir="l"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345160" cy="731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16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Configure Initial Router Settings</a:t>
            </a:r>
            <a:br/>
            <a:r>
              <a:rPr b="0" lang="en-US" sz="24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Packet Tracer – Basic Device Configuration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412" name="PlaceHolder 2"/>
          <p:cNvSpPr>
            <a:spLocks noGrp="1"/>
          </p:cNvSpPr>
          <p:nvPr>
            <p:ph/>
          </p:nvPr>
        </p:nvSpPr>
        <p:spPr>
          <a:xfrm>
            <a:off x="281160" y="855360"/>
            <a:ext cx="7814520" cy="24778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In this Packet Tracer, you will do the following:</a:t>
            </a: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SzPct val="90000"/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Complete the network documentation.</a:t>
            </a: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SzPct val="90000"/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Perform basic device configurations on a router and a switch.</a:t>
            </a: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SzPct val="90000"/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Verify connectivity and troubleshoot any issues.</a:t>
            </a: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/>
          <p:cNvSpPr>
            <a:spLocks noGrp="1"/>
          </p:cNvSpPr>
          <p:nvPr>
            <p:ph/>
          </p:nvPr>
        </p:nvSpPr>
        <p:spPr>
          <a:xfrm>
            <a:off x="265320" y="1654560"/>
            <a:ext cx="7814520" cy="24778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In both the Packet Tracer Physical Mode activity and in the Lab, you will complete the following objectives:</a:t>
            </a: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SzPct val="90000"/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Set up the topology and initialize devices.</a:t>
            </a: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SzPct val="90000"/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Configure devices and verify connectivity.</a:t>
            </a: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SzPct val="90000"/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Display device information.</a:t>
            </a: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414" name="PlaceHolder 2"/>
          <p:cNvSpPr>
            <a:spLocks noGrp="1"/>
          </p:cNvSpPr>
          <p:nvPr>
            <p:ph type="title"/>
          </p:nvPr>
        </p:nvSpPr>
        <p:spPr>
          <a:xfrm>
            <a:off x="0" y="0"/>
            <a:ext cx="8345160" cy="148680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16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Configure Initial Router Settings</a:t>
            </a:r>
            <a:br/>
            <a:r>
              <a:rPr b="0" lang="en-US" sz="24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Packet Tracer – Build a Switch and Router Network – Physical Mode</a:t>
            </a:r>
            <a:br/>
            <a:r>
              <a:rPr b="0" lang="en-US" sz="24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Lab – Build a Switch and Router Network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/>
          </p:cNvSpPr>
          <p:nvPr>
            <p:ph type="title"/>
          </p:nvPr>
        </p:nvSpPr>
        <p:spPr>
          <a:xfrm>
            <a:off x="0" y="41400"/>
            <a:ext cx="9143640" cy="75708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Module Practice and Quiz</a:t>
            </a:r>
            <a:br/>
            <a:r>
              <a:rPr b="0" lang="en-US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What did I learn in this module?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416" name="PlaceHolder 2"/>
          <p:cNvSpPr>
            <a:spLocks noGrp="1"/>
          </p:cNvSpPr>
          <p:nvPr>
            <p:ph/>
          </p:nvPr>
        </p:nvSpPr>
        <p:spPr>
          <a:xfrm>
            <a:off x="144000" y="798840"/>
            <a:ext cx="8852760" cy="4155120"/>
          </a:xfrm>
          <a:prstGeom prst="rect">
            <a:avLst/>
          </a:prstGeom>
          <a:noFill/>
          <a:ln w="0">
            <a:noFill/>
          </a:ln>
        </p:spPr>
        <p:txBody>
          <a:bodyPr numCol="1" spcCol="0" rIns="182880" anchor="t">
            <a:noAutofit/>
          </a:bodyPr>
          <a:p>
            <a:pPr marL="169920" indent="-169920">
              <a:lnSpc>
                <a:spcPct val="100000"/>
              </a:lnSpc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The tasks that should be completed when configuring initial settings on a router.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lvl="1" marL="358920" indent="-216000">
              <a:lnSpc>
                <a:spcPct val="100000"/>
              </a:lnSpc>
              <a:buClr>
                <a:srgbClr val="58585b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Configure the device name.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lvl="1" marL="358920" indent="-216000">
              <a:lnSpc>
                <a:spcPct val="100000"/>
              </a:lnSpc>
              <a:buClr>
                <a:srgbClr val="58585b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Secure privileged EXEC mode.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lvl="1" marL="358920" indent="-216000">
              <a:lnSpc>
                <a:spcPct val="100000"/>
              </a:lnSpc>
              <a:buClr>
                <a:srgbClr val="58585b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Secure user EXEC mode.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lvl="1" marL="358920" indent="-216000">
              <a:lnSpc>
                <a:spcPct val="100000"/>
              </a:lnSpc>
              <a:buClr>
                <a:srgbClr val="58585b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Secure remote Telnet / SSH access.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lvl="1" marL="358920" indent="-216000">
              <a:lnSpc>
                <a:spcPct val="100000"/>
              </a:lnSpc>
              <a:buClr>
                <a:srgbClr val="58585b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Secure all passwords in the config file.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lvl="1" marL="358920" indent="-216000">
              <a:lnSpc>
                <a:spcPct val="100000"/>
              </a:lnSpc>
              <a:buClr>
                <a:srgbClr val="58585b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Provide legal notification.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lvl="1" marL="358920" indent="-216000">
              <a:lnSpc>
                <a:spcPct val="100000"/>
              </a:lnSpc>
              <a:buClr>
                <a:srgbClr val="58585b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Save the configuration.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For routers to be reachable, the router interfaces must be configured.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lvl="1" marL="358920" indent="-216000">
              <a:lnSpc>
                <a:spcPct val="100000"/>
              </a:lnSpc>
              <a:buClr>
                <a:srgbClr val="58585b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Using the </a:t>
            </a: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no shutdown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command activates the interface. The interface must also be connected to another device, such as a switch or a router, for the physical layer to be active. There are several commands that can be used to verify interface configuration including the </a:t>
            </a: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show ip interface brief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and </a:t>
            </a: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show ipv6 interface brief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, the </a:t>
            </a: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show ip route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and </a:t>
            </a: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show ipv6 route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, as well as </a:t>
            </a: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show interfaces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, </a:t>
            </a: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show ip interface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and </a:t>
            </a: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show ipv6 interface.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  <p:transition spd="slow">
    <p:wipe dir="l"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PlaceHolder 1"/>
          <p:cNvSpPr>
            <a:spLocks noGrp="1"/>
          </p:cNvSpPr>
          <p:nvPr>
            <p:ph type="title"/>
          </p:nvPr>
        </p:nvSpPr>
        <p:spPr>
          <a:xfrm>
            <a:off x="0" y="41400"/>
            <a:ext cx="9143640" cy="75708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Module Practice and Quiz</a:t>
            </a:r>
            <a:br/>
            <a:r>
              <a:rPr b="0" lang="en-US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What did I learn in this module (Cont.)?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418" name="PlaceHolder 2"/>
          <p:cNvSpPr>
            <a:spLocks noGrp="1"/>
          </p:cNvSpPr>
          <p:nvPr>
            <p:ph/>
          </p:nvPr>
        </p:nvSpPr>
        <p:spPr>
          <a:xfrm>
            <a:off x="144000" y="798840"/>
            <a:ext cx="8852760" cy="4155120"/>
          </a:xfrm>
          <a:prstGeom prst="rect">
            <a:avLst/>
          </a:prstGeom>
          <a:noFill/>
          <a:ln w="0">
            <a:noFill/>
          </a:ln>
        </p:spPr>
        <p:txBody>
          <a:bodyPr numCol="1" spcCol="0" rIns="182880" anchor="t">
            <a:noAutofit/>
          </a:bodyPr>
          <a:p>
            <a:pPr marL="169920" indent="-169920">
              <a:lnSpc>
                <a:spcPct val="100000"/>
              </a:lnSpc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For an end device to reach other networks, a default gateway must be configured.</a:t>
            </a: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  <a:p>
            <a:pPr lvl="1" marL="358920" indent="-216000">
              <a:lnSpc>
                <a:spcPct val="100000"/>
              </a:lnSpc>
              <a:buClr>
                <a:srgbClr val="58585b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The IP address of the host device and the router interface address must be in the same network.</a:t>
            </a: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A switch must have a default gateway address configured to remotely manage the switch from another network.</a:t>
            </a: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  <a:p>
            <a:pPr lvl="1" marL="358920" indent="-216000">
              <a:lnSpc>
                <a:spcPct val="100000"/>
              </a:lnSpc>
              <a:buClr>
                <a:srgbClr val="58585b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To configure an IPv4 default gateway on a switch, use the </a:t>
            </a: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ip default-gateway </a:t>
            </a:r>
            <a:r>
              <a:rPr b="0" i="1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ip-address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global configuration command.</a:t>
            </a: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  <p:transition spd="slow">
    <p:wipe dir="l"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PlaceHolder 1"/>
          <p:cNvSpPr>
            <a:spLocks noGrp="1"/>
          </p:cNvSpPr>
          <p:nvPr>
            <p:ph type="title"/>
          </p:nvPr>
        </p:nvSpPr>
        <p:spPr>
          <a:xfrm>
            <a:off x="0" y="41400"/>
            <a:ext cx="9143640" cy="60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Module 10: Basic Router Configuration</a:t>
            </a:r>
            <a:br/>
            <a:r>
              <a:rPr b="0" lang="en-US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New Terms and Commands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graphicFrame>
        <p:nvGraphicFramePr>
          <p:cNvPr id="420" name="Table 9"/>
          <p:cNvGraphicFramePr/>
          <p:nvPr/>
        </p:nvGraphicFramePr>
        <p:xfrm>
          <a:off x="144360" y="798480"/>
          <a:ext cx="8853120" cy="370440"/>
        </p:xfrm>
        <a:graphic>
          <a:graphicData uri="http://schemas.openxmlformats.org/drawingml/2006/table">
            <a:tbl>
              <a:tblPr/>
              <a:tblGrid>
                <a:gridCol w="885348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marL="285840" indent="-28584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1" lang="en-US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show ip interface brief</a:t>
                      </a:r>
                      <a:endParaRPr b="0" lang="en-JM" sz="1400" spc="-1" strike="noStrike">
                        <a:latin typeface="Arial"/>
                      </a:endParaRPr>
                    </a:p>
                    <a:p>
                      <a:pPr marL="285840" indent="-28584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1" lang="en-US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show ipv6 interface brief</a:t>
                      </a:r>
                      <a:endParaRPr b="0" lang="en-JM" sz="1400" spc="-1" strike="noStrike">
                        <a:latin typeface="Arial"/>
                      </a:endParaRPr>
                    </a:p>
                    <a:p>
                      <a:pPr marL="285840" indent="-28584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1" lang="en-US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show ip route</a:t>
                      </a:r>
                      <a:endParaRPr b="0" lang="en-JM" sz="1400" spc="-1" strike="noStrike">
                        <a:latin typeface="Arial"/>
                      </a:endParaRPr>
                    </a:p>
                    <a:p>
                      <a:pPr marL="285840" indent="-28584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1" lang="en-US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show ipv6 route</a:t>
                      </a:r>
                      <a:endParaRPr b="0" lang="en-JM" sz="1400" spc="-1" strike="noStrike">
                        <a:latin typeface="Arial"/>
                      </a:endParaRPr>
                    </a:p>
                    <a:p>
                      <a:pPr marL="285840" indent="-28584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1" lang="en-US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show interfaces</a:t>
                      </a:r>
                      <a:endParaRPr b="0" lang="en-JM" sz="1400" spc="-1" strike="noStrike">
                        <a:latin typeface="Arial"/>
                      </a:endParaRPr>
                    </a:p>
                    <a:p>
                      <a:pPr marL="285840" indent="-28584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1" lang="en-US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show ip interface</a:t>
                      </a:r>
                      <a:endParaRPr b="0" lang="en-JM" sz="1400" spc="-1" strike="noStrike">
                        <a:latin typeface="Arial"/>
                      </a:endParaRPr>
                    </a:p>
                    <a:p>
                      <a:pPr marL="285840" indent="-28584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1" lang="en-US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show ipv6 interface</a:t>
                      </a:r>
                      <a:endParaRPr b="0" lang="en-JM" sz="1400" spc="-1" strike="noStrike">
                        <a:latin typeface="Arial"/>
                      </a:endParaRPr>
                    </a:p>
                    <a:p>
                      <a:pPr marL="285840" indent="-28584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1" lang="en-US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ip default-gateway</a:t>
                      </a:r>
                      <a:endParaRPr b="0" lang="en-JM" sz="14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b="0" lang="en-JM" sz="14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b="0" lang="en-JM" sz="14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b="0" lang="en-JM" sz="14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b="0" lang="en-JM" sz="14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b="0" lang="en-JM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58585b"/>
                      </a:solidFill>
                    </a:lnL>
                    <a:lnR w="12240">
                      <a:solidFill>
                        <a:srgbClr val="58585b"/>
                      </a:solidFill>
                    </a:lnR>
                    <a:lnT w="12240">
                      <a:solidFill>
                        <a:srgbClr val="58585b"/>
                      </a:solidFill>
                    </a:lnT>
                    <a:lnB w="12240">
                      <a:solidFill>
                        <a:srgbClr val="58585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transition spd="slow">
    <p:wipe dir="l"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transition spd="slow">
    <p:wipe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5225</TotalTime>
  <Application>LibreOffice/7.2.7.2$Windows_X86_64 LibreOffice_project/8d71d29d553c0f7dcbfa38fbfda25ee34cce99a2</Application>
  <AppVersion>15.0000</AppVersion>
  <Words>3868</Words>
  <Paragraphs>574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2019-10-18T06:21:22Z</dcterms:created>
  <dc:creator>Stephanie Harvey</dc:creator>
  <dc:description/>
  <dc:language>en-JM</dc:language>
  <cp:lastModifiedBy/>
  <dcterms:modified xsi:type="dcterms:W3CDTF">2025-04-28T16:30:31Z</dcterms:modified>
  <cp:revision>229</cp:revision>
  <dc:subject/>
  <dc:title>Chapter 2: Basic Switch and End Device Configuration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F9A496F7-57D7-4028-9572-D40DFDF3715A</vt:lpwstr>
  </property>
  <property fmtid="{D5CDD505-2E9C-101B-9397-08002B2CF9AE}" pid="3" name="ArticulatePath">
    <vt:lpwstr>ITE7_Chp9_by_jg</vt:lpwstr>
  </property>
  <property fmtid="{D5CDD505-2E9C-101B-9397-08002B2CF9AE}" pid="4" name="HiddenSlides">
    <vt:i4>9</vt:i4>
  </property>
  <property fmtid="{D5CDD505-2E9C-101B-9397-08002B2CF9AE}" pid="5" name="Jive_LatestUserAccountName">
    <vt:lpwstr>alljohns</vt:lpwstr>
  </property>
  <property fmtid="{D5CDD505-2E9C-101B-9397-08002B2CF9AE}" pid="6" name="Jive_VersionGuid">
    <vt:lpwstr>fd96a0b3-f68d-4727-8e4f-2128d37ed30a</vt:lpwstr>
  </property>
  <property fmtid="{D5CDD505-2E9C-101B-9397-08002B2CF9AE}" pid="7" name="Notes">
    <vt:i4>38</vt:i4>
  </property>
  <property fmtid="{D5CDD505-2E9C-101B-9397-08002B2CF9AE}" pid="8" name="Offisync_ProviderInitializationData">
    <vt:lpwstr>https://cisco.jiveon.com</vt:lpwstr>
  </property>
  <property fmtid="{D5CDD505-2E9C-101B-9397-08002B2CF9AE}" pid="9" name="Offisync_ServerID">
    <vt:lpwstr>07841bbc-cd3c-4a76-827f-75a2226890f4</vt:lpwstr>
  </property>
  <property fmtid="{D5CDD505-2E9C-101B-9397-08002B2CF9AE}" pid="10" name="Offisync_UniqueId">
    <vt:lpwstr>1702406</vt:lpwstr>
  </property>
  <property fmtid="{D5CDD505-2E9C-101B-9397-08002B2CF9AE}" pid="11" name="Offisync_UpdateToken">
    <vt:lpwstr>1</vt:lpwstr>
  </property>
  <property fmtid="{D5CDD505-2E9C-101B-9397-08002B2CF9AE}" pid="12" name="PresentationFormat">
    <vt:lpwstr>On-screen Show (16:9)</vt:lpwstr>
  </property>
  <property fmtid="{D5CDD505-2E9C-101B-9397-08002B2CF9AE}" pid="13" name="Slides">
    <vt:i4>40</vt:i4>
  </property>
</Properties>
</file>