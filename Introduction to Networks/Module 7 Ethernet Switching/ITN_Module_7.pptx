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media/image1.jpeg" ContentType="image/jpeg"/>
  <Override PartName="/ppt/media/image3.png" ContentType="image/png"/>
  <Override PartName="/ppt/media/image2.jpeg" ContentType="image/jpeg"/>
  <Override PartName="/ppt/media/image8.png" ContentType="image/png"/>
  <Override PartName="/ppt/media/image4.png" ContentType="image/png"/>
  <Override PartName="/ppt/media/image5.png" ContentType="image/png"/>
  <Override PartName="/ppt/media/image6.png" ContentType="image/png"/>
  <Override PartName="/ppt/media/image7.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31.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55.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56.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57.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58.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59.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60.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3200" spc="-1" strike="noStrike">
                <a:solidFill>
                  <a:srgbClr val="58585b"/>
                </a:solidFill>
                <a:latin typeface="Arial"/>
              </a:rPr>
              <a:t>Click to move the slide</a:t>
            </a:r>
            <a:endParaRPr b="0" lang="en-US" sz="3200" spc="-1" strike="noStrike">
              <a:solidFill>
                <a:srgbClr val="58585b"/>
              </a:solidFill>
              <a:latin typeface="Arial"/>
            </a:endParaRPr>
          </a:p>
        </p:txBody>
      </p:sp>
      <p:sp>
        <p:nvSpPr>
          <p:cNvPr id="3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JM" sz="2000" spc="-1" strike="noStrike">
                <a:latin typeface="Arial"/>
              </a:rPr>
              <a:t>Click to edit the notes format</a:t>
            </a:r>
            <a:endParaRPr b="0" lang="en-JM" sz="2000" spc="-1" strike="noStrike">
              <a:latin typeface="Arial"/>
            </a:endParaRPr>
          </a:p>
        </p:txBody>
      </p:sp>
      <p:sp>
        <p:nvSpPr>
          <p:cNvPr id="3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JM" sz="1400" spc="-1" strike="noStrike">
                <a:latin typeface="Times New Roman"/>
              </a:rPr>
              <a:t>&lt;header&gt;</a:t>
            </a:r>
            <a:endParaRPr b="0" lang="en-JM" sz="1400" spc="-1" strike="noStrike">
              <a:latin typeface="Times New Roman"/>
            </a:endParaRPr>
          </a:p>
        </p:txBody>
      </p:sp>
      <p:sp>
        <p:nvSpPr>
          <p:cNvPr id="331" name="PlaceHolder 4"/>
          <p:cNvSpPr>
            <a:spLocks noGrp="1"/>
          </p:cNvSpPr>
          <p:nvPr>
            <p:ph type="dt"/>
          </p:nvPr>
        </p:nvSpPr>
        <p:spPr>
          <a:xfrm>
            <a:off x="4278960" y="0"/>
            <a:ext cx="3280680" cy="534240"/>
          </a:xfrm>
          <a:prstGeom prst="rect">
            <a:avLst/>
          </a:prstGeom>
          <a:noFill/>
          <a:ln w="0">
            <a:noFill/>
          </a:ln>
        </p:spPr>
        <p:txBody>
          <a:bodyPr lIns="0" rIns="0" tIns="0" bIns="0" anchor="t">
            <a:noAutofit/>
          </a:bodyPr>
          <a:p>
            <a:pPr algn="r">
              <a:buNone/>
            </a:pPr>
            <a:r>
              <a:rPr b="0" lang="en-JM" sz="1400" spc="-1" strike="noStrike">
                <a:latin typeface="Times New Roman"/>
              </a:rPr>
              <a:t>&lt;date/time&gt;</a:t>
            </a:r>
            <a:endParaRPr b="0" lang="en-JM" sz="1400" spc="-1" strike="noStrike">
              <a:latin typeface="Times New Roman"/>
            </a:endParaRPr>
          </a:p>
        </p:txBody>
      </p:sp>
      <p:sp>
        <p:nvSpPr>
          <p:cNvPr id="332" name="PlaceHolder 5"/>
          <p:cNvSpPr>
            <a:spLocks noGrp="1"/>
          </p:cNvSpPr>
          <p:nvPr>
            <p:ph type="ftr"/>
          </p:nvPr>
        </p:nvSpPr>
        <p:spPr>
          <a:xfrm>
            <a:off x="0" y="10157400"/>
            <a:ext cx="3280680" cy="534240"/>
          </a:xfrm>
          <a:prstGeom prst="rect">
            <a:avLst/>
          </a:prstGeom>
          <a:noFill/>
          <a:ln w="0">
            <a:noFill/>
          </a:ln>
        </p:spPr>
        <p:txBody>
          <a:bodyPr lIns="0" rIns="0" tIns="0" bIns="0" anchor="b">
            <a:noAutofit/>
          </a:bodyPr>
          <a:p>
            <a:r>
              <a:rPr b="0" lang="en-JM" sz="1400" spc="-1" strike="noStrike">
                <a:latin typeface="Times New Roman"/>
              </a:rPr>
              <a:t>&lt;footer&gt;</a:t>
            </a:r>
            <a:endParaRPr b="0" lang="en-JM" sz="1400" spc="-1" strike="noStrike">
              <a:latin typeface="Times New Roman"/>
            </a:endParaRPr>
          </a:p>
        </p:txBody>
      </p:sp>
      <p:sp>
        <p:nvSpPr>
          <p:cNvPr id="333" name="PlaceHolder 6"/>
          <p:cNvSpPr>
            <a:spLocks noGrp="1"/>
          </p:cNvSpPr>
          <p:nvPr>
            <p:ph type="sldNum"/>
          </p:nvPr>
        </p:nvSpPr>
        <p:spPr>
          <a:xfrm>
            <a:off x="4278960" y="10157400"/>
            <a:ext cx="3280680" cy="534240"/>
          </a:xfrm>
          <a:prstGeom prst="rect">
            <a:avLst/>
          </a:prstGeom>
          <a:noFill/>
          <a:ln w="0">
            <a:noFill/>
          </a:ln>
        </p:spPr>
        <p:txBody>
          <a:bodyPr lIns="0" rIns="0" tIns="0" bIns="0" anchor="b">
            <a:noAutofit/>
          </a:bodyPr>
          <a:p>
            <a:pPr algn="r">
              <a:buNone/>
            </a:pPr>
            <a:fld id="{2A28D797-404E-4689-9A0D-1A8C4F3F9D20}" type="slidenum">
              <a:rPr b="0" lang="en-JM" sz="1400" spc="-1" strike="noStrike">
                <a:latin typeface="Times New Roman"/>
              </a:rPr>
              <a:t>&lt;number&gt;</a:t>
            </a:fld>
            <a:endParaRPr b="0" lang="en-JM"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380880" y="685800"/>
            <a:ext cx="6095520" cy="3428640"/>
          </a:xfrm>
          <a:prstGeom prst="rect">
            <a:avLst/>
          </a:prstGeom>
          <a:ln w="0">
            <a:noFill/>
          </a:ln>
        </p:spPr>
      </p:sp>
      <p:sp>
        <p:nvSpPr>
          <p:cNvPr id="41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Cisco Networking Academy Program</a:t>
            </a:r>
            <a:endParaRPr b="0" lang="en-JM" sz="2000" spc="-1" strike="noStrike">
              <a:latin typeface="Arial"/>
            </a:endParaRPr>
          </a:p>
          <a:p>
            <a:pPr marL="216000" indent="-216000">
              <a:lnSpc>
                <a:spcPct val="100000"/>
              </a:lnSpc>
              <a:buNone/>
            </a:pPr>
            <a:r>
              <a:rPr b="0" lang="en-US" sz="2000" spc="-1" strike="noStrike">
                <a:latin typeface="Arial"/>
              </a:rPr>
              <a:t>Introduction to Networks v7.0 (ITN)</a:t>
            </a:r>
            <a:endParaRPr b="0" lang="en-JM" sz="2000" spc="-1" strike="noStrike">
              <a:latin typeface="Arial"/>
            </a:endParaRPr>
          </a:p>
          <a:p>
            <a:pPr marL="216000" indent="-216000">
              <a:lnSpc>
                <a:spcPct val="100000"/>
              </a:lnSpc>
              <a:buNone/>
            </a:pPr>
            <a:r>
              <a:rPr b="0" lang="en-US" sz="2000" spc="-1" strike="noStrike">
                <a:latin typeface="Arial"/>
              </a:rPr>
              <a:t>Module 7: Ethernet Switching</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1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B821C4D-3040-4414-BC48-536C9B1169A4}"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Rectangle 11"/>
          <p:cNvSpPr/>
          <p:nvPr/>
        </p:nvSpPr>
        <p:spPr>
          <a:xfrm>
            <a:off x="5929200" y="8680320"/>
            <a:ext cx="812520" cy="286920"/>
          </a:xfrm>
          <a:prstGeom prst="rect">
            <a:avLst/>
          </a:prstGeom>
          <a:noFill/>
          <a:ln w="0">
            <a:noFill/>
          </a:ln>
        </p:spPr>
        <p:style>
          <a:lnRef idx="0"/>
          <a:fillRef idx="0"/>
          <a:effectRef idx="0"/>
          <a:fontRef idx="minor"/>
        </p:style>
        <p:txBody>
          <a:bodyPr lIns="18720" rIns="18720" tIns="0" bIns="0" anchor="b">
            <a:noAutofit/>
          </a:bodyPr>
          <a:p>
            <a:pPr algn="r">
              <a:lnSpc>
                <a:spcPct val="100000"/>
              </a:lnSpc>
              <a:buNone/>
            </a:pPr>
            <a:fld id="{6ACBF4A5-15D1-460B-BAF7-CFBCE84502DA}" type="slidenum">
              <a:rPr b="0" lang="en-US" sz="800" spc="-1" strike="noStrike">
                <a:solidFill>
                  <a:srgbClr val="000000"/>
                </a:solidFill>
                <a:latin typeface="Arial"/>
                <a:ea typeface="ＭＳ Ｐゴシック"/>
              </a:rPr>
              <a:t>&lt;number&gt;</a:t>
            </a:fld>
            <a:endParaRPr b="0" lang="en-JM" sz="800" spc="-1" strike="noStrike">
              <a:latin typeface="Arial"/>
            </a:endParaRPr>
          </a:p>
        </p:txBody>
      </p:sp>
      <p:sp>
        <p:nvSpPr>
          <p:cNvPr id="418" name="PlaceHolder 1"/>
          <p:cNvSpPr>
            <a:spLocks noGrp="1"/>
          </p:cNvSpPr>
          <p:nvPr>
            <p:ph type="sldImg"/>
          </p:nvPr>
        </p:nvSpPr>
        <p:spPr>
          <a:xfrm>
            <a:off x="380880" y="685800"/>
            <a:ext cx="6095520" cy="3428640"/>
          </a:xfrm>
          <a:prstGeom prst="rect">
            <a:avLst/>
          </a:prstGeom>
          <a:ln w="0">
            <a:noFill/>
          </a:ln>
        </p:spPr>
      </p:sp>
      <p:sp>
        <p:nvSpPr>
          <p:cNvPr id="41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7- Ethernet Switching</a:t>
            </a:r>
            <a:endParaRPr b="0" lang="en-JM" sz="2000" spc="-1" strike="noStrike">
              <a:latin typeface="Arial"/>
            </a:endParaRPr>
          </a:p>
          <a:p>
            <a:pPr marL="216000" indent="-216000">
              <a:lnSpc>
                <a:spcPct val="100000"/>
              </a:lnSpc>
              <a:buNone/>
            </a:pPr>
            <a:r>
              <a:rPr b="0" lang="en-GB" sz="2000" spc="-1" strike="noStrike">
                <a:latin typeface="Arial"/>
              </a:rPr>
              <a:t>7.0.2 – What will I learn to do in this module?</a:t>
            </a:r>
            <a:endParaRPr b="0" lang="en-JM" sz="20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380880" y="685800"/>
            <a:ext cx="6095520" cy="3428640"/>
          </a:xfrm>
          <a:prstGeom prst="rect">
            <a:avLst/>
          </a:prstGeom>
          <a:ln w="0">
            <a:noFill/>
          </a:ln>
        </p:spPr>
      </p:sp>
      <p:sp>
        <p:nvSpPr>
          <p:cNvPr id="421"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7 - Ethernet Switching</a:t>
            </a:r>
            <a:endParaRPr b="0" lang="en-JM" sz="2000" spc="-1" strike="noStrike">
              <a:latin typeface="Arial"/>
            </a:endParaRPr>
          </a:p>
          <a:p>
            <a:pPr>
              <a:lnSpc>
                <a:spcPct val="100000"/>
              </a:lnSpc>
              <a:buNone/>
              <a:tabLst>
                <a:tab algn="l" pos="0"/>
              </a:tabLst>
            </a:pPr>
            <a:r>
              <a:rPr b="0" lang="en-US" sz="2000" spc="-1" strike="noStrike">
                <a:latin typeface="Arial"/>
              </a:rPr>
              <a:t>7.1 Ethernet frames</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42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29250E7-FCA6-4307-9E53-B772DF24406E}"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380880" y="685800"/>
            <a:ext cx="6095520" cy="3428640"/>
          </a:xfrm>
          <a:prstGeom prst="rect">
            <a:avLst/>
          </a:prstGeom>
          <a:ln w="0">
            <a:noFill/>
          </a:ln>
        </p:spPr>
      </p:sp>
      <p:sp>
        <p:nvSpPr>
          <p:cNvPr id="42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7.1 – Ethernet Frames</a:t>
            </a:r>
            <a:endParaRPr b="0" lang="en-JM" sz="2000" spc="-1" strike="noStrike">
              <a:latin typeface="Arial"/>
            </a:endParaRPr>
          </a:p>
          <a:p>
            <a:pPr marL="216000" indent="-216000">
              <a:lnSpc>
                <a:spcPct val="100000"/>
              </a:lnSpc>
              <a:buNone/>
            </a:pPr>
            <a:r>
              <a:rPr b="0" lang="en-US" sz="2000" spc="-1" strike="noStrike">
                <a:latin typeface="Arial"/>
              </a:rPr>
              <a:t>7.1.1 – Ethernet Encapsulation</a:t>
            </a:r>
            <a:endParaRPr b="0" lang="en-JM" sz="2000" spc="-1" strike="noStrike">
              <a:latin typeface="Arial"/>
            </a:endParaRPr>
          </a:p>
        </p:txBody>
      </p:sp>
      <p:sp>
        <p:nvSpPr>
          <p:cNvPr id="42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BAD3DAE-50DA-4368-AF70-982944F8A564}"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380880" y="685800"/>
            <a:ext cx="6095520" cy="3428640"/>
          </a:xfrm>
          <a:prstGeom prst="rect">
            <a:avLst/>
          </a:prstGeom>
          <a:ln w="0">
            <a:noFill/>
          </a:ln>
        </p:spPr>
      </p:sp>
      <p:sp>
        <p:nvSpPr>
          <p:cNvPr id="42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7.1 – Ethernet Frames</a:t>
            </a:r>
            <a:endParaRPr b="0" lang="en-JM" sz="2000" spc="-1" strike="noStrike">
              <a:latin typeface="Arial"/>
            </a:endParaRPr>
          </a:p>
          <a:p>
            <a:pPr marL="216000" indent="-216000">
              <a:lnSpc>
                <a:spcPct val="100000"/>
              </a:lnSpc>
              <a:buNone/>
            </a:pPr>
            <a:r>
              <a:rPr b="0" lang="en-US" sz="2000" spc="-1" strike="noStrike">
                <a:latin typeface="Arial"/>
              </a:rPr>
              <a:t>7.1.2 - Data Link Sublayers</a:t>
            </a:r>
            <a:endParaRPr b="0" lang="en-JM" sz="2000" spc="-1" strike="noStrike">
              <a:latin typeface="Arial"/>
            </a:endParaRPr>
          </a:p>
        </p:txBody>
      </p:sp>
      <p:sp>
        <p:nvSpPr>
          <p:cNvPr id="42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9ABC3A1-32A6-4DFB-ACA6-B042DF59CFCE}"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380880" y="685800"/>
            <a:ext cx="6095520" cy="3428640"/>
          </a:xfrm>
          <a:prstGeom prst="rect">
            <a:avLst/>
          </a:prstGeom>
          <a:ln w="0">
            <a:noFill/>
          </a:ln>
        </p:spPr>
      </p:sp>
      <p:sp>
        <p:nvSpPr>
          <p:cNvPr id="43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7.1 – Ethernet Frames</a:t>
            </a:r>
            <a:endParaRPr b="0" lang="en-JM" sz="2000" spc="-1" strike="noStrike">
              <a:latin typeface="Arial"/>
            </a:endParaRPr>
          </a:p>
          <a:p>
            <a:pPr marL="216000" indent="-216000">
              <a:lnSpc>
                <a:spcPct val="100000"/>
              </a:lnSpc>
              <a:buNone/>
            </a:pPr>
            <a:r>
              <a:rPr b="0" lang="en-US" sz="2000" spc="-1" strike="noStrike">
                <a:latin typeface="Arial"/>
              </a:rPr>
              <a:t>7.1.3 – MAC Sublayer</a:t>
            </a:r>
            <a:endParaRPr b="0" lang="en-JM" sz="2000" spc="-1" strike="noStrike">
              <a:latin typeface="Arial"/>
            </a:endParaRPr>
          </a:p>
        </p:txBody>
      </p:sp>
      <p:sp>
        <p:nvSpPr>
          <p:cNvPr id="43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6F6789C-65B6-4A0B-BE6A-BE10CEACAC3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Img"/>
          </p:nvPr>
        </p:nvSpPr>
        <p:spPr>
          <a:xfrm>
            <a:off x="380880" y="685800"/>
            <a:ext cx="6095520" cy="3428640"/>
          </a:xfrm>
          <a:prstGeom prst="rect">
            <a:avLst/>
          </a:prstGeom>
          <a:ln w="0">
            <a:noFill/>
          </a:ln>
        </p:spPr>
      </p:sp>
      <p:sp>
        <p:nvSpPr>
          <p:cNvPr id="43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7.1 – Ethernet Frames</a:t>
            </a:r>
            <a:endParaRPr b="0" lang="en-JM" sz="2000" spc="-1" strike="noStrike">
              <a:latin typeface="Arial"/>
            </a:endParaRPr>
          </a:p>
          <a:p>
            <a:pPr marL="216000" indent="-216000">
              <a:lnSpc>
                <a:spcPct val="100000"/>
              </a:lnSpc>
              <a:buNone/>
            </a:pPr>
            <a:r>
              <a:rPr b="0" lang="en-US" sz="2000" spc="-1" strike="noStrike">
                <a:latin typeface="Arial"/>
              </a:rPr>
              <a:t>7.1.3 – MAC Sublayer</a:t>
            </a:r>
            <a:endParaRPr b="0" lang="en-JM" sz="2000" spc="-1" strike="noStrike">
              <a:latin typeface="Arial"/>
            </a:endParaRPr>
          </a:p>
        </p:txBody>
      </p:sp>
      <p:sp>
        <p:nvSpPr>
          <p:cNvPr id="43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52DE5E1-803C-4449-B8D5-206B550B10A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Img"/>
          </p:nvPr>
        </p:nvSpPr>
        <p:spPr>
          <a:xfrm>
            <a:off x="380880" y="685800"/>
            <a:ext cx="6095520" cy="3428640"/>
          </a:xfrm>
          <a:prstGeom prst="rect">
            <a:avLst/>
          </a:prstGeom>
          <a:ln w="0">
            <a:noFill/>
          </a:ln>
        </p:spPr>
      </p:sp>
      <p:sp>
        <p:nvSpPr>
          <p:cNvPr id="43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7.1 – Ethernet Frames</a:t>
            </a:r>
            <a:endParaRPr b="0" lang="en-JM" sz="2000" spc="-1" strike="noStrike">
              <a:latin typeface="Arial"/>
            </a:endParaRPr>
          </a:p>
          <a:p>
            <a:pPr marL="216000" indent="-216000">
              <a:lnSpc>
                <a:spcPct val="100000"/>
              </a:lnSpc>
              <a:buNone/>
            </a:pPr>
            <a:r>
              <a:rPr b="0" lang="en-US" sz="2000" spc="-1" strike="noStrike">
                <a:latin typeface="Arial"/>
              </a:rPr>
              <a:t>7.1.4 – Ethernet Frame Fields</a:t>
            </a:r>
            <a:endParaRPr b="0" lang="en-JM" sz="2000" spc="-1" strike="noStrike">
              <a:latin typeface="Arial"/>
            </a:endParaRPr>
          </a:p>
          <a:p>
            <a:pPr marL="216000" indent="-216000">
              <a:lnSpc>
                <a:spcPct val="100000"/>
              </a:lnSpc>
              <a:buNone/>
            </a:pPr>
            <a:r>
              <a:rPr b="0" lang="en-US" sz="2000" spc="-1" strike="noStrike">
                <a:latin typeface="Arial"/>
              </a:rPr>
              <a:t>7.1.5 – Check Your Understanding – Ethernet Switching</a:t>
            </a:r>
            <a:endParaRPr b="0" lang="en-JM" sz="2000" spc="-1" strike="noStrike">
              <a:latin typeface="Arial"/>
            </a:endParaRPr>
          </a:p>
        </p:txBody>
      </p:sp>
      <p:sp>
        <p:nvSpPr>
          <p:cNvPr id="43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BFE6507-5AD7-42F7-9044-3F96A1E7BAF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Img"/>
          </p:nvPr>
        </p:nvSpPr>
        <p:spPr>
          <a:xfrm>
            <a:off x="380880" y="685800"/>
            <a:ext cx="6095520" cy="3428640"/>
          </a:xfrm>
          <a:prstGeom prst="rect">
            <a:avLst/>
          </a:prstGeom>
          <a:ln w="0">
            <a:noFill/>
          </a:ln>
        </p:spPr>
      </p:sp>
      <p:sp>
        <p:nvSpPr>
          <p:cNvPr id="43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7.1 – Ethernet Frames</a:t>
            </a:r>
            <a:endParaRPr b="0" lang="en-JM" sz="2000" spc="-1" strike="noStrike">
              <a:latin typeface="Arial"/>
            </a:endParaRPr>
          </a:p>
          <a:p>
            <a:pPr marL="216000" indent="-216000">
              <a:lnSpc>
                <a:spcPct val="100000"/>
              </a:lnSpc>
              <a:buNone/>
            </a:pPr>
            <a:r>
              <a:rPr b="0" lang="en-US" sz="2000" spc="-1" strike="noStrike">
                <a:latin typeface="Arial"/>
              </a:rPr>
              <a:t>7.1.6 – Lab – Use Wireshark to Examine Ethernet Frames</a:t>
            </a:r>
            <a:endParaRPr b="0" lang="en-JM" sz="2000" spc="-1" strike="noStrike">
              <a:latin typeface="Arial"/>
            </a:endParaRPr>
          </a:p>
        </p:txBody>
      </p:sp>
      <p:sp>
        <p:nvSpPr>
          <p:cNvPr id="44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E73DE2C-B02E-497E-8F88-AADDF2E25400}"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380880" y="685800"/>
            <a:ext cx="6095520" cy="3428640"/>
          </a:xfrm>
          <a:prstGeom prst="rect">
            <a:avLst/>
          </a:prstGeom>
          <a:ln w="0">
            <a:noFill/>
          </a:ln>
        </p:spPr>
      </p:sp>
      <p:sp>
        <p:nvSpPr>
          <p:cNvPr id="442"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7 - Ethernet Switching</a:t>
            </a:r>
            <a:endParaRPr b="0" lang="en-JM" sz="2000" spc="-1" strike="noStrike">
              <a:latin typeface="Arial"/>
            </a:endParaRPr>
          </a:p>
          <a:p>
            <a:pPr>
              <a:lnSpc>
                <a:spcPct val="100000"/>
              </a:lnSpc>
              <a:buNone/>
              <a:tabLst>
                <a:tab algn="l" pos="0"/>
              </a:tabLst>
            </a:pPr>
            <a:r>
              <a:rPr b="0" lang="en-US" sz="2000" spc="-1" strike="noStrike">
                <a:latin typeface="Arial"/>
              </a:rPr>
              <a:t>7.2 - Ethernet MAC Address</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44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0DB2A17-E304-44BA-BE10-83C336FDD822}"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380880" y="685800"/>
            <a:ext cx="6095520" cy="3428640"/>
          </a:xfrm>
          <a:prstGeom prst="rect">
            <a:avLst/>
          </a:prstGeom>
          <a:ln w="0">
            <a:noFill/>
          </a:ln>
        </p:spPr>
      </p:sp>
      <p:sp>
        <p:nvSpPr>
          <p:cNvPr id="44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7.2 – Ethernet MAC Address</a:t>
            </a:r>
            <a:endParaRPr b="0" lang="en-JM" sz="2000" spc="-1" strike="noStrike">
              <a:latin typeface="Arial"/>
            </a:endParaRPr>
          </a:p>
          <a:p>
            <a:pPr marL="216000" indent="-216000">
              <a:lnSpc>
                <a:spcPct val="100000"/>
              </a:lnSpc>
              <a:buNone/>
            </a:pPr>
            <a:r>
              <a:rPr b="0" lang="en-US" sz="2000" spc="-1" strike="noStrike">
                <a:latin typeface="Arial"/>
              </a:rPr>
              <a:t>7.2.1 – MAC Address and Hexadecimal</a:t>
            </a:r>
            <a:endParaRPr b="0" lang="en-JM" sz="2000" spc="-1" strike="noStrike">
              <a:latin typeface="Arial"/>
            </a:endParaRPr>
          </a:p>
        </p:txBody>
      </p:sp>
      <p:sp>
        <p:nvSpPr>
          <p:cNvPr id="44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636EB8E-C49A-4DEA-BDF8-5BCBCB2C3328}"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Img"/>
          </p:nvPr>
        </p:nvSpPr>
        <p:spPr>
          <a:xfrm>
            <a:off x="380880" y="685800"/>
            <a:ext cx="6095520" cy="3428640"/>
          </a:xfrm>
          <a:prstGeom prst="rect">
            <a:avLst/>
          </a:prstGeom>
          <a:ln w="0">
            <a:noFill/>
          </a:ln>
        </p:spPr>
      </p:sp>
      <p:sp>
        <p:nvSpPr>
          <p:cNvPr id="44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7.2 – Ethernet MAC Address</a:t>
            </a:r>
            <a:endParaRPr b="0" lang="en-JM" sz="2000" spc="-1" strike="noStrike">
              <a:latin typeface="Arial"/>
            </a:endParaRPr>
          </a:p>
          <a:p>
            <a:pPr marL="216000" indent="-216000">
              <a:lnSpc>
                <a:spcPct val="100000"/>
              </a:lnSpc>
              <a:buNone/>
            </a:pPr>
            <a:r>
              <a:rPr b="0" lang="en-US" sz="2000" spc="-1" strike="noStrike">
                <a:latin typeface="Arial"/>
              </a:rPr>
              <a:t>7.2.2 – Ethernet MAC Address</a:t>
            </a:r>
            <a:endParaRPr b="0" lang="en-JM" sz="2000" spc="-1" strike="noStrike">
              <a:latin typeface="Arial"/>
            </a:endParaRPr>
          </a:p>
        </p:txBody>
      </p:sp>
      <p:sp>
        <p:nvSpPr>
          <p:cNvPr id="44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3095931-7B6B-4171-B69D-8D2F3993698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sldImg"/>
          </p:nvPr>
        </p:nvSpPr>
        <p:spPr>
          <a:xfrm>
            <a:off x="380880" y="685800"/>
            <a:ext cx="6095520" cy="3428640"/>
          </a:xfrm>
          <a:prstGeom prst="rect">
            <a:avLst/>
          </a:prstGeom>
          <a:ln w="0">
            <a:noFill/>
          </a:ln>
        </p:spPr>
      </p:sp>
      <p:sp>
        <p:nvSpPr>
          <p:cNvPr id="45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7.2 – Ethernet MAC Address</a:t>
            </a:r>
            <a:endParaRPr b="0" lang="en-JM" sz="2000" spc="-1" strike="noStrike">
              <a:latin typeface="Arial"/>
            </a:endParaRPr>
          </a:p>
          <a:p>
            <a:pPr marL="216000" indent="-216000">
              <a:lnSpc>
                <a:spcPct val="100000"/>
              </a:lnSpc>
              <a:buNone/>
            </a:pPr>
            <a:r>
              <a:rPr b="0" lang="en-US" sz="2000" spc="-1" strike="noStrike">
                <a:latin typeface="Arial"/>
              </a:rPr>
              <a:t>7.2.3 – Frame Processing</a:t>
            </a:r>
            <a:endParaRPr b="0" lang="en-JM" sz="2000" spc="-1" strike="noStrike">
              <a:latin typeface="Arial"/>
            </a:endParaRPr>
          </a:p>
        </p:txBody>
      </p:sp>
      <p:sp>
        <p:nvSpPr>
          <p:cNvPr id="45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FA0334B-E928-4458-946E-34616842B16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Img"/>
          </p:nvPr>
        </p:nvSpPr>
        <p:spPr>
          <a:xfrm>
            <a:off x="380880" y="685800"/>
            <a:ext cx="6095520" cy="3428640"/>
          </a:xfrm>
          <a:prstGeom prst="rect">
            <a:avLst/>
          </a:prstGeom>
          <a:ln w="0">
            <a:noFill/>
          </a:ln>
        </p:spPr>
      </p:sp>
      <p:sp>
        <p:nvSpPr>
          <p:cNvPr id="45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7.2 – Ethernet MAC Address</a:t>
            </a:r>
            <a:endParaRPr b="0" lang="en-JM" sz="2000" spc="-1" strike="noStrike">
              <a:latin typeface="Arial"/>
            </a:endParaRPr>
          </a:p>
          <a:p>
            <a:pPr marL="216000" indent="-216000">
              <a:lnSpc>
                <a:spcPct val="100000"/>
              </a:lnSpc>
              <a:buNone/>
            </a:pPr>
            <a:r>
              <a:rPr b="0" lang="en-US" sz="2000" spc="-1" strike="noStrike">
                <a:latin typeface="Arial"/>
              </a:rPr>
              <a:t>7.2.4 – Unicast MAC Address</a:t>
            </a:r>
            <a:endParaRPr b="0" lang="en-JM" sz="2000" spc="-1" strike="noStrike">
              <a:latin typeface="Arial"/>
            </a:endParaRPr>
          </a:p>
        </p:txBody>
      </p:sp>
      <p:sp>
        <p:nvSpPr>
          <p:cNvPr id="45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DE06C2E-F0A1-4D48-8FD3-DC751E4AF3E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sldImg"/>
          </p:nvPr>
        </p:nvSpPr>
        <p:spPr>
          <a:xfrm>
            <a:off x="380880" y="685800"/>
            <a:ext cx="6095520" cy="3428640"/>
          </a:xfrm>
          <a:prstGeom prst="rect">
            <a:avLst/>
          </a:prstGeom>
          <a:ln w="0">
            <a:noFill/>
          </a:ln>
        </p:spPr>
      </p:sp>
      <p:sp>
        <p:nvSpPr>
          <p:cNvPr id="45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7.2 – Ethernet MAC Address</a:t>
            </a:r>
            <a:endParaRPr b="0" lang="en-JM" sz="2000" spc="-1" strike="noStrike">
              <a:latin typeface="Arial"/>
            </a:endParaRPr>
          </a:p>
          <a:p>
            <a:pPr marL="216000" indent="-216000">
              <a:lnSpc>
                <a:spcPct val="100000"/>
              </a:lnSpc>
              <a:buNone/>
            </a:pPr>
            <a:r>
              <a:rPr b="0" lang="en-US" sz="2000" spc="-1" strike="noStrike">
                <a:latin typeface="Arial"/>
              </a:rPr>
              <a:t>7.2.5 - Broadcast MAC Address</a:t>
            </a:r>
            <a:endParaRPr b="0" lang="en-JM" sz="2000" spc="-1" strike="noStrike">
              <a:latin typeface="Arial"/>
            </a:endParaRPr>
          </a:p>
        </p:txBody>
      </p:sp>
      <p:sp>
        <p:nvSpPr>
          <p:cNvPr id="45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BFDC27D-2948-4F27-862A-D2E30FECD23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sldImg"/>
          </p:nvPr>
        </p:nvSpPr>
        <p:spPr>
          <a:xfrm>
            <a:off x="380880" y="685800"/>
            <a:ext cx="6095520" cy="3428640"/>
          </a:xfrm>
          <a:prstGeom prst="rect">
            <a:avLst/>
          </a:prstGeom>
          <a:ln w="0">
            <a:noFill/>
          </a:ln>
        </p:spPr>
      </p:sp>
      <p:sp>
        <p:nvSpPr>
          <p:cNvPr id="46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7.2 – Ethernet MAC Address</a:t>
            </a:r>
            <a:endParaRPr b="0" lang="en-JM" sz="2000" spc="-1" strike="noStrike">
              <a:latin typeface="Arial"/>
            </a:endParaRPr>
          </a:p>
          <a:p>
            <a:pPr marL="216000" indent="-216000">
              <a:lnSpc>
                <a:spcPct val="100000"/>
              </a:lnSpc>
              <a:buNone/>
            </a:pPr>
            <a:r>
              <a:rPr b="0" lang="en-US" sz="2000" spc="-1" strike="noStrike">
                <a:latin typeface="Arial"/>
              </a:rPr>
              <a:t>7.2.6 - Multicast MAC Address</a:t>
            </a:r>
            <a:endParaRPr b="0" lang="en-JM" sz="2000" spc="-1" strike="noStrike">
              <a:latin typeface="Arial"/>
            </a:endParaRPr>
          </a:p>
        </p:txBody>
      </p:sp>
      <p:sp>
        <p:nvSpPr>
          <p:cNvPr id="46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9B8A496-C7EF-4730-A27C-E7A770E9DC41}"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sldImg"/>
          </p:nvPr>
        </p:nvSpPr>
        <p:spPr>
          <a:xfrm>
            <a:off x="380880" y="685800"/>
            <a:ext cx="6095520" cy="3428640"/>
          </a:xfrm>
          <a:prstGeom prst="rect">
            <a:avLst/>
          </a:prstGeom>
          <a:ln w="0">
            <a:noFill/>
          </a:ln>
        </p:spPr>
      </p:sp>
      <p:sp>
        <p:nvSpPr>
          <p:cNvPr id="46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7.2 – Ethernet MAC Address</a:t>
            </a:r>
            <a:endParaRPr b="0" lang="en-JM" sz="2000" spc="-1" strike="noStrike">
              <a:latin typeface="Arial"/>
            </a:endParaRPr>
          </a:p>
          <a:p>
            <a:pPr marL="216000" indent="-216000">
              <a:lnSpc>
                <a:spcPct val="100000"/>
              </a:lnSpc>
              <a:buNone/>
            </a:pPr>
            <a:r>
              <a:rPr b="0" lang="en-US" sz="2000" spc="-1" strike="noStrike">
                <a:latin typeface="Arial"/>
              </a:rPr>
              <a:t>7.2.7 – Lab – View Network Device MAC Addresses</a:t>
            </a:r>
            <a:endParaRPr b="0" lang="en-JM" sz="2000" spc="-1" strike="noStrike">
              <a:latin typeface="Arial"/>
            </a:endParaRPr>
          </a:p>
        </p:txBody>
      </p:sp>
      <p:sp>
        <p:nvSpPr>
          <p:cNvPr id="46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361FCB6-3F54-44CD-8547-0AEA586693E8}"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sldImg"/>
          </p:nvPr>
        </p:nvSpPr>
        <p:spPr>
          <a:xfrm>
            <a:off x="380880" y="685800"/>
            <a:ext cx="6095520" cy="3428640"/>
          </a:xfrm>
          <a:prstGeom prst="rect">
            <a:avLst/>
          </a:prstGeom>
          <a:ln w="0">
            <a:noFill/>
          </a:ln>
        </p:spPr>
      </p:sp>
      <p:sp>
        <p:nvSpPr>
          <p:cNvPr id="466"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7 -Ethernet Switching</a:t>
            </a:r>
            <a:endParaRPr b="0" lang="en-JM" sz="2000" spc="-1" strike="noStrike">
              <a:latin typeface="Arial"/>
            </a:endParaRPr>
          </a:p>
          <a:p>
            <a:pPr>
              <a:lnSpc>
                <a:spcPct val="100000"/>
              </a:lnSpc>
              <a:buNone/>
              <a:tabLst>
                <a:tab algn="l" pos="0"/>
              </a:tabLst>
            </a:pPr>
            <a:r>
              <a:rPr b="0" lang="en-US" sz="2000" spc="-1" strike="noStrike">
                <a:latin typeface="Arial"/>
              </a:rPr>
              <a:t>7.3 - The MAC Address Table</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46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2096AE9-7AC3-42AC-9EB2-3C866FDE306C}"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ldImg"/>
          </p:nvPr>
        </p:nvSpPr>
        <p:spPr>
          <a:xfrm>
            <a:off x="380880" y="685800"/>
            <a:ext cx="6095520" cy="3428640"/>
          </a:xfrm>
          <a:prstGeom prst="rect">
            <a:avLst/>
          </a:prstGeom>
          <a:ln w="0">
            <a:noFill/>
          </a:ln>
        </p:spPr>
      </p:sp>
      <p:sp>
        <p:nvSpPr>
          <p:cNvPr id="46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7.3 – The MAC Address Table</a:t>
            </a:r>
            <a:endParaRPr b="0" lang="en-JM" sz="2000" spc="-1" strike="noStrike">
              <a:latin typeface="Arial"/>
            </a:endParaRPr>
          </a:p>
          <a:p>
            <a:pPr marL="216000" indent="-216000">
              <a:lnSpc>
                <a:spcPct val="100000"/>
              </a:lnSpc>
              <a:buNone/>
            </a:pPr>
            <a:r>
              <a:rPr b="0" lang="en-US" sz="2000" spc="-1" strike="noStrike">
                <a:latin typeface="Arial"/>
              </a:rPr>
              <a:t>7.3.1 - Switch Fundamentals</a:t>
            </a:r>
            <a:endParaRPr b="0" lang="en-JM" sz="2000" spc="-1" strike="noStrike">
              <a:latin typeface="Arial"/>
            </a:endParaRPr>
          </a:p>
        </p:txBody>
      </p:sp>
      <p:sp>
        <p:nvSpPr>
          <p:cNvPr id="47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C979708-FF44-4D2A-A8FC-40489A64293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sldImg"/>
          </p:nvPr>
        </p:nvSpPr>
        <p:spPr>
          <a:xfrm>
            <a:off x="380880" y="685800"/>
            <a:ext cx="6095520" cy="3428640"/>
          </a:xfrm>
          <a:prstGeom prst="rect">
            <a:avLst/>
          </a:prstGeom>
          <a:ln w="0">
            <a:noFill/>
          </a:ln>
        </p:spPr>
      </p:sp>
      <p:sp>
        <p:nvSpPr>
          <p:cNvPr id="47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7.3 – The MAC Address Table</a:t>
            </a:r>
            <a:endParaRPr b="0" lang="en-JM" sz="2000" spc="-1" strike="noStrike">
              <a:latin typeface="Arial"/>
            </a:endParaRPr>
          </a:p>
          <a:p>
            <a:pPr marL="216000" indent="-216000">
              <a:lnSpc>
                <a:spcPct val="100000"/>
              </a:lnSpc>
              <a:buNone/>
            </a:pPr>
            <a:r>
              <a:rPr b="0" lang="en-US" sz="2000" spc="-1" strike="noStrike">
                <a:latin typeface="Arial"/>
              </a:rPr>
              <a:t>7.3.2 - Switch Learning and Forwarding</a:t>
            </a:r>
            <a:endParaRPr b="0" lang="en-JM" sz="2000" spc="-1" strike="noStrike">
              <a:latin typeface="Arial"/>
            </a:endParaRPr>
          </a:p>
        </p:txBody>
      </p:sp>
      <p:sp>
        <p:nvSpPr>
          <p:cNvPr id="47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06A5FAC-220D-41AE-B8A2-184C3F0FCC8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sldImg"/>
          </p:nvPr>
        </p:nvSpPr>
        <p:spPr>
          <a:xfrm>
            <a:off x="380880" y="685800"/>
            <a:ext cx="6095520" cy="3428640"/>
          </a:xfrm>
          <a:prstGeom prst="rect">
            <a:avLst/>
          </a:prstGeom>
          <a:ln w="0">
            <a:noFill/>
          </a:ln>
        </p:spPr>
      </p:sp>
      <p:sp>
        <p:nvSpPr>
          <p:cNvPr id="47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7.3 – The MAC Address Table</a:t>
            </a:r>
            <a:endParaRPr b="0" lang="en-JM" sz="2000" spc="-1" strike="noStrike">
              <a:latin typeface="Arial"/>
            </a:endParaRPr>
          </a:p>
          <a:p>
            <a:pPr marL="216000" indent="-216000">
              <a:lnSpc>
                <a:spcPct val="100000"/>
              </a:lnSpc>
              <a:buNone/>
            </a:pPr>
            <a:r>
              <a:rPr b="0" lang="en-US" sz="2000" spc="-1" strike="noStrike">
                <a:latin typeface="Arial"/>
              </a:rPr>
              <a:t>7.3.2 - Switch Learning and Forwarding</a:t>
            </a:r>
            <a:endParaRPr b="0" lang="en-JM" sz="2000" spc="-1" strike="noStrike">
              <a:latin typeface="Arial"/>
            </a:endParaRPr>
          </a:p>
        </p:txBody>
      </p:sp>
      <p:sp>
        <p:nvSpPr>
          <p:cNvPr id="47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A4F30FD-75FE-4C59-A612-00998F0F46C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Img"/>
          </p:nvPr>
        </p:nvSpPr>
        <p:spPr>
          <a:xfrm>
            <a:off x="380880" y="685800"/>
            <a:ext cx="6095520" cy="3428640"/>
          </a:xfrm>
          <a:prstGeom prst="rect">
            <a:avLst/>
          </a:prstGeom>
          <a:ln w="0">
            <a:noFill/>
          </a:ln>
        </p:spPr>
      </p:sp>
      <p:sp>
        <p:nvSpPr>
          <p:cNvPr id="47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7.3 – The MAC Address Table</a:t>
            </a:r>
            <a:endParaRPr b="0" lang="en-JM" sz="2000" spc="-1" strike="noStrike">
              <a:latin typeface="Arial"/>
            </a:endParaRPr>
          </a:p>
          <a:p>
            <a:pPr marL="216000" indent="-216000">
              <a:lnSpc>
                <a:spcPct val="100000"/>
              </a:lnSpc>
              <a:buNone/>
            </a:pPr>
            <a:r>
              <a:rPr b="0" lang="en-US" sz="2000" spc="-1" strike="noStrike">
                <a:latin typeface="Arial"/>
              </a:rPr>
              <a:t>7.3.3 - Filtering Frames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7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E2BCF89-C05A-4EDF-AB93-00F1240DC78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380880" y="685800"/>
            <a:ext cx="6095520" cy="3428640"/>
          </a:xfrm>
          <a:prstGeom prst="rect">
            <a:avLst/>
          </a:prstGeom>
          <a:ln w="0">
            <a:noFill/>
          </a:ln>
        </p:spPr>
      </p:sp>
      <p:sp>
        <p:nvSpPr>
          <p:cNvPr id="48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7.3 – The MAC Address Table</a:t>
            </a:r>
            <a:endParaRPr b="0" lang="en-JM" sz="2000" spc="-1" strike="noStrike">
              <a:latin typeface="Arial"/>
            </a:endParaRPr>
          </a:p>
          <a:p>
            <a:pPr marL="216000" indent="-216000">
              <a:lnSpc>
                <a:spcPct val="100000"/>
              </a:lnSpc>
              <a:buNone/>
            </a:pPr>
            <a:r>
              <a:rPr b="0" lang="en-US" sz="2000" spc="-1" strike="noStrike">
                <a:latin typeface="Arial"/>
              </a:rPr>
              <a:t>7.3.4 – Video – MAC Address Tables on Connected Switches</a:t>
            </a:r>
            <a:endParaRPr b="0" lang="en-JM" sz="2000" spc="-1" strike="noStrike">
              <a:latin typeface="Arial"/>
            </a:endParaRPr>
          </a:p>
        </p:txBody>
      </p:sp>
      <p:sp>
        <p:nvSpPr>
          <p:cNvPr id="48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2E0BD01-7775-41D0-84F7-1998BDCFEA50}"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380880" y="685800"/>
            <a:ext cx="6095520" cy="3428640"/>
          </a:xfrm>
          <a:prstGeom prst="rect">
            <a:avLst/>
          </a:prstGeom>
          <a:ln w="0">
            <a:noFill/>
          </a:ln>
        </p:spPr>
      </p:sp>
      <p:sp>
        <p:nvSpPr>
          <p:cNvPr id="48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7.3 – The MAC Address Table</a:t>
            </a:r>
            <a:endParaRPr b="0" lang="en-JM" sz="2000" spc="-1" strike="noStrike">
              <a:latin typeface="Arial"/>
            </a:endParaRPr>
          </a:p>
          <a:p>
            <a:pPr marL="216000" indent="-216000">
              <a:lnSpc>
                <a:spcPct val="100000"/>
              </a:lnSpc>
              <a:buNone/>
            </a:pPr>
            <a:r>
              <a:rPr b="0" lang="en-US" sz="2000" spc="-1" strike="noStrike">
                <a:latin typeface="Arial"/>
              </a:rPr>
              <a:t>7.3.5 – Video – Sending the Frame to the Default Gateway</a:t>
            </a:r>
            <a:endParaRPr b="0" lang="en-JM" sz="2000" spc="-1" strike="noStrike">
              <a:latin typeface="Arial"/>
            </a:endParaRPr>
          </a:p>
          <a:p>
            <a:pPr marL="216000" indent="-216000">
              <a:lnSpc>
                <a:spcPct val="100000"/>
              </a:lnSpc>
              <a:buNone/>
            </a:pPr>
            <a:r>
              <a:rPr b="0" lang="en-US" sz="2000" spc="-1" strike="noStrike">
                <a:latin typeface="Arial"/>
              </a:rPr>
              <a:t>7.3.6 – Activity – Switch It!</a:t>
            </a:r>
            <a:endParaRPr b="0" lang="en-JM" sz="2000" spc="-1" strike="noStrike">
              <a:latin typeface="Arial"/>
            </a:endParaRPr>
          </a:p>
        </p:txBody>
      </p:sp>
      <p:sp>
        <p:nvSpPr>
          <p:cNvPr id="48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6E9A30C-366E-4BD7-B486-EFC59E1B57AA}"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380880" y="685800"/>
            <a:ext cx="6095520" cy="3428640"/>
          </a:xfrm>
          <a:prstGeom prst="rect">
            <a:avLst/>
          </a:prstGeom>
          <a:ln w="0">
            <a:noFill/>
          </a:ln>
        </p:spPr>
      </p:sp>
      <p:sp>
        <p:nvSpPr>
          <p:cNvPr id="48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7.3 – The MAC Address Table</a:t>
            </a:r>
            <a:endParaRPr b="0" lang="en-JM" sz="2000" spc="-1" strike="noStrike">
              <a:latin typeface="Arial"/>
            </a:endParaRPr>
          </a:p>
          <a:p>
            <a:pPr marL="216000" indent="-216000">
              <a:lnSpc>
                <a:spcPct val="100000"/>
              </a:lnSpc>
              <a:buNone/>
            </a:pPr>
            <a:r>
              <a:rPr b="0" lang="en-US" sz="2000" spc="-1" strike="noStrike">
                <a:latin typeface="Arial"/>
              </a:rPr>
              <a:t>7.3.7 – Lab – View the Switch MAC Address Table</a:t>
            </a:r>
            <a:endParaRPr b="0" lang="en-JM" sz="2000" spc="-1" strike="noStrike">
              <a:latin typeface="Arial"/>
            </a:endParaRPr>
          </a:p>
        </p:txBody>
      </p:sp>
      <p:sp>
        <p:nvSpPr>
          <p:cNvPr id="48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1E5A2B8-F53E-4CE5-9CC1-EED0A82FC94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380880" y="685800"/>
            <a:ext cx="6095520" cy="3428640"/>
          </a:xfrm>
          <a:prstGeom prst="rect">
            <a:avLst/>
          </a:prstGeom>
          <a:ln w="0">
            <a:noFill/>
          </a:ln>
        </p:spPr>
      </p:sp>
      <p:sp>
        <p:nvSpPr>
          <p:cNvPr id="490"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7 -  Ethernet Switching</a:t>
            </a:r>
            <a:endParaRPr b="0" lang="en-JM" sz="2000" spc="-1" strike="noStrike">
              <a:latin typeface="Arial"/>
            </a:endParaRPr>
          </a:p>
          <a:p>
            <a:pPr>
              <a:lnSpc>
                <a:spcPct val="100000"/>
              </a:lnSpc>
              <a:buNone/>
              <a:tabLst>
                <a:tab algn="l" pos="0"/>
              </a:tabLst>
            </a:pPr>
            <a:r>
              <a:rPr b="0" lang="en-US" sz="2000" spc="-1" strike="noStrike">
                <a:latin typeface="Arial"/>
              </a:rPr>
              <a:t>7.4  - Switch Speeds and Forwarding Methods</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49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AD7B704-AF77-4915-A899-32A2E742F5E2}"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380880" y="685800"/>
            <a:ext cx="6095520" cy="3428640"/>
          </a:xfrm>
          <a:prstGeom prst="rect">
            <a:avLst/>
          </a:prstGeom>
          <a:ln w="0">
            <a:noFill/>
          </a:ln>
        </p:spPr>
      </p:sp>
      <p:sp>
        <p:nvSpPr>
          <p:cNvPr id="49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7.4 – Switch Speeds and Forwarding Methods</a:t>
            </a:r>
            <a:endParaRPr b="0" lang="en-JM" sz="2000" spc="-1" strike="noStrike">
              <a:latin typeface="Arial"/>
            </a:endParaRPr>
          </a:p>
          <a:p>
            <a:pPr marL="216000" indent="-216000">
              <a:lnSpc>
                <a:spcPct val="100000"/>
              </a:lnSpc>
              <a:buNone/>
            </a:pPr>
            <a:r>
              <a:rPr b="0" lang="en-US" sz="2000" spc="-1" strike="noStrike">
                <a:latin typeface="Arial"/>
              </a:rPr>
              <a:t>7.4.1 – Frame Forwarding Methods on Cisco Switches</a:t>
            </a:r>
            <a:endParaRPr b="0" lang="en-JM" sz="2000" spc="-1" strike="noStrike">
              <a:latin typeface="Arial"/>
            </a:endParaRPr>
          </a:p>
        </p:txBody>
      </p:sp>
      <p:sp>
        <p:nvSpPr>
          <p:cNvPr id="49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D625A76-2166-4E27-B828-9DF81A7650E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380880" y="685800"/>
            <a:ext cx="6095520" cy="3428640"/>
          </a:xfrm>
          <a:prstGeom prst="rect">
            <a:avLst/>
          </a:prstGeom>
          <a:ln w="0">
            <a:noFill/>
          </a:ln>
        </p:spPr>
      </p:sp>
      <p:sp>
        <p:nvSpPr>
          <p:cNvPr id="49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7.4 – Switch Speeds and Forwarding Methods</a:t>
            </a:r>
            <a:endParaRPr b="0" lang="en-JM" sz="2000" spc="-1" strike="noStrike">
              <a:latin typeface="Arial"/>
            </a:endParaRPr>
          </a:p>
          <a:p>
            <a:pPr marL="216000" indent="-216000">
              <a:lnSpc>
                <a:spcPct val="100000"/>
              </a:lnSpc>
              <a:buNone/>
            </a:pPr>
            <a:r>
              <a:rPr b="0" lang="en-US" sz="2000" spc="-1" strike="noStrike">
                <a:latin typeface="Arial"/>
              </a:rPr>
              <a:t>7.4.2 – Cut-Through Switching</a:t>
            </a:r>
            <a:endParaRPr b="0" lang="en-JM" sz="2000" spc="-1" strike="noStrike">
              <a:latin typeface="Arial"/>
            </a:endParaRPr>
          </a:p>
        </p:txBody>
      </p:sp>
      <p:sp>
        <p:nvSpPr>
          <p:cNvPr id="49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4C675AE-6D26-42C5-903B-E463F125C561}"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380880" y="685800"/>
            <a:ext cx="6095520" cy="3428640"/>
          </a:xfrm>
          <a:prstGeom prst="rect">
            <a:avLst/>
          </a:prstGeom>
          <a:ln w="0">
            <a:noFill/>
          </a:ln>
        </p:spPr>
      </p:sp>
      <p:sp>
        <p:nvSpPr>
          <p:cNvPr id="49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7.4 – Switch Speeds and Forwarding Methods</a:t>
            </a:r>
            <a:endParaRPr b="0" lang="en-JM" sz="2000" spc="-1" strike="noStrike">
              <a:latin typeface="Arial"/>
            </a:endParaRPr>
          </a:p>
          <a:p>
            <a:pPr marL="216000" indent="-216000">
              <a:lnSpc>
                <a:spcPct val="100000"/>
              </a:lnSpc>
              <a:buNone/>
            </a:pPr>
            <a:r>
              <a:rPr b="0" lang="en-US" sz="2000" spc="-1" strike="noStrike">
                <a:latin typeface="Arial"/>
              </a:rPr>
              <a:t>7.4.3 – Memory Buffering on Switches</a:t>
            </a:r>
            <a:endParaRPr b="0" lang="en-JM" sz="2000" spc="-1" strike="noStrike">
              <a:latin typeface="Arial"/>
            </a:endParaRPr>
          </a:p>
        </p:txBody>
      </p:sp>
      <p:sp>
        <p:nvSpPr>
          <p:cNvPr id="50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DA9735C-FA81-4CDD-A05A-D5A8047B6D4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380880" y="685800"/>
            <a:ext cx="6095520" cy="3428640"/>
          </a:xfrm>
          <a:prstGeom prst="rect">
            <a:avLst/>
          </a:prstGeom>
          <a:ln w="0">
            <a:noFill/>
          </a:ln>
        </p:spPr>
      </p:sp>
      <p:sp>
        <p:nvSpPr>
          <p:cNvPr id="50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7.4 – Switch Speeds and Forwarding Methods</a:t>
            </a:r>
            <a:endParaRPr b="0" lang="en-JM" sz="2000" spc="-1" strike="noStrike">
              <a:latin typeface="Arial"/>
            </a:endParaRPr>
          </a:p>
          <a:p>
            <a:pPr marL="216000" indent="-216000">
              <a:lnSpc>
                <a:spcPct val="100000"/>
              </a:lnSpc>
              <a:buNone/>
            </a:pPr>
            <a:r>
              <a:rPr b="0" lang="en-US" sz="2000" spc="-1" strike="noStrike">
                <a:latin typeface="Arial"/>
              </a:rPr>
              <a:t>7.4.4 – Duplex and Speed Settings</a:t>
            </a:r>
            <a:endParaRPr b="0" lang="en-JM" sz="2000" spc="-1" strike="noStrike">
              <a:latin typeface="Arial"/>
            </a:endParaRPr>
          </a:p>
        </p:txBody>
      </p:sp>
      <p:sp>
        <p:nvSpPr>
          <p:cNvPr id="50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3C09723-89EC-4335-A044-3AF0AE7EAB5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380880" y="685800"/>
            <a:ext cx="6095520" cy="3428640"/>
          </a:xfrm>
          <a:prstGeom prst="rect">
            <a:avLst/>
          </a:prstGeom>
          <a:ln w="0">
            <a:noFill/>
          </a:ln>
        </p:spPr>
      </p:sp>
      <p:sp>
        <p:nvSpPr>
          <p:cNvPr id="50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7.4 – Switch Speeds and Forwarding Methods</a:t>
            </a:r>
            <a:endParaRPr b="0" lang="en-JM" sz="2000" spc="-1" strike="noStrike">
              <a:latin typeface="Arial"/>
            </a:endParaRPr>
          </a:p>
          <a:p>
            <a:pPr marL="216000" indent="-216000">
              <a:lnSpc>
                <a:spcPct val="100000"/>
              </a:lnSpc>
              <a:buNone/>
            </a:pPr>
            <a:r>
              <a:rPr b="0" lang="en-US" sz="2000" spc="-1" strike="noStrike">
                <a:latin typeface="Arial"/>
              </a:rPr>
              <a:t>7.4.4 – Duplex and Speed Settings</a:t>
            </a:r>
            <a:endParaRPr b="0" lang="en-JM" sz="2000" spc="-1" strike="noStrike">
              <a:latin typeface="Arial"/>
            </a:endParaRPr>
          </a:p>
        </p:txBody>
      </p:sp>
      <p:sp>
        <p:nvSpPr>
          <p:cNvPr id="50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CAB8B8F-1059-4003-9F3A-3A8C196E55E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380880" y="685800"/>
            <a:ext cx="6095520" cy="3428640"/>
          </a:xfrm>
          <a:prstGeom prst="rect">
            <a:avLst/>
          </a:prstGeom>
          <a:ln w="0">
            <a:noFill/>
          </a:ln>
        </p:spPr>
      </p:sp>
      <p:sp>
        <p:nvSpPr>
          <p:cNvPr id="50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7 – Ethernet Switching</a:t>
            </a:r>
            <a:endParaRPr b="0" lang="en-JM" sz="2000" spc="-1" strike="noStrike">
              <a:latin typeface="Arial"/>
            </a:endParaRPr>
          </a:p>
          <a:p>
            <a:pPr marL="216000" indent="-216000">
              <a:lnSpc>
                <a:spcPct val="100000"/>
              </a:lnSpc>
              <a:buNone/>
            </a:pPr>
            <a:r>
              <a:rPr b="0" lang="en-US" sz="2000" spc="-1" strike="noStrike">
                <a:latin typeface="Arial"/>
              </a:rPr>
              <a:t>7.4 – Switch Speeds and Forwarding Methods</a:t>
            </a:r>
            <a:endParaRPr b="0" lang="en-JM" sz="2000" spc="-1" strike="noStrike">
              <a:latin typeface="Arial"/>
            </a:endParaRPr>
          </a:p>
          <a:p>
            <a:pPr marL="216000" indent="-216000">
              <a:lnSpc>
                <a:spcPct val="100000"/>
              </a:lnSpc>
              <a:buNone/>
            </a:pPr>
            <a:r>
              <a:rPr b="0" lang="en-US" sz="2000" spc="-1" strike="noStrike">
                <a:latin typeface="Arial"/>
              </a:rPr>
              <a:t>7.4.5 – Auto-MDIX</a:t>
            </a:r>
            <a:endParaRPr b="0" lang="en-JM" sz="2000" spc="-1" strike="noStrike">
              <a:latin typeface="Arial"/>
            </a:endParaRPr>
          </a:p>
          <a:p>
            <a:pPr marL="216000" indent="-216000">
              <a:lnSpc>
                <a:spcPct val="100000"/>
              </a:lnSpc>
              <a:buNone/>
            </a:pPr>
            <a:r>
              <a:rPr b="0" lang="en-US" sz="2000" spc="-1" strike="noStrike">
                <a:latin typeface="Arial"/>
              </a:rPr>
              <a:t>7.4.6 – Check Your Understanding – Switch Speeds and Forwarding Methods</a:t>
            </a:r>
            <a:endParaRPr b="0" lang="en-JM" sz="2000" spc="-1" strike="noStrike">
              <a:latin typeface="Arial"/>
            </a:endParaRPr>
          </a:p>
        </p:txBody>
      </p:sp>
      <p:sp>
        <p:nvSpPr>
          <p:cNvPr id="50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6F616CE-B1D5-485A-92C5-6E10A54C91B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380880" y="685800"/>
            <a:ext cx="6095520" cy="3428640"/>
          </a:xfrm>
          <a:prstGeom prst="rect">
            <a:avLst/>
          </a:prstGeom>
          <a:ln w="0">
            <a:noFill/>
          </a:ln>
        </p:spPr>
      </p:sp>
      <p:sp>
        <p:nvSpPr>
          <p:cNvPr id="511" name="PlaceHolder 2"/>
          <p:cNvSpPr>
            <a:spLocks noGrp="1"/>
          </p:cNvSpPr>
          <p:nvPr>
            <p:ph type="body"/>
          </p:nvPr>
        </p:nvSpPr>
        <p:spPr>
          <a:xfrm>
            <a:off x="685800" y="4343400"/>
            <a:ext cx="5486040" cy="4114440"/>
          </a:xfrm>
          <a:prstGeom prst="rect">
            <a:avLst/>
          </a:prstGeom>
          <a:noFill/>
          <a:ln w="0">
            <a:noFill/>
          </a:ln>
        </p:spPr>
        <p:txBody>
          <a:bodyPr anchor="t">
            <a:noAutofit/>
          </a:bodyPr>
          <a:p>
            <a:pPr>
              <a:lnSpc>
                <a:spcPct val="100000"/>
              </a:lnSpc>
              <a:buNone/>
              <a:tabLst>
                <a:tab algn="l" pos="0"/>
              </a:tabLst>
            </a:pPr>
            <a:r>
              <a:rPr b="0" lang="en-US" sz="2000" spc="-1" strike="noStrike">
                <a:latin typeface="Arial"/>
              </a:rPr>
              <a:t>7 - Ethernet Switching</a:t>
            </a:r>
            <a:endParaRPr b="0" lang="en-JM" sz="2000" spc="-1" strike="noStrike">
              <a:latin typeface="Arial"/>
            </a:endParaRPr>
          </a:p>
          <a:p>
            <a:pPr>
              <a:lnSpc>
                <a:spcPct val="100000"/>
              </a:lnSpc>
              <a:buNone/>
              <a:tabLst>
                <a:tab algn="l" pos="0"/>
              </a:tabLst>
            </a:pPr>
            <a:r>
              <a:rPr b="0" lang="en-US" sz="2000" spc="-1" strike="noStrike">
                <a:latin typeface="Arial"/>
              </a:rPr>
              <a:t>7.5 - Module Practice and Quiz</a:t>
            </a:r>
            <a:endParaRPr b="0" lang="en-JM" sz="2000" spc="-1" strike="noStrike">
              <a:latin typeface="Arial"/>
            </a:endParaRPr>
          </a:p>
          <a:p>
            <a:pPr>
              <a:lnSpc>
                <a:spcPct val="100000"/>
              </a:lnSpc>
              <a:buNone/>
              <a:tabLst>
                <a:tab algn="l" pos="0"/>
              </a:tabLst>
            </a:pPr>
            <a:endParaRPr b="0" lang="en-JM" sz="2000" spc="-1" strike="noStrike">
              <a:latin typeface="Arial"/>
            </a:endParaRPr>
          </a:p>
        </p:txBody>
      </p:sp>
      <p:sp>
        <p:nvSpPr>
          <p:cNvPr id="51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71AD5AA-31DC-4CE9-AB38-AFA5C060D8C3}"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143674B-75EF-4628-94BA-851F181671C2}"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514" name="PlaceHolder 2"/>
          <p:cNvSpPr>
            <a:spLocks noGrp="1"/>
          </p:cNvSpPr>
          <p:nvPr>
            <p:ph type="sldImg"/>
          </p:nvPr>
        </p:nvSpPr>
        <p:spPr>
          <a:xfrm>
            <a:off x="380880" y="685800"/>
            <a:ext cx="6095520" cy="3428640"/>
          </a:xfrm>
          <a:prstGeom prst="rect">
            <a:avLst/>
          </a:prstGeom>
          <a:ln w="0">
            <a:noFill/>
          </a:ln>
        </p:spPr>
      </p:sp>
      <p:sp>
        <p:nvSpPr>
          <p:cNvPr id="515"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latin typeface="Arial"/>
              </a:rPr>
              <a:t>7 – Ethernet Switching</a:t>
            </a:r>
            <a:endParaRPr b="0" lang="en-JM" sz="1200" spc="-1" strike="noStrike">
              <a:latin typeface="Arial"/>
            </a:endParaRPr>
          </a:p>
          <a:p>
            <a:pPr marL="216000" indent="-216000">
              <a:lnSpc>
                <a:spcPct val="100000"/>
              </a:lnSpc>
              <a:buNone/>
            </a:pPr>
            <a:r>
              <a:rPr b="0" lang="en-US" sz="1200" spc="-1" strike="noStrike">
                <a:latin typeface="Arial"/>
              </a:rPr>
              <a:t>7.5 – Module Practice and Quiz</a:t>
            </a:r>
            <a:endParaRPr b="0" lang="en-JM" sz="1200" spc="-1" strike="noStrike">
              <a:latin typeface="Arial"/>
            </a:endParaRPr>
          </a:p>
          <a:p>
            <a:pPr marL="216000" indent="-216000">
              <a:lnSpc>
                <a:spcPct val="100000"/>
              </a:lnSpc>
              <a:buNone/>
            </a:pPr>
            <a:r>
              <a:rPr b="0" lang="en-US" sz="1200" spc="-1" strike="noStrike">
                <a:latin typeface="Arial"/>
              </a:rPr>
              <a:t>7.5.1 – What Did I Learn in this module?</a:t>
            </a:r>
            <a:endParaRPr b="0" lang="en-JM" sz="1200" spc="-1" strike="noStrike">
              <a:latin typeface="Arial"/>
            </a:endParaRPr>
          </a:p>
          <a:p>
            <a:pPr marL="216000" indent="-216000">
              <a:lnSpc>
                <a:spcPct val="100000"/>
              </a:lnSpc>
              <a:buNone/>
            </a:pPr>
            <a:r>
              <a:rPr b="0" lang="en-US" sz="1200" spc="-1" strike="noStrike">
                <a:latin typeface="Arial"/>
              </a:rPr>
              <a:t>7.5.2 – Module Quiz – Ethernet Switchig</a:t>
            </a:r>
            <a:endParaRPr b="0" lang="en-JM" sz="1200" spc="-1" strike="noStrike">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758FE47-FDCC-4D10-A6D5-830CC6CF7F3D}"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517" name="PlaceHolder 2"/>
          <p:cNvSpPr>
            <a:spLocks noGrp="1"/>
          </p:cNvSpPr>
          <p:nvPr>
            <p:ph type="sldImg"/>
          </p:nvPr>
        </p:nvSpPr>
        <p:spPr>
          <a:xfrm>
            <a:off x="380880" y="685800"/>
            <a:ext cx="6095520" cy="3428640"/>
          </a:xfrm>
          <a:prstGeom prst="rect">
            <a:avLst/>
          </a:prstGeom>
          <a:ln w="0">
            <a:noFill/>
          </a:ln>
        </p:spPr>
      </p:sp>
      <p:sp>
        <p:nvSpPr>
          <p:cNvPr id="518"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latin typeface="Arial"/>
              </a:rPr>
              <a:t>7 – Ethernet Switching</a:t>
            </a:r>
            <a:endParaRPr b="0" lang="en-JM" sz="1200" spc="-1" strike="noStrike">
              <a:latin typeface="Arial"/>
            </a:endParaRPr>
          </a:p>
          <a:p>
            <a:pPr marL="216000" indent="-216000">
              <a:lnSpc>
                <a:spcPct val="100000"/>
              </a:lnSpc>
              <a:buNone/>
            </a:pPr>
            <a:r>
              <a:rPr b="0" lang="en-US" sz="1200" spc="-1" strike="noStrike">
                <a:latin typeface="Arial"/>
              </a:rPr>
              <a:t>7.5 – Module Practice and Quiz</a:t>
            </a:r>
            <a:endParaRPr b="0" lang="en-JM" sz="1200" spc="-1" strike="noStrike">
              <a:latin typeface="Arial"/>
            </a:endParaRPr>
          </a:p>
          <a:p>
            <a:pPr marL="216000" indent="-216000">
              <a:lnSpc>
                <a:spcPct val="100000"/>
              </a:lnSpc>
              <a:buNone/>
            </a:pPr>
            <a:r>
              <a:rPr b="0" lang="en-US" sz="1200" spc="-1" strike="noStrike">
                <a:latin typeface="Arial"/>
              </a:rPr>
              <a:t>7.5.1 – What Did I Learn in this module?</a:t>
            </a:r>
            <a:endParaRPr b="0" lang="en-JM" sz="1200" spc="-1" strike="noStrike">
              <a:latin typeface="Arial"/>
            </a:endParaRPr>
          </a:p>
          <a:p>
            <a:pPr marL="216000" indent="-216000">
              <a:lnSpc>
                <a:spcPct val="100000"/>
              </a:lnSpc>
              <a:buNone/>
            </a:pPr>
            <a:r>
              <a:rPr b="0" lang="en-US" sz="1200" spc="-1" strike="noStrike">
                <a:latin typeface="Arial"/>
              </a:rPr>
              <a:t>7.5.2 – Module Quiz – Ethernet Switching</a:t>
            </a:r>
            <a:endParaRPr b="0" lang="en-JM" sz="1200" spc="-1" strike="noStrike">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AEEE1F4-56E2-4041-9986-51E4F6F53865}"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520" name="PlaceHolder 2"/>
          <p:cNvSpPr>
            <a:spLocks noGrp="1"/>
          </p:cNvSpPr>
          <p:nvPr>
            <p:ph type="sldImg"/>
          </p:nvPr>
        </p:nvSpPr>
        <p:spPr>
          <a:xfrm>
            <a:off x="380880" y="685800"/>
            <a:ext cx="6095520" cy="3428640"/>
          </a:xfrm>
          <a:prstGeom prst="rect">
            <a:avLst/>
          </a:prstGeom>
          <a:ln w="0">
            <a:noFill/>
          </a:ln>
        </p:spPr>
      </p:sp>
      <p:sp>
        <p:nvSpPr>
          <p:cNvPr id="521" name="PlaceHolder 3"/>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380880" y="685800"/>
            <a:ext cx="6095520" cy="3428640"/>
          </a:xfrm>
          <a:prstGeom prst="rect">
            <a:avLst/>
          </a:prstGeom>
          <a:ln w="0">
            <a:noFill/>
          </a:ln>
        </p:spPr>
      </p:sp>
      <p:sp>
        <p:nvSpPr>
          <p:cNvPr id="52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
        <p:nvSpPr>
          <p:cNvPr id="52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CA330CF-D30F-47A5-8715-F75ED627E248}" type="slidenum">
              <a:rPr b="0" lang="en-US" sz="1200" spc="-1" strike="noStrike">
                <a:latin typeface="Times New Roman"/>
              </a:rPr>
              <a:t>&lt;number&gt;</a:t>
            </a:fld>
            <a:endParaRPr b="0" lang="en-JM"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9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2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4"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2"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8"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9"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6"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7"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8"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9"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0"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1"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2"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4"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2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29"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1"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3"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4"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9"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1"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2"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3"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4"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5"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6"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9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9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0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2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0"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E798F707-067E-4B58-93B9-DF14DDE80AFF}" type="slidenum">
              <a:rPr b="0" lang="en-US" sz="600" spc="-1" strike="noStrike">
                <a:solidFill>
                  <a:srgbClr val="d9d9d9"/>
                </a:solidFill>
                <a:latin typeface="Arial"/>
              </a:rPr>
              <a:t>&lt;number&gt;</a:t>
            </a:fld>
            <a:endParaRPr b="0" lang="en-JM" sz="600" spc="-1" strike="noStrike">
              <a:latin typeface="Arial"/>
            </a:endParaRPr>
          </a:p>
        </p:txBody>
      </p:sp>
      <p:sp>
        <p:nvSpPr>
          <p:cNvPr id="1" name="Rectangle 4" hidden="1"/>
          <p:cNvSpPr/>
          <p:nvPr/>
        </p:nvSpPr>
        <p:spPr>
          <a:xfrm>
            <a:off x="5604480" y="4741920"/>
            <a:ext cx="292068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2" name="Group 4"/>
          <p:cNvGrpSpPr/>
          <p:nvPr/>
        </p:nvGrpSpPr>
        <p:grpSpPr>
          <a:xfrm>
            <a:off x="507960" y="4715280"/>
            <a:ext cx="339840" cy="180360"/>
            <a:chOff x="507960" y="4715280"/>
            <a:chExt cx="339840" cy="180360"/>
          </a:xfrm>
        </p:grpSpPr>
        <p:sp>
          <p:nvSpPr>
            <p:cNvPr id="3"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4"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5"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6"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7"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9"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0"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1"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2"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5"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6"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17" name="Picture 2" descr=""/>
          <p:cNvPicPr/>
          <p:nvPr/>
        </p:nvPicPr>
        <p:blipFill>
          <a:blip r:embed="rId2"/>
          <a:stretch/>
        </p:blipFill>
        <p:spPr>
          <a:xfrm>
            <a:off x="0" y="0"/>
            <a:ext cx="9143640" cy="5143320"/>
          </a:xfrm>
          <a:prstGeom prst="rect">
            <a:avLst/>
          </a:prstGeom>
          <a:ln w="0">
            <a:noFill/>
          </a:ln>
        </p:spPr>
      </p:pic>
      <p:sp>
        <p:nvSpPr>
          <p:cNvPr id="18" name="PlaceHolder 1"/>
          <p:cNvSpPr>
            <a:spLocks noGrp="1"/>
          </p:cNvSpPr>
          <p:nvPr>
            <p:ph type="body"/>
          </p:nvPr>
        </p:nvSpPr>
        <p:spPr>
          <a:xfrm>
            <a:off x="469440" y="404964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19" name="PlaceHolder 2"/>
          <p:cNvSpPr>
            <a:spLocks noGrp="1"/>
          </p:cNvSpPr>
          <p:nvPr>
            <p:ph type="body"/>
          </p:nvPr>
        </p:nvSpPr>
        <p:spPr>
          <a:xfrm>
            <a:off x="469440" y="428940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20" name="PlaceHolder 3"/>
          <p:cNvSpPr>
            <a:spLocks noGrp="1"/>
          </p:cNvSpPr>
          <p:nvPr>
            <p:ph type="body"/>
          </p:nvPr>
        </p:nvSpPr>
        <p:spPr>
          <a:xfrm>
            <a:off x="463320" y="2872080"/>
            <a:ext cx="5924880" cy="298800"/>
          </a:xfrm>
          <a:prstGeom prst="rect">
            <a:avLst/>
          </a:prstGeom>
          <a:noFill/>
          <a:ln w="0">
            <a:noFill/>
          </a:ln>
        </p:spPr>
        <p:txBody>
          <a:bodyPr anchor="t">
            <a:noAutofit/>
          </a:bodyPr>
          <a:p>
            <a:pPr>
              <a:lnSpc>
                <a:spcPct val="95000"/>
              </a:lnSpc>
              <a:spcBef>
                <a:spcPts val="1074"/>
              </a:spcBef>
              <a:buNone/>
              <a:tabLst>
                <a:tab algn="l" pos="0"/>
              </a:tabLst>
            </a:pPr>
            <a:r>
              <a:rPr b="0" lang="en-US" sz="2000" spc="-1" strike="noStrike">
                <a:solidFill>
                  <a:srgbClr val="81c569"/>
                </a:solidFill>
                <a:latin typeface="Arial"/>
                <a:ea typeface="ＭＳ Ｐゴシック"/>
              </a:rPr>
              <a:t>Click to edit Master text styles</a:t>
            </a:r>
            <a:endParaRPr b="0" lang="en-US" sz="2000" spc="-1" strike="noStrike">
              <a:solidFill>
                <a:srgbClr val="58585b"/>
              </a:solidFill>
              <a:latin typeface="Arial"/>
            </a:endParaRPr>
          </a:p>
        </p:txBody>
      </p:sp>
      <p:sp>
        <p:nvSpPr>
          <p:cNvPr id="21" name="PlaceHolder 4"/>
          <p:cNvSpPr>
            <a:spLocks noGrp="1"/>
          </p:cNvSpPr>
          <p:nvPr>
            <p:ph type="title"/>
          </p:nvPr>
        </p:nvSpPr>
        <p:spPr>
          <a:xfrm>
            <a:off x="425880" y="2300760"/>
            <a:ext cx="5955120" cy="64440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38c6f4"/>
                </a:solidFill>
                <a:latin typeface="Arial"/>
                <a:ea typeface="ＭＳ Ｐゴシック"/>
              </a:rPr>
              <a:t>Click to edit Master title style</a:t>
            </a:r>
            <a:endParaRPr b="0" lang="en-US" sz="3600" spc="-1" strike="noStrike">
              <a:solidFill>
                <a:srgbClr val="58585b"/>
              </a:solidFill>
              <a:latin typeface="Arial"/>
            </a:endParaRPr>
          </a:p>
        </p:txBody>
      </p:sp>
      <p:grpSp>
        <p:nvGrpSpPr>
          <p:cNvPr id="22" name="Group 4"/>
          <p:cNvGrpSpPr/>
          <p:nvPr/>
        </p:nvGrpSpPr>
        <p:grpSpPr>
          <a:xfrm>
            <a:off x="492120" y="395280"/>
            <a:ext cx="796680" cy="423360"/>
            <a:chOff x="492120" y="395280"/>
            <a:chExt cx="796680" cy="423360"/>
          </a:xfrm>
        </p:grpSpPr>
        <p:sp>
          <p:nvSpPr>
            <p:cNvPr id="23" name="Rectangle 5"/>
            <p:cNvSpPr/>
            <p:nvPr/>
          </p:nvSpPr>
          <p:spPr>
            <a:xfrm>
              <a:off x="717480" y="676440"/>
              <a:ext cx="34560" cy="139320"/>
            </a:xfrm>
            <a:prstGeom prst="rect">
              <a:avLst/>
            </a:prstGeom>
            <a:solidFill>
              <a:schemeClr val="accent5"/>
            </a:solidFill>
            <a:ln w="0">
              <a:noFill/>
            </a:ln>
          </p:spPr>
          <p:style>
            <a:lnRef idx="0"/>
            <a:fillRef idx="0"/>
            <a:effectRef idx="0"/>
            <a:fontRef idx="minor"/>
          </p:style>
        </p:sp>
        <p:sp>
          <p:nvSpPr>
            <p:cNvPr id="24" name="Freeform 6"/>
            <p:cNvSpPr/>
            <p:nvPr/>
          </p:nvSpPr>
          <p:spPr>
            <a:xfrm>
              <a:off x="928800" y="674640"/>
              <a:ext cx="104400" cy="1440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5" name="Freeform 7"/>
            <p:cNvSpPr/>
            <p:nvPr/>
          </p:nvSpPr>
          <p:spPr>
            <a:xfrm>
              <a:off x="563400" y="674640"/>
              <a:ext cx="105840" cy="1440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 name="Freeform 8"/>
            <p:cNvSpPr/>
            <p:nvPr/>
          </p:nvSpPr>
          <p:spPr>
            <a:xfrm>
              <a:off x="1071720" y="674640"/>
              <a:ext cx="144000" cy="1440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7" name="Freeform 9"/>
            <p:cNvSpPr/>
            <p:nvPr/>
          </p:nvSpPr>
          <p:spPr>
            <a:xfrm>
              <a:off x="798480" y="674640"/>
              <a:ext cx="95040" cy="1440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 name="Freeform 10"/>
            <p:cNvSpPr/>
            <p:nvPr/>
          </p:nvSpPr>
          <p:spPr>
            <a:xfrm>
              <a:off x="49212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9" name="Freeform 11"/>
            <p:cNvSpPr/>
            <p:nvPr/>
          </p:nvSpPr>
          <p:spPr>
            <a:xfrm>
              <a:off x="58752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0" name="Freeform 12"/>
            <p:cNvSpPr/>
            <p:nvPr/>
          </p:nvSpPr>
          <p:spPr>
            <a:xfrm>
              <a:off x="682560" y="395280"/>
              <a:ext cx="34560" cy="22032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1" name="Freeform 13"/>
            <p:cNvSpPr/>
            <p:nvPr/>
          </p:nvSpPr>
          <p:spPr>
            <a:xfrm>
              <a:off x="77796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2" name="Freeform 14"/>
            <p:cNvSpPr/>
            <p:nvPr/>
          </p:nvSpPr>
          <p:spPr>
            <a:xfrm>
              <a:off x="87300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3" name="Freeform 15"/>
            <p:cNvSpPr/>
            <p:nvPr/>
          </p:nvSpPr>
          <p:spPr>
            <a:xfrm>
              <a:off x="96840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4" name="Freeform 16"/>
            <p:cNvSpPr/>
            <p:nvPr/>
          </p:nvSpPr>
          <p:spPr>
            <a:xfrm>
              <a:off x="1063800" y="395280"/>
              <a:ext cx="34560" cy="22032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5" name="Freeform 17"/>
            <p:cNvSpPr/>
            <p:nvPr/>
          </p:nvSpPr>
          <p:spPr>
            <a:xfrm>
              <a:off x="115884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6" name="Freeform 18"/>
            <p:cNvSpPr/>
            <p:nvPr/>
          </p:nvSpPr>
          <p:spPr>
            <a:xfrm>
              <a:off x="1254240" y="509760"/>
              <a:ext cx="34560" cy="709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AAF08357-43FE-499D-A26D-3313C7B96710}" type="slidenum">
              <a:rPr b="0" lang="en-US" sz="600" spc="-1" strike="noStrike">
                <a:solidFill>
                  <a:srgbClr val="d9d9d9"/>
                </a:solidFill>
                <a:latin typeface="Arial"/>
              </a:rPr>
              <a:t>&lt;number&gt;</a:t>
            </a:fld>
            <a:endParaRPr b="0" lang="en-JM" sz="600" spc="-1" strike="noStrike">
              <a:latin typeface="Arial"/>
            </a:endParaRPr>
          </a:p>
        </p:txBody>
      </p:sp>
      <p:sp>
        <p:nvSpPr>
          <p:cNvPr id="74" name="Rectangle 4"/>
          <p:cNvSpPr/>
          <p:nvPr/>
        </p:nvSpPr>
        <p:spPr>
          <a:xfrm>
            <a:off x="5604480" y="4741920"/>
            <a:ext cx="292068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75" name="Group 4"/>
          <p:cNvGrpSpPr/>
          <p:nvPr/>
        </p:nvGrpSpPr>
        <p:grpSpPr>
          <a:xfrm>
            <a:off x="507960" y="4715280"/>
            <a:ext cx="339840" cy="180360"/>
            <a:chOff x="507960" y="4715280"/>
            <a:chExt cx="339840" cy="180360"/>
          </a:xfrm>
        </p:grpSpPr>
        <p:sp>
          <p:nvSpPr>
            <p:cNvPr id="76"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77"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8"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9"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80"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1"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2"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3"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4"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5"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6"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7"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8"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9"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90" name="PlaceHolder 1"/>
          <p:cNvSpPr>
            <a:spLocks noGrp="1"/>
          </p:cNvSpPr>
          <p:nvPr>
            <p:ph type="sldNum"/>
          </p:nvPr>
        </p:nvSpPr>
        <p:spPr>
          <a:xfrm>
            <a:off x="8473320" y="4954320"/>
            <a:ext cx="676440" cy="189000"/>
          </a:xfrm>
          <a:prstGeom prst="rect">
            <a:avLst/>
          </a:prstGeom>
          <a:noFill/>
          <a:ln w="0">
            <a:noFill/>
          </a:ln>
        </p:spPr>
        <p:txBody>
          <a:bodyPr anchor="ctr">
            <a:noAutofit/>
          </a:bodyPr>
          <a:p>
            <a:pPr algn="r">
              <a:lnSpc>
                <a:spcPct val="100000"/>
              </a:lnSpc>
              <a:buNone/>
            </a:pPr>
            <a:fld id="{BC198A80-61AF-4263-98DC-4DA283E6FC75}" type="slidenum">
              <a:rPr b="0" lang="en-US" sz="530" spc="-1" strike="noStrike">
                <a:solidFill>
                  <a:srgbClr val="595959"/>
                </a:solidFill>
                <a:latin typeface="Arial"/>
                <a:ea typeface="ＭＳ Ｐゴシック"/>
              </a:rPr>
              <a:t>&lt;number&gt;</a:t>
            </a:fld>
            <a:endParaRPr b="0" lang="en-JM" sz="530" spc="-1" strike="noStrike">
              <a:latin typeface="Times New Roman"/>
            </a:endParaRPr>
          </a:p>
        </p:txBody>
      </p:sp>
      <p:sp>
        <p:nvSpPr>
          <p:cNvPr id="91" name="PlaceHolder 2"/>
          <p:cNvSpPr>
            <a:spLocks noGrp="1"/>
          </p:cNvSpPr>
          <p:nvPr>
            <p:ph type="body"/>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Wingdings" charset="2"/>
              <a:buChar char=""/>
            </a:pPr>
            <a:r>
              <a:rPr b="0" lang="en-US" sz="1500" spc="-1" strike="noStrike">
                <a:solidFill>
                  <a:srgbClr val="000000"/>
                </a:solidFill>
                <a:latin typeface="Arial"/>
                <a:ea typeface="ＭＳ Ｐゴシック"/>
              </a:rPr>
              <a:t>Click to edit Master text styles</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pPr>
            <a:r>
              <a:rPr b="0" lang="en-US" sz="1400" spc="-1" strike="noStrike">
                <a:solidFill>
                  <a:srgbClr val="000000"/>
                </a:solidFill>
                <a:latin typeface="Arial"/>
                <a:ea typeface="ＭＳ Ｐゴシック"/>
              </a:rPr>
              <a:t>Second level</a:t>
            </a:r>
            <a:endParaRPr b="0" lang="en-US" sz="14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200" spc="-1" strike="noStrike">
                <a:solidFill>
                  <a:srgbClr val="000000"/>
                </a:solidFill>
                <a:latin typeface="Arial"/>
                <a:ea typeface="ＭＳ Ｐゴシック"/>
              </a:rPr>
              <a:t>Third level</a:t>
            </a:r>
            <a:endParaRPr b="0" lang="en-US" sz="1200" spc="-1" strike="noStrike">
              <a:solidFill>
                <a:srgbClr val="58585b"/>
              </a:solidFill>
              <a:latin typeface="Arial"/>
            </a:endParaRPr>
          </a:p>
          <a:p>
            <a:pPr lvl="3" marL="503280" indent="-169920">
              <a:lnSpc>
                <a:spcPct val="100000"/>
              </a:lnSpc>
              <a:spcBef>
                <a:spcPts val="300"/>
              </a:spcBef>
              <a:spcAft>
                <a:spcPts val="300"/>
              </a:spcAft>
              <a:buClr>
                <a:srgbClr val="000000"/>
              </a:buClr>
              <a:buFont typeface="Arial"/>
              <a:buChar char="•"/>
            </a:pPr>
            <a:r>
              <a:rPr b="0" lang="en-US" sz="1100" spc="-1" strike="noStrike">
                <a:solidFill>
                  <a:srgbClr val="000000"/>
                </a:solidFill>
                <a:latin typeface="Arial"/>
                <a:ea typeface="ＭＳ Ｐゴシック"/>
              </a:rPr>
              <a:t>Fourth level</a:t>
            </a:r>
            <a:endParaRPr b="0" lang="en-US" sz="1100" spc="-1" strike="noStrike">
              <a:solidFill>
                <a:srgbClr val="58585b"/>
              </a:solidFill>
              <a:latin typeface="Arial"/>
            </a:endParaRPr>
          </a:p>
        </p:txBody>
      </p:sp>
      <p:sp>
        <p:nvSpPr>
          <p:cNvPr id="92" name="PlaceHolder 3"/>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Click to edit Master title style</a:t>
            </a:r>
            <a:endParaRPr b="0" lang="en-US" sz="24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8BB85270-79E4-45E6-8031-7BDA731AE1EF}" type="slidenum">
              <a:rPr b="0" lang="en-US" sz="600" spc="-1" strike="noStrike">
                <a:solidFill>
                  <a:srgbClr val="d9d9d9"/>
                </a:solidFill>
                <a:latin typeface="Arial"/>
              </a:rPr>
              <a:t>&lt;number&gt;</a:t>
            </a:fld>
            <a:endParaRPr b="0" lang="en-JM" sz="600" spc="-1" strike="noStrike">
              <a:latin typeface="Arial"/>
            </a:endParaRPr>
          </a:p>
        </p:txBody>
      </p:sp>
      <p:sp>
        <p:nvSpPr>
          <p:cNvPr id="130" name="Rectangle 4" hidden="1"/>
          <p:cNvSpPr/>
          <p:nvPr/>
        </p:nvSpPr>
        <p:spPr>
          <a:xfrm>
            <a:off x="5604480" y="4741920"/>
            <a:ext cx="292068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131" name="Group 4"/>
          <p:cNvGrpSpPr/>
          <p:nvPr/>
        </p:nvGrpSpPr>
        <p:grpSpPr>
          <a:xfrm>
            <a:off x="507960" y="4715280"/>
            <a:ext cx="339840" cy="180360"/>
            <a:chOff x="507960" y="4715280"/>
            <a:chExt cx="339840" cy="180360"/>
          </a:xfrm>
        </p:grpSpPr>
        <p:sp>
          <p:nvSpPr>
            <p:cNvPr id="132"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133"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4"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5"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136"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137"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8"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9"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0"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1"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42"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3"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4"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5"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146" name="Rectangle 6"/>
          <p:cNvSpPr/>
          <p:nvPr/>
        </p:nvSpPr>
        <p:spPr>
          <a:xfrm>
            <a:off x="0" y="0"/>
            <a:ext cx="9143640" cy="5142960"/>
          </a:xfrm>
          <a:prstGeom prst="rect">
            <a:avLst/>
          </a:prstGeom>
          <a:solidFill>
            <a:srgbClr val="00394f"/>
          </a:solidFill>
          <a:ln>
            <a:noFill/>
          </a:ln>
        </p:spPr>
        <p:style>
          <a:lnRef idx="2">
            <a:schemeClr val="accent1">
              <a:shade val="50000"/>
            </a:schemeClr>
          </a:lnRef>
          <a:fillRef idx="1">
            <a:schemeClr val="accent1"/>
          </a:fillRef>
          <a:effectRef idx="0">
            <a:schemeClr val="accent1"/>
          </a:effectRef>
          <a:fontRef idx="minor"/>
        </p:style>
      </p:sp>
      <p:sp>
        <p:nvSpPr>
          <p:cNvPr id="147" name="PlaceHolder 1"/>
          <p:cNvSpPr>
            <a:spLocks noGrp="1"/>
          </p:cNvSpPr>
          <p:nvPr>
            <p:ph type="title"/>
          </p:nvPr>
        </p:nvSpPr>
        <p:spPr>
          <a:xfrm>
            <a:off x="416520" y="915480"/>
            <a:ext cx="7597800" cy="256968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38c6f4"/>
                </a:solidFill>
                <a:latin typeface="Arial"/>
                <a:ea typeface="ＭＳ Ｐゴシック"/>
              </a:rPr>
              <a:t>Click to edit Master title style</a:t>
            </a:r>
            <a:endParaRPr b="0" lang="en-US" sz="4600" spc="-1" strike="noStrike">
              <a:solidFill>
                <a:srgbClr val="58585b"/>
              </a:solidFill>
              <a:latin typeface="Arial"/>
            </a:endParaRPr>
          </a:p>
        </p:txBody>
      </p:sp>
      <p:sp>
        <p:nvSpPr>
          <p:cNvPr id="148"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492E3435-C935-4F3E-86F1-FD1CBE9338DB}" type="slidenum">
              <a:rPr b="0" lang="en-US" sz="600" spc="-1" strike="noStrike">
                <a:solidFill>
                  <a:srgbClr val="086d8e"/>
                </a:solidFill>
                <a:latin typeface="Arial"/>
              </a:rPr>
              <a:t>&lt;number&gt;</a:t>
            </a:fld>
            <a:endParaRPr b="0" lang="en-JM" sz="600" spc="-1" strike="noStrike">
              <a:latin typeface="Arial"/>
            </a:endParaRPr>
          </a:p>
        </p:txBody>
      </p:sp>
      <p:sp>
        <p:nvSpPr>
          <p:cNvPr id="149"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086d8e"/>
                </a:solidFill>
                <a:latin typeface="Arial"/>
              </a:rPr>
              <a:t>© 2016  Cisco and/or its affiliates. All rights reserved.   Cisco Confidential</a:t>
            </a:r>
            <a:endParaRPr b="0" lang="en-JM" sz="600" spc="-1" strike="noStrike">
              <a:latin typeface="Arial"/>
            </a:endParaRPr>
          </a:p>
        </p:txBody>
      </p:sp>
      <p:grpSp>
        <p:nvGrpSpPr>
          <p:cNvPr id="150" name="Group 4"/>
          <p:cNvGrpSpPr/>
          <p:nvPr/>
        </p:nvGrpSpPr>
        <p:grpSpPr>
          <a:xfrm>
            <a:off x="507960" y="4715280"/>
            <a:ext cx="339840" cy="180360"/>
            <a:chOff x="507960" y="4715280"/>
            <a:chExt cx="339840" cy="180360"/>
          </a:xfrm>
        </p:grpSpPr>
        <p:sp>
          <p:nvSpPr>
            <p:cNvPr id="151" name="Rectangle 5"/>
            <p:cNvSpPr/>
            <p:nvPr/>
          </p:nvSpPr>
          <p:spPr>
            <a:xfrm>
              <a:off x="604440" y="4835160"/>
              <a:ext cx="14400" cy="59400"/>
            </a:xfrm>
            <a:prstGeom prst="rect">
              <a:avLst/>
            </a:prstGeom>
            <a:solidFill>
              <a:srgbClr val="086d8e"/>
            </a:solidFill>
            <a:ln w="0">
              <a:noFill/>
            </a:ln>
          </p:spPr>
          <p:style>
            <a:lnRef idx="0"/>
            <a:fillRef idx="0"/>
            <a:effectRef idx="0"/>
            <a:fontRef idx="minor"/>
          </p:style>
        </p:sp>
        <p:sp>
          <p:nvSpPr>
            <p:cNvPr id="152"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3"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4"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w="0">
              <a:noFill/>
            </a:ln>
          </p:spPr>
          <p:style>
            <a:lnRef idx="0"/>
            <a:fillRef idx="0"/>
            <a:effectRef idx="0"/>
            <a:fontRef idx="minor"/>
          </p:style>
        </p:sp>
        <p:sp>
          <p:nvSpPr>
            <p:cNvPr id="155"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w="0">
              <a:noFill/>
            </a:ln>
          </p:spPr>
          <p:style>
            <a:lnRef idx="0"/>
            <a:fillRef idx="0"/>
            <a:effectRef idx="0"/>
            <a:fontRef idx="minor"/>
          </p:style>
        </p:sp>
        <p:sp>
          <p:nvSpPr>
            <p:cNvPr id="156"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57"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58"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59"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0"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61"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2"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63"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4"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w="0">
              <a:noFill/>
            </a:ln>
          </p:spPr>
          <p:style>
            <a:lnRef idx="0"/>
            <a:fillRef idx="0"/>
            <a:effectRef idx="0"/>
            <a:fontRef idx="minor"/>
          </p:style>
        </p:sp>
      </p:grpSp>
      <p:sp>
        <p:nvSpPr>
          <p:cNvPr id="16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2"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CB94D9C5-D054-4473-8BDE-650BD026D616}" type="slidenum">
              <a:rPr b="0" lang="en-US" sz="600" spc="-1" strike="noStrike">
                <a:solidFill>
                  <a:srgbClr val="d9d9d9"/>
                </a:solidFill>
                <a:latin typeface="Arial"/>
              </a:rPr>
              <a:t>&lt;number&gt;</a:t>
            </a:fld>
            <a:endParaRPr b="0" lang="en-JM" sz="600" spc="-1" strike="noStrike">
              <a:latin typeface="Arial"/>
            </a:endParaRPr>
          </a:p>
        </p:txBody>
      </p:sp>
      <p:sp>
        <p:nvSpPr>
          <p:cNvPr id="203" name="Rectangle 4"/>
          <p:cNvSpPr/>
          <p:nvPr/>
        </p:nvSpPr>
        <p:spPr>
          <a:xfrm>
            <a:off x="5604480" y="4741920"/>
            <a:ext cx="292068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204" name="Group 4"/>
          <p:cNvGrpSpPr/>
          <p:nvPr/>
        </p:nvGrpSpPr>
        <p:grpSpPr>
          <a:xfrm>
            <a:off x="507960" y="4715280"/>
            <a:ext cx="339840" cy="180360"/>
            <a:chOff x="507960" y="4715280"/>
            <a:chExt cx="339840" cy="180360"/>
          </a:xfrm>
        </p:grpSpPr>
        <p:sp>
          <p:nvSpPr>
            <p:cNvPr id="205"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06"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7"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8"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09"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10"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1"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2"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3"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4"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5"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6"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7"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8"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19" name="PlaceHolder 1"/>
          <p:cNvSpPr>
            <a:spLocks noGrp="1"/>
          </p:cNvSpPr>
          <p:nvPr>
            <p:ph type="body"/>
          </p:nvPr>
        </p:nvSpPr>
        <p:spPr>
          <a:xfrm>
            <a:off x="474840" y="1347840"/>
            <a:ext cx="8279640" cy="3073680"/>
          </a:xfrm>
          <a:prstGeom prst="rect">
            <a:avLst/>
          </a:prstGeom>
          <a:noFill/>
          <a:ln w="0">
            <a:noFill/>
          </a:ln>
        </p:spPr>
        <p:txBody>
          <a:bodyPr anchor="t">
            <a:noAutofit/>
          </a:bodyPr>
          <a:p>
            <a:pPr marL="285840" indent="-285840" algn="ctr">
              <a:lnSpc>
                <a:spcPct val="100000"/>
              </a:lnSpc>
              <a:spcBef>
                <a:spcPts val="400"/>
              </a:spcBef>
              <a:buNone/>
              <a:tabLst>
                <a:tab algn="l" pos="0"/>
              </a:tabLst>
            </a:pPr>
            <a:r>
              <a:rPr b="0" lang="en-US" sz="2000" spc="-1" strike="noStrike">
                <a:solidFill>
                  <a:srgbClr val="ffffff"/>
                </a:solidFill>
                <a:latin typeface="Arial"/>
                <a:ea typeface="ＭＳ Ｐゴシック"/>
              </a:rPr>
              <a:t>Click to edit Master text styles</a:t>
            </a:r>
            <a:endParaRPr b="0" lang="en-US" sz="2000" spc="-1" strike="noStrike">
              <a:solidFill>
                <a:srgbClr val="58585b"/>
              </a:solidFill>
              <a:latin typeface="Arial"/>
            </a:endParaRPr>
          </a:p>
        </p:txBody>
      </p:sp>
      <p:sp>
        <p:nvSpPr>
          <p:cNvPr id="220" name="PlaceHolder 2"/>
          <p:cNvSpPr>
            <a:spLocks noGrp="1"/>
          </p:cNvSpPr>
          <p:nvPr>
            <p:ph type="title"/>
          </p:nvPr>
        </p:nvSpPr>
        <p:spPr>
          <a:xfrm>
            <a:off x="437760" y="341280"/>
            <a:ext cx="8345160" cy="731520"/>
          </a:xfrm>
          <a:prstGeom prst="rect">
            <a:avLst/>
          </a:prstGeom>
          <a:noFill/>
          <a:ln w="0">
            <a:noFill/>
          </a:ln>
        </p:spPr>
        <p:txBody>
          <a:bodyPr numCol="1" spcCol="0" anchor="ctr">
            <a:noAutofit/>
          </a:bodyPr>
          <a:p>
            <a:pPr>
              <a:lnSpc>
                <a:spcPct val="80000"/>
              </a:lnSpc>
              <a:buNone/>
            </a:pPr>
            <a:r>
              <a:rPr b="0" lang="en-US" sz="3200" spc="-1" strike="noStrike">
                <a:solidFill>
                  <a:srgbClr val="004c69"/>
                </a:solidFill>
                <a:latin typeface="Arial"/>
                <a:ea typeface="ＭＳ Ｐゴシック"/>
              </a:rPr>
              <a:t>Click to edit Master title style</a:t>
            </a:r>
            <a:endParaRPr b="0" lang="en-US" sz="32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257"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ACA96AA8-CEFE-4867-BB3B-4FE4CB3FA941}" type="slidenum">
              <a:rPr b="0" lang="en-US" sz="600" spc="-1" strike="noStrike">
                <a:solidFill>
                  <a:srgbClr val="d9d9d9"/>
                </a:solidFill>
                <a:latin typeface="Arial"/>
              </a:rPr>
              <a:t>&lt;number&gt;</a:t>
            </a:fld>
            <a:endParaRPr b="0" lang="en-JM" sz="600" spc="-1" strike="noStrike">
              <a:latin typeface="Arial"/>
            </a:endParaRPr>
          </a:p>
        </p:txBody>
      </p:sp>
      <p:sp>
        <p:nvSpPr>
          <p:cNvPr id="258" name="Rectangle 4" hidden="1"/>
          <p:cNvSpPr/>
          <p:nvPr/>
        </p:nvSpPr>
        <p:spPr>
          <a:xfrm>
            <a:off x="5604480" y="4741920"/>
            <a:ext cx="292068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259" name="Group 4"/>
          <p:cNvGrpSpPr/>
          <p:nvPr/>
        </p:nvGrpSpPr>
        <p:grpSpPr>
          <a:xfrm>
            <a:off x="507960" y="4715280"/>
            <a:ext cx="339840" cy="180360"/>
            <a:chOff x="507960" y="4715280"/>
            <a:chExt cx="339840" cy="180360"/>
          </a:xfrm>
        </p:grpSpPr>
        <p:sp>
          <p:nvSpPr>
            <p:cNvPr id="260"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61"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2"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3"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64"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65"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66"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7"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68"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9"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70"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1"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72"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3"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274" name="Picture 1" descr=""/>
          <p:cNvPicPr/>
          <p:nvPr/>
        </p:nvPicPr>
        <p:blipFill>
          <a:blip r:embed="rId2"/>
          <a:stretch/>
        </p:blipFill>
        <p:spPr>
          <a:xfrm>
            <a:off x="0" y="0"/>
            <a:ext cx="9143640" cy="5165640"/>
          </a:xfrm>
          <a:prstGeom prst="rect">
            <a:avLst/>
          </a:prstGeom>
          <a:ln w="0">
            <a:noFill/>
          </a:ln>
        </p:spPr>
      </p:pic>
      <p:grpSp>
        <p:nvGrpSpPr>
          <p:cNvPr id="275" name="Group 4"/>
          <p:cNvGrpSpPr/>
          <p:nvPr/>
        </p:nvGrpSpPr>
        <p:grpSpPr>
          <a:xfrm>
            <a:off x="3746160" y="2129760"/>
            <a:ext cx="1617840" cy="860400"/>
            <a:chOff x="3746160" y="2129760"/>
            <a:chExt cx="1617840" cy="860400"/>
          </a:xfrm>
        </p:grpSpPr>
        <p:sp>
          <p:nvSpPr>
            <p:cNvPr id="276" name="Rectangle 5"/>
            <p:cNvSpPr/>
            <p:nvPr/>
          </p:nvSpPr>
          <p:spPr>
            <a:xfrm>
              <a:off x="4204080" y="2700360"/>
              <a:ext cx="70560" cy="283320"/>
            </a:xfrm>
            <a:prstGeom prst="rect">
              <a:avLst/>
            </a:prstGeom>
            <a:solidFill>
              <a:schemeClr val="accent5"/>
            </a:solidFill>
            <a:ln w="0">
              <a:noFill/>
            </a:ln>
          </p:spPr>
          <p:style>
            <a:lnRef idx="0"/>
            <a:fillRef idx="0"/>
            <a:effectRef idx="0"/>
            <a:fontRef idx="minor"/>
          </p:style>
        </p:sp>
        <p:sp>
          <p:nvSpPr>
            <p:cNvPr id="277" name="Freeform 6"/>
            <p:cNvSpPr/>
            <p:nvPr/>
          </p:nvSpPr>
          <p:spPr>
            <a:xfrm>
              <a:off x="4632480" y="2697120"/>
              <a:ext cx="212400" cy="29304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8" name="Freeform 7"/>
            <p:cNvSpPr/>
            <p:nvPr/>
          </p:nvSpPr>
          <p:spPr>
            <a:xfrm>
              <a:off x="3891240" y="2697120"/>
              <a:ext cx="215640" cy="29304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9" name="Freeform 8"/>
            <p:cNvSpPr/>
            <p:nvPr/>
          </p:nvSpPr>
          <p:spPr>
            <a:xfrm>
              <a:off x="4922640" y="2697120"/>
              <a:ext cx="293040" cy="29304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80" name="Freeform 9"/>
            <p:cNvSpPr/>
            <p:nvPr/>
          </p:nvSpPr>
          <p:spPr>
            <a:xfrm>
              <a:off x="4368240" y="2697120"/>
              <a:ext cx="192960" cy="29304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1" name="Freeform 10"/>
            <p:cNvSpPr/>
            <p:nvPr/>
          </p:nvSpPr>
          <p:spPr>
            <a:xfrm>
              <a:off x="374616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2" name="Freeform 11"/>
            <p:cNvSpPr/>
            <p:nvPr/>
          </p:nvSpPr>
          <p:spPr>
            <a:xfrm>
              <a:off x="393984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3" name="Freeform 12"/>
            <p:cNvSpPr/>
            <p:nvPr/>
          </p:nvSpPr>
          <p:spPr>
            <a:xfrm>
              <a:off x="4133160" y="2129760"/>
              <a:ext cx="70560" cy="44748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4" name="Freeform 13"/>
            <p:cNvSpPr/>
            <p:nvPr/>
          </p:nvSpPr>
          <p:spPr>
            <a:xfrm>
              <a:off x="432648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5" name="Freeform 14"/>
            <p:cNvSpPr/>
            <p:nvPr/>
          </p:nvSpPr>
          <p:spPr>
            <a:xfrm>
              <a:off x="451980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6" name="Freeform 15"/>
            <p:cNvSpPr/>
            <p:nvPr/>
          </p:nvSpPr>
          <p:spPr>
            <a:xfrm>
              <a:off x="4713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7" name="Freeform 16"/>
            <p:cNvSpPr/>
            <p:nvPr/>
          </p:nvSpPr>
          <p:spPr>
            <a:xfrm>
              <a:off x="4906440" y="2129760"/>
              <a:ext cx="70560" cy="44748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8" name="Freeform 17"/>
            <p:cNvSpPr/>
            <p:nvPr/>
          </p:nvSpPr>
          <p:spPr>
            <a:xfrm>
              <a:off x="5100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9" name="Freeform 18"/>
            <p:cNvSpPr/>
            <p:nvPr/>
          </p:nvSpPr>
          <p:spPr>
            <a:xfrm>
              <a:off x="5293440" y="2361960"/>
              <a:ext cx="70560" cy="1447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3200" spc="-1" strike="noStrike">
                <a:solidFill>
                  <a:srgbClr val="58585b"/>
                </a:solidFill>
                <a:latin typeface="Arial"/>
              </a:rPr>
              <a:t>Click to edit the title text format</a:t>
            </a:r>
            <a:endParaRPr b="0" lang="en-US" sz="3200" spc="-1" strike="noStrike">
              <a:solidFill>
                <a:srgbClr val="58585b"/>
              </a:solidFill>
              <a:latin typeface="Arial"/>
            </a:endParaRPr>
          </a:p>
        </p:txBody>
      </p:sp>
      <p:sp>
        <p:nvSpPr>
          <p:cNvPr id="29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7.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7.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7.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7.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7.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7.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7.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7.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37.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7.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ubTitle"/>
          </p:nvPr>
        </p:nvSpPr>
        <p:spPr>
          <a:xfrm>
            <a:off x="469440" y="3809520"/>
            <a:ext cx="2368440" cy="901800"/>
          </a:xfrm>
          <a:prstGeom prst="rect">
            <a:avLst/>
          </a:prstGeom>
          <a:noFill/>
          <a:ln w="0">
            <a:noFill/>
          </a:ln>
        </p:spPr>
        <p:txBody>
          <a:bodyPr anchor="b">
            <a:noAutofit/>
          </a:bodyPr>
          <a:p>
            <a:pPr>
              <a:lnSpc>
                <a:spcPct val="100000"/>
              </a:lnSpc>
              <a:buNone/>
              <a:tabLst>
                <a:tab algn="l" pos="0"/>
              </a:tabLst>
            </a:pPr>
            <a:r>
              <a:rPr b="0" lang="en-US" sz="1200" spc="-1" strike="noStrike">
                <a:solidFill>
                  <a:srgbClr val="afe8fb"/>
                </a:solidFill>
                <a:latin typeface="Arial"/>
              </a:rPr>
              <a:t>Introduction to Networks v7.0 (ITN)</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
        <p:nvSpPr>
          <p:cNvPr id="335" name="PlaceHolder 2"/>
          <p:cNvSpPr>
            <a:spLocks noGrp="1"/>
          </p:cNvSpPr>
          <p:nvPr>
            <p:ph type="title"/>
          </p:nvPr>
        </p:nvSpPr>
        <p:spPr>
          <a:xfrm>
            <a:off x="469440" y="2316600"/>
            <a:ext cx="6672240" cy="107964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afe8fb"/>
                </a:solidFill>
                <a:latin typeface="Arial"/>
                <a:ea typeface="ＭＳ Ｐゴシック"/>
              </a:rPr>
              <a:t>Module 7: Ethernet Switching</a:t>
            </a:r>
            <a:endParaRPr b="0" lang="en-US" sz="3600" spc="-1" strike="noStrike">
              <a:solidFill>
                <a:srgbClr val="58585b"/>
              </a:solidFill>
              <a:latin typeface="Arial"/>
            </a:endParaRPr>
          </a:p>
        </p:txBody>
      </p:sp>
    </p:spTree>
  </p:cSld>
  <p:transition spd="slow">
    <p:wipe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Module Objectives</a:t>
            </a:r>
            <a:endParaRPr b="0" lang="en-US" sz="2400" spc="-1" strike="noStrike">
              <a:solidFill>
                <a:srgbClr val="58585b"/>
              </a:solidFill>
              <a:latin typeface="Arial"/>
            </a:endParaRPr>
          </a:p>
        </p:txBody>
      </p:sp>
      <p:sp>
        <p:nvSpPr>
          <p:cNvPr id="337" name="PlaceHolder 2"/>
          <p:cNvSpPr>
            <a:spLocks noGrp="1"/>
          </p:cNvSpPr>
          <p:nvPr>
            <p:ph/>
          </p:nvPr>
        </p:nvSpPr>
        <p:spPr>
          <a:xfrm>
            <a:off x="144000" y="798840"/>
            <a:ext cx="8852760" cy="757080"/>
          </a:xfrm>
          <a:prstGeom prst="rect">
            <a:avLst/>
          </a:prstGeom>
          <a:noFill/>
          <a:ln w="0">
            <a:noFill/>
          </a:ln>
        </p:spPr>
        <p:txBody>
          <a:bodyPr numCol="1" spcCol="0" rIns="182880" anchor="t">
            <a:noAutofit/>
          </a:bodyPr>
          <a:p>
            <a:pPr>
              <a:lnSpc>
                <a:spcPct val="100000"/>
              </a:lnSpc>
              <a:buNone/>
              <a:tabLst>
                <a:tab algn="l" pos="0"/>
              </a:tabLst>
            </a:pPr>
            <a:r>
              <a:rPr b="1" lang="en-US" sz="1600" spc="-1" strike="noStrike">
                <a:solidFill>
                  <a:srgbClr val="58585b"/>
                </a:solidFill>
                <a:latin typeface="Arial"/>
                <a:ea typeface="Calibri"/>
              </a:rPr>
              <a:t>Module Title: </a:t>
            </a:r>
            <a:r>
              <a:rPr b="0" lang="en-US" sz="1600" spc="-1" strike="noStrike">
                <a:solidFill>
                  <a:srgbClr val="58585b"/>
                </a:solidFill>
                <a:latin typeface="Arial"/>
                <a:ea typeface="Calibri"/>
              </a:rPr>
              <a:t>Ethernet Switching</a:t>
            </a:r>
            <a:endParaRPr b="0" lang="en-US" sz="1600" spc="-1" strike="noStrike">
              <a:solidFill>
                <a:srgbClr val="58585b"/>
              </a:solidFill>
              <a:latin typeface="Arial"/>
            </a:endParaRPr>
          </a:p>
          <a:p>
            <a:pPr>
              <a:lnSpc>
                <a:spcPct val="100000"/>
              </a:lnSpc>
              <a:buNone/>
              <a:tabLst>
                <a:tab algn="l" pos="0"/>
              </a:tabLst>
            </a:pPr>
            <a:endParaRPr b="0" lang="en-US" sz="1600" spc="-1" strike="noStrike">
              <a:solidFill>
                <a:srgbClr val="58585b"/>
              </a:solidFill>
              <a:latin typeface="Arial"/>
            </a:endParaRPr>
          </a:p>
          <a:p>
            <a:pPr>
              <a:lnSpc>
                <a:spcPct val="100000"/>
              </a:lnSpc>
              <a:buNone/>
              <a:tabLst>
                <a:tab algn="l" pos="0"/>
              </a:tabLst>
            </a:pPr>
            <a:r>
              <a:rPr b="1" lang="en-US" sz="1600" spc="-1" strike="noStrike">
                <a:solidFill>
                  <a:srgbClr val="58585b"/>
                </a:solidFill>
                <a:latin typeface="Arial"/>
                <a:ea typeface="Calibri"/>
              </a:rPr>
              <a:t>Module Objective</a:t>
            </a:r>
            <a:r>
              <a:rPr b="0" lang="en-US" sz="1600" spc="-1" strike="noStrike">
                <a:solidFill>
                  <a:srgbClr val="58585b"/>
                </a:solidFill>
                <a:latin typeface="Arial"/>
                <a:ea typeface="Calibri"/>
              </a:rPr>
              <a:t>: Explain how Ethernet works in a switched network</a:t>
            </a:r>
            <a:r>
              <a:rPr b="0" lang="en-US" sz="1600" spc="-1" strike="noStrike">
                <a:solidFill>
                  <a:srgbClr val="58585b"/>
                </a:solidFill>
                <a:latin typeface="Calibri"/>
                <a:ea typeface="Calibri"/>
              </a:rPr>
              <a:t>.</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graphicFrame>
        <p:nvGraphicFramePr>
          <p:cNvPr id="338" name="Table 2"/>
          <p:cNvGraphicFramePr/>
          <p:nvPr/>
        </p:nvGraphicFramePr>
        <p:xfrm>
          <a:off x="336960" y="1716480"/>
          <a:ext cx="8363880" cy="2508480"/>
        </p:xfrm>
        <a:graphic>
          <a:graphicData uri="http://schemas.openxmlformats.org/drawingml/2006/table">
            <a:tbl>
              <a:tblPr/>
              <a:tblGrid>
                <a:gridCol w="3583800"/>
                <a:gridCol w="4780440"/>
              </a:tblGrid>
              <a:tr h="403200">
                <a:tc>
                  <a:txBody>
                    <a:bodyPr lIns="47520" rIns="47520" tIns="47520" bIns="47520" anchor="ctr">
                      <a:noAutofit/>
                    </a:bodyPr>
                    <a:p>
                      <a:pPr>
                        <a:lnSpc>
                          <a:spcPct val="100000"/>
                        </a:lnSpc>
                        <a:buNone/>
                      </a:pPr>
                      <a:r>
                        <a:rPr b="1" lang="en-US" sz="1400" spc="-1" strike="noStrike">
                          <a:solidFill>
                            <a:srgbClr val="ffffff"/>
                          </a:solidFill>
                          <a:latin typeface="Arial"/>
                        </a:rPr>
                        <a:t>Topic Title</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400" spc="-1" strike="noStrike">
                          <a:solidFill>
                            <a:srgbClr val="ffffff"/>
                          </a:solidFill>
                          <a:latin typeface="Arial"/>
                        </a:rPr>
                        <a:t>Topic Objective</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567360">
                <a:tc>
                  <a:txBody>
                    <a:bodyPr lIns="47520" rIns="47520" tIns="47520" bIns="47520" anchor="ctr">
                      <a:noAutofit/>
                    </a:bodyPr>
                    <a:p>
                      <a:pPr>
                        <a:lnSpc>
                          <a:spcPct val="100000"/>
                        </a:lnSpc>
                        <a:buNone/>
                      </a:pPr>
                      <a:r>
                        <a:rPr b="1" lang="en-US" sz="1400" spc="-1" strike="noStrike">
                          <a:solidFill>
                            <a:srgbClr val="ffffff"/>
                          </a:solidFill>
                          <a:latin typeface="Arial"/>
                        </a:rPr>
                        <a:t>Ethernet Frame</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Explain how the Ethernet sublayers are related to the frame fields.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03200">
                <a:tc>
                  <a:txBody>
                    <a:bodyPr lIns="47520" rIns="47520" tIns="47520" bIns="47520" anchor="ctr">
                      <a:noAutofit/>
                    </a:bodyPr>
                    <a:p>
                      <a:pPr>
                        <a:lnSpc>
                          <a:spcPct val="100000"/>
                        </a:lnSpc>
                        <a:buNone/>
                      </a:pPr>
                      <a:r>
                        <a:rPr b="1" lang="en-US" sz="1400" spc="-1" strike="noStrike">
                          <a:solidFill>
                            <a:srgbClr val="ffffff"/>
                          </a:solidFill>
                          <a:latin typeface="Arial"/>
                        </a:rPr>
                        <a:t>Ethernet MAC Address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Describe the Ethernet MAC address.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567360">
                <a:tc>
                  <a:txBody>
                    <a:bodyPr lIns="47520" rIns="47520" tIns="47520" bIns="47520" anchor="ctr">
                      <a:noAutofit/>
                    </a:bodyPr>
                    <a:p>
                      <a:pPr>
                        <a:lnSpc>
                          <a:spcPct val="100000"/>
                        </a:lnSpc>
                        <a:buNone/>
                      </a:pPr>
                      <a:r>
                        <a:rPr b="1" lang="en-US" sz="1400" spc="-1" strike="noStrike">
                          <a:solidFill>
                            <a:srgbClr val="ffffff"/>
                          </a:solidFill>
                          <a:latin typeface="Arial"/>
                        </a:rPr>
                        <a:t>The MAC Address Table</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Explain how a switch builds its MAC address table and forwards frames.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567360">
                <a:tc>
                  <a:txBody>
                    <a:bodyPr lIns="47520" rIns="47520" tIns="47520" bIns="47520" anchor="ctr">
                      <a:noAutofit/>
                    </a:bodyPr>
                    <a:p>
                      <a:pPr>
                        <a:lnSpc>
                          <a:spcPct val="100000"/>
                        </a:lnSpc>
                        <a:buNone/>
                      </a:pPr>
                      <a:r>
                        <a:rPr b="1" lang="en-US" sz="1400" spc="-1" strike="noStrike">
                          <a:solidFill>
                            <a:srgbClr val="ffffff"/>
                          </a:solidFill>
                          <a:latin typeface="Arial"/>
                        </a:rPr>
                        <a:t>Switch Speeds and Forwarding Methods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Describe switch forwarding methods and port settings available on Layer 2 switch ports.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p:transition spd="slow">
    <p:wipe dir="l"/>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416520" y="1788120"/>
            <a:ext cx="75978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7.1 Ethernet Frames</a:t>
            </a:r>
            <a:endParaRPr b="0" lang="en-US" sz="4600" spc="-1" strike="noStrike">
              <a:solidFill>
                <a:srgbClr val="58585b"/>
              </a:solidFill>
              <a:latin typeface="Arial"/>
            </a:endParaRPr>
          </a:p>
        </p:txBody>
      </p:sp>
    </p:spTree>
  </p:cSld>
  <p:transition spd="slow">
    <p:wipe dir="l"/>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Frames</a:t>
            </a:r>
            <a:br/>
            <a:r>
              <a:rPr b="0" lang="en-US" sz="2400" spc="-1" strike="noStrike">
                <a:solidFill>
                  <a:srgbClr val="004c69"/>
                </a:solidFill>
                <a:latin typeface="Arial"/>
                <a:ea typeface="ＭＳ Ｐゴシック"/>
              </a:rPr>
              <a:t>Ethernet Encapsulation</a:t>
            </a:r>
            <a:endParaRPr b="0" lang="en-US" sz="2400" spc="-1" strike="noStrike">
              <a:solidFill>
                <a:srgbClr val="58585b"/>
              </a:solidFill>
              <a:latin typeface="Arial"/>
            </a:endParaRPr>
          </a:p>
        </p:txBody>
      </p:sp>
      <p:sp>
        <p:nvSpPr>
          <p:cNvPr id="341" name="PlaceHolder 2"/>
          <p:cNvSpPr>
            <a:spLocks noGrp="1"/>
          </p:cNvSpPr>
          <p:nvPr>
            <p:ph/>
          </p:nvPr>
        </p:nvSpPr>
        <p:spPr>
          <a:xfrm>
            <a:off x="474840" y="731880"/>
            <a:ext cx="3364200" cy="3689640"/>
          </a:xfrm>
          <a:prstGeom prst="rect">
            <a:avLst/>
          </a:prstGeom>
          <a:noFill/>
          <a:ln w="0">
            <a:noFill/>
          </a:ln>
        </p:spPr>
        <p:txBody>
          <a:bodyPr anchor="t">
            <a:noAutofit/>
          </a:bodyPr>
          <a:p>
            <a:pPr marL="343080" indent="-343080">
              <a:lnSpc>
                <a:spcPct val="100000"/>
              </a:lnSpc>
              <a:spcBef>
                <a:spcPts val="400"/>
              </a:spcBef>
              <a:buClr>
                <a:srgbClr val="000000"/>
              </a:buClr>
              <a:buFont typeface="Arial"/>
              <a:buChar char="•"/>
            </a:pPr>
            <a:r>
              <a:rPr b="0" lang="en-US" sz="2000" spc="-1" strike="noStrike">
                <a:solidFill>
                  <a:srgbClr val="000000"/>
                </a:solidFill>
                <a:latin typeface="Arial"/>
                <a:ea typeface="ＭＳ Ｐゴシック"/>
              </a:rPr>
              <a:t>Ethernet operates in the data link layer and the physical layer.</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pPr>
            <a:r>
              <a:rPr b="0" lang="en-US" sz="2000" spc="-1" strike="noStrike">
                <a:solidFill>
                  <a:srgbClr val="000000"/>
                </a:solidFill>
                <a:latin typeface="Arial"/>
                <a:ea typeface="ＭＳ Ｐゴシック"/>
              </a:rPr>
              <a:t>It is a family of networking technologies defined in the IEEE 802.2 and 802.3 standards.</a:t>
            </a:r>
            <a:endParaRPr b="0" lang="en-US" sz="2000" spc="-1" strike="noStrike">
              <a:solidFill>
                <a:srgbClr val="58585b"/>
              </a:solidFill>
              <a:latin typeface="Arial"/>
            </a:endParaRPr>
          </a:p>
        </p:txBody>
      </p:sp>
      <p:pic>
        <p:nvPicPr>
          <p:cNvPr id="342" name="Picture 3" descr=""/>
          <p:cNvPicPr/>
          <p:nvPr/>
        </p:nvPicPr>
        <p:blipFill>
          <a:blip r:embed="rId1"/>
          <a:stretch/>
        </p:blipFill>
        <p:spPr>
          <a:xfrm>
            <a:off x="3944520" y="731880"/>
            <a:ext cx="4734000" cy="3463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Frames</a:t>
            </a:r>
            <a:br/>
            <a:r>
              <a:rPr b="0" lang="en-US" sz="2400" spc="-1" strike="noStrike">
                <a:solidFill>
                  <a:srgbClr val="004c69"/>
                </a:solidFill>
                <a:latin typeface="Arial"/>
                <a:ea typeface="ＭＳ Ｐゴシック"/>
              </a:rPr>
              <a:t>Data Link Sublayers</a:t>
            </a:r>
            <a:endParaRPr b="0" lang="en-US" sz="2400" spc="-1" strike="noStrike">
              <a:solidFill>
                <a:srgbClr val="58585b"/>
              </a:solidFill>
              <a:latin typeface="Arial"/>
            </a:endParaRPr>
          </a:p>
        </p:txBody>
      </p:sp>
      <p:sp>
        <p:nvSpPr>
          <p:cNvPr id="344" name="TextBox 4"/>
          <p:cNvSpPr/>
          <p:nvPr/>
        </p:nvSpPr>
        <p:spPr>
          <a:xfrm>
            <a:off x="340560" y="771120"/>
            <a:ext cx="4972680" cy="2616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Arial"/>
                <a:ea typeface="ＭＳ Ｐゴシック"/>
              </a:rPr>
              <a:t>The 802 LAN/MAN standards, including Ethernet, use two separate sublayers of the data link layer to operate:</a:t>
            </a:r>
            <a:endParaRPr b="0" lang="en-JM" sz="1800" spc="-1" strike="noStrike">
              <a:latin typeface="Arial"/>
            </a:endParaRPr>
          </a:p>
          <a:p>
            <a:pPr marL="285840" indent="-285840">
              <a:lnSpc>
                <a:spcPct val="100000"/>
              </a:lnSpc>
              <a:buClr>
                <a:srgbClr val="000000"/>
              </a:buClr>
              <a:buFont typeface="Arial"/>
              <a:buChar char="•"/>
            </a:pPr>
            <a:r>
              <a:rPr b="1" lang="en-US" sz="1600" spc="-1" strike="noStrike">
                <a:solidFill>
                  <a:srgbClr val="000000"/>
                </a:solidFill>
                <a:latin typeface="Arial"/>
                <a:ea typeface="ＭＳ Ｐゴシック"/>
              </a:rPr>
              <a:t>LLC Sublayer</a:t>
            </a:r>
            <a:r>
              <a:rPr b="0" lang="en-US" sz="1600" spc="-1" strike="noStrike">
                <a:solidFill>
                  <a:srgbClr val="000000"/>
                </a:solidFill>
                <a:latin typeface="Arial"/>
                <a:ea typeface="ＭＳ Ｐゴシック"/>
              </a:rPr>
              <a:t>: (IEEE 802.2) Places information in the frame to identify which network layer protocol is used for the frame.</a:t>
            </a:r>
            <a:endParaRPr b="0" lang="en-JM" sz="1600" spc="-1" strike="noStrike">
              <a:latin typeface="Arial"/>
            </a:endParaRPr>
          </a:p>
          <a:p>
            <a:pPr marL="285840" indent="-285840">
              <a:lnSpc>
                <a:spcPct val="100000"/>
              </a:lnSpc>
              <a:buClr>
                <a:srgbClr val="000000"/>
              </a:buClr>
              <a:buFont typeface="Arial"/>
              <a:buChar char="•"/>
            </a:pPr>
            <a:r>
              <a:rPr b="1" lang="en-US" sz="1600" spc="-1" strike="noStrike">
                <a:solidFill>
                  <a:srgbClr val="000000"/>
                </a:solidFill>
                <a:latin typeface="Arial"/>
                <a:ea typeface="ＭＳ Ｐゴシック"/>
              </a:rPr>
              <a:t>MAC Sublayer</a:t>
            </a:r>
            <a:r>
              <a:rPr b="0" lang="en-US" sz="1600" spc="-1" strike="noStrike">
                <a:solidFill>
                  <a:srgbClr val="000000"/>
                </a:solidFill>
                <a:latin typeface="Arial"/>
                <a:ea typeface="ＭＳ Ｐゴシック"/>
              </a:rPr>
              <a:t>: (IEEE 802.3, 802.11, or 802.15) Responsible for data encapsulation and media access control, and provides data link layer addressing.</a:t>
            </a:r>
            <a:endParaRPr b="0" lang="en-JM" sz="1600" spc="-1" strike="noStrike">
              <a:latin typeface="Arial"/>
            </a:endParaRPr>
          </a:p>
        </p:txBody>
      </p:sp>
      <p:pic>
        <p:nvPicPr>
          <p:cNvPr id="345" name="Content Placeholder 3" descr=""/>
          <p:cNvPicPr/>
          <p:nvPr/>
        </p:nvPicPr>
        <p:blipFill>
          <a:blip r:embed="rId1"/>
          <a:stretch/>
        </p:blipFill>
        <p:spPr>
          <a:xfrm>
            <a:off x="5313600" y="1061280"/>
            <a:ext cx="3248280" cy="26280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Frames</a:t>
            </a:r>
            <a:br/>
            <a:r>
              <a:rPr b="0" lang="en-US" sz="2400" spc="-1" strike="noStrike">
                <a:solidFill>
                  <a:srgbClr val="004c69"/>
                </a:solidFill>
                <a:latin typeface="Arial"/>
                <a:ea typeface="ＭＳ Ｐゴシック"/>
              </a:rPr>
              <a:t>MAC Sublayer</a:t>
            </a:r>
            <a:endParaRPr b="0" lang="en-US" sz="2400" spc="-1" strike="noStrike">
              <a:solidFill>
                <a:srgbClr val="58585b"/>
              </a:solidFill>
              <a:latin typeface="Arial"/>
            </a:endParaRPr>
          </a:p>
        </p:txBody>
      </p:sp>
      <p:sp>
        <p:nvSpPr>
          <p:cNvPr id="347" name="PlaceHolder 2"/>
          <p:cNvSpPr>
            <a:spLocks noGrp="1"/>
          </p:cNvSpPr>
          <p:nvPr>
            <p:ph/>
          </p:nvPr>
        </p:nvSpPr>
        <p:spPr>
          <a:xfrm>
            <a:off x="224280" y="731880"/>
            <a:ext cx="8279640" cy="3689640"/>
          </a:xfrm>
          <a:prstGeom prst="rect">
            <a:avLst/>
          </a:prstGeom>
          <a:noFill/>
          <a:ln w="0">
            <a:noFill/>
          </a:ln>
        </p:spPr>
        <p:txBody>
          <a:bodyPr anchor="t">
            <a:noAutofit/>
          </a:bodyPr>
          <a:p>
            <a:pPr marL="285840" indent="-285840">
              <a:lnSpc>
                <a:spcPct val="100000"/>
              </a:lnSpc>
              <a:spcBef>
                <a:spcPts val="320"/>
              </a:spcBef>
              <a:buNone/>
              <a:tabLst>
                <a:tab algn="l" pos="0"/>
              </a:tabLst>
            </a:pPr>
            <a:r>
              <a:rPr b="0" lang="en-US" sz="1600" spc="-1" strike="noStrike">
                <a:solidFill>
                  <a:srgbClr val="000000"/>
                </a:solidFill>
                <a:latin typeface="Arial"/>
                <a:ea typeface="ＭＳ Ｐゴシック"/>
              </a:rPr>
              <a:t>The MAC sublayer is responsible for data encapsulation and accessing the media.</a:t>
            </a:r>
            <a:endParaRPr b="0" lang="en-US" sz="1600" spc="-1" strike="noStrike">
              <a:solidFill>
                <a:srgbClr val="58585b"/>
              </a:solidFill>
              <a:latin typeface="Arial"/>
            </a:endParaRPr>
          </a:p>
          <a:p>
            <a:pPr marL="285840" indent="-285840">
              <a:lnSpc>
                <a:spcPct val="100000"/>
              </a:lnSpc>
              <a:spcBef>
                <a:spcPts val="320"/>
              </a:spcBef>
              <a:buNone/>
              <a:tabLst>
                <a:tab algn="l" pos="0"/>
              </a:tabLst>
            </a:pPr>
            <a:endParaRPr b="0" lang="en-US" sz="1600" spc="-1" strike="noStrike">
              <a:solidFill>
                <a:srgbClr val="58585b"/>
              </a:solidFill>
              <a:latin typeface="Arial"/>
            </a:endParaRPr>
          </a:p>
          <a:p>
            <a:pPr marL="285840" indent="-285840">
              <a:lnSpc>
                <a:spcPct val="100000"/>
              </a:lnSpc>
              <a:spcBef>
                <a:spcPts val="320"/>
              </a:spcBef>
              <a:buNone/>
              <a:tabLst>
                <a:tab algn="l" pos="0"/>
              </a:tabLst>
            </a:pPr>
            <a:r>
              <a:rPr b="1" lang="en-US" sz="1600" spc="-1" strike="noStrike">
                <a:solidFill>
                  <a:srgbClr val="000000"/>
                </a:solidFill>
                <a:latin typeface="Arial"/>
                <a:ea typeface="ＭＳ Ｐゴシック"/>
              </a:rPr>
              <a:t>Data Encapsulation</a:t>
            </a:r>
            <a:endParaRPr b="0" lang="en-US" sz="1600" spc="-1" strike="noStrike">
              <a:solidFill>
                <a:srgbClr val="58585b"/>
              </a:solidFill>
              <a:latin typeface="Arial"/>
            </a:endParaRPr>
          </a:p>
          <a:p>
            <a:pPr marL="285840" indent="-285840">
              <a:lnSpc>
                <a:spcPct val="100000"/>
              </a:lnSpc>
              <a:spcBef>
                <a:spcPts val="320"/>
              </a:spcBef>
              <a:buNone/>
              <a:tabLst>
                <a:tab algn="l" pos="0"/>
              </a:tabLst>
            </a:pPr>
            <a:r>
              <a:rPr b="0" lang="en-US" sz="1600" spc="-1" strike="noStrike">
                <a:solidFill>
                  <a:srgbClr val="000000"/>
                </a:solidFill>
                <a:latin typeface="Arial"/>
                <a:ea typeface="ＭＳ Ｐゴシック"/>
              </a:rPr>
              <a:t>IEEE 802.3 data encapsulation includes the following:</a:t>
            </a:r>
            <a:endParaRPr b="0" lang="en-US" sz="1600" spc="-1" strike="noStrike">
              <a:solidFill>
                <a:srgbClr val="58585b"/>
              </a:solidFill>
              <a:latin typeface="Arial"/>
            </a:endParaRPr>
          </a:p>
          <a:p>
            <a:pPr marL="457200" indent="-457200">
              <a:lnSpc>
                <a:spcPct val="100000"/>
              </a:lnSpc>
              <a:spcBef>
                <a:spcPts val="281"/>
              </a:spcBef>
              <a:buClr>
                <a:srgbClr val="000000"/>
              </a:buClr>
              <a:buFont typeface="Arial"/>
              <a:buAutoNum type="arabicPeriod"/>
              <a:tabLst>
                <a:tab algn="l" pos="0"/>
              </a:tabLst>
            </a:pPr>
            <a:r>
              <a:rPr b="1" lang="en-US" sz="1400" spc="-1" strike="noStrike">
                <a:solidFill>
                  <a:srgbClr val="000000"/>
                </a:solidFill>
                <a:latin typeface="Arial"/>
                <a:ea typeface="ＭＳ Ｐゴシック"/>
              </a:rPr>
              <a:t>Ethernet frame</a:t>
            </a:r>
            <a:r>
              <a:rPr b="0" lang="en-US" sz="1400" spc="-1" strike="noStrike">
                <a:solidFill>
                  <a:srgbClr val="000000"/>
                </a:solidFill>
                <a:latin typeface="Arial"/>
                <a:ea typeface="ＭＳ Ｐゴシック"/>
              </a:rPr>
              <a:t> - This is the internal structure of the Ethernet frame.</a:t>
            </a:r>
            <a:endParaRPr b="0" lang="en-US" sz="1400" spc="-1" strike="noStrike">
              <a:solidFill>
                <a:srgbClr val="58585b"/>
              </a:solidFill>
              <a:latin typeface="Arial"/>
            </a:endParaRPr>
          </a:p>
          <a:p>
            <a:pPr marL="457200" indent="-457200">
              <a:lnSpc>
                <a:spcPct val="100000"/>
              </a:lnSpc>
              <a:spcBef>
                <a:spcPts val="281"/>
              </a:spcBef>
              <a:buClr>
                <a:srgbClr val="000000"/>
              </a:buClr>
              <a:buFont typeface="Arial"/>
              <a:buAutoNum type="arabicPeriod"/>
              <a:tabLst>
                <a:tab algn="l" pos="0"/>
              </a:tabLst>
            </a:pPr>
            <a:r>
              <a:rPr b="1" lang="en-US" sz="1400" spc="-1" strike="noStrike">
                <a:solidFill>
                  <a:srgbClr val="000000"/>
                </a:solidFill>
                <a:latin typeface="Arial"/>
                <a:ea typeface="ＭＳ Ｐゴシック"/>
              </a:rPr>
              <a:t>Ethernet Addressing</a:t>
            </a:r>
            <a:r>
              <a:rPr b="0" lang="en-US" sz="1400" spc="-1" strike="noStrike">
                <a:solidFill>
                  <a:srgbClr val="000000"/>
                </a:solidFill>
                <a:latin typeface="Arial"/>
                <a:ea typeface="ＭＳ Ｐゴシック"/>
              </a:rPr>
              <a:t> - The Ethernet frame includes both a source and destination MAC address to deliver the Ethernet frame from Ethernet NIC to Ethernet NIC on the same LAN.</a:t>
            </a:r>
            <a:endParaRPr b="0" lang="en-US" sz="1400" spc="-1" strike="noStrike">
              <a:solidFill>
                <a:srgbClr val="58585b"/>
              </a:solidFill>
              <a:latin typeface="Arial"/>
            </a:endParaRPr>
          </a:p>
          <a:p>
            <a:pPr marL="457200" indent="-457200">
              <a:lnSpc>
                <a:spcPct val="100000"/>
              </a:lnSpc>
              <a:spcBef>
                <a:spcPts val="281"/>
              </a:spcBef>
              <a:buClr>
                <a:srgbClr val="000000"/>
              </a:buClr>
              <a:buFont typeface="Arial"/>
              <a:buAutoNum type="arabicPeriod"/>
              <a:tabLst>
                <a:tab algn="l" pos="0"/>
              </a:tabLst>
            </a:pPr>
            <a:r>
              <a:rPr b="1" lang="en-US" sz="1400" spc="-1" strike="noStrike">
                <a:solidFill>
                  <a:srgbClr val="000000"/>
                </a:solidFill>
                <a:latin typeface="Arial"/>
                <a:ea typeface="ＭＳ Ｐゴシック"/>
              </a:rPr>
              <a:t>Ethernet Error detection</a:t>
            </a:r>
            <a:r>
              <a:rPr b="0" lang="en-US" sz="1400" spc="-1" strike="noStrike">
                <a:solidFill>
                  <a:srgbClr val="000000"/>
                </a:solidFill>
                <a:latin typeface="Arial"/>
                <a:ea typeface="ＭＳ Ｐゴシック"/>
              </a:rPr>
              <a:t> - The Ethernet frame includes a frame check sequence (FCS) trailer used for error detection.</a:t>
            </a:r>
            <a:endParaRPr b="0" lang="en-US" sz="1400" spc="-1" strike="noStrike">
              <a:solidFill>
                <a:srgbClr val="58585b"/>
              </a:solidFill>
              <a:latin typeface="Arial"/>
            </a:endParaRPr>
          </a:p>
          <a:p>
            <a:pPr marL="285840" indent="-285840">
              <a:lnSpc>
                <a:spcPct val="100000"/>
              </a:lnSpc>
              <a:spcBef>
                <a:spcPts val="400"/>
              </a:spcBef>
              <a:buNone/>
              <a:tabLst>
                <a:tab algn="l" pos="0"/>
              </a:tabLst>
            </a:pPr>
            <a:endParaRPr b="0" lang="en-US" sz="14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Frames</a:t>
            </a:r>
            <a:br/>
            <a:r>
              <a:rPr b="0" lang="en-US" sz="2400" spc="-1" strike="noStrike">
                <a:solidFill>
                  <a:srgbClr val="004c69"/>
                </a:solidFill>
                <a:latin typeface="Arial"/>
                <a:ea typeface="ＭＳ Ｐゴシック"/>
              </a:rPr>
              <a:t>MAC Sublayer</a:t>
            </a:r>
            <a:endParaRPr b="0" lang="en-US" sz="2400" spc="-1" strike="noStrike">
              <a:solidFill>
                <a:srgbClr val="58585b"/>
              </a:solidFill>
              <a:latin typeface="Arial"/>
            </a:endParaRPr>
          </a:p>
        </p:txBody>
      </p:sp>
      <p:sp>
        <p:nvSpPr>
          <p:cNvPr id="349" name="PlaceHolder 2"/>
          <p:cNvSpPr>
            <a:spLocks noGrp="1"/>
          </p:cNvSpPr>
          <p:nvPr>
            <p:ph/>
          </p:nvPr>
        </p:nvSpPr>
        <p:spPr>
          <a:xfrm>
            <a:off x="219240" y="731880"/>
            <a:ext cx="4620240" cy="3689640"/>
          </a:xfrm>
          <a:prstGeom prst="rect">
            <a:avLst/>
          </a:prstGeom>
          <a:noFill/>
          <a:ln w="0">
            <a:noFill/>
          </a:ln>
        </p:spPr>
        <p:txBody>
          <a:bodyPr anchor="t">
            <a:noAutofit/>
          </a:bodyPr>
          <a:p>
            <a:pPr>
              <a:lnSpc>
                <a:spcPct val="100000"/>
              </a:lnSpc>
              <a:spcBef>
                <a:spcPts val="281"/>
              </a:spcBef>
              <a:buNone/>
              <a:tabLst>
                <a:tab algn="l" pos="0"/>
              </a:tabLst>
            </a:pPr>
            <a:r>
              <a:rPr b="1" lang="en-US" sz="1400" spc="-1" strike="noStrike">
                <a:solidFill>
                  <a:srgbClr val="000000"/>
                </a:solidFill>
                <a:latin typeface="Arial"/>
                <a:ea typeface="ＭＳ Ｐゴシック"/>
              </a:rPr>
              <a:t>Media Access</a:t>
            </a:r>
            <a:endParaRPr b="0" lang="en-US" sz="14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The IEEE 802.3 MAC sublayer includes the specifications for different Ethernet communications standards over various types of media including copper and fiber.</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Legacy Ethernet using a bus topology or hubs, is a shared, half-duplex medium. Ethernet over a half-duplex medium uses a contention-based access method, carrier sense multiple access/collision detection (CSMA/CD). </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Ethernet LANs of today use switches that operate in full-duplex. Full-duplex communications with Ethernet switches do not require access control through CSMA/CD.</a:t>
            </a:r>
            <a:endParaRPr b="0" lang="en-US" sz="1600" spc="-1" strike="noStrike">
              <a:solidFill>
                <a:srgbClr val="58585b"/>
              </a:solidFill>
              <a:latin typeface="Arial"/>
            </a:endParaRPr>
          </a:p>
        </p:txBody>
      </p:sp>
      <p:pic>
        <p:nvPicPr>
          <p:cNvPr id="350" name="Picture 3" descr=""/>
          <p:cNvPicPr/>
          <p:nvPr/>
        </p:nvPicPr>
        <p:blipFill>
          <a:blip r:embed="rId1"/>
          <a:stretch/>
        </p:blipFill>
        <p:spPr>
          <a:xfrm>
            <a:off x="5034240" y="1354680"/>
            <a:ext cx="3634920" cy="22089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Frames</a:t>
            </a:r>
            <a:br/>
            <a:r>
              <a:rPr b="0" lang="en-US" sz="2400" spc="-1" strike="noStrike">
                <a:solidFill>
                  <a:srgbClr val="004c69"/>
                </a:solidFill>
                <a:latin typeface="Arial"/>
                <a:ea typeface="ＭＳ Ｐゴシック"/>
              </a:rPr>
              <a:t>Ethernet Frame Fields</a:t>
            </a:r>
            <a:endParaRPr b="0" lang="en-US" sz="2400" spc="-1" strike="noStrike">
              <a:solidFill>
                <a:srgbClr val="58585b"/>
              </a:solidFill>
              <a:latin typeface="Arial"/>
            </a:endParaRPr>
          </a:p>
        </p:txBody>
      </p:sp>
      <p:sp>
        <p:nvSpPr>
          <p:cNvPr id="352" name="PlaceHolder 2"/>
          <p:cNvSpPr>
            <a:spLocks noGrp="1"/>
          </p:cNvSpPr>
          <p:nvPr>
            <p:ph/>
          </p:nvPr>
        </p:nvSpPr>
        <p:spPr>
          <a:xfrm>
            <a:off x="123840" y="731880"/>
            <a:ext cx="8630640" cy="241092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The minimum Ethernet frame size is 64 bytes and the maximum is 1518 bytes. The preamble field is not included when describing the size of the frame.</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Any frame less than 64 bytes in length is considered a “collision fragment” or “runt frame” and is automatically discarded. Frames with more than 1500 bytes of data are considered “jumbo” or “baby giant frames”.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If the size of a transmitted frame is less than the minimum, or greater than the maximum, the receiving device drops the frame. Dropped frames are likely to be the result of collisions or other unwanted signals. They are considered invalid. Jumbo frames are usually supported by most Fast Ethernet and Gigabit Ethernet switches and NICs.</a:t>
            </a:r>
            <a:endParaRPr b="0" lang="en-US" sz="1600" spc="-1" strike="noStrike">
              <a:solidFill>
                <a:srgbClr val="58585b"/>
              </a:solidFill>
              <a:latin typeface="Arial"/>
            </a:endParaRPr>
          </a:p>
          <a:p>
            <a:pPr>
              <a:lnSpc>
                <a:spcPct val="100000"/>
              </a:lnSpc>
              <a:spcBef>
                <a:spcPts val="281"/>
              </a:spcBef>
              <a:buNone/>
            </a:pPr>
            <a:endParaRPr b="0" lang="en-US" sz="1600" spc="-1" strike="noStrike">
              <a:solidFill>
                <a:srgbClr val="58585b"/>
              </a:solidFill>
              <a:latin typeface="Arial"/>
            </a:endParaRPr>
          </a:p>
        </p:txBody>
      </p:sp>
      <p:pic>
        <p:nvPicPr>
          <p:cNvPr id="353" name="Picture 3" descr=""/>
          <p:cNvPicPr/>
          <p:nvPr/>
        </p:nvPicPr>
        <p:blipFill>
          <a:blip r:embed="rId1"/>
          <a:stretch/>
        </p:blipFill>
        <p:spPr>
          <a:xfrm>
            <a:off x="1711800" y="3162240"/>
            <a:ext cx="5720400" cy="17132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Frames</a:t>
            </a:r>
            <a:br/>
            <a:r>
              <a:rPr b="0" lang="en-US" sz="2400" spc="-1" strike="noStrike">
                <a:solidFill>
                  <a:srgbClr val="004c69"/>
                </a:solidFill>
                <a:latin typeface="Arial"/>
                <a:ea typeface="ＭＳ Ｐゴシック"/>
              </a:rPr>
              <a:t>Lab – Use Wireshark to Examine Ethernet Frames</a:t>
            </a:r>
            <a:endParaRPr b="0" lang="en-US" sz="2400" spc="-1" strike="noStrike">
              <a:solidFill>
                <a:srgbClr val="58585b"/>
              </a:solidFill>
              <a:latin typeface="Arial"/>
            </a:endParaRPr>
          </a:p>
        </p:txBody>
      </p:sp>
      <p:sp>
        <p:nvSpPr>
          <p:cNvPr id="355" name="PlaceHolder 2"/>
          <p:cNvSpPr>
            <a:spLocks noGrp="1"/>
          </p:cNvSpPr>
          <p:nvPr>
            <p:ph/>
          </p:nvPr>
        </p:nvSpPr>
        <p:spPr>
          <a:xfrm>
            <a:off x="474840" y="731880"/>
            <a:ext cx="8279640" cy="3689640"/>
          </a:xfrm>
          <a:prstGeom prst="rect">
            <a:avLst/>
          </a:prstGeom>
          <a:noFill/>
          <a:ln w="0">
            <a:noFill/>
          </a:ln>
        </p:spPr>
        <p:txBody>
          <a:bodyPr anchor="t">
            <a:noAutofit/>
          </a:bodyPr>
          <a:p>
            <a:pPr marL="285840" indent="-285840">
              <a:lnSpc>
                <a:spcPct val="100000"/>
              </a:lnSpc>
              <a:spcBef>
                <a:spcPts val="400"/>
              </a:spcBef>
              <a:buNone/>
              <a:tabLst>
                <a:tab algn="l" pos="0"/>
              </a:tabLst>
            </a:pPr>
            <a:r>
              <a:rPr b="0" lang="en-US" sz="2000" spc="-1" strike="noStrike">
                <a:solidFill>
                  <a:srgbClr val="000000"/>
                </a:solidFill>
                <a:latin typeface="Arial"/>
                <a:ea typeface="ＭＳ Ｐゴシック"/>
              </a:rPr>
              <a:t>In this lab, you will complete the following objectives:</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1: Examine the Header Fields in an Ethernet II Frame</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2: Use Wireshark to Capture and Analyze Ethernet Frames</a:t>
            </a:r>
            <a:endParaRPr b="0" lang="en-US" sz="2000" spc="-1" strike="noStrike">
              <a:solidFill>
                <a:srgbClr val="58585b"/>
              </a:solidFill>
              <a:latin typeface="Arial"/>
            </a:endParaRPr>
          </a:p>
          <a:p>
            <a:pPr marL="285840" indent="-285840">
              <a:lnSpc>
                <a:spcPct val="100000"/>
              </a:lnSpc>
              <a:spcBef>
                <a:spcPts val="400"/>
              </a:spcBef>
              <a:buNone/>
              <a:tabLst>
                <a:tab algn="l" pos="0"/>
              </a:tabLst>
            </a:pPr>
            <a:endParaRPr b="0" lang="en-US" sz="20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7.2 Ethernet MAC Address</a:t>
            </a:r>
            <a:endParaRPr b="0" lang="en-US" sz="4600" spc="-1" strike="noStrike">
              <a:solidFill>
                <a:srgbClr val="58585b"/>
              </a:solidFill>
              <a:latin typeface="Arial"/>
            </a:endParaRPr>
          </a:p>
        </p:txBody>
      </p:sp>
    </p:spTree>
  </p:cSld>
  <p:transition spd="slow">
    <p:wipe dir="l"/>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MAC Addresses</a:t>
            </a:r>
            <a:br/>
            <a:r>
              <a:rPr b="0" lang="en-US" sz="2400" spc="-1" strike="noStrike">
                <a:solidFill>
                  <a:srgbClr val="004c69"/>
                </a:solidFill>
                <a:latin typeface="Arial"/>
                <a:ea typeface="ＭＳ Ｐゴシック"/>
              </a:rPr>
              <a:t>MAC Address and Hexadecimal</a:t>
            </a:r>
            <a:endParaRPr b="0" lang="en-US" sz="2400" spc="-1" strike="noStrike">
              <a:solidFill>
                <a:srgbClr val="58585b"/>
              </a:solidFill>
              <a:latin typeface="Arial"/>
            </a:endParaRPr>
          </a:p>
        </p:txBody>
      </p:sp>
      <p:sp>
        <p:nvSpPr>
          <p:cNvPr id="358" name="PlaceHolder 2"/>
          <p:cNvSpPr>
            <a:spLocks noGrp="1"/>
          </p:cNvSpPr>
          <p:nvPr>
            <p:ph/>
          </p:nvPr>
        </p:nvSpPr>
        <p:spPr>
          <a:xfrm>
            <a:off x="432000" y="947880"/>
            <a:ext cx="8279640" cy="3073680"/>
          </a:xfrm>
          <a:prstGeom prst="rect">
            <a:avLst/>
          </a:prstGeom>
          <a:noFill/>
          <a:ln w="0">
            <a:noFill/>
          </a:ln>
        </p:spPr>
        <p:txBody>
          <a:bodyPr anchor="t">
            <a:noAutofit/>
          </a:bodyPr>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An Ethernet MAC address consists of a 48-bit binary value, expressed using 12 hexadecimal values.</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Given that 8 bits (one byte) is a common binary grouping, binary 00000000 to 11111111 can be represented in hexadecimal as the range 00 to FF,</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When using hexadecimal, leading zeroes are always displayed to complete the 8-bit representation. For example the binary value 0000 1010 is represented in hexadecimal as 0A.</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Hexadecimal numbers are often represented by the value preceded by </a:t>
            </a:r>
            <a:r>
              <a:rPr b="1" lang="en-US" sz="1600" spc="-1" strike="noStrike">
                <a:solidFill>
                  <a:srgbClr val="000000"/>
                </a:solidFill>
                <a:latin typeface="Arial"/>
                <a:ea typeface="ＭＳ Ｐゴシック"/>
              </a:rPr>
              <a:t>0x</a:t>
            </a:r>
            <a:r>
              <a:rPr b="0" lang="en-US" sz="1600" spc="-1" strike="noStrike">
                <a:solidFill>
                  <a:srgbClr val="000000"/>
                </a:solidFill>
                <a:latin typeface="Arial"/>
                <a:ea typeface="ＭＳ Ｐゴシック"/>
              </a:rPr>
              <a:t> (e.g., 0x73) to distinguish between decimal and hexadecimal values in documentation.</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Hexadecimal may also be represented by a subscript 16, or the hex number followed by an H (e.g., 73H).</a:t>
            </a:r>
            <a:endParaRPr b="0" lang="en-US" sz="1600" spc="-1" strike="noStrike">
              <a:solidFill>
                <a:srgbClr val="58585b"/>
              </a:solidFill>
              <a:latin typeface="Arial"/>
            </a:endParaRPr>
          </a:p>
          <a:p>
            <a:pPr>
              <a:lnSpc>
                <a:spcPct val="100000"/>
              </a:lnSpc>
              <a:spcBef>
                <a:spcPts val="281"/>
              </a:spcBef>
              <a:buNone/>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MAC Addresses</a:t>
            </a:r>
            <a:br/>
            <a:r>
              <a:rPr b="0" lang="en-US" sz="2400" spc="-1" strike="noStrike">
                <a:solidFill>
                  <a:srgbClr val="004c69"/>
                </a:solidFill>
                <a:latin typeface="Arial"/>
                <a:ea typeface="ＭＳ Ｐゴシック"/>
              </a:rPr>
              <a:t>Ethernet MAC Address</a:t>
            </a:r>
            <a:endParaRPr b="0" lang="en-US" sz="2400" spc="-1" strike="noStrike">
              <a:solidFill>
                <a:srgbClr val="58585b"/>
              </a:solidFill>
              <a:latin typeface="Arial"/>
            </a:endParaRPr>
          </a:p>
        </p:txBody>
      </p:sp>
      <p:sp>
        <p:nvSpPr>
          <p:cNvPr id="360" name="PlaceHolder 2"/>
          <p:cNvSpPr>
            <a:spLocks noGrp="1"/>
          </p:cNvSpPr>
          <p:nvPr>
            <p:ph/>
          </p:nvPr>
        </p:nvSpPr>
        <p:spPr>
          <a:xfrm>
            <a:off x="474840" y="679680"/>
            <a:ext cx="8279640" cy="2457720"/>
          </a:xfrm>
          <a:prstGeom prst="rect">
            <a:avLst/>
          </a:prstGeom>
          <a:noFill/>
          <a:ln w="0">
            <a:noFill/>
          </a:ln>
        </p:spPr>
        <p:txBody>
          <a:bodyPr anchor="t">
            <a:noAutofit/>
          </a:bodyPr>
          <a:p>
            <a:pPr marL="285840" indent="-28584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In an Ethernet LAN, every network device is connected to the same, shared media. MAC addressing provides a method for device identification at the data link layer of the OSI model.</a:t>
            </a:r>
            <a:endParaRPr b="0" lang="en-US" sz="1500" spc="-1" strike="noStrike">
              <a:solidFill>
                <a:srgbClr val="58585b"/>
              </a:solidFill>
              <a:latin typeface="Arial"/>
            </a:endParaRPr>
          </a:p>
          <a:p>
            <a:pPr marL="285840" indent="-28584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An Ethernet MAC address is a 48-bit address expressed using 12 hexadecimal digits. Because a byte equals 8 bits, we can also say that a MAC address is 6 bytes in length.</a:t>
            </a:r>
            <a:endParaRPr b="0" lang="en-US" sz="1500" spc="-1" strike="noStrike">
              <a:solidFill>
                <a:srgbClr val="58585b"/>
              </a:solidFill>
              <a:latin typeface="Arial"/>
            </a:endParaRPr>
          </a:p>
          <a:p>
            <a:pPr marL="285840" indent="-28584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All MAC addresses must be unique to the Ethernet device or Ethernet interface. To ensure this, all vendors that sell Ethernet devices must register with the IEEE to obtain a unique 6 hexadecimal (i.e., 24-bit or 3-byte) code called the organizationally unique identifier (OUI).</a:t>
            </a:r>
            <a:endParaRPr b="0" lang="en-US" sz="1500" spc="-1" strike="noStrike">
              <a:solidFill>
                <a:srgbClr val="58585b"/>
              </a:solidFill>
              <a:latin typeface="Arial"/>
            </a:endParaRPr>
          </a:p>
          <a:p>
            <a:pPr marL="285840" indent="-285840">
              <a:lnSpc>
                <a:spcPct val="100000"/>
              </a:lnSpc>
              <a:spcBef>
                <a:spcPts val="300"/>
              </a:spcBef>
              <a:buClr>
                <a:srgbClr val="000000"/>
              </a:buClr>
              <a:buFont typeface="Arial"/>
              <a:buChar char="•"/>
            </a:pPr>
            <a:r>
              <a:rPr b="0" lang="en-US" sz="1500" spc="-1" strike="noStrike">
                <a:solidFill>
                  <a:srgbClr val="000000"/>
                </a:solidFill>
                <a:latin typeface="Arial"/>
                <a:ea typeface="ＭＳ Ｐゴシック"/>
              </a:rPr>
              <a:t>An Ethernet MAC address consists of a 6 hexadecimal vendor OUI code followed by a 6 hexadecimal vendor-assigned value.</a:t>
            </a:r>
            <a:endParaRPr b="0" lang="en-US" sz="1500" spc="-1" strike="noStrike">
              <a:solidFill>
                <a:srgbClr val="58585b"/>
              </a:solidFill>
              <a:latin typeface="Arial"/>
            </a:endParaRPr>
          </a:p>
          <a:p>
            <a:pPr>
              <a:lnSpc>
                <a:spcPct val="100000"/>
              </a:lnSpc>
              <a:spcBef>
                <a:spcPts val="281"/>
              </a:spcBef>
              <a:buNone/>
            </a:pPr>
            <a:endParaRPr b="0" lang="en-US" sz="1500" spc="-1" strike="noStrike">
              <a:solidFill>
                <a:srgbClr val="58585b"/>
              </a:solidFill>
              <a:latin typeface="Arial"/>
            </a:endParaRPr>
          </a:p>
        </p:txBody>
      </p:sp>
      <p:pic>
        <p:nvPicPr>
          <p:cNvPr id="361" name="Picture 4" descr=""/>
          <p:cNvPicPr/>
          <p:nvPr/>
        </p:nvPicPr>
        <p:blipFill>
          <a:blip r:embed="rId1"/>
          <a:stretch/>
        </p:blipFill>
        <p:spPr>
          <a:xfrm>
            <a:off x="1075320" y="3289680"/>
            <a:ext cx="6761520" cy="16380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MAC Addresses</a:t>
            </a:r>
            <a:br/>
            <a:r>
              <a:rPr b="0" lang="en-US" sz="2400" spc="-1" strike="noStrike">
                <a:solidFill>
                  <a:srgbClr val="004c69"/>
                </a:solidFill>
                <a:latin typeface="Arial"/>
                <a:ea typeface="ＭＳ Ｐゴシック"/>
              </a:rPr>
              <a:t>Frame Processing</a:t>
            </a:r>
            <a:endParaRPr b="0" lang="en-US" sz="2400" spc="-1" strike="noStrike">
              <a:solidFill>
                <a:srgbClr val="58585b"/>
              </a:solidFill>
              <a:latin typeface="Arial"/>
            </a:endParaRPr>
          </a:p>
        </p:txBody>
      </p:sp>
      <p:sp>
        <p:nvSpPr>
          <p:cNvPr id="363" name="PlaceHolder 2"/>
          <p:cNvSpPr>
            <a:spLocks noGrp="1"/>
          </p:cNvSpPr>
          <p:nvPr>
            <p:ph/>
          </p:nvPr>
        </p:nvSpPr>
        <p:spPr>
          <a:xfrm>
            <a:off x="237960" y="763560"/>
            <a:ext cx="5211000" cy="3657600"/>
          </a:xfrm>
          <a:prstGeom prst="rect">
            <a:avLst/>
          </a:prstGeom>
          <a:noFill/>
          <a:ln w="0">
            <a:noFill/>
          </a:ln>
        </p:spPr>
        <p:txBody>
          <a:bodyPr anchor="t">
            <a:noAutofit/>
          </a:bodyPr>
          <a:p>
            <a:pPr marL="285840" indent="-28584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When a device is forwarding a message to an Ethernet network, the Ethernet header include a Source MAC address and a Destination MAC address.</a:t>
            </a:r>
            <a:endParaRPr b="0" lang="en-US" sz="1400" spc="-1" strike="noStrike">
              <a:solidFill>
                <a:srgbClr val="58585b"/>
              </a:solidFill>
              <a:latin typeface="Arial"/>
            </a:endParaRPr>
          </a:p>
          <a:p>
            <a:pPr marL="285840" indent="-285840">
              <a:lnSpc>
                <a:spcPct val="100000"/>
              </a:lnSpc>
              <a:spcBef>
                <a:spcPts val="281"/>
              </a:spcBef>
              <a:buClr>
                <a:srgbClr val="000000"/>
              </a:buClr>
              <a:buFont typeface="Arial"/>
              <a:buChar char="•"/>
            </a:pPr>
            <a:r>
              <a:rPr b="0" lang="en-US" sz="1400" spc="-1" strike="noStrike">
                <a:solidFill>
                  <a:srgbClr val="000000"/>
                </a:solidFill>
                <a:latin typeface="Arial"/>
                <a:ea typeface="ＭＳ Ｐゴシック"/>
              </a:rPr>
              <a:t>When a NIC receives an Ethernet frame, it examines the destination MAC address to see if it matches the physical MAC address that is stored in RAM. If there is no match, the device discards the frame. If there is a match, it passes the frame up the OSI layers, where the de-encapsulation process takes place.</a:t>
            </a:r>
            <a:endParaRPr b="0" lang="en-US" sz="1400" spc="-1" strike="noStrike">
              <a:solidFill>
                <a:srgbClr val="58585b"/>
              </a:solidFill>
              <a:latin typeface="Arial"/>
            </a:endParaRPr>
          </a:p>
          <a:p>
            <a:pPr marL="73080">
              <a:lnSpc>
                <a:spcPct val="95000"/>
              </a:lnSpc>
              <a:spcBef>
                <a:spcPts val="601"/>
              </a:spcBef>
              <a:buNone/>
              <a:tabLst>
                <a:tab algn="l" pos="0"/>
              </a:tabLst>
            </a:pPr>
            <a:r>
              <a:rPr b="1" lang="en-US" sz="1200" spc="-1" strike="noStrike">
                <a:solidFill>
                  <a:srgbClr val="000000"/>
                </a:solidFill>
                <a:latin typeface="Arial"/>
                <a:ea typeface="ＭＳ Ｐゴシック"/>
              </a:rPr>
              <a:t>Note:</a:t>
            </a:r>
            <a:r>
              <a:rPr b="0" lang="en-US" sz="1200" spc="-1" strike="noStrike">
                <a:solidFill>
                  <a:srgbClr val="000000"/>
                </a:solidFill>
                <a:latin typeface="Arial"/>
                <a:ea typeface="ＭＳ Ｐゴシック"/>
              </a:rPr>
              <a:t> Ethernet NICs will also accept frames if the destination MAC address is a broadcast or a multicast group of which the host is a member.</a:t>
            </a:r>
            <a:endParaRPr b="0" lang="en-US" sz="1200" spc="-1" strike="noStrike">
              <a:solidFill>
                <a:srgbClr val="58585b"/>
              </a:solidFill>
              <a:latin typeface="Arial"/>
            </a:endParaRPr>
          </a:p>
          <a:p>
            <a:pPr marL="285840" indent="-285840">
              <a:lnSpc>
                <a:spcPct val="100000"/>
              </a:lnSpc>
              <a:spcBef>
                <a:spcPts val="281"/>
              </a:spcBef>
              <a:buClr>
                <a:srgbClr val="000000"/>
              </a:buClr>
              <a:buFont typeface="Arial"/>
              <a:buChar char="•"/>
              <a:tabLst>
                <a:tab algn="l" pos="0"/>
              </a:tabLst>
            </a:pPr>
            <a:r>
              <a:rPr b="0" lang="en-US" sz="1400" spc="-1" strike="noStrike">
                <a:solidFill>
                  <a:srgbClr val="000000"/>
                </a:solidFill>
                <a:latin typeface="Arial"/>
                <a:ea typeface="ＭＳ Ｐゴシック"/>
              </a:rPr>
              <a:t>Any device that is the source or destination of an Ethernet frame, will have an Ethernet NIC and therefore, a MAC address. This includes workstations, servers, printers, mobile devices, and routers.</a:t>
            </a: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p:txBody>
      </p:sp>
      <p:pic>
        <p:nvPicPr>
          <p:cNvPr id="364" name="Picture 4" descr=""/>
          <p:cNvPicPr/>
          <p:nvPr/>
        </p:nvPicPr>
        <p:blipFill>
          <a:blip r:embed="rId1"/>
          <a:stretch/>
        </p:blipFill>
        <p:spPr>
          <a:xfrm>
            <a:off x="5341680" y="1144440"/>
            <a:ext cx="3677040" cy="24091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MAC Addresses</a:t>
            </a:r>
            <a:br/>
            <a:r>
              <a:rPr b="0" lang="en-US" sz="2400" spc="-1" strike="noStrike">
                <a:solidFill>
                  <a:srgbClr val="004c69"/>
                </a:solidFill>
                <a:latin typeface="Arial"/>
                <a:ea typeface="ＭＳ Ｐゴシック"/>
              </a:rPr>
              <a:t>Unicast MAC Address</a:t>
            </a:r>
            <a:endParaRPr b="0" lang="en-US" sz="2400" spc="-1" strike="noStrike">
              <a:solidFill>
                <a:srgbClr val="58585b"/>
              </a:solidFill>
              <a:latin typeface="Arial"/>
            </a:endParaRPr>
          </a:p>
        </p:txBody>
      </p:sp>
      <p:sp>
        <p:nvSpPr>
          <p:cNvPr id="366" name="PlaceHolder 2"/>
          <p:cNvSpPr>
            <a:spLocks noGrp="1"/>
          </p:cNvSpPr>
          <p:nvPr>
            <p:ph/>
          </p:nvPr>
        </p:nvSpPr>
        <p:spPr>
          <a:xfrm>
            <a:off x="277920" y="763560"/>
            <a:ext cx="3894480" cy="361836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In Ethernet, different MAC addresses are used for Layer 2 unicast, broadcast, and multicast communications.</a:t>
            </a:r>
            <a:endParaRPr b="0" lang="en-US" sz="16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0" lang="en-US" sz="1400" spc="-1" strike="noStrike">
                <a:solidFill>
                  <a:srgbClr val="000000"/>
                </a:solidFill>
                <a:latin typeface="Arial"/>
                <a:ea typeface="ＭＳ Ｐゴシック"/>
              </a:rPr>
              <a:t>A unicast MAC address is the unique address that is used when a frame is sent from a single transmitting device to a single destination device.</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0" lang="en-US" sz="1400" spc="-1" strike="noStrike">
                <a:solidFill>
                  <a:srgbClr val="000000"/>
                </a:solidFill>
                <a:latin typeface="Arial"/>
                <a:ea typeface="ＭＳ Ｐゴシック"/>
              </a:rPr>
              <a:t>The process that a source host uses to determine the destination MAC address associated with an IPv4 address is known as Address Resolution Protocol (ARP). The process that a source host uses to determine the destination MAC address associated with an IPv6 address is known as Neighbor Discovery (ND).</a:t>
            </a:r>
            <a:endParaRPr b="0" lang="en-US" sz="1400" spc="-1" strike="noStrike">
              <a:solidFill>
                <a:srgbClr val="58585b"/>
              </a:solidFill>
              <a:latin typeface="Arial"/>
            </a:endParaRPr>
          </a:p>
          <a:p>
            <a:pPr>
              <a:lnSpc>
                <a:spcPct val="100000"/>
              </a:lnSpc>
              <a:spcBef>
                <a:spcPts val="281"/>
              </a:spcBef>
              <a:buNone/>
              <a:tabLst>
                <a:tab algn="l" pos="0"/>
              </a:tabLst>
            </a:pPr>
            <a:r>
              <a:rPr b="1" lang="en-US" sz="1400" spc="-1" strike="noStrike">
                <a:solidFill>
                  <a:srgbClr val="000000"/>
                </a:solidFill>
                <a:latin typeface="Arial"/>
                <a:ea typeface="ＭＳ Ｐゴシック"/>
              </a:rPr>
              <a:t>Note:</a:t>
            </a:r>
            <a:r>
              <a:rPr b="0" lang="en-US" sz="1400" spc="-1" strike="noStrike">
                <a:solidFill>
                  <a:srgbClr val="000000"/>
                </a:solidFill>
                <a:latin typeface="Arial"/>
                <a:ea typeface="ＭＳ Ｐゴシック"/>
              </a:rPr>
              <a:t> The source MAC address must always be a unicast.</a:t>
            </a: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p:txBody>
      </p:sp>
      <p:pic>
        <p:nvPicPr>
          <p:cNvPr id="367" name="Picture 4" descr=""/>
          <p:cNvPicPr/>
          <p:nvPr/>
        </p:nvPicPr>
        <p:blipFill>
          <a:blip r:embed="rId1"/>
          <a:stretch/>
        </p:blipFill>
        <p:spPr>
          <a:xfrm>
            <a:off x="4369320" y="1103760"/>
            <a:ext cx="4418280" cy="29358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MAC Addresses</a:t>
            </a:r>
            <a:br/>
            <a:r>
              <a:rPr b="0" lang="en-US" sz="2400" spc="-1" strike="noStrike">
                <a:solidFill>
                  <a:srgbClr val="004c69"/>
                </a:solidFill>
                <a:latin typeface="Arial"/>
                <a:ea typeface="ＭＳ Ｐゴシック"/>
              </a:rPr>
              <a:t>Broadcast MAC Address</a:t>
            </a:r>
            <a:endParaRPr b="0" lang="en-US" sz="2400" spc="-1" strike="noStrike">
              <a:solidFill>
                <a:srgbClr val="58585b"/>
              </a:solidFill>
              <a:latin typeface="Arial"/>
            </a:endParaRPr>
          </a:p>
        </p:txBody>
      </p:sp>
      <p:sp>
        <p:nvSpPr>
          <p:cNvPr id="369" name="PlaceHolder 2"/>
          <p:cNvSpPr>
            <a:spLocks noGrp="1"/>
          </p:cNvSpPr>
          <p:nvPr>
            <p:ph/>
          </p:nvPr>
        </p:nvSpPr>
        <p:spPr>
          <a:xfrm>
            <a:off x="474840" y="763560"/>
            <a:ext cx="4488120" cy="3657600"/>
          </a:xfrm>
          <a:prstGeom prst="rect">
            <a:avLst/>
          </a:prstGeom>
          <a:noFill/>
          <a:ln w="0">
            <a:noFill/>
          </a:ln>
        </p:spPr>
        <p:txBody>
          <a:bodyPr anchor="t">
            <a:noAutofit/>
          </a:bodyPr>
          <a:p>
            <a:pPr>
              <a:lnSpc>
                <a:spcPct val="100000"/>
              </a:lnSpc>
              <a:spcBef>
                <a:spcPts val="300"/>
              </a:spcBef>
              <a:buNone/>
              <a:tabLst>
                <a:tab algn="l" pos="0"/>
              </a:tabLst>
            </a:pPr>
            <a:r>
              <a:rPr b="0" lang="en-US" sz="1500" spc="-1" strike="noStrike">
                <a:solidFill>
                  <a:srgbClr val="000000"/>
                </a:solidFill>
                <a:latin typeface="Arial"/>
                <a:ea typeface="ＭＳ Ｐゴシック"/>
              </a:rPr>
              <a:t>An Ethernet broadcast frame is received and processed by every device on the Ethernet LAN. The features of an Ethernet broadcast are as follows:</a:t>
            </a:r>
            <a:endParaRPr b="0" lang="en-US" sz="1500" spc="-1" strike="noStrike">
              <a:solidFill>
                <a:srgbClr val="58585b"/>
              </a:solidFill>
              <a:latin typeface="Arial"/>
            </a:endParaRPr>
          </a:p>
          <a:p>
            <a:pPr marL="285840" indent="-28584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It has a destination MAC address of FF-FF-FF-FF-FF-FF in hexadecimal (48 ones in binary).</a:t>
            </a:r>
            <a:endParaRPr b="0" lang="en-US" sz="1500" spc="-1" strike="noStrike">
              <a:solidFill>
                <a:srgbClr val="58585b"/>
              </a:solidFill>
              <a:latin typeface="Arial"/>
            </a:endParaRPr>
          </a:p>
          <a:p>
            <a:pPr marL="285840" indent="-28584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It is flooded out all Ethernet switch ports except the incoming port. It is not forwarded by a router.</a:t>
            </a:r>
            <a:endParaRPr b="0" lang="en-US" sz="1500" spc="-1" strike="noStrike">
              <a:solidFill>
                <a:srgbClr val="58585b"/>
              </a:solidFill>
              <a:latin typeface="Arial"/>
            </a:endParaRPr>
          </a:p>
          <a:p>
            <a:pPr marL="285840" indent="-28584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If the encapsulated data is an IPv4 broadcast packet, this means the packet contains a destination IPv4 address that has all ones (1s) in the host portion. This numbering in the address means that all hosts on that local network (broadcast domain) will receive and process the packet.</a:t>
            </a:r>
            <a:endParaRPr b="0" lang="en-US" sz="1500" spc="-1" strike="noStrike">
              <a:solidFill>
                <a:srgbClr val="58585b"/>
              </a:solidFill>
              <a:latin typeface="Arial"/>
            </a:endParaRPr>
          </a:p>
          <a:p>
            <a:pPr>
              <a:lnSpc>
                <a:spcPct val="100000"/>
              </a:lnSpc>
              <a:spcBef>
                <a:spcPts val="281"/>
              </a:spcBef>
              <a:buNone/>
              <a:tabLst>
                <a:tab algn="l" pos="0"/>
              </a:tabLst>
            </a:pPr>
            <a:endParaRPr b="0" lang="en-US" sz="1500" spc="-1" strike="noStrike">
              <a:solidFill>
                <a:srgbClr val="58585b"/>
              </a:solidFill>
              <a:latin typeface="Arial"/>
            </a:endParaRPr>
          </a:p>
        </p:txBody>
      </p:sp>
      <p:pic>
        <p:nvPicPr>
          <p:cNvPr id="370" name="Picture 4" descr=""/>
          <p:cNvPicPr/>
          <p:nvPr/>
        </p:nvPicPr>
        <p:blipFill>
          <a:blip r:embed="rId1"/>
          <a:stretch/>
        </p:blipFill>
        <p:spPr>
          <a:xfrm>
            <a:off x="4962960" y="1112040"/>
            <a:ext cx="4012200" cy="2608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MAC Addresses</a:t>
            </a:r>
            <a:br/>
            <a:r>
              <a:rPr b="0" lang="en-US" sz="2400" spc="-1" strike="noStrike">
                <a:solidFill>
                  <a:srgbClr val="004c69"/>
                </a:solidFill>
                <a:latin typeface="Arial"/>
                <a:ea typeface="ＭＳ Ｐゴシック"/>
              </a:rPr>
              <a:t>Multicast MAC Address</a:t>
            </a:r>
            <a:endParaRPr b="0" lang="en-US" sz="2400" spc="-1" strike="noStrike">
              <a:solidFill>
                <a:srgbClr val="58585b"/>
              </a:solidFill>
              <a:latin typeface="Arial"/>
            </a:endParaRPr>
          </a:p>
        </p:txBody>
      </p:sp>
      <p:sp>
        <p:nvSpPr>
          <p:cNvPr id="372" name="PlaceHolder 2"/>
          <p:cNvSpPr>
            <a:spLocks noGrp="1"/>
          </p:cNvSpPr>
          <p:nvPr>
            <p:ph/>
          </p:nvPr>
        </p:nvSpPr>
        <p:spPr>
          <a:xfrm>
            <a:off x="133200" y="763560"/>
            <a:ext cx="5038200" cy="3836520"/>
          </a:xfrm>
          <a:prstGeom prst="rect">
            <a:avLst/>
          </a:prstGeom>
          <a:noFill/>
          <a:ln w="0">
            <a:noFill/>
          </a:ln>
        </p:spPr>
        <p:txBody>
          <a:bodyPr anchor="t">
            <a:noAutofit/>
          </a:bodyPr>
          <a:p>
            <a:pPr>
              <a:lnSpc>
                <a:spcPct val="100000"/>
              </a:lnSpc>
              <a:spcBef>
                <a:spcPts val="241"/>
              </a:spcBef>
              <a:buNone/>
              <a:tabLst>
                <a:tab algn="l" pos="0"/>
              </a:tabLst>
            </a:pPr>
            <a:r>
              <a:rPr b="0" lang="en-US" sz="1200" spc="-1" strike="noStrike">
                <a:solidFill>
                  <a:srgbClr val="000000"/>
                </a:solidFill>
                <a:latin typeface="Arial"/>
                <a:ea typeface="ＭＳ Ｐゴシック"/>
              </a:rPr>
              <a:t>An Ethernet multicast frame is received and processed by a group of devices that belong to the same multicast group. </a:t>
            </a:r>
            <a:endParaRPr b="0" lang="en-US" sz="1200" spc="-1" strike="noStrike">
              <a:solidFill>
                <a:srgbClr val="58585b"/>
              </a:solidFill>
              <a:latin typeface="Arial"/>
            </a:endParaRPr>
          </a:p>
          <a:p>
            <a:pPr marL="285840" indent="-285840">
              <a:lnSpc>
                <a:spcPct val="100000"/>
              </a:lnSpc>
              <a:spcBef>
                <a:spcPts val="261"/>
              </a:spcBef>
              <a:buClr>
                <a:srgbClr val="000000"/>
              </a:buClr>
              <a:buFont typeface="Arial"/>
              <a:buChar char="•"/>
              <a:tabLst>
                <a:tab algn="l" pos="0"/>
              </a:tabLst>
            </a:pPr>
            <a:r>
              <a:rPr b="0" lang="en-US" sz="1300" spc="-1" strike="noStrike">
                <a:solidFill>
                  <a:srgbClr val="000000"/>
                </a:solidFill>
                <a:latin typeface="Arial"/>
                <a:ea typeface="ＭＳ Ｐゴシック"/>
              </a:rPr>
              <a:t>There is a destination MAC address of 01-00-5E when the encapsulated data is an IPv4 multicast packet and a destination MAC address of 33-33 when the encapsulated data is an IPv6 multicast packet.</a:t>
            </a:r>
            <a:endParaRPr b="0" lang="en-US" sz="1300" spc="-1" strike="noStrike">
              <a:solidFill>
                <a:srgbClr val="58585b"/>
              </a:solidFill>
              <a:latin typeface="Arial"/>
            </a:endParaRPr>
          </a:p>
          <a:p>
            <a:pPr marL="285840" indent="-285840">
              <a:lnSpc>
                <a:spcPct val="100000"/>
              </a:lnSpc>
              <a:spcBef>
                <a:spcPts val="261"/>
              </a:spcBef>
              <a:buClr>
                <a:srgbClr val="000000"/>
              </a:buClr>
              <a:buFont typeface="Arial"/>
              <a:buChar char="•"/>
              <a:tabLst>
                <a:tab algn="l" pos="0"/>
              </a:tabLst>
            </a:pPr>
            <a:r>
              <a:rPr b="0" lang="en-US" sz="1300" spc="-1" strike="noStrike">
                <a:solidFill>
                  <a:srgbClr val="000000"/>
                </a:solidFill>
                <a:latin typeface="Arial"/>
                <a:ea typeface="ＭＳ Ｐゴシック"/>
              </a:rPr>
              <a:t>There are other reserved multicast destination MAC addresses for when the encapsulated data is not IP, such as Spanning Tree Protocol (STP).</a:t>
            </a:r>
            <a:endParaRPr b="0" lang="en-US" sz="1300" spc="-1" strike="noStrike">
              <a:solidFill>
                <a:srgbClr val="58585b"/>
              </a:solidFill>
              <a:latin typeface="Arial"/>
            </a:endParaRPr>
          </a:p>
          <a:p>
            <a:pPr marL="285840" indent="-285840">
              <a:lnSpc>
                <a:spcPct val="100000"/>
              </a:lnSpc>
              <a:spcBef>
                <a:spcPts val="261"/>
              </a:spcBef>
              <a:buClr>
                <a:srgbClr val="000000"/>
              </a:buClr>
              <a:buFont typeface="Arial"/>
              <a:buChar char="•"/>
              <a:tabLst>
                <a:tab algn="l" pos="0"/>
              </a:tabLst>
            </a:pPr>
            <a:r>
              <a:rPr b="0" lang="en-US" sz="1300" spc="-1" strike="noStrike">
                <a:solidFill>
                  <a:srgbClr val="000000"/>
                </a:solidFill>
                <a:latin typeface="Arial"/>
                <a:ea typeface="ＭＳ Ｐゴシック"/>
              </a:rPr>
              <a:t>It is flooded out all Ethernet switch ports except the incoming port, unless the switch is configured for multicast snooping. It is not forwarded by a router, unless the router is configured to route multicast packets.</a:t>
            </a:r>
            <a:endParaRPr b="0" lang="en-US" sz="1300" spc="-1" strike="noStrike">
              <a:solidFill>
                <a:srgbClr val="58585b"/>
              </a:solidFill>
              <a:latin typeface="Arial"/>
            </a:endParaRPr>
          </a:p>
          <a:p>
            <a:pPr marL="285840" indent="-285840">
              <a:lnSpc>
                <a:spcPct val="100000"/>
              </a:lnSpc>
              <a:spcBef>
                <a:spcPts val="261"/>
              </a:spcBef>
              <a:buClr>
                <a:srgbClr val="000000"/>
              </a:buClr>
              <a:buFont typeface="Arial"/>
              <a:buChar char="•"/>
              <a:tabLst>
                <a:tab algn="l" pos="0"/>
              </a:tabLst>
            </a:pPr>
            <a:r>
              <a:rPr b="0" lang="en-US" sz="1300" spc="-1" strike="noStrike">
                <a:solidFill>
                  <a:srgbClr val="000000"/>
                </a:solidFill>
                <a:latin typeface="Arial"/>
                <a:ea typeface="ＭＳ Ｐゴシック"/>
              </a:rPr>
              <a:t>Because multicast addresses represent a group of addresses (sometimes called a host group), they can only be used as the destination of a packet. The source will always be a unicast address.</a:t>
            </a:r>
            <a:endParaRPr b="0" lang="en-US" sz="1300" spc="-1" strike="noStrike">
              <a:solidFill>
                <a:srgbClr val="58585b"/>
              </a:solidFill>
              <a:latin typeface="Arial"/>
            </a:endParaRPr>
          </a:p>
          <a:p>
            <a:pPr marL="285840" indent="-285840">
              <a:lnSpc>
                <a:spcPct val="100000"/>
              </a:lnSpc>
              <a:spcBef>
                <a:spcPts val="261"/>
              </a:spcBef>
              <a:buClr>
                <a:srgbClr val="000000"/>
              </a:buClr>
              <a:buFont typeface="Arial"/>
              <a:buChar char="•"/>
              <a:tabLst>
                <a:tab algn="l" pos="0"/>
              </a:tabLst>
            </a:pPr>
            <a:r>
              <a:rPr b="0" lang="en-US" sz="1300" spc="-1" strike="noStrike">
                <a:solidFill>
                  <a:srgbClr val="000000"/>
                </a:solidFill>
                <a:latin typeface="Arial"/>
                <a:ea typeface="ＭＳ Ｐゴシック"/>
              </a:rPr>
              <a:t>As with the unicast and broadcast addresses, the multicast IP address requires a corresponding multicast MAC address.</a:t>
            </a:r>
            <a:endParaRPr b="0" lang="en-US" sz="1300" spc="-1" strike="noStrike">
              <a:solidFill>
                <a:srgbClr val="58585b"/>
              </a:solidFill>
              <a:latin typeface="Arial"/>
            </a:endParaRPr>
          </a:p>
        </p:txBody>
      </p:sp>
      <p:pic>
        <p:nvPicPr>
          <p:cNvPr id="373" name="Picture 4" descr=""/>
          <p:cNvPicPr/>
          <p:nvPr/>
        </p:nvPicPr>
        <p:blipFill>
          <a:blip r:embed="rId1"/>
          <a:stretch/>
        </p:blipFill>
        <p:spPr>
          <a:xfrm>
            <a:off x="5305320" y="1211400"/>
            <a:ext cx="3607200" cy="24807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Ethernet MAC Addresses</a:t>
            </a:r>
            <a:br/>
            <a:r>
              <a:rPr b="0" lang="en-US" sz="2400" spc="-1" strike="noStrike">
                <a:solidFill>
                  <a:srgbClr val="004c69"/>
                </a:solidFill>
                <a:latin typeface="Arial"/>
                <a:ea typeface="ＭＳ Ｐゴシック"/>
              </a:rPr>
              <a:t>Lab – View Network Device MAC Addresses</a:t>
            </a:r>
            <a:endParaRPr b="0" lang="en-US" sz="2400" spc="-1" strike="noStrike">
              <a:solidFill>
                <a:srgbClr val="58585b"/>
              </a:solidFill>
              <a:latin typeface="Arial"/>
            </a:endParaRPr>
          </a:p>
        </p:txBody>
      </p:sp>
      <p:sp>
        <p:nvSpPr>
          <p:cNvPr id="375" name="PlaceHolder 2"/>
          <p:cNvSpPr>
            <a:spLocks noGrp="1"/>
          </p:cNvSpPr>
          <p:nvPr>
            <p:ph/>
          </p:nvPr>
        </p:nvSpPr>
        <p:spPr>
          <a:xfrm>
            <a:off x="224280" y="837720"/>
            <a:ext cx="8279640" cy="3073680"/>
          </a:xfrm>
          <a:prstGeom prst="rect">
            <a:avLst/>
          </a:prstGeom>
          <a:noFill/>
          <a:ln w="0">
            <a:noFill/>
          </a:ln>
        </p:spPr>
        <p:txBody>
          <a:bodyPr anchor="t">
            <a:noAutofit/>
          </a:bodyPr>
          <a:p>
            <a:pPr marL="285840" indent="-285840">
              <a:lnSpc>
                <a:spcPct val="100000"/>
              </a:lnSpc>
              <a:spcBef>
                <a:spcPts val="400"/>
              </a:spcBef>
              <a:buNone/>
              <a:tabLst>
                <a:tab algn="l" pos="0"/>
              </a:tabLst>
            </a:pPr>
            <a:r>
              <a:rPr b="0" lang="en-US" sz="2000" spc="-1" strike="noStrike">
                <a:solidFill>
                  <a:srgbClr val="000000"/>
                </a:solidFill>
                <a:latin typeface="Arial"/>
                <a:ea typeface="ＭＳ Ｐゴシック"/>
              </a:rPr>
              <a:t>In this lab, you will complete the following objectives:</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1: Set Up the Topology and Initialize Devices</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2: Configure Devices and Verify Connectivity</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3: Display, Describe, and Analyze Ethernet MAC Addresses</a:t>
            </a:r>
            <a:endParaRPr b="0" lang="en-US" sz="2000" spc="-1" strike="noStrike">
              <a:solidFill>
                <a:srgbClr val="58585b"/>
              </a:solidFill>
              <a:latin typeface="Arial"/>
            </a:endParaRPr>
          </a:p>
          <a:p>
            <a:pPr marL="285840" indent="-285840">
              <a:lnSpc>
                <a:spcPct val="100000"/>
              </a:lnSpc>
              <a:spcBef>
                <a:spcPts val="400"/>
              </a:spcBef>
              <a:buNone/>
              <a:tabLst>
                <a:tab algn="l" pos="0"/>
              </a:tabLst>
            </a:pPr>
            <a:endParaRPr b="0" lang="en-US" sz="20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7.3 The MAC Address Table</a:t>
            </a:r>
            <a:endParaRPr b="0" lang="en-US" sz="4600" spc="-1" strike="noStrike">
              <a:solidFill>
                <a:srgbClr val="58585b"/>
              </a:solidFill>
              <a:latin typeface="Arial"/>
            </a:endParaRPr>
          </a:p>
        </p:txBody>
      </p:sp>
    </p:spTree>
  </p:cSld>
  <p:transition spd="slow">
    <p:wipe dir="l"/>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The MAC Address Table</a:t>
            </a:r>
            <a:br/>
            <a:r>
              <a:rPr b="0" lang="en-US" sz="2400" spc="-1" strike="noStrike">
                <a:solidFill>
                  <a:srgbClr val="004c69"/>
                </a:solidFill>
                <a:latin typeface="Arial"/>
                <a:ea typeface="ＭＳ Ｐゴシック"/>
              </a:rPr>
              <a:t>Switch Fundamentals</a:t>
            </a:r>
            <a:endParaRPr b="0" lang="en-US" sz="2400" spc="-1" strike="noStrike">
              <a:solidFill>
                <a:srgbClr val="58585b"/>
              </a:solidFill>
              <a:latin typeface="Arial"/>
            </a:endParaRPr>
          </a:p>
        </p:txBody>
      </p:sp>
      <p:sp>
        <p:nvSpPr>
          <p:cNvPr id="378" name="PlaceHolder 2"/>
          <p:cNvSpPr>
            <a:spLocks noGrp="1"/>
          </p:cNvSpPr>
          <p:nvPr>
            <p:ph/>
          </p:nvPr>
        </p:nvSpPr>
        <p:spPr>
          <a:xfrm>
            <a:off x="474840" y="763560"/>
            <a:ext cx="8279640" cy="365760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A Layer 2 Ethernet switch uses Layer 2 MAC addresses to make forwarding decisions. It is completely unaware of the data (protocol) being carried in the data portion of the frame, such as an IPv4 packet, an ARP message, or an IPv6 ND packet. The switch makes its forwarding decisions based solely on the Layer 2 Ethernet MAC addresses.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An Ethernet switch examines its MAC address table to make a forwarding decision for each frame, unlike legacy Ethernet hubs that repeat bits out all ports except the incoming port. </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When a switch is turned on, the MAC address table is empty</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The MAC address table is sometimes referred to as a content addressable memory (CAM) table.</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The MAC Address Table</a:t>
            </a:r>
            <a:br/>
            <a:r>
              <a:rPr b="0" lang="en-US" sz="2400" spc="-1" strike="noStrike">
                <a:solidFill>
                  <a:srgbClr val="004c69"/>
                </a:solidFill>
                <a:latin typeface="Arial"/>
                <a:ea typeface="ＭＳ Ｐゴシック"/>
              </a:rPr>
              <a:t>Switch Learning and Forwarding</a:t>
            </a:r>
            <a:endParaRPr b="0" lang="en-US" sz="2400" spc="-1" strike="noStrike">
              <a:solidFill>
                <a:srgbClr val="58585b"/>
              </a:solidFill>
              <a:latin typeface="Arial"/>
            </a:endParaRPr>
          </a:p>
        </p:txBody>
      </p:sp>
      <p:sp>
        <p:nvSpPr>
          <p:cNvPr id="380" name="PlaceHolder 2"/>
          <p:cNvSpPr>
            <a:spLocks noGrp="1"/>
          </p:cNvSpPr>
          <p:nvPr>
            <p:ph/>
          </p:nvPr>
        </p:nvSpPr>
        <p:spPr>
          <a:xfrm>
            <a:off x="474840" y="763560"/>
            <a:ext cx="8279640" cy="3657600"/>
          </a:xfrm>
          <a:prstGeom prst="rect">
            <a:avLst/>
          </a:prstGeom>
          <a:noFill/>
          <a:ln w="0">
            <a:noFill/>
          </a:ln>
        </p:spPr>
        <p:txBody>
          <a:bodyPr anchor="t">
            <a:noAutofit/>
          </a:bodyPr>
          <a:p>
            <a:pPr>
              <a:lnSpc>
                <a:spcPct val="100000"/>
              </a:lnSpc>
              <a:spcBef>
                <a:spcPts val="320"/>
              </a:spcBef>
              <a:buNone/>
              <a:tabLst>
                <a:tab algn="l" pos="0"/>
              </a:tabLst>
            </a:pPr>
            <a:r>
              <a:rPr b="1" lang="en-US" sz="1600" spc="-1" strike="noStrike">
                <a:solidFill>
                  <a:srgbClr val="000000"/>
                </a:solidFill>
                <a:latin typeface="Arial"/>
                <a:ea typeface="ＭＳ Ｐゴシック"/>
              </a:rPr>
              <a:t>Examine the Source MAC Address (Learn)</a:t>
            </a: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Every frame that enters a switch is checked for new information to learn. It does this by examining the source MAC address of the frame and the port number where the frame entered the switch. If the source MAC address does not exist, it is added to the table along with the incoming port number. If the source MAC address does exist, the switch updates the refresh timer for that entry. By default, most Ethernet switches keep an entry in the table for 5 minutes.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If the source MAC address does exist in the table but on a different port, the switch treats this as a new entry. The entry is replaced using the same MAC address but with the more current port number.</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The MAC Address Table</a:t>
            </a:r>
            <a:br/>
            <a:r>
              <a:rPr b="0" lang="en-US" sz="2400" spc="-1" strike="noStrike">
                <a:solidFill>
                  <a:srgbClr val="004c69"/>
                </a:solidFill>
                <a:latin typeface="Arial"/>
                <a:ea typeface="ＭＳ Ｐゴシック"/>
              </a:rPr>
              <a:t>Switch Learning and Forwarding (Contd.)</a:t>
            </a:r>
            <a:endParaRPr b="0" lang="en-US" sz="2400" spc="-1" strike="noStrike">
              <a:solidFill>
                <a:srgbClr val="58585b"/>
              </a:solidFill>
              <a:latin typeface="Arial"/>
            </a:endParaRPr>
          </a:p>
        </p:txBody>
      </p:sp>
      <p:sp>
        <p:nvSpPr>
          <p:cNvPr id="382" name="PlaceHolder 2"/>
          <p:cNvSpPr>
            <a:spLocks noGrp="1"/>
          </p:cNvSpPr>
          <p:nvPr>
            <p:ph/>
          </p:nvPr>
        </p:nvSpPr>
        <p:spPr>
          <a:xfrm>
            <a:off x="474840" y="763560"/>
            <a:ext cx="8279640" cy="3657600"/>
          </a:xfrm>
          <a:prstGeom prst="rect">
            <a:avLst/>
          </a:prstGeom>
          <a:noFill/>
          <a:ln w="0">
            <a:noFill/>
          </a:ln>
        </p:spPr>
        <p:txBody>
          <a:bodyPr anchor="t">
            <a:noAutofit/>
          </a:bodyPr>
          <a:p>
            <a:pPr>
              <a:lnSpc>
                <a:spcPct val="100000"/>
              </a:lnSpc>
              <a:spcBef>
                <a:spcPts val="320"/>
              </a:spcBef>
              <a:buNone/>
              <a:tabLst>
                <a:tab algn="l" pos="0"/>
              </a:tabLst>
            </a:pPr>
            <a:r>
              <a:rPr b="1" lang="en-US" sz="1600" spc="-1" strike="noStrike">
                <a:solidFill>
                  <a:srgbClr val="000000"/>
                </a:solidFill>
                <a:latin typeface="Arial"/>
                <a:ea typeface="ＭＳ Ｐゴシック"/>
              </a:rPr>
              <a:t>Find the Destination MAC Address (Forward)</a:t>
            </a: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If the destination MAC address is a unicast address, the switch will look for a match between the destination MAC address of the frame and an entry in its MAC address table. If the destination MAC address is in the table, it will forward the frame out the specified port. If the destination MAC address is not in the table, the switch will forward the frame out all ports except the incoming port. This is called an unknown unicast.</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If the destination MAC address is a broadcast or a multicast, the frame is also flooded out all ports except the incoming port.</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The MAC Address Table</a:t>
            </a:r>
            <a:br/>
            <a:r>
              <a:rPr b="0" lang="en-US" sz="2400" spc="-1" strike="noStrike">
                <a:solidFill>
                  <a:srgbClr val="004c69"/>
                </a:solidFill>
                <a:latin typeface="Arial"/>
                <a:ea typeface="ＭＳ Ｐゴシック"/>
              </a:rPr>
              <a:t>Filtering Frames</a:t>
            </a:r>
            <a:endParaRPr b="0" lang="en-US" sz="2400" spc="-1" strike="noStrike">
              <a:solidFill>
                <a:srgbClr val="58585b"/>
              </a:solidFill>
              <a:latin typeface="Arial"/>
            </a:endParaRPr>
          </a:p>
        </p:txBody>
      </p:sp>
      <p:sp>
        <p:nvSpPr>
          <p:cNvPr id="384" name="PlaceHolder 2"/>
          <p:cNvSpPr>
            <a:spLocks noGrp="1"/>
          </p:cNvSpPr>
          <p:nvPr>
            <p:ph/>
          </p:nvPr>
        </p:nvSpPr>
        <p:spPr>
          <a:xfrm>
            <a:off x="474840" y="763560"/>
            <a:ext cx="8279640" cy="118008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As a switch receives frames from different devices, it is able to populate its MAC address table by examining the source MAC address of every frame. When the MAC address table of the switch contains the destination MAC address, it is able to filter the frame and forward out a single port.</a:t>
            </a:r>
            <a:endParaRPr b="0" lang="en-US" sz="1600" spc="-1" strike="noStrike">
              <a:solidFill>
                <a:srgbClr val="58585b"/>
              </a:solidFill>
              <a:latin typeface="Arial"/>
            </a:endParaRPr>
          </a:p>
        </p:txBody>
      </p:sp>
      <p:pic>
        <p:nvPicPr>
          <p:cNvPr id="385" name="Picture 4" descr=""/>
          <p:cNvPicPr/>
          <p:nvPr/>
        </p:nvPicPr>
        <p:blipFill>
          <a:blip r:embed="rId1"/>
          <a:stretch/>
        </p:blipFill>
        <p:spPr>
          <a:xfrm>
            <a:off x="1991880" y="1944360"/>
            <a:ext cx="4361040" cy="28080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The MAC Address Table</a:t>
            </a:r>
            <a:br/>
            <a:r>
              <a:rPr b="0" lang="en-US" sz="2400" spc="-1" strike="noStrike">
                <a:solidFill>
                  <a:srgbClr val="004c69"/>
                </a:solidFill>
                <a:latin typeface="Arial"/>
                <a:ea typeface="ＭＳ Ｐゴシック"/>
              </a:rPr>
              <a:t>Video – MAC Address Tables on Connected Switches</a:t>
            </a:r>
            <a:endParaRPr b="0" lang="en-US" sz="2400" spc="-1" strike="noStrike">
              <a:solidFill>
                <a:srgbClr val="58585b"/>
              </a:solidFill>
              <a:latin typeface="Arial"/>
            </a:endParaRPr>
          </a:p>
        </p:txBody>
      </p:sp>
      <p:sp>
        <p:nvSpPr>
          <p:cNvPr id="387" name="PlaceHolder 2"/>
          <p:cNvSpPr>
            <a:spLocks noGrp="1"/>
          </p:cNvSpPr>
          <p:nvPr>
            <p:ph/>
          </p:nvPr>
        </p:nvSpPr>
        <p:spPr>
          <a:xfrm>
            <a:off x="432000" y="914760"/>
            <a:ext cx="8279640" cy="3073680"/>
          </a:xfrm>
          <a:prstGeom prst="rect">
            <a:avLst/>
          </a:prstGeom>
          <a:noFill/>
          <a:ln w="0">
            <a:noFill/>
          </a:ln>
        </p:spPr>
        <p:txBody>
          <a:bodyPr anchor="t">
            <a:noAutofit/>
          </a:bodyPr>
          <a:p>
            <a:pPr marL="285840" indent="-285840">
              <a:lnSpc>
                <a:spcPct val="100000"/>
              </a:lnSpc>
              <a:spcBef>
                <a:spcPts val="400"/>
              </a:spcBef>
              <a:buNone/>
              <a:tabLst>
                <a:tab algn="l" pos="0"/>
              </a:tabLst>
            </a:pPr>
            <a:r>
              <a:rPr b="0" lang="en-US" sz="2000" spc="-1" strike="noStrike">
                <a:solidFill>
                  <a:srgbClr val="000000"/>
                </a:solidFill>
                <a:latin typeface="Arial"/>
                <a:ea typeface="ＭＳ Ｐゴシック"/>
              </a:rPr>
              <a:t>This video will cover the following:</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How switches build MAC address tables</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How switches forward frames base on the content of their MAC address tables</a:t>
            </a:r>
            <a:endParaRPr b="0" lang="en-US" sz="20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The MAC Address Table</a:t>
            </a:r>
            <a:br/>
            <a:r>
              <a:rPr b="0" lang="en-US" sz="2400" spc="-1" strike="noStrike">
                <a:solidFill>
                  <a:srgbClr val="004c69"/>
                </a:solidFill>
                <a:latin typeface="Arial"/>
                <a:ea typeface="ＭＳ Ｐゴシック"/>
              </a:rPr>
              <a:t>Video – Sending the Frame to the Default Gateway</a:t>
            </a:r>
            <a:endParaRPr b="0" lang="en-US" sz="2400" spc="-1" strike="noStrike">
              <a:solidFill>
                <a:srgbClr val="58585b"/>
              </a:solidFill>
              <a:latin typeface="Arial"/>
            </a:endParaRPr>
          </a:p>
        </p:txBody>
      </p:sp>
      <p:sp>
        <p:nvSpPr>
          <p:cNvPr id="389" name="PlaceHolder 2"/>
          <p:cNvSpPr>
            <a:spLocks noGrp="1"/>
          </p:cNvSpPr>
          <p:nvPr>
            <p:ph/>
          </p:nvPr>
        </p:nvSpPr>
        <p:spPr>
          <a:xfrm>
            <a:off x="432000" y="1034640"/>
            <a:ext cx="8279640" cy="3073680"/>
          </a:xfrm>
          <a:prstGeom prst="rect">
            <a:avLst/>
          </a:prstGeom>
          <a:noFill/>
          <a:ln w="0">
            <a:noFill/>
          </a:ln>
        </p:spPr>
        <p:txBody>
          <a:bodyPr anchor="t">
            <a:noAutofit/>
          </a:bodyPr>
          <a:p>
            <a:pPr marL="285840" indent="-285840">
              <a:lnSpc>
                <a:spcPct val="100000"/>
              </a:lnSpc>
              <a:spcBef>
                <a:spcPts val="400"/>
              </a:spcBef>
              <a:buNone/>
              <a:tabLst>
                <a:tab algn="l" pos="0"/>
              </a:tabLst>
            </a:pPr>
            <a:r>
              <a:rPr b="0" lang="en-US" sz="2000" spc="-1" strike="noStrike">
                <a:solidFill>
                  <a:srgbClr val="000000"/>
                </a:solidFill>
                <a:latin typeface="Arial"/>
                <a:ea typeface="ＭＳ Ｐゴシック"/>
              </a:rPr>
              <a:t>This video will cover the following:</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What a switch does when the destination MAC address is not listed in the switch’s MAC address table.</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What a switch does when the source MAC address is not listed in the switch’s MAC address table</a:t>
            </a:r>
            <a:endParaRPr b="0" lang="en-US" sz="20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The MAC Address Table</a:t>
            </a:r>
            <a:br/>
            <a:r>
              <a:rPr b="0" lang="en-US" sz="2400" spc="-1" strike="noStrike">
                <a:solidFill>
                  <a:srgbClr val="004c69"/>
                </a:solidFill>
                <a:latin typeface="Arial"/>
                <a:ea typeface="ＭＳ Ｐゴシック"/>
              </a:rPr>
              <a:t>Lab – View the Switch MAC Address Table</a:t>
            </a:r>
            <a:endParaRPr b="0" lang="en-US" sz="2400" spc="-1" strike="noStrike">
              <a:solidFill>
                <a:srgbClr val="58585b"/>
              </a:solidFill>
              <a:latin typeface="Arial"/>
            </a:endParaRPr>
          </a:p>
        </p:txBody>
      </p:sp>
      <p:sp>
        <p:nvSpPr>
          <p:cNvPr id="391" name="PlaceHolder 2"/>
          <p:cNvSpPr>
            <a:spLocks noGrp="1"/>
          </p:cNvSpPr>
          <p:nvPr>
            <p:ph/>
          </p:nvPr>
        </p:nvSpPr>
        <p:spPr>
          <a:xfrm>
            <a:off x="432000" y="953280"/>
            <a:ext cx="8279640" cy="3073680"/>
          </a:xfrm>
          <a:prstGeom prst="rect">
            <a:avLst/>
          </a:prstGeom>
          <a:noFill/>
          <a:ln w="0">
            <a:noFill/>
          </a:ln>
        </p:spPr>
        <p:txBody>
          <a:bodyPr anchor="t">
            <a:noAutofit/>
          </a:bodyPr>
          <a:p>
            <a:pPr marL="285840" indent="-285840">
              <a:lnSpc>
                <a:spcPct val="100000"/>
              </a:lnSpc>
              <a:spcBef>
                <a:spcPts val="400"/>
              </a:spcBef>
              <a:buNone/>
              <a:tabLst>
                <a:tab algn="l" pos="0"/>
              </a:tabLst>
            </a:pPr>
            <a:r>
              <a:rPr b="0" lang="en-US" sz="2000" spc="-1" strike="noStrike">
                <a:solidFill>
                  <a:srgbClr val="000000"/>
                </a:solidFill>
                <a:latin typeface="Arial"/>
                <a:ea typeface="ＭＳ Ｐゴシック"/>
              </a:rPr>
              <a:t>In this lab, you will complete the following objectives:</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1: Build and Configure the Network</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2: Examine the Switch MAC Address Table</a:t>
            </a:r>
            <a:endParaRPr b="0" lang="en-US" sz="2000" spc="-1" strike="noStrike">
              <a:solidFill>
                <a:srgbClr val="58585b"/>
              </a:solidFill>
              <a:latin typeface="Arial"/>
            </a:endParaRPr>
          </a:p>
          <a:p>
            <a:pPr marL="285840" indent="-285840">
              <a:lnSpc>
                <a:spcPct val="100000"/>
              </a:lnSpc>
              <a:spcBef>
                <a:spcPts val="400"/>
              </a:spcBef>
              <a:buNone/>
              <a:tabLst>
                <a:tab algn="l" pos="0"/>
              </a:tabLst>
            </a:pPr>
            <a:endParaRPr b="0" lang="en-US" sz="20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7.4 Switch Speeds and Forwarding Methods</a:t>
            </a:r>
            <a:endParaRPr b="0" lang="en-US" sz="4600" spc="-1" strike="noStrike">
              <a:solidFill>
                <a:srgbClr val="58585b"/>
              </a:solidFill>
              <a:latin typeface="Arial"/>
            </a:endParaRPr>
          </a:p>
        </p:txBody>
      </p:sp>
    </p:spTree>
  </p:cSld>
  <p:transition spd="slow">
    <p:wipe dir="l"/>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Switch Speeds and Forwarding Methods</a:t>
            </a:r>
            <a:br/>
            <a:r>
              <a:rPr b="0" lang="en-US" sz="2400" spc="-1" strike="noStrike">
                <a:solidFill>
                  <a:srgbClr val="004c69"/>
                </a:solidFill>
                <a:latin typeface="Arial"/>
                <a:ea typeface="ＭＳ Ｐゴシック"/>
              </a:rPr>
              <a:t>Frame Forwarding Methods on Cisco Switches</a:t>
            </a:r>
            <a:endParaRPr b="0" lang="en-US" sz="2400" spc="-1" strike="noStrike">
              <a:solidFill>
                <a:srgbClr val="58585b"/>
              </a:solidFill>
              <a:latin typeface="Arial"/>
            </a:endParaRPr>
          </a:p>
        </p:txBody>
      </p:sp>
      <p:sp>
        <p:nvSpPr>
          <p:cNvPr id="394" name="PlaceHolder 2"/>
          <p:cNvSpPr>
            <a:spLocks noGrp="1"/>
          </p:cNvSpPr>
          <p:nvPr>
            <p:ph/>
          </p:nvPr>
        </p:nvSpPr>
        <p:spPr>
          <a:xfrm>
            <a:off x="231120" y="763560"/>
            <a:ext cx="8787600" cy="3657600"/>
          </a:xfrm>
          <a:prstGeom prst="rect">
            <a:avLst/>
          </a:prstGeom>
          <a:noFill/>
          <a:ln w="0">
            <a:noFill/>
          </a:ln>
        </p:spPr>
        <p:txBody>
          <a:bodyPr anchor="t">
            <a:noAutofit/>
          </a:bodyPr>
          <a:p>
            <a:pPr>
              <a:lnSpc>
                <a:spcPct val="100000"/>
              </a:lnSpc>
              <a:spcBef>
                <a:spcPts val="300"/>
              </a:spcBef>
              <a:buNone/>
              <a:tabLst>
                <a:tab algn="l" pos="0"/>
              </a:tabLst>
            </a:pPr>
            <a:r>
              <a:rPr b="0" lang="en-US" sz="1500" spc="-1" strike="noStrike">
                <a:solidFill>
                  <a:srgbClr val="000000"/>
                </a:solidFill>
                <a:latin typeface="Arial"/>
                <a:ea typeface="ＭＳ Ｐゴシック"/>
              </a:rPr>
              <a:t>Switches use one of the following forwarding methods for switching data between network ports:</a:t>
            </a:r>
            <a:endParaRPr b="0" lang="en-US" sz="1500" spc="-1" strike="noStrike">
              <a:solidFill>
                <a:srgbClr val="58585b"/>
              </a:solidFill>
              <a:latin typeface="Arial"/>
            </a:endParaRPr>
          </a:p>
          <a:p>
            <a:pPr marL="285840" indent="-285840">
              <a:lnSpc>
                <a:spcPct val="100000"/>
              </a:lnSpc>
              <a:spcBef>
                <a:spcPts val="300"/>
              </a:spcBef>
              <a:buClr>
                <a:srgbClr val="000000"/>
              </a:buClr>
              <a:buFont typeface="Arial"/>
              <a:buChar char="•"/>
              <a:tabLst>
                <a:tab algn="l" pos="0"/>
              </a:tabLst>
            </a:pPr>
            <a:r>
              <a:rPr b="1" lang="en-US" sz="1500" spc="-1" strike="noStrike">
                <a:solidFill>
                  <a:srgbClr val="000000"/>
                </a:solidFill>
                <a:latin typeface="Arial"/>
                <a:ea typeface="ＭＳ Ｐゴシック"/>
              </a:rPr>
              <a:t>Store-and-forward switching</a:t>
            </a:r>
            <a:r>
              <a:rPr b="0" lang="en-US" sz="1500" spc="-1" strike="noStrike">
                <a:solidFill>
                  <a:srgbClr val="000000"/>
                </a:solidFill>
                <a:latin typeface="Arial"/>
                <a:ea typeface="ＭＳ Ｐゴシック"/>
              </a:rPr>
              <a:t> - This frame forwarding method receives the entire frame and computes the CRC. If the CRC is valid, the switch looks up the destination address, which determines the outgoing interface. Then the frame is forwarded out of the correct port.</a:t>
            </a:r>
            <a:endParaRPr b="0" lang="en-US" sz="1500" spc="-1" strike="noStrike">
              <a:solidFill>
                <a:srgbClr val="58585b"/>
              </a:solidFill>
              <a:latin typeface="Arial"/>
            </a:endParaRPr>
          </a:p>
          <a:p>
            <a:pPr marL="285840" indent="-285840">
              <a:lnSpc>
                <a:spcPct val="100000"/>
              </a:lnSpc>
              <a:spcBef>
                <a:spcPts val="300"/>
              </a:spcBef>
              <a:buClr>
                <a:srgbClr val="000000"/>
              </a:buClr>
              <a:buFont typeface="Arial"/>
              <a:buChar char="•"/>
              <a:tabLst>
                <a:tab algn="l" pos="0"/>
              </a:tabLst>
            </a:pPr>
            <a:r>
              <a:rPr b="1" lang="en-US" sz="1500" spc="-1" strike="noStrike">
                <a:solidFill>
                  <a:srgbClr val="000000"/>
                </a:solidFill>
                <a:latin typeface="Arial"/>
                <a:ea typeface="ＭＳ Ｐゴシック"/>
              </a:rPr>
              <a:t>Cut-through switching</a:t>
            </a:r>
            <a:r>
              <a:rPr b="0" lang="en-US" sz="1500" spc="-1" strike="noStrike">
                <a:solidFill>
                  <a:srgbClr val="000000"/>
                </a:solidFill>
                <a:latin typeface="Arial"/>
                <a:ea typeface="ＭＳ Ｐゴシック"/>
              </a:rPr>
              <a:t> - This frame forwarding method forwards the frame before it is entirely received. At a minimum, the destination address of the frame must be read before the frame can be forwarded.</a:t>
            </a:r>
            <a:endParaRPr b="0" lang="en-US" sz="1500" spc="-1" strike="noStrike">
              <a:solidFill>
                <a:srgbClr val="58585b"/>
              </a:solidFill>
              <a:latin typeface="Arial"/>
            </a:endParaRPr>
          </a:p>
          <a:p>
            <a:pPr>
              <a:lnSpc>
                <a:spcPct val="100000"/>
              </a:lnSpc>
              <a:spcBef>
                <a:spcPts val="300"/>
              </a:spcBef>
              <a:buNone/>
              <a:tabLst>
                <a:tab algn="l" pos="0"/>
              </a:tabLst>
            </a:pPr>
            <a:endParaRPr b="0" lang="en-US" sz="1500" spc="-1" strike="noStrike">
              <a:solidFill>
                <a:srgbClr val="58585b"/>
              </a:solidFill>
              <a:latin typeface="Arial"/>
            </a:endParaRPr>
          </a:p>
          <a:p>
            <a:pPr marL="285840" indent="-28584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A big advantage of store-and-forward switching is that it determines if a frame has errors before propagating the frame. When an error is detected in a frame, the switch discards the frame. Discarding frames with errors reduces the amount of bandwidth consumed by corrupt data. </a:t>
            </a:r>
            <a:endParaRPr b="0" lang="en-US" sz="1500" spc="-1" strike="noStrike">
              <a:solidFill>
                <a:srgbClr val="58585b"/>
              </a:solidFill>
              <a:latin typeface="Arial"/>
            </a:endParaRPr>
          </a:p>
          <a:p>
            <a:pPr marL="285840" indent="-285840">
              <a:lnSpc>
                <a:spcPct val="100000"/>
              </a:lnSpc>
              <a:spcBef>
                <a:spcPts val="300"/>
              </a:spcBef>
              <a:buClr>
                <a:srgbClr val="000000"/>
              </a:buClr>
              <a:buFont typeface="Arial"/>
              <a:buChar char="•"/>
              <a:tabLst>
                <a:tab algn="l" pos="0"/>
              </a:tabLst>
            </a:pPr>
            <a:r>
              <a:rPr b="0" lang="en-US" sz="1500" spc="-1" strike="noStrike">
                <a:solidFill>
                  <a:srgbClr val="000000"/>
                </a:solidFill>
                <a:latin typeface="Arial"/>
                <a:ea typeface="ＭＳ Ｐゴシック"/>
              </a:rPr>
              <a:t>Store-and-forward switching is required for quality of service (QoS) analysis on converged networks where frame classification for traffic prioritization is necessary. For example, voice over IP (VoIP) data streams need to have priority over web-browsing traffic.</a:t>
            </a:r>
            <a:endParaRPr b="0" lang="en-US" sz="1500" spc="-1" strike="noStrike">
              <a:solidFill>
                <a:srgbClr val="58585b"/>
              </a:solidFill>
              <a:latin typeface="Arial"/>
            </a:endParaRPr>
          </a:p>
          <a:p>
            <a:pPr>
              <a:lnSpc>
                <a:spcPct val="100000"/>
              </a:lnSpc>
              <a:spcBef>
                <a:spcPts val="281"/>
              </a:spcBef>
              <a:buNone/>
              <a:tabLst>
                <a:tab algn="l" pos="0"/>
              </a:tabLst>
            </a:pPr>
            <a:endParaRPr b="0" lang="en-US" sz="15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Switch Speeds and Forwarding Methods</a:t>
            </a:r>
            <a:br/>
            <a:r>
              <a:rPr b="0" lang="en-US" sz="2400" spc="-1" strike="noStrike">
                <a:solidFill>
                  <a:srgbClr val="004c69"/>
                </a:solidFill>
                <a:latin typeface="Arial"/>
                <a:ea typeface="ＭＳ Ｐゴシック"/>
              </a:rPr>
              <a:t>Cut-Through Switching</a:t>
            </a:r>
            <a:endParaRPr b="0" lang="en-US" sz="2400" spc="-1" strike="noStrike">
              <a:solidFill>
                <a:srgbClr val="58585b"/>
              </a:solidFill>
              <a:latin typeface="Arial"/>
            </a:endParaRPr>
          </a:p>
        </p:txBody>
      </p:sp>
      <p:sp>
        <p:nvSpPr>
          <p:cNvPr id="396" name="PlaceHolder 2"/>
          <p:cNvSpPr>
            <a:spLocks noGrp="1"/>
          </p:cNvSpPr>
          <p:nvPr>
            <p:ph/>
          </p:nvPr>
        </p:nvSpPr>
        <p:spPr>
          <a:xfrm>
            <a:off x="474840" y="763560"/>
            <a:ext cx="8279640" cy="3657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In cut-through switching, the switch acts upon the data as soon as it is received, even if the transmission is not complete. The switch buffers just enough of the frame to read the destination MAC address so that it can determine to which port it should forward out the data. The switch does not perform any error checking on the frame.</a:t>
            </a: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There are two variants of cut-through switching:</a:t>
            </a:r>
            <a:endParaRPr b="0" lang="en-US" sz="1600" spc="-1" strike="noStrike">
              <a:solidFill>
                <a:srgbClr val="58585b"/>
              </a:solidFill>
              <a:latin typeface="Arial"/>
            </a:endParaRPr>
          </a:p>
          <a:p>
            <a:pPr lvl="1" marL="358920" indent="-216000">
              <a:lnSpc>
                <a:spcPct val="95000"/>
              </a:lnSpc>
              <a:spcBef>
                <a:spcPts val="601"/>
              </a:spcBef>
              <a:buClr>
                <a:srgbClr val="58585b"/>
              </a:buClr>
              <a:buFont typeface="Arial"/>
              <a:buChar char="•"/>
              <a:tabLst>
                <a:tab algn="l" pos="0"/>
              </a:tabLst>
            </a:pPr>
            <a:r>
              <a:rPr b="1" lang="en-US" sz="1500" spc="-1" strike="noStrike">
                <a:solidFill>
                  <a:srgbClr val="000000"/>
                </a:solidFill>
                <a:latin typeface="Arial"/>
                <a:ea typeface="ＭＳ Ｐゴシック"/>
              </a:rPr>
              <a:t>Fast-forward switching -</a:t>
            </a:r>
            <a:r>
              <a:rPr b="0" lang="en-US" sz="1500" spc="-1" strike="noStrike">
                <a:solidFill>
                  <a:srgbClr val="000000"/>
                </a:solidFill>
                <a:latin typeface="Arial"/>
                <a:ea typeface="ＭＳ Ｐゴシック"/>
              </a:rPr>
              <a:t> Offers the lowest level of latency by immediately forwarding a packet after reading the destination address. Because fast-forward switching starts forwarding before the entire packet has been received, there may be times when packets are relayed with errors. The destination NIC discards the faulty packet upon receipt. Fast-forward switching is the typical cut-through method of switching.</a:t>
            </a:r>
            <a:endParaRPr b="0" lang="en-US" sz="1500" spc="-1" strike="noStrike">
              <a:solidFill>
                <a:srgbClr val="58585b"/>
              </a:solidFill>
              <a:latin typeface="Arial"/>
            </a:endParaRPr>
          </a:p>
          <a:p>
            <a:pPr lvl="1" marL="358920" indent="-216000">
              <a:lnSpc>
                <a:spcPct val="95000"/>
              </a:lnSpc>
              <a:spcBef>
                <a:spcPts val="601"/>
              </a:spcBef>
              <a:buClr>
                <a:srgbClr val="58585b"/>
              </a:buClr>
              <a:buFont typeface="Arial"/>
              <a:buChar char="•"/>
              <a:tabLst>
                <a:tab algn="l" pos="0"/>
              </a:tabLst>
            </a:pPr>
            <a:r>
              <a:rPr b="1" lang="en-US" sz="1500" spc="-1" strike="noStrike">
                <a:solidFill>
                  <a:srgbClr val="000000"/>
                </a:solidFill>
                <a:latin typeface="Arial"/>
                <a:ea typeface="ＭＳ Ｐゴシック"/>
              </a:rPr>
              <a:t>Fragment-free switching -</a:t>
            </a:r>
            <a:r>
              <a:rPr b="0" lang="en-US" sz="1500" spc="-1" strike="noStrike">
                <a:solidFill>
                  <a:srgbClr val="000000"/>
                </a:solidFill>
                <a:latin typeface="Arial"/>
                <a:ea typeface="ＭＳ Ｐゴシック"/>
              </a:rPr>
              <a:t> A compromise between the high latency and high integrity of store-and-forward switching and the low latency and reduced integrity of fast-forward switching, the switch stores and performs an error check on the first 64 bytes of the frame before forwarding. Because most network errors and collisions occur during the first 64 bytes, this ensures that a collision has not occurred before forwarding the frame.</a:t>
            </a:r>
            <a:endParaRPr b="0" lang="en-US" sz="15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Switch Speeds and Forwarding Methods</a:t>
            </a:r>
            <a:br/>
            <a:r>
              <a:rPr b="0" lang="en-US" sz="2400" spc="-1" strike="noStrike">
                <a:solidFill>
                  <a:srgbClr val="004c69"/>
                </a:solidFill>
                <a:latin typeface="Arial"/>
                <a:ea typeface="ＭＳ Ｐゴシック"/>
              </a:rPr>
              <a:t>Memory Buffering on Switches</a:t>
            </a:r>
            <a:endParaRPr b="0" lang="en-US" sz="2400" spc="-1" strike="noStrike">
              <a:solidFill>
                <a:srgbClr val="58585b"/>
              </a:solidFill>
              <a:latin typeface="Arial"/>
            </a:endParaRPr>
          </a:p>
        </p:txBody>
      </p:sp>
      <p:sp>
        <p:nvSpPr>
          <p:cNvPr id="398" name="PlaceHolder 2"/>
          <p:cNvSpPr>
            <a:spLocks noGrp="1"/>
          </p:cNvSpPr>
          <p:nvPr>
            <p:ph/>
          </p:nvPr>
        </p:nvSpPr>
        <p:spPr>
          <a:xfrm>
            <a:off x="474840" y="763560"/>
            <a:ext cx="8279640" cy="500040"/>
          </a:xfrm>
          <a:prstGeom prst="rect">
            <a:avLst/>
          </a:prstGeom>
          <a:noFill/>
          <a:ln w="0">
            <a:noFill/>
          </a:ln>
        </p:spPr>
        <p:txBody>
          <a:bodyPr anchor="t">
            <a:noAutofit/>
          </a:bodyPr>
          <a:p>
            <a:pPr>
              <a:lnSpc>
                <a:spcPct val="100000"/>
              </a:lnSpc>
              <a:spcBef>
                <a:spcPts val="281"/>
              </a:spcBef>
              <a:buNone/>
              <a:tabLst>
                <a:tab algn="l" pos="0"/>
              </a:tabLst>
            </a:pPr>
            <a:r>
              <a:rPr b="0" lang="en-US" sz="1400" spc="-1" strike="noStrike">
                <a:solidFill>
                  <a:srgbClr val="000000"/>
                </a:solidFill>
                <a:latin typeface="Arial"/>
                <a:ea typeface="ＭＳ Ｐゴシック"/>
              </a:rPr>
              <a:t>An Ethernet switch may use a buffering technique to store frames before forwarding them or when the destination port is busy because of congestion. </a:t>
            </a: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marL="285840" indent="-285840">
              <a:lnSpc>
                <a:spcPct val="100000"/>
              </a:lnSpc>
              <a:spcBef>
                <a:spcPts val="281"/>
              </a:spcBef>
              <a:buClr>
                <a:srgbClr val="000000"/>
              </a:buClr>
              <a:buFont typeface="Arial"/>
              <a:buChar char="•"/>
              <a:tabLst>
                <a:tab algn="l" pos="0"/>
              </a:tabLst>
            </a:pPr>
            <a:r>
              <a:rPr b="0" lang="en-US" sz="1400" spc="-1" strike="noStrike">
                <a:solidFill>
                  <a:srgbClr val="000000"/>
                </a:solidFill>
                <a:latin typeface="Arial"/>
                <a:ea typeface="ＭＳ Ｐゴシック"/>
              </a:rPr>
              <a:t>Shared memory buffering also results in larger frames that can be transmitted with fewer dropped frames. This is important with asymmetric switching which allows for different data rates on different ports. Therefore, more bandwidth can be dedicated to certain ports (e.g., server port).</a:t>
            </a:r>
            <a:endParaRPr b="0" lang="en-US" sz="1400" spc="-1" strike="noStrike">
              <a:solidFill>
                <a:srgbClr val="58585b"/>
              </a:solidFill>
              <a:latin typeface="Arial"/>
            </a:endParaRPr>
          </a:p>
        </p:txBody>
      </p:sp>
      <p:graphicFrame>
        <p:nvGraphicFramePr>
          <p:cNvPr id="399" name="Table 1"/>
          <p:cNvGraphicFramePr/>
          <p:nvPr/>
        </p:nvGraphicFramePr>
        <p:xfrm>
          <a:off x="761400" y="1306080"/>
          <a:ext cx="7706160" cy="1112040"/>
        </p:xfrm>
        <a:graphic>
          <a:graphicData uri="http://schemas.openxmlformats.org/drawingml/2006/table">
            <a:tbl>
              <a:tblPr/>
              <a:tblGrid>
                <a:gridCol w="1561320"/>
                <a:gridCol w="6144840"/>
              </a:tblGrid>
              <a:tr h="370800">
                <a:tc>
                  <a:txBody>
                    <a:bodyPr lIns="47520" rIns="47520" tIns="47520" bIns="47520" anchor="ctr">
                      <a:noAutofit/>
                    </a:bodyPr>
                    <a:p>
                      <a:pPr>
                        <a:lnSpc>
                          <a:spcPct val="100000"/>
                        </a:lnSpc>
                        <a:buNone/>
                      </a:pPr>
                      <a:r>
                        <a:rPr b="1" lang="en-US" sz="1200" spc="-1" strike="noStrike">
                          <a:solidFill>
                            <a:srgbClr val="ffffff"/>
                          </a:solidFill>
                          <a:latin typeface="Arial"/>
                        </a:rPr>
                        <a:t>Method</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200" spc="-1" strike="noStrike">
                          <a:solidFill>
                            <a:srgbClr val="ffffff"/>
                          </a:solidFill>
                          <a:latin typeface="Arial"/>
                        </a:rPr>
                        <a:t>Description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70800">
                <a:tc>
                  <a:txBody>
                    <a:bodyPr lIns="47520" rIns="47520" tIns="47520" bIns="47520" anchor="ctr">
                      <a:noAutofit/>
                    </a:bodyPr>
                    <a:p>
                      <a:pPr>
                        <a:lnSpc>
                          <a:spcPct val="100000"/>
                        </a:lnSpc>
                        <a:buNone/>
                      </a:pPr>
                      <a:r>
                        <a:rPr b="1" lang="en-US" sz="1200" spc="-1" strike="noStrike">
                          <a:solidFill>
                            <a:srgbClr val="58585b"/>
                          </a:solidFill>
                          <a:latin typeface="Arial"/>
                        </a:rPr>
                        <a:t>Port-based memory</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indent="-216000">
                        <a:lnSpc>
                          <a:spcPct val="100000"/>
                        </a:lnSpc>
                        <a:buClr>
                          <a:srgbClr val="58585b"/>
                        </a:buClr>
                        <a:buFont typeface="Arial"/>
                        <a:buChar char="•"/>
                      </a:pPr>
                      <a:r>
                        <a:rPr b="0" lang="en-US" sz="1200" spc="-1" strike="noStrike">
                          <a:solidFill>
                            <a:srgbClr val="58585b"/>
                          </a:solidFill>
                          <a:latin typeface="Arial"/>
                        </a:rPr>
                        <a:t>Frames are stored in queues that are linked to specific incoming and outgoing ports.</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A frame is transmitted to the outgoing port only when all the frames ahead in the queue have been successfully transmitted.</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It is possible for a single frame to delay the transmission of all the frames in memory because of a busy destination port.</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This delay occurs even if the other frames could be transmitted to open destination ports.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47520" rIns="47520" tIns="47520" bIns="47520" anchor="ctr">
                      <a:noAutofit/>
                    </a:bodyPr>
                    <a:p>
                      <a:pPr>
                        <a:lnSpc>
                          <a:spcPct val="100000"/>
                        </a:lnSpc>
                        <a:buNone/>
                      </a:pPr>
                      <a:r>
                        <a:rPr b="1" lang="en-US" sz="1200" spc="-1" strike="noStrike">
                          <a:solidFill>
                            <a:srgbClr val="58585b"/>
                          </a:solidFill>
                          <a:latin typeface="Arial"/>
                        </a:rPr>
                        <a:t>Shared memory</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indent="-216000">
                        <a:lnSpc>
                          <a:spcPct val="100000"/>
                        </a:lnSpc>
                        <a:buClr>
                          <a:srgbClr val="58585b"/>
                        </a:buClr>
                        <a:buFont typeface="Arial"/>
                        <a:buChar char="•"/>
                      </a:pPr>
                      <a:r>
                        <a:rPr b="0" lang="en-US" sz="1200" spc="-1" strike="noStrike">
                          <a:solidFill>
                            <a:srgbClr val="58585b"/>
                          </a:solidFill>
                          <a:latin typeface="Arial"/>
                        </a:rPr>
                        <a:t>Deposits all frames into a common memory buffer shared by all switch ports and the amount of buffer memory required by a port is dynamically allocated.</a:t>
                      </a:r>
                      <a:endParaRPr b="0" lang="en-JM" sz="1200" spc="-1" strike="noStrike">
                        <a:latin typeface="Arial"/>
                      </a:endParaRPr>
                    </a:p>
                    <a:p>
                      <a:pPr indent="-216000">
                        <a:lnSpc>
                          <a:spcPct val="100000"/>
                        </a:lnSpc>
                        <a:buClr>
                          <a:srgbClr val="58585b"/>
                        </a:buClr>
                        <a:buFont typeface="Arial"/>
                        <a:buChar char="•"/>
                      </a:pPr>
                      <a:r>
                        <a:rPr b="0" lang="en-US" sz="1200" spc="-1" strike="noStrike">
                          <a:solidFill>
                            <a:srgbClr val="58585b"/>
                          </a:solidFill>
                          <a:latin typeface="Arial"/>
                        </a:rPr>
                        <a:t>The frames in the buffer are dynamically linked to the destination port enabling a packet to be received on one port and then transmitted on another port, without moving it to a different queue.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Switch Speeds and Forwarding Methods</a:t>
            </a:r>
            <a:br/>
            <a:r>
              <a:rPr b="0" lang="en-US" sz="2400" spc="-1" strike="noStrike">
                <a:solidFill>
                  <a:srgbClr val="004c69"/>
                </a:solidFill>
                <a:latin typeface="Arial"/>
                <a:ea typeface="ＭＳ Ｐゴシック"/>
              </a:rPr>
              <a:t>Duplex and Speed Settings</a:t>
            </a:r>
            <a:endParaRPr b="0" lang="en-US" sz="2400" spc="-1" strike="noStrike">
              <a:solidFill>
                <a:srgbClr val="58585b"/>
              </a:solidFill>
              <a:latin typeface="Arial"/>
            </a:endParaRPr>
          </a:p>
        </p:txBody>
      </p:sp>
      <p:sp>
        <p:nvSpPr>
          <p:cNvPr id="401" name="PlaceHolder 2"/>
          <p:cNvSpPr>
            <a:spLocks noGrp="1"/>
          </p:cNvSpPr>
          <p:nvPr>
            <p:ph/>
          </p:nvPr>
        </p:nvSpPr>
        <p:spPr>
          <a:xfrm>
            <a:off x="474840" y="763560"/>
            <a:ext cx="8279640" cy="3657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Two of the most basic settings on a switch are the bandwidth (“speed”) and duplex settings for each individual switch port. It is critical that the duplex and bandwidth settings match between the switch port and the connected devices.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There are two types of duplex settings used for communications on an Ethernet network:</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Full-duplex</a:t>
            </a:r>
            <a:r>
              <a:rPr b="0" lang="en-US" sz="1600" spc="-1" strike="noStrike">
                <a:solidFill>
                  <a:srgbClr val="000000"/>
                </a:solidFill>
                <a:latin typeface="Arial"/>
                <a:ea typeface="ＭＳ Ｐゴシック"/>
              </a:rPr>
              <a:t> - Both ends of the connection can send and receive simultaneously.</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Half-duplex</a:t>
            </a:r>
            <a:r>
              <a:rPr b="0" lang="en-US" sz="1600" spc="-1" strike="noStrike">
                <a:solidFill>
                  <a:srgbClr val="000000"/>
                </a:solidFill>
                <a:latin typeface="Arial"/>
                <a:ea typeface="ＭＳ Ｐゴシック"/>
              </a:rPr>
              <a:t> - Only one end of the connection can send at a time.</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Autonegotiation is an optional function found on most Ethernet switches and NICs. It enables two devices to automatically negotiate the best speed and duplex capabilities.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Gigabit Ethernet ports only operate in full-duplex. </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Switch Speeds and Forwarding Methods</a:t>
            </a:r>
            <a:br/>
            <a:r>
              <a:rPr b="0" lang="en-US" sz="2400" spc="-1" strike="noStrike">
                <a:solidFill>
                  <a:srgbClr val="004c69"/>
                </a:solidFill>
                <a:latin typeface="Arial"/>
                <a:ea typeface="ＭＳ Ｐゴシック"/>
              </a:rPr>
              <a:t>Duplex and Speed Settings</a:t>
            </a:r>
            <a:endParaRPr b="0" lang="en-US" sz="2400" spc="-1" strike="noStrike">
              <a:solidFill>
                <a:srgbClr val="58585b"/>
              </a:solidFill>
              <a:latin typeface="Arial"/>
            </a:endParaRPr>
          </a:p>
        </p:txBody>
      </p:sp>
      <p:sp>
        <p:nvSpPr>
          <p:cNvPr id="403" name="PlaceHolder 2"/>
          <p:cNvSpPr>
            <a:spLocks noGrp="1"/>
          </p:cNvSpPr>
          <p:nvPr>
            <p:ph/>
          </p:nvPr>
        </p:nvSpPr>
        <p:spPr>
          <a:xfrm>
            <a:off x="474840" y="763560"/>
            <a:ext cx="8279640" cy="213984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Duplex mismatch is one of the most common causes of performance issues on 10/100 Mbps Ethernet links. It occurs when one port on the link operates at half-duplex while the other port operates at full-duplex.</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This can occur when one or both ports on a link are reset, and the autonegotiation process does not result in both link partners having the same configuration. </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It also can occur when users reconfigure one side of a link and forget to reconfigure the other. Both sides of a link should have autonegotiation on, or both sides should have it off. Best practice is to configure both Ethernet switch ports as full-duplex.</a:t>
            </a:r>
            <a:endParaRPr b="0" lang="en-US" sz="1600" spc="-1" strike="noStrike">
              <a:solidFill>
                <a:srgbClr val="58585b"/>
              </a:solidFill>
              <a:latin typeface="Arial"/>
            </a:endParaRPr>
          </a:p>
        </p:txBody>
      </p:sp>
      <p:pic>
        <p:nvPicPr>
          <p:cNvPr id="404" name="Picture 6" descr=""/>
          <p:cNvPicPr/>
          <p:nvPr/>
        </p:nvPicPr>
        <p:blipFill>
          <a:blip r:embed="rId1"/>
          <a:stretch/>
        </p:blipFill>
        <p:spPr>
          <a:xfrm>
            <a:off x="1210680" y="2989800"/>
            <a:ext cx="6722280" cy="16938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Switch Speeds and Forwarding Methods</a:t>
            </a:r>
            <a:br/>
            <a:r>
              <a:rPr b="0" lang="en-US" sz="2400" spc="-1" strike="noStrike">
                <a:solidFill>
                  <a:srgbClr val="004c69"/>
                </a:solidFill>
                <a:latin typeface="Arial"/>
                <a:ea typeface="ＭＳ Ｐゴシック"/>
              </a:rPr>
              <a:t>Auto-MDIX</a:t>
            </a:r>
            <a:endParaRPr b="0" lang="en-US" sz="2400" spc="-1" strike="noStrike">
              <a:solidFill>
                <a:srgbClr val="58585b"/>
              </a:solidFill>
              <a:latin typeface="Arial"/>
            </a:endParaRPr>
          </a:p>
        </p:txBody>
      </p:sp>
      <p:sp>
        <p:nvSpPr>
          <p:cNvPr id="406" name="PlaceHolder 2"/>
          <p:cNvSpPr>
            <a:spLocks noGrp="1"/>
          </p:cNvSpPr>
          <p:nvPr>
            <p:ph/>
          </p:nvPr>
        </p:nvSpPr>
        <p:spPr>
          <a:xfrm>
            <a:off x="474840" y="763560"/>
            <a:ext cx="8279640" cy="3657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Connections between devices once required the use of either a crossover or straight-through cable. The type of cable required depended on the type of interconnecting devices.</a:t>
            </a:r>
            <a:endParaRPr b="0" lang="en-US" sz="1600" spc="-1" strike="noStrike">
              <a:solidFill>
                <a:srgbClr val="58585b"/>
              </a:solidFill>
              <a:latin typeface="Arial"/>
            </a:endParaRPr>
          </a:p>
          <a:p>
            <a:pPr>
              <a:lnSpc>
                <a:spcPct val="100000"/>
              </a:lnSpc>
              <a:spcBef>
                <a:spcPts val="320"/>
              </a:spcBef>
              <a:buNone/>
              <a:tabLst>
                <a:tab algn="l" pos="0"/>
              </a:tabLst>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A direct connection between a router and a host requires a cross-over connection.</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Most switch devices now support the automatic medium-dependent interface crossover (auto-MDIX) feature. When enabled, the switch automatically detects the type of cable attached to the port and configures the interfaces accordingly. </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The auto-MDIX feature is enabled by default on switches running Cisco IOS Release 12.2(18)SE or later. However, the feature could be disabled. For this reason, you should always use the correct cable type and not rely on the auto-MDIX feature. </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Auto-MDIX can be re-enabled using the </a:t>
            </a:r>
            <a:r>
              <a:rPr b="1" lang="en-US" sz="1600" spc="-1" strike="noStrike">
                <a:solidFill>
                  <a:srgbClr val="000000"/>
                </a:solidFill>
                <a:latin typeface="Arial"/>
                <a:ea typeface="ＭＳ Ｐゴシック"/>
              </a:rPr>
              <a:t>mdix auto</a:t>
            </a:r>
            <a:r>
              <a:rPr b="0" lang="en-US" sz="1600" spc="-1" strike="noStrike">
                <a:solidFill>
                  <a:srgbClr val="000000"/>
                </a:solidFill>
                <a:latin typeface="Arial"/>
                <a:ea typeface="ＭＳ Ｐゴシック"/>
              </a:rPr>
              <a:t> interface configuration command.</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7.5 Module Practice and Quiz</a:t>
            </a:r>
            <a:endParaRPr b="0" lang="en-US" sz="4600" spc="-1" strike="noStrike">
              <a:solidFill>
                <a:srgbClr val="58585b"/>
              </a:solidFill>
              <a:latin typeface="Arial"/>
            </a:endParaRPr>
          </a:p>
        </p:txBody>
      </p:sp>
    </p:spTree>
  </p:cSld>
  <p:transition spd="slow">
    <p:wipe dir="l"/>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a:t>
            </a:r>
            <a:endParaRPr b="0" lang="en-US" sz="2400" spc="-1" strike="noStrike">
              <a:solidFill>
                <a:srgbClr val="58585b"/>
              </a:solidFill>
              <a:latin typeface="Arial"/>
            </a:endParaRPr>
          </a:p>
        </p:txBody>
      </p:sp>
      <p:sp>
        <p:nvSpPr>
          <p:cNvPr id="409"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Ethernet operates in the data link layer and the physical layer. Ethernet standards define both the Layer 2 protocols and the Layer 1 technologies.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Ethernet uses the LLC and MAC sublayers of the data link layer to operate.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 Ethernet frame fields are: preamble and start frame delimiter, destination MAC address, source MAC address, EtherType, data, and FCS.</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MAC addressing provides a method for device identification at the data link layer of the OSI model.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An Ethernet MAC address is a 48-bit address expressed using 12 hexadecimal digits, or 6 bytes.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When a device is forwarding a message to an Ethernet network, the Ethernet header includes the source and destination MAC addresses. In Ethernet, different MAC addresses are used for Layer 2 unicast, broadcast, and multicast communications.</a:t>
            </a:r>
            <a:endParaRPr b="0" lang="en-US" sz="1600" spc="-1" strike="noStrike">
              <a:solidFill>
                <a:srgbClr val="58585b"/>
              </a:solidFill>
              <a:latin typeface="Arial"/>
            </a:endParaRPr>
          </a:p>
        </p:txBody>
      </p:sp>
    </p:spTree>
  </p:cSld>
  <p:transition spd="slow">
    <p:wipe dir="l"/>
  </p:transition>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 (Contd.)</a:t>
            </a:r>
            <a:endParaRPr b="0" lang="en-US" sz="2400" spc="-1" strike="noStrike">
              <a:solidFill>
                <a:srgbClr val="58585b"/>
              </a:solidFill>
              <a:latin typeface="Arial"/>
            </a:endParaRPr>
          </a:p>
        </p:txBody>
      </p:sp>
      <p:sp>
        <p:nvSpPr>
          <p:cNvPr id="411"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A Layer 2 Ethernet switch makes its forwarding decisions based solely on the Layer 2 Ethernet MAC addresses.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 switch dynamically builds the MAC address table by examining the source MAC address of the frames received on a port.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 switch forwards frames by searching for a match between the destination MAC address in the frame and an entry in the MAC address table.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Switches use one of the following forwarding methods for switching data between network ports: store-and-forward switching or cut-through switching. Two variants of cut-through switching are fast-forward and fragment-free.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Two methods of memory buffering are port-based memory and shared memory.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There are two types of duplex settings used for communications on an Ethernet network: full-duplex and half-duplex. </a:t>
            </a:r>
            <a:endParaRPr b="0" lang="en-US" sz="1600" spc="-1" strike="noStrike">
              <a:solidFill>
                <a:srgbClr val="58585b"/>
              </a:solidFill>
              <a:latin typeface="Arial"/>
            </a:endParaRPr>
          </a:p>
        </p:txBody>
      </p:sp>
    </p:spTree>
  </p:cSld>
  <p:transition spd="slow">
    <p:wipe dir="l"/>
  </p:transition>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412" name="PlaceHolder 1"/>
          <p:cNvSpPr>
            <a:spLocks noGrp="1"/>
          </p:cNvSpPr>
          <p:nvPr>
            <p:ph type="title"/>
          </p:nvPr>
        </p:nvSpPr>
        <p:spPr>
          <a:xfrm>
            <a:off x="0" y="41400"/>
            <a:ext cx="9143640" cy="60876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7: Ethernet Switching</a:t>
            </a:r>
            <a:br/>
            <a:r>
              <a:rPr b="0" lang="en-US" sz="2400" spc="-1" strike="noStrike">
                <a:solidFill>
                  <a:srgbClr val="367187"/>
                </a:solidFill>
                <a:latin typeface="Arial"/>
                <a:ea typeface="ＭＳ Ｐゴシック"/>
              </a:rPr>
              <a:t>New Terms and Commands</a:t>
            </a:r>
            <a:endParaRPr b="0" lang="en-US" sz="2400" spc="-1" strike="noStrike">
              <a:solidFill>
                <a:srgbClr val="58585b"/>
              </a:solidFill>
              <a:latin typeface="Arial"/>
            </a:endParaRPr>
          </a:p>
        </p:txBody>
      </p:sp>
      <p:sp>
        <p:nvSpPr>
          <p:cNvPr id="413"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Store-and-Forward Switching</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Cut-through Switching</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Fast-Forward Switching</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Fragment-free Switching</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OUI (Organizationally Unique Identifier)</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ARP (Address Resolution Protocol)</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ND (Neighbor Discovery)</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Port-based memory</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Shared memory</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Auto-MDIX</a:t>
            </a:r>
            <a:endParaRPr b="0" lang="en-US" sz="1600" spc="-1" strike="noStrike">
              <a:solidFill>
                <a:srgbClr val="58585b"/>
              </a:solidFill>
              <a:latin typeface="Arial"/>
            </a:endParaRPr>
          </a:p>
        </p:txBody>
      </p:sp>
    </p:spTree>
  </p:cSld>
  <p:transition spd="slow">
    <p:wipe dir="l"/>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transition spd="slow">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F18ECBD8ED834DABF5ACC3DB9AA918" ma:contentTypeVersion="19" ma:contentTypeDescription="Create a new document." ma:contentTypeScope="" ma:versionID="0375978224eca4aeb78b7ba86ac1033c">
  <xsd:schema xmlns:xsd="http://www.w3.org/2001/XMLSchema" xmlns:xs="http://www.w3.org/2001/XMLSchema" xmlns:p="http://schemas.microsoft.com/office/2006/metadata/properties" xmlns:ns2="810553ce-449d-4340-bb0a-414d416a9b51" xmlns:ns3="20a0b39e-fcd0-423b-9f17-9d26d967be51" targetNamespace="http://schemas.microsoft.com/office/2006/metadata/properties" ma:root="true" ma:fieldsID="457d9a46ed9cd6c2ce95cb3d449ba463" ns2:_="" ns3:_="">
    <xsd:import namespace="810553ce-449d-4340-bb0a-414d416a9b51"/>
    <xsd:import namespace="20a0b39e-fcd0-423b-9f17-9d26d967be5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Comments" minOccurs="0"/>
                <xsd:element ref="ns2:lcf76f155ced4ddcb4097134ff3c332f" minOccurs="0"/>
                <xsd:element ref="ns3:TaxCatchAll"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0553ce-449d-4340-bb0a-414d416a9b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Comments" ma:index="20" nillable="true" ma:displayName="Comments" ma:internalName="Comments">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Location" ma:index="24" nillable="true" ma:displayName="Location" ma:description="" ma:indexed="true" ma:internalName="MediaServiceLocation" ma:readOnly="true">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a0b39e-fcd0-423b-9f17-9d26d967be5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1fb9ddd-df90-44ec-9ce2-a3135905c5f1}" ma:internalName="TaxCatchAll" ma:showField="CatchAllData" ma:web="20a0b39e-fcd0-423b-9f17-9d26d967be5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omments xmlns="810553ce-449d-4340-bb0a-414d416a9b51" xsi:nil="true"/>
    <lcf76f155ced4ddcb4097134ff3c332f xmlns="810553ce-449d-4340-bb0a-414d416a9b51">
      <Terms xmlns="http://schemas.microsoft.com/office/infopath/2007/PartnerControls"/>
    </lcf76f155ced4ddcb4097134ff3c332f>
    <TaxCatchAll xmlns="20a0b39e-fcd0-423b-9f17-9d26d967be51" xsi:nil="true"/>
  </documentManagement>
</p:properties>
</file>

<file path=customXml/itemProps1.xml><?xml version="1.0" encoding="utf-8"?>
<ds:datastoreItem xmlns:ds="http://schemas.openxmlformats.org/officeDocument/2006/customXml" ds:itemID="{7796DF93-3B93-49D0-BD02-AED37740B3F7}"/>
</file>

<file path=customXml/itemProps2.xml><?xml version="1.0" encoding="utf-8"?>
<ds:datastoreItem xmlns:ds="http://schemas.openxmlformats.org/officeDocument/2006/customXml" ds:itemID="{63C8E68F-69F9-4377-8D4B-E3CFA5CCA038}"/>
</file>

<file path=customXml/itemProps3.xml><?xml version="1.0" encoding="utf-8"?>
<ds:datastoreItem xmlns:ds="http://schemas.openxmlformats.org/officeDocument/2006/customXml" ds:itemID="{6173D041-57CC-405F-A9CD-0BF959E410A0}"/>
</file>

<file path=docProps/app.xml><?xml version="1.0" encoding="utf-8"?>
<Properties xmlns="http://schemas.openxmlformats.org/officeDocument/2006/extended-properties" xmlns:vt="http://schemas.openxmlformats.org/officeDocument/2006/docPropsVTypes">
  <Template>Default Theme</Template>
  <TotalTime>7715</TotalTime>
  <Application>LibreOffice/7.2.7.2$Windows_X86_64 LibreOffice_project/8d71d29d553c0f7dcbfa38fbfda25ee34cce99a2</Application>
  <AppVersion>15.0000</AppVersion>
  <Words>4856</Words>
  <Paragraphs>474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dc:description/>
  <dc:language>en-JM</dc:language>
  <cp:lastModifiedBy/>
  <dcterms:modified xsi:type="dcterms:W3CDTF">2025-03-24T15:49:37Z</dcterms:modified>
  <cp:revision>225</cp:revision>
  <dc:subject/>
  <dc:title>Chapter 2: Basic Switch and End Device Configuration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F9A496F7-57D7-4028-9572-D40DFDF3715A</vt:lpwstr>
  </property>
  <property fmtid="{D5CDD505-2E9C-101B-9397-08002B2CF9AE}" pid="3" name="ArticulatePath">
    <vt:lpwstr>ITE7_Chp9_by_jg</vt:lpwstr>
  </property>
  <property fmtid="{D5CDD505-2E9C-101B-9397-08002B2CF9AE}" pid="4" name="ContentTypeId">
    <vt:lpwstr>0x01010001F18ECBD8ED834DABF5ACC3DB9AA918</vt:lpwstr>
  </property>
  <property fmtid="{D5CDD505-2E9C-101B-9397-08002B2CF9AE}" pid="5" name="HiddenSlides">
    <vt:i4>6</vt:i4>
  </property>
  <property fmtid="{D5CDD505-2E9C-101B-9397-08002B2CF9AE}" pid="6" name="Jive_LatestUserAccountName">
    <vt:lpwstr>alljohns</vt:lpwstr>
  </property>
  <property fmtid="{D5CDD505-2E9C-101B-9397-08002B2CF9AE}" pid="7" name="Jive_VersionGuid">
    <vt:lpwstr>fd96a0b3-f68d-4727-8e4f-2128d37ed30a</vt:lpwstr>
  </property>
  <property fmtid="{D5CDD505-2E9C-101B-9397-08002B2CF9AE}" pid="8" name="Notes">
    <vt:i4>43</vt:i4>
  </property>
  <property fmtid="{D5CDD505-2E9C-101B-9397-08002B2CF9AE}" pid="9" name="Offisync_ProviderInitializationData">
    <vt:lpwstr>https://cisco.jiveon.com</vt:lpwstr>
  </property>
  <property fmtid="{D5CDD505-2E9C-101B-9397-08002B2CF9AE}" pid="10" name="Offisync_ServerID">
    <vt:lpwstr>07841bbc-cd3c-4a76-827f-75a2226890f4</vt:lpwstr>
  </property>
  <property fmtid="{D5CDD505-2E9C-101B-9397-08002B2CF9AE}" pid="11" name="Offisync_UniqueId">
    <vt:lpwstr>1702406</vt:lpwstr>
  </property>
  <property fmtid="{D5CDD505-2E9C-101B-9397-08002B2CF9AE}" pid="12" name="Offisync_UpdateToken">
    <vt:lpwstr>1</vt:lpwstr>
  </property>
  <property fmtid="{D5CDD505-2E9C-101B-9397-08002B2CF9AE}" pid="13" name="PresentationFormat">
    <vt:lpwstr>On-screen Show (16:9)</vt:lpwstr>
  </property>
  <property fmtid="{D5CDD505-2E9C-101B-9397-08002B2CF9AE}" pid="14" name="Slides">
    <vt:i4>45</vt:i4>
  </property>
</Properties>
</file>