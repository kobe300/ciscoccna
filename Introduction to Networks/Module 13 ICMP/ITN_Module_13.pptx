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media/image9.tif" ContentType="image/tiff"/>
  <Override PartName="/ppt/media/image1.jpeg" ContentType="image/jpeg"/>
  <Override PartName="/ppt/media/image2.jpeg" ContentType="image/jpeg"/>
  <Override PartName="/ppt/media/image6.tif" ContentType="image/tiff"/>
  <Override PartName="/ppt/media/image3.tif" ContentType="image/tiff"/>
  <Override PartName="/ppt/media/image4.tif" ContentType="image/tiff"/>
  <Override PartName="/ppt/media/image5.tif" ContentType="image/tiff"/>
  <Override PartName="/ppt/media/image7.tif" ContentType="image/tiff"/>
  <Override PartName="/ppt/media/image8.tif" ContentType="image/tiff"/>
  <Override PartName="/ppt/media/image10.tif" ContentType="image/tiff"/>
  <Override PartName="/ppt/media/image11.tif" ContentType="image/tiff"/>
  <Override PartName="/ppt/media/image12.tif" ContentType="image/tiff"/>
  <Override PartName="/ppt/media/image13.tif" ContentType="image/tiff"/>
  <Override PartName="/ppt/media/image14.tif" ContentType="image/tiff"/>
  <Override PartName="/ppt/media/image15.tif" ContentType="image/tiff"/>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3200" spc="-1" strike="noStrike">
                <a:solidFill>
                  <a:srgbClr val="58585b"/>
                </a:solidFill>
                <a:latin typeface="Arial"/>
              </a:rPr>
              <a:t>Click to move the slide</a:t>
            </a:r>
            <a:endParaRPr b="0" lang="en-US" sz="3200" spc="-1" strike="noStrike">
              <a:solidFill>
                <a:srgbClr val="58585b"/>
              </a:solidFill>
              <a:latin typeface="Arial"/>
            </a:endParaRPr>
          </a:p>
        </p:txBody>
      </p:sp>
      <p:sp>
        <p:nvSpPr>
          <p:cNvPr id="27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JM" sz="2000" spc="-1" strike="noStrike">
                <a:latin typeface="Arial"/>
              </a:rPr>
              <a:t>Click to edit the notes format</a:t>
            </a:r>
            <a:endParaRPr b="0" lang="en-JM" sz="2000" spc="-1" strike="noStrike">
              <a:latin typeface="Arial"/>
            </a:endParaRPr>
          </a:p>
        </p:txBody>
      </p:sp>
      <p:sp>
        <p:nvSpPr>
          <p:cNvPr id="275"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JM" sz="1400" spc="-1" strike="noStrike">
                <a:latin typeface="Times New Roman"/>
              </a:rPr>
              <a:t>&lt;header&gt;</a:t>
            </a:r>
            <a:endParaRPr b="0" lang="en-JM" sz="1400" spc="-1" strike="noStrike">
              <a:latin typeface="Times New Roman"/>
            </a:endParaRPr>
          </a:p>
        </p:txBody>
      </p:sp>
      <p:sp>
        <p:nvSpPr>
          <p:cNvPr id="276"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buNone/>
            </a:pPr>
            <a:r>
              <a:rPr b="0" lang="en-JM" sz="1400" spc="-1" strike="noStrike">
                <a:latin typeface="Times New Roman"/>
              </a:rPr>
              <a:t>&lt;date/time&gt;</a:t>
            </a:r>
            <a:endParaRPr b="0" lang="en-JM" sz="1400" spc="-1" strike="noStrike">
              <a:latin typeface="Times New Roman"/>
            </a:endParaRPr>
          </a:p>
        </p:txBody>
      </p:sp>
      <p:sp>
        <p:nvSpPr>
          <p:cNvPr id="277"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JM" sz="1400" spc="-1" strike="noStrike">
                <a:latin typeface="Times New Roman"/>
              </a:rPr>
              <a:t>&lt;footer&gt;</a:t>
            </a:r>
            <a:endParaRPr b="0" lang="en-JM" sz="1400" spc="-1" strike="noStrike">
              <a:latin typeface="Times New Roman"/>
            </a:endParaRPr>
          </a:p>
        </p:txBody>
      </p:sp>
      <p:sp>
        <p:nvSpPr>
          <p:cNvPr id="278"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buNone/>
            </a:pPr>
            <a:fld id="{D85BF695-15ED-4E8D-835F-0BFDB7DDCF28}" type="slidenum">
              <a:rPr b="0" lang="en-JM" sz="1400" spc="-1" strike="noStrike">
                <a:latin typeface="Times New Roman"/>
              </a:rPr>
              <a:t>&lt;number&gt;</a:t>
            </a:fld>
            <a:endParaRPr b="0" lang="en-JM"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380880" y="685800"/>
            <a:ext cx="6095520" cy="3428640"/>
          </a:xfrm>
          <a:prstGeom prst="rect">
            <a:avLst/>
          </a:prstGeom>
          <a:ln w="0">
            <a:noFill/>
          </a:ln>
        </p:spPr>
      </p:sp>
      <p:sp>
        <p:nvSpPr>
          <p:cNvPr id="35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Cisco Networking Academy Program</a:t>
            </a:r>
            <a:endParaRPr b="0" lang="en-JM" sz="2000" spc="-1" strike="noStrike">
              <a:latin typeface="Arial"/>
            </a:endParaRPr>
          </a:p>
          <a:p>
            <a:pPr marL="216000" indent="-216000">
              <a:lnSpc>
                <a:spcPct val="100000"/>
              </a:lnSpc>
              <a:buNone/>
            </a:pPr>
            <a:r>
              <a:rPr b="0" lang="en-US" sz="2000" spc="-1" strike="noStrike">
                <a:solidFill>
                  <a:srgbClr val="999999"/>
                </a:solidFill>
                <a:latin typeface="Arial"/>
              </a:rPr>
              <a:t>Introduction of Networks v7.0 (ITN)</a:t>
            </a:r>
            <a:endParaRPr b="0" lang="en-JM" sz="2000" spc="-1" strike="noStrike">
              <a:latin typeface="Arial"/>
            </a:endParaRPr>
          </a:p>
          <a:p>
            <a:pPr marL="216000" indent="-216000">
              <a:lnSpc>
                <a:spcPct val="100000"/>
              </a:lnSpc>
              <a:buNone/>
            </a:pPr>
            <a:r>
              <a:rPr b="0" lang="en-US" sz="2000" spc="-1" strike="noStrike">
                <a:latin typeface="Arial"/>
              </a:rPr>
              <a:t>Module 13: ICMP</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35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3B35745-CB41-489B-B1F2-F5B2FEFDF68E}"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FB2CD740-81AD-49E7-96B1-25AAD7DC53C9}"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356" name="PlaceHolder 1"/>
          <p:cNvSpPr>
            <a:spLocks noGrp="1"/>
          </p:cNvSpPr>
          <p:nvPr>
            <p:ph type="sldImg"/>
          </p:nvPr>
        </p:nvSpPr>
        <p:spPr>
          <a:xfrm>
            <a:off x="380880" y="685800"/>
            <a:ext cx="6095520" cy="3428640"/>
          </a:xfrm>
          <a:prstGeom prst="rect">
            <a:avLst/>
          </a:prstGeom>
          <a:ln w="0">
            <a:noFill/>
          </a:ln>
        </p:spPr>
      </p:sp>
      <p:sp>
        <p:nvSpPr>
          <p:cNvPr id="35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13.0.2 – What will I learn to do in this module?</a:t>
            </a:r>
            <a:endParaRPr b="0" lang="en-JM" sz="1200" spc="-1" strike="noStrike">
              <a:latin typeface="Arial"/>
            </a:endParaRPr>
          </a:p>
          <a:p>
            <a:pPr marL="216000" indent="-216000">
              <a:lnSpc>
                <a:spcPct val="100000"/>
              </a:lnSpc>
              <a:buNone/>
            </a:pPr>
            <a:endParaRPr b="0" lang="en-JM" sz="12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380880" y="685800"/>
            <a:ext cx="6095520" cy="3428640"/>
          </a:xfrm>
          <a:prstGeom prst="rect">
            <a:avLst/>
          </a:prstGeom>
          <a:ln w="0">
            <a:noFill/>
          </a:ln>
        </p:spPr>
      </p:sp>
      <p:sp>
        <p:nvSpPr>
          <p:cNvPr id="35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p:txBody>
      </p:sp>
      <p:sp>
        <p:nvSpPr>
          <p:cNvPr id="36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5925BC2-F544-4BA2-AE67-C01B0CB618F8}"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E59911D-36C9-4738-8F2B-2582D8A8DD73}" type="slidenum">
              <a:rPr b="0" lang="en-US" sz="800" spc="-1" strike="noStrike">
                <a:solidFill>
                  <a:srgbClr val="000000"/>
                </a:solidFill>
                <a:latin typeface="Arial"/>
              </a:rPr>
              <a:t>&lt;number&gt;</a:t>
            </a:fld>
            <a:endParaRPr b="0" lang="en-JM" sz="800" spc="-1" strike="noStrike">
              <a:latin typeface="Times New Roman"/>
            </a:endParaRPr>
          </a:p>
        </p:txBody>
      </p:sp>
      <p:sp>
        <p:nvSpPr>
          <p:cNvPr id="362" name="PlaceHolder 2"/>
          <p:cNvSpPr>
            <a:spLocks noGrp="1"/>
          </p:cNvSpPr>
          <p:nvPr>
            <p:ph type="sldImg"/>
          </p:nvPr>
        </p:nvSpPr>
        <p:spPr>
          <a:xfrm>
            <a:off x="380880" y="685800"/>
            <a:ext cx="6095520" cy="3428640"/>
          </a:xfrm>
          <a:prstGeom prst="rect">
            <a:avLst/>
          </a:prstGeom>
          <a:ln w="0">
            <a:noFill/>
          </a:ln>
        </p:spPr>
      </p:sp>
      <p:sp>
        <p:nvSpPr>
          <p:cNvPr id="363"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13.1.1 – ICMPv4 and ICMPv6 Messages</a:t>
            </a:r>
            <a:endParaRPr b="0" lang="en-JM" sz="20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2E8D76E-DD86-432D-8210-8471381C6A9E}" type="slidenum">
              <a:rPr b="0" lang="en-US" sz="800" spc="-1" strike="noStrike">
                <a:solidFill>
                  <a:srgbClr val="000000"/>
                </a:solidFill>
                <a:latin typeface="Arial"/>
              </a:rPr>
              <a:t>&lt;number&gt;</a:t>
            </a:fld>
            <a:endParaRPr b="0" lang="en-JM" sz="800" spc="-1" strike="noStrike">
              <a:latin typeface="Times New Roman"/>
            </a:endParaRPr>
          </a:p>
        </p:txBody>
      </p:sp>
      <p:sp>
        <p:nvSpPr>
          <p:cNvPr id="365" name="PlaceHolder 2"/>
          <p:cNvSpPr>
            <a:spLocks noGrp="1"/>
          </p:cNvSpPr>
          <p:nvPr>
            <p:ph type="sldImg"/>
          </p:nvPr>
        </p:nvSpPr>
        <p:spPr>
          <a:xfrm>
            <a:off x="380880" y="685800"/>
            <a:ext cx="6095520" cy="3428640"/>
          </a:xfrm>
          <a:prstGeom prst="rect">
            <a:avLst/>
          </a:prstGeom>
          <a:ln w="0">
            <a:noFill/>
          </a:ln>
        </p:spPr>
      </p:sp>
      <p:sp>
        <p:nvSpPr>
          <p:cNvPr id="366"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13.1.2 – Host Reachability</a:t>
            </a:r>
            <a:endParaRPr b="0" lang="en-JM" sz="20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EA2BD06-E743-4B6A-83AE-985537D93993}" type="slidenum">
              <a:rPr b="0" lang="en-US" sz="800" spc="-1" strike="noStrike">
                <a:solidFill>
                  <a:srgbClr val="000000"/>
                </a:solidFill>
                <a:latin typeface="Arial"/>
              </a:rPr>
              <a:t>&lt;number&gt;</a:t>
            </a:fld>
            <a:endParaRPr b="0" lang="en-JM" sz="800" spc="-1" strike="noStrike">
              <a:latin typeface="Times New Roman"/>
            </a:endParaRPr>
          </a:p>
        </p:txBody>
      </p:sp>
      <p:sp>
        <p:nvSpPr>
          <p:cNvPr id="368" name="PlaceHolder 2"/>
          <p:cNvSpPr>
            <a:spLocks noGrp="1"/>
          </p:cNvSpPr>
          <p:nvPr>
            <p:ph type="sldImg"/>
          </p:nvPr>
        </p:nvSpPr>
        <p:spPr>
          <a:xfrm>
            <a:off x="380880" y="685800"/>
            <a:ext cx="6095520" cy="3428640"/>
          </a:xfrm>
          <a:prstGeom prst="rect">
            <a:avLst/>
          </a:prstGeom>
          <a:ln w="0">
            <a:noFill/>
          </a:ln>
        </p:spPr>
      </p:sp>
      <p:sp>
        <p:nvSpPr>
          <p:cNvPr id="369"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13.1.3 – Destination or Service Unreachable</a:t>
            </a:r>
            <a:endParaRPr b="0" lang="en-JM" sz="20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F4D1372-2CA7-4A29-B5B1-61741EB05046}" type="slidenum">
              <a:rPr b="0" lang="en-US" sz="800" spc="-1" strike="noStrike">
                <a:solidFill>
                  <a:srgbClr val="000000"/>
                </a:solidFill>
                <a:latin typeface="Arial"/>
              </a:rPr>
              <a:t>&lt;number&gt;</a:t>
            </a:fld>
            <a:endParaRPr b="0" lang="en-JM" sz="800" spc="-1" strike="noStrike">
              <a:latin typeface="Times New Roman"/>
            </a:endParaRPr>
          </a:p>
        </p:txBody>
      </p:sp>
      <p:sp>
        <p:nvSpPr>
          <p:cNvPr id="371" name="PlaceHolder 2"/>
          <p:cNvSpPr>
            <a:spLocks noGrp="1"/>
          </p:cNvSpPr>
          <p:nvPr>
            <p:ph type="sldImg"/>
          </p:nvPr>
        </p:nvSpPr>
        <p:spPr>
          <a:xfrm>
            <a:off x="380880" y="685800"/>
            <a:ext cx="6095520" cy="3428640"/>
          </a:xfrm>
          <a:prstGeom prst="rect">
            <a:avLst/>
          </a:prstGeom>
          <a:ln w="0">
            <a:noFill/>
          </a:ln>
        </p:spPr>
      </p:sp>
      <p:sp>
        <p:nvSpPr>
          <p:cNvPr id="372"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13.1.4 – Time Exceeded</a:t>
            </a:r>
            <a:endParaRPr b="0" lang="en-JM" sz="20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190E051-C995-4F42-AE2F-125AB0F6AF4A}" type="slidenum">
              <a:rPr b="0" lang="en-US" sz="800" spc="-1" strike="noStrike">
                <a:solidFill>
                  <a:srgbClr val="000000"/>
                </a:solidFill>
                <a:latin typeface="Arial"/>
              </a:rPr>
              <a:t>&lt;number&gt;</a:t>
            </a:fld>
            <a:endParaRPr b="0" lang="en-JM" sz="800" spc="-1" strike="noStrike">
              <a:latin typeface="Times New Roman"/>
            </a:endParaRPr>
          </a:p>
        </p:txBody>
      </p:sp>
      <p:sp>
        <p:nvSpPr>
          <p:cNvPr id="374" name="PlaceHolder 2"/>
          <p:cNvSpPr>
            <a:spLocks noGrp="1"/>
          </p:cNvSpPr>
          <p:nvPr>
            <p:ph type="sldImg"/>
          </p:nvPr>
        </p:nvSpPr>
        <p:spPr>
          <a:xfrm>
            <a:off x="380880" y="685800"/>
            <a:ext cx="6095520" cy="3428640"/>
          </a:xfrm>
          <a:prstGeom prst="rect">
            <a:avLst/>
          </a:prstGeom>
          <a:ln w="0">
            <a:noFill/>
          </a:ln>
        </p:spPr>
      </p:sp>
      <p:sp>
        <p:nvSpPr>
          <p:cNvPr id="375"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13.1.5 – ICMPv6 Messages</a:t>
            </a:r>
            <a:endParaRPr b="0" lang="en-JM" sz="20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2424293-7F56-4436-AA50-F4302ABEA29B}" type="slidenum">
              <a:rPr b="0" lang="en-US" sz="800" spc="-1" strike="noStrike">
                <a:solidFill>
                  <a:srgbClr val="000000"/>
                </a:solidFill>
                <a:latin typeface="Arial"/>
              </a:rPr>
              <a:t>&lt;number&gt;</a:t>
            </a:fld>
            <a:endParaRPr b="0" lang="en-JM" sz="800" spc="-1" strike="noStrike">
              <a:latin typeface="Times New Roman"/>
            </a:endParaRPr>
          </a:p>
        </p:txBody>
      </p:sp>
      <p:sp>
        <p:nvSpPr>
          <p:cNvPr id="377" name="PlaceHolder 2"/>
          <p:cNvSpPr>
            <a:spLocks noGrp="1"/>
          </p:cNvSpPr>
          <p:nvPr>
            <p:ph type="sldImg"/>
          </p:nvPr>
        </p:nvSpPr>
        <p:spPr>
          <a:xfrm>
            <a:off x="380880" y="685800"/>
            <a:ext cx="6095520" cy="3428640"/>
          </a:xfrm>
          <a:prstGeom prst="rect">
            <a:avLst/>
          </a:prstGeom>
          <a:ln w="0">
            <a:noFill/>
          </a:ln>
        </p:spPr>
      </p:sp>
      <p:sp>
        <p:nvSpPr>
          <p:cNvPr id="378"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13.1.5 – ICMPv6 Messages (Cont.)</a:t>
            </a:r>
            <a:endParaRPr b="0" lang="en-JM" sz="20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567F31E-B1C1-4FEC-8006-99841C6CB58A}" type="slidenum">
              <a:rPr b="0" lang="en-US" sz="800" spc="-1" strike="noStrike">
                <a:solidFill>
                  <a:srgbClr val="000000"/>
                </a:solidFill>
                <a:latin typeface="Arial"/>
              </a:rPr>
              <a:t>&lt;number&gt;</a:t>
            </a:fld>
            <a:endParaRPr b="0" lang="en-JM" sz="800" spc="-1" strike="noStrike">
              <a:latin typeface="Times New Roman"/>
            </a:endParaRPr>
          </a:p>
        </p:txBody>
      </p:sp>
      <p:sp>
        <p:nvSpPr>
          <p:cNvPr id="380" name="PlaceHolder 2"/>
          <p:cNvSpPr>
            <a:spLocks noGrp="1"/>
          </p:cNvSpPr>
          <p:nvPr>
            <p:ph type="sldImg"/>
          </p:nvPr>
        </p:nvSpPr>
        <p:spPr>
          <a:xfrm>
            <a:off x="380880" y="685800"/>
            <a:ext cx="6095520" cy="3428640"/>
          </a:xfrm>
          <a:prstGeom prst="rect">
            <a:avLst/>
          </a:prstGeom>
          <a:ln w="0">
            <a:noFill/>
          </a:ln>
        </p:spPr>
      </p:sp>
      <p:sp>
        <p:nvSpPr>
          <p:cNvPr id="381"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13.1.5 – ICMPv6 Messages (Cont.)</a:t>
            </a:r>
            <a:endParaRPr b="0" lang="en-JM" sz="20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E39A11E-5475-484D-8461-B8EF4ECD2C68}" type="slidenum">
              <a:rPr b="0" lang="en-US" sz="800" spc="-1" strike="noStrike">
                <a:solidFill>
                  <a:srgbClr val="000000"/>
                </a:solidFill>
                <a:latin typeface="Arial"/>
              </a:rPr>
              <a:t>&lt;number&gt;</a:t>
            </a:fld>
            <a:endParaRPr b="0" lang="en-JM" sz="800" spc="-1" strike="noStrike">
              <a:latin typeface="Times New Roman"/>
            </a:endParaRPr>
          </a:p>
        </p:txBody>
      </p:sp>
      <p:sp>
        <p:nvSpPr>
          <p:cNvPr id="383" name="PlaceHolder 2"/>
          <p:cNvSpPr>
            <a:spLocks noGrp="1"/>
          </p:cNvSpPr>
          <p:nvPr>
            <p:ph type="sldImg"/>
          </p:nvPr>
        </p:nvSpPr>
        <p:spPr>
          <a:xfrm>
            <a:off x="380880" y="685800"/>
            <a:ext cx="6095520" cy="3428640"/>
          </a:xfrm>
          <a:prstGeom prst="rect">
            <a:avLst/>
          </a:prstGeom>
          <a:ln w="0">
            <a:noFill/>
          </a:ln>
        </p:spPr>
      </p:sp>
      <p:sp>
        <p:nvSpPr>
          <p:cNvPr id="384"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13.1.5 – ICMPv6 Messages (Cont.)</a:t>
            </a:r>
            <a:endParaRPr b="0" lang="en-JM" sz="20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E6C55AC-6A33-4452-B853-7FBF7F4EED82}" type="slidenum">
              <a:rPr b="0" lang="en-US" sz="800" spc="-1" strike="noStrike">
                <a:solidFill>
                  <a:srgbClr val="000000"/>
                </a:solidFill>
                <a:latin typeface="Arial"/>
              </a:rPr>
              <a:t>&lt;number&gt;</a:t>
            </a:fld>
            <a:endParaRPr b="0" lang="en-JM" sz="800" spc="-1" strike="noStrike">
              <a:latin typeface="Times New Roman"/>
            </a:endParaRPr>
          </a:p>
        </p:txBody>
      </p:sp>
      <p:sp>
        <p:nvSpPr>
          <p:cNvPr id="386" name="PlaceHolder 2"/>
          <p:cNvSpPr>
            <a:spLocks noGrp="1"/>
          </p:cNvSpPr>
          <p:nvPr>
            <p:ph type="sldImg"/>
          </p:nvPr>
        </p:nvSpPr>
        <p:spPr>
          <a:xfrm>
            <a:off x="380880" y="685800"/>
            <a:ext cx="6095520" cy="3428640"/>
          </a:xfrm>
          <a:prstGeom prst="rect">
            <a:avLst/>
          </a:prstGeom>
          <a:ln w="0">
            <a:noFill/>
          </a:ln>
        </p:spPr>
      </p:sp>
      <p:sp>
        <p:nvSpPr>
          <p:cNvPr id="387"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13.1 – ICMP Messages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13.1.5 – ICMPv6 Messages</a:t>
            </a:r>
            <a:endParaRPr b="0" lang="en-JM" sz="2000" spc="-1" strike="noStrike">
              <a:latin typeface="Arial"/>
            </a:endParaRPr>
          </a:p>
          <a:p>
            <a:pPr marL="216000" indent="-216000">
              <a:lnSpc>
                <a:spcPct val="80000"/>
              </a:lnSpc>
              <a:buNone/>
            </a:pPr>
            <a:r>
              <a:rPr b="0" lang="en-US" sz="2000" spc="-1" strike="noStrike">
                <a:latin typeface="Arial"/>
                <a:ea typeface="ＭＳ Ｐゴシック"/>
              </a:rPr>
              <a:t>13.1.6 – Check Your Understanding – ICMP Messages</a:t>
            </a:r>
            <a:endParaRPr b="0" lang="en-JM" sz="2000" spc="-1" strike="noStrike">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380880" y="685800"/>
            <a:ext cx="6095520" cy="3428640"/>
          </a:xfrm>
          <a:prstGeom prst="rect">
            <a:avLst/>
          </a:prstGeom>
          <a:ln w="0">
            <a:noFill/>
          </a:ln>
        </p:spPr>
      </p:sp>
      <p:sp>
        <p:nvSpPr>
          <p:cNvPr id="38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 – Ping and Traceroute Tests</a:t>
            </a:r>
            <a:endParaRPr b="0" lang="en-JM" sz="1200" spc="-1" strike="noStrike">
              <a:latin typeface="Arial"/>
            </a:endParaRPr>
          </a:p>
        </p:txBody>
      </p:sp>
      <p:sp>
        <p:nvSpPr>
          <p:cNvPr id="39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9D88A81-B324-46F8-87ED-A1E67EF1E833}"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2ED5F68-D327-4CA5-822F-2308D376F6A5}" type="slidenum">
              <a:rPr b="0" lang="en-US" sz="800" spc="-1" strike="noStrike">
                <a:solidFill>
                  <a:srgbClr val="000000"/>
                </a:solidFill>
                <a:latin typeface="Arial"/>
              </a:rPr>
              <a:t>&lt;number&gt;</a:t>
            </a:fld>
            <a:endParaRPr b="0" lang="en-JM" sz="800" spc="-1" strike="noStrike">
              <a:latin typeface="Times New Roman"/>
            </a:endParaRPr>
          </a:p>
        </p:txBody>
      </p:sp>
      <p:sp>
        <p:nvSpPr>
          <p:cNvPr id="392" name="PlaceHolder 2"/>
          <p:cNvSpPr>
            <a:spLocks noGrp="1"/>
          </p:cNvSpPr>
          <p:nvPr>
            <p:ph type="sldImg"/>
          </p:nvPr>
        </p:nvSpPr>
        <p:spPr>
          <a:xfrm>
            <a:off x="380880" y="685800"/>
            <a:ext cx="6095520" cy="3428640"/>
          </a:xfrm>
          <a:prstGeom prst="rect">
            <a:avLst/>
          </a:prstGeom>
          <a:ln w="0">
            <a:noFill/>
          </a:ln>
        </p:spPr>
      </p:sp>
      <p:sp>
        <p:nvSpPr>
          <p:cNvPr id="393"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 – Ping and Traceroute Tests</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13.2.1 – Ping – Test Connectivity</a:t>
            </a:r>
            <a:endParaRPr b="0" lang="en-JM" sz="1200" spc="-1" strike="noStrike">
              <a:latin typeface="Arial"/>
            </a:endParaRPr>
          </a:p>
          <a:p>
            <a:pPr marL="216000" indent="-216000">
              <a:lnSpc>
                <a:spcPct val="80000"/>
              </a:lnSpc>
              <a:buNone/>
            </a:pPr>
            <a:endParaRPr b="0" lang="en-JM" sz="12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92170B6-10FE-498A-9EA5-49C26560EDA1}" type="slidenum">
              <a:rPr b="0" lang="en-US" sz="800" spc="-1" strike="noStrike">
                <a:solidFill>
                  <a:srgbClr val="000000"/>
                </a:solidFill>
                <a:latin typeface="Arial"/>
              </a:rPr>
              <a:t>&lt;number&gt;</a:t>
            </a:fld>
            <a:endParaRPr b="0" lang="en-JM" sz="800" spc="-1" strike="noStrike">
              <a:latin typeface="Times New Roman"/>
            </a:endParaRPr>
          </a:p>
        </p:txBody>
      </p:sp>
      <p:sp>
        <p:nvSpPr>
          <p:cNvPr id="395" name="PlaceHolder 2"/>
          <p:cNvSpPr>
            <a:spLocks noGrp="1"/>
          </p:cNvSpPr>
          <p:nvPr>
            <p:ph type="sldImg"/>
          </p:nvPr>
        </p:nvSpPr>
        <p:spPr>
          <a:xfrm>
            <a:off x="380880" y="685800"/>
            <a:ext cx="6095520" cy="3428640"/>
          </a:xfrm>
          <a:prstGeom prst="rect">
            <a:avLst/>
          </a:prstGeom>
          <a:ln w="0">
            <a:noFill/>
          </a:ln>
        </p:spPr>
      </p:sp>
      <p:sp>
        <p:nvSpPr>
          <p:cNvPr id="396"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 – Ping and Traceroute Tests</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13.2.2 – Ping the Loopback</a:t>
            </a:r>
            <a:endParaRPr b="0" lang="en-JM" sz="1200" spc="-1" strike="noStrike">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B7E3320-9324-4E91-8A13-B6A73B93B1F7}" type="slidenum">
              <a:rPr b="0" lang="en-US" sz="800" spc="-1" strike="noStrike">
                <a:solidFill>
                  <a:srgbClr val="000000"/>
                </a:solidFill>
                <a:latin typeface="Arial"/>
              </a:rPr>
              <a:t>&lt;number&gt;</a:t>
            </a:fld>
            <a:endParaRPr b="0" lang="en-JM" sz="800" spc="-1" strike="noStrike">
              <a:latin typeface="Times New Roman"/>
            </a:endParaRPr>
          </a:p>
        </p:txBody>
      </p:sp>
      <p:sp>
        <p:nvSpPr>
          <p:cNvPr id="398" name="PlaceHolder 2"/>
          <p:cNvSpPr>
            <a:spLocks noGrp="1"/>
          </p:cNvSpPr>
          <p:nvPr>
            <p:ph type="sldImg"/>
          </p:nvPr>
        </p:nvSpPr>
        <p:spPr>
          <a:xfrm>
            <a:off x="380880" y="685800"/>
            <a:ext cx="6095520" cy="3428640"/>
          </a:xfrm>
          <a:prstGeom prst="rect">
            <a:avLst/>
          </a:prstGeom>
          <a:ln w="0">
            <a:noFill/>
          </a:ln>
        </p:spPr>
      </p:sp>
      <p:sp>
        <p:nvSpPr>
          <p:cNvPr id="399"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 – Ping and Traceroute Tests</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13.2.3 – Ping the Default Gateway</a:t>
            </a:r>
            <a:endParaRPr b="0" lang="en-JM" sz="1200" spc="-1" strike="noStrike">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380880" y="685800"/>
            <a:ext cx="6095520" cy="3428640"/>
          </a:xfrm>
          <a:prstGeom prst="rect">
            <a:avLst/>
          </a:prstGeom>
          <a:ln w="0">
            <a:noFill/>
          </a:ln>
        </p:spPr>
      </p:sp>
      <p:sp>
        <p:nvSpPr>
          <p:cNvPr id="40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 – Ping and Traceroute Tests</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13.2.4 – Ping a Remote Host</a:t>
            </a:r>
            <a:endParaRPr b="0" lang="en-JM" sz="1200" spc="-1" strike="noStrike">
              <a:latin typeface="Arial"/>
            </a:endParaRPr>
          </a:p>
        </p:txBody>
      </p:sp>
      <p:sp>
        <p:nvSpPr>
          <p:cNvPr id="40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47A2BD0-764C-4828-8201-1A9D3853E46E}"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380880" y="685800"/>
            <a:ext cx="6095520" cy="3428640"/>
          </a:xfrm>
          <a:prstGeom prst="rect">
            <a:avLst/>
          </a:prstGeom>
          <a:ln w="0">
            <a:noFill/>
          </a:ln>
        </p:spPr>
      </p:sp>
      <p:sp>
        <p:nvSpPr>
          <p:cNvPr id="40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 – Ping and Traceroute Tests</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13.2.5 – Traceroute – Test the Path</a:t>
            </a:r>
            <a:endParaRPr b="0" lang="en-JM" sz="1200" spc="-1" strike="noStrike">
              <a:latin typeface="Arial"/>
            </a:endParaRPr>
          </a:p>
        </p:txBody>
      </p:sp>
      <p:sp>
        <p:nvSpPr>
          <p:cNvPr id="40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4E3084A-4A5E-46C9-99F6-0EE9E948559E}"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380880" y="685800"/>
            <a:ext cx="6095520" cy="3428640"/>
          </a:xfrm>
          <a:prstGeom prst="rect">
            <a:avLst/>
          </a:prstGeom>
          <a:ln w="0">
            <a:noFill/>
          </a:ln>
        </p:spPr>
      </p:sp>
      <p:sp>
        <p:nvSpPr>
          <p:cNvPr id="40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 – Ping and Traceroute Tests</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13.2.5 – Traceroute – Test the Path (Cont.)</a:t>
            </a:r>
            <a:endParaRPr b="0" lang="en-JM" sz="1200" spc="-1" strike="noStrike">
              <a:latin typeface="Arial"/>
            </a:endParaRPr>
          </a:p>
        </p:txBody>
      </p:sp>
      <p:sp>
        <p:nvSpPr>
          <p:cNvPr id="40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F4E17E1-941C-46F9-BB4F-8BA990DA44F9}"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8713D29-445B-4F34-B0C6-A98E54218DF8}" type="slidenum">
              <a:rPr b="0" lang="en-US" sz="800" spc="-1" strike="noStrike">
                <a:solidFill>
                  <a:srgbClr val="000000"/>
                </a:solidFill>
                <a:latin typeface="Arial"/>
              </a:rPr>
              <a:t>&lt;number&gt;</a:t>
            </a:fld>
            <a:endParaRPr b="0" lang="en-JM" sz="800" spc="-1" strike="noStrike">
              <a:latin typeface="Times New Roman"/>
            </a:endParaRPr>
          </a:p>
        </p:txBody>
      </p:sp>
      <p:sp>
        <p:nvSpPr>
          <p:cNvPr id="410" name="PlaceHolder 2"/>
          <p:cNvSpPr>
            <a:spLocks noGrp="1"/>
          </p:cNvSpPr>
          <p:nvPr>
            <p:ph type="sldImg"/>
          </p:nvPr>
        </p:nvSpPr>
        <p:spPr>
          <a:xfrm>
            <a:off x="380880" y="685800"/>
            <a:ext cx="6095520" cy="3428640"/>
          </a:xfrm>
          <a:prstGeom prst="rect">
            <a:avLst/>
          </a:prstGeom>
          <a:ln w="0">
            <a:noFill/>
          </a:ln>
        </p:spPr>
      </p:sp>
      <p:sp>
        <p:nvSpPr>
          <p:cNvPr id="411"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 – Ping and Traceroute Tests</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13.2.6 – Packet Tracer – Verify IPv4 and Ipv6 Addressing</a:t>
            </a:r>
            <a:endParaRPr b="0" lang="en-JM" sz="1200" spc="-1" strike="noStrike">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51E5E3E-9605-4500-A17E-C57B9F32E40B}" type="slidenum">
              <a:rPr b="0" lang="en-US" sz="800" spc="-1" strike="noStrike">
                <a:solidFill>
                  <a:srgbClr val="000000"/>
                </a:solidFill>
                <a:latin typeface="Arial"/>
              </a:rPr>
              <a:t>&lt;number&gt;</a:t>
            </a:fld>
            <a:endParaRPr b="0" lang="en-JM" sz="800" spc="-1" strike="noStrike">
              <a:latin typeface="Times New Roman"/>
            </a:endParaRPr>
          </a:p>
        </p:txBody>
      </p:sp>
      <p:sp>
        <p:nvSpPr>
          <p:cNvPr id="413" name="PlaceHolder 2"/>
          <p:cNvSpPr>
            <a:spLocks noGrp="1"/>
          </p:cNvSpPr>
          <p:nvPr>
            <p:ph type="sldImg"/>
          </p:nvPr>
        </p:nvSpPr>
        <p:spPr>
          <a:xfrm>
            <a:off x="380880" y="685800"/>
            <a:ext cx="6095520" cy="3428640"/>
          </a:xfrm>
          <a:prstGeom prst="rect">
            <a:avLst/>
          </a:prstGeom>
          <a:ln w="0">
            <a:noFill/>
          </a:ln>
        </p:spPr>
      </p:sp>
      <p:sp>
        <p:nvSpPr>
          <p:cNvPr id="414"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 – Ping and Traceroute Tests</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13.2.6 – Packet Tracer – Use Ping and Traceroute to Test Network Connectivity</a:t>
            </a:r>
            <a:endParaRPr b="0" lang="en-JM" sz="1200" spc="-1" strike="noStrike">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380880" y="685800"/>
            <a:ext cx="6095520" cy="3428640"/>
          </a:xfrm>
          <a:prstGeom prst="rect">
            <a:avLst/>
          </a:prstGeom>
          <a:ln w="0">
            <a:noFill/>
          </a:ln>
        </p:spPr>
      </p:sp>
      <p:sp>
        <p:nvSpPr>
          <p:cNvPr id="41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13.3 – Module Practice and Quiz</a:t>
            </a:r>
            <a:endParaRPr b="0" lang="en-JM" sz="1200" spc="-1" strike="noStrike">
              <a:latin typeface="Arial"/>
            </a:endParaRPr>
          </a:p>
          <a:p>
            <a:pPr marL="216000" indent="-216000">
              <a:lnSpc>
                <a:spcPct val="80000"/>
              </a:lnSpc>
              <a:buNone/>
            </a:pPr>
            <a:endParaRPr b="0" lang="en-JM" sz="1200" spc="-1" strike="noStrike">
              <a:latin typeface="Arial"/>
            </a:endParaRPr>
          </a:p>
        </p:txBody>
      </p:sp>
      <p:sp>
        <p:nvSpPr>
          <p:cNvPr id="41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61921D9-C3B0-42FF-9C88-7B69E4FE3765}"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8495417-F53D-4CFB-B3E9-689276EFD9C0}" type="slidenum">
              <a:rPr b="0" lang="en-US" sz="800" spc="-1" strike="noStrike">
                <a:solidFill>
                  <a:srgbClr val="000000"/>
                </a:solidFill>
                <a:latin typeface="Arial"/>
              </a:rPr>
              <a:t>&lt;number&gt;</a:t>
            </a:fld>
            <a:endParaRPr b="0" lang="en-JM" sz="800" spc="-1" strike="noStrike">
              <a:latin typeface="Times New Roman"/>
            </a:endParaRPr>
          </a:p>
        </p:txBody>
      </p:sp>
      <p:sp>
        <p:nvSpPr>
          <p:cNvPr id="419" name="PlaceHolder 2"/>
          <p:cNvSpPr>
            <a:spLocks noGrp="1"/>
          </p:cNvSpPr>
          <p:nvPr>
            <p:ph type="sldImg"/>
          </p:nvPr>
        </p:nvSpPr>
        <p:spPr>
          <a:xfrm>
            <a:off x="380880" y="685800"/>
            <a:ext cx="6095520" cy="3428640"/>
          </a:xfrm>
          <a:prstGeom prst="rect">
            <a:avLst/>
          </a:prstGeom>
          <a:ln w="0">
            <a:noFill/>
          </a:ln>
        </p:spPr>
      </p:sp>
      <p:sp>
        <p:nvSpPr>
          <p:cNvPr id="420"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13.3 – Module Practice and Quiz</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13.3.1 – Packet Tracer – Using ICMP to Test and Correct Network Connectivity</a:t>
            </a:r>
            <a:endParaRPr b="0" lang="en-JM" sz="1200" spc="-1" strike="noStrike">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87E14F4-9814-44DE-8C9B-D4869AC71E32}" type="slidenum">
              <a:rPr b="0" lang="en-US" sz="800" spc="-1" strike="noStrike">
                <a:solidFill>
                  <a:srgbClr val="000000"/>
                </a:solidFill>
                <a:latin typeface="Arial"/>
              </a:rPr>
              <a:t>&lt;number&gt;</a:t>
            </a:fld>
            <a:endParaRPr b="0" lang="en-JM" sz="800" spc="-1" strike="noStrike">
              <a:latin typeface="Times New Roman"/>
            </a:endParaRPr>
          </a:p>
        </p:txBody>
      </p:sp>
      <p:sp>
        <p:nvSpPr>
          <p:cNvPr id="422" name="PlaceHolder 2"/>
          <p:cNvSpPr>
            <a:spLocks noGrp="1"/>
          </p:cNvSpPr>
          <p:nvPr>
            <p:ph type="sldImg"/>
          </p:nvPr>
        </p:nvSpPr>
        <p:spPr>
          <a:xfrm>
            <a:off x="380880" y="685800"/>
            <a:ext cx="6095520" cy="3428640"/>
          </a:xfrm>
          <a:prstGeom prst="rect">
            <a:avLst/>
          </a:prstGeom>
          <a:ln w="0">
            <a:noFill/>
          </a:ln>
        </p:spPr>
      </p:sp>
      <p:sp>
        <p:nvSpPr>
          <p:cNvPr id="423"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13.3 – Module Practice and Quiz</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13.3.2 – PTPM and Lab – Use Ping and Traceroute to Test Network Connectivity</a:t>
            </a:r>
            <a:endParaRPr b="0" lang="en-JM" sz="1200" spc="-1" strike="noStrike">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AD23D30-BC39-49C9-945C-A6D14488D60E}"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25" name="PlaceHolder 2"/>
          <p:cNvSpPr>
            <a:spLocks noGrp="1"/>
          </p:cNvSpPr>
          <p:nvPr>
            <p:ph type="sldImg"/>
          </p:nvPr>
        </p:nvSpPr>
        <p:spPr>
          <a:xfrm>
            <a:off x="380880" y="685800"/>
            <a:ext cx="6095520" cy="3428640"/>
          </a:xfrm>
          <a:prstGeom prst="rect">
            <a:avLst/>
          </a:prstGeom>
          <a:ln w="0">
            <a:noFill/>
          </a:ln>
        </p:spPr>
      </p:sp>
      <p:sp>
        <p:nvSpPr>
          <p:cNvPr id="426"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13 – ICMP</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13.3 – Module Practice and Quiz</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13.3.3 – What did I learn in this module?</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13.3.4 – Module Quiz - ICMP</a:t>
            </a:r>
            <a:endParaRPr b="0" lang="en-JM" sz="1200" spc="-1" strike="noStrike">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65A7DBF-33B1-41C1-A53C-6DAF4B0391E7}"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28" name="PlaceHolder 2"/>
          <p:cNvSpPr>
            <a:spLocks noGrp="1"/>
          </p:cNvSpPr>
          <p:nvPr>
            <p:ph type="sldImg"/>
          </p:nvPr>
        </p:nvSpPr>
        <p:spPr>
          <a:xfrm>
            <a:off x="380880" y="685800"/>
            <a:ext cx="6095520" cy="3428640"/>
          </a:xfrm>
          <a:prstGeom prst="rect">
            <a:avLst/>
          </a:prstGeom>
          <a:ln w="0">
            <a:noFill/>
          </a:ln>
        </p:spPr>
      </p:sp>
      <p:sp>
        <p:nvSpPr>
          <p:cNvPr id="429" name="PlaceHolder 3"/>
          <p:cNvSpPr>
            <a:spLocks noGrp="1"/>
          </p:cNvSpPr>
          <p:nvPr>
            <p:ph type="body"/>
          </p:nvPr>
        </p:nvSpPr>
        <p:spPr>
          <a:xfrm>
            <a:off x="685800" y="4343400"/>
            <a:ext cx="5486040" cy="4114440"/>
          </a:xfrm>
          <a:prstGeom prst="rect">
            <a:avLst/>
          </a:prstGeom>
          <a:noFill/>
          <a:ln w="0">
            <a:noFill/>
          </a:ln>
        </p:spPr>
        <p:txBody>
          <a:bodyPr anchor="t">
            <a:noAutofit/>
          </a:bodyPr>
          <a:p>
            <a:pPr>
              <a:lnSpc>
                <a:spcPct val="80000"/>
              </a:lnSpc>
              <a:buNone/>
              <a:tabLst>
                <a:tab algn="l" pos="0"/>
              </a:tabLst>
            </a:pPr>
            <a:r>
              <a:rPr b="0" lang="en-US" sz="1200" spc="-1" strike="noStrike">
                <a:solidFill>
                  <a:srgbClr val="000000"/>
                </a:solidFill>
                <a:latin typeface="Arial"/>
                <a:ea typeface="ＭＳ Ｐゴシック"/>
              </a:rPr>
              <a:t>13 – ICMP</a:t>
            </a:r>
            <a:endParaRPr b="0" lang="en-JM" sz="1200" spc="-1" strike="noStrike">
              <a:latin typeface="Arial"/>
            </a:endParaRPr>
          </a:p>
          <a:p>
            <a:pPr>
              <a:lnSpc>
                <a:spcPct val="80000"/>
              </a:lnSpc>
              <a:buNone/>
              <a:tabLst>
                <a:tab algn="l" pos="0"/>
              </a:tabLst>
            </a:pPr>
            <a:r>
              <a:rPr b="0" lang="en-US" sz="2000" spc="-1" strike="noStrike">
                <a:latin typeface="Arial"/>
                <a:ea typeface="ＭＳ Ｐゴシック"/>
              </a:rPr>
              <a:t>New Terms and Commands</a:t>
            </a:r>
            <a:endParaRPr b="0" lang="en-JM" sz="2000" spc="-1" strike="noStrike">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380880" y="685800"/>
            <a:ext cx="6095520" cy="3428640"/>
          </a:xfrm>
          <a:prstGeom prst="rect">
            <a:avLst/>
          </a:prstGeom>
          <a:ln w="0">
            <a:noFill/>
          </a:ln>
        </p:spPr>
      </p:sp>
      <p:sp>
        <p:nvSpPr>
          <p:cNvPr id="431"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43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F6CB4E6-CABB-4C01-8885-B31D4B9818D4}" type="slidenum">
              <a:rPr b="0" lang="en-US" sz="1200" spc="-1" strike="noStrike">
                <a:latin typeface="Times New Roman"/>
              </a:rPr>
              <a:t>&lt;number&gt;</a:t>
            </a:fld>
            <a:endParaRPr b="0" lang="en-JM"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9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2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jpe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0"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45E66F5B-4927-4A45-8862-79F74995893C}" type="slidenum">
              <a:rPr b="0" lang="en-US" sz="600" spc="-1" strike="noStrike">
                <a:solidFill>
                  <a:srgbClr val="d9d9d9"/>
                </a:solidFill>
                <a:latin typeface="Arial"/>
              </a:rPr>
              <a:t>1</a:t>
            </a:fld>
            <a:endParaRPr b="0" lang="en-JM" sz="600" spc="-1" strike="noStrike">
              <a:latin typeface="Arial"/>
            </a:endParaRPr>
          </a:p>
        </p:txBody>
      </p:sp>
      <p:sp>
        <p:nvSpPr>
          <p:cNvPr id="1" name="Rectangle 4" hidden="1"/>
          <p:cNvSpPr/>
          <p:nvPr/>
        </p:nvSpPr>
        <p:spPr>
          <a:xfrm>
            <a:off x="5632560" y="4741920"/>
            <a:ext cx="289260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 name="Group 4"/>
          <p:cNvGrpSpPr/>
          <p:nvPr/>
        </p:nvGrpSpPr>
        <p:grpSpPr>
          <a:xfrm>
            <a:off x="507960" y="4715280"/>
            <a:ext cx="339840" cy="180360"/>
            <a:chOff x="507960" y="4715280"/>
            <a:chExt cx="339840" cy="180360"/>
          </a:xfrm>
        </p:grpSpPr>
        <p:sp>
          <p:nvSpPr>
            <p:cNvPr id="3"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4"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6"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7"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9"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0"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1"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2"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5"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6"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17" name="Picture 2" descr=""/>
          <p:cNvPicPr/>
          <p:nvPr/>
        </p:nvPicPr>
        <p:blipFill>
          <a:blip r:embed="rId2"/>
          <a:stretch/>
        </p:blipFill>
        <p:spPr>
          <a:xfrm>
            <a:off x="0" y="0"/>
            <a:ext cx="9143640" cy="5143320"/>
          </a:xfrm>
          <a:prstGeom prst="rect">
            <a:avLst/>
          </a:prstGeom>
          <a:ln w="0">
            <a:noFill/>
          </a:ln>
        </p:spPr>
      </p:pic>
      <p:sp>
        <p:nvSpPr>
          <p:cNvPr id="18" name="PlaceHolder 1"/>
          <p:cNvSpPr>
            <a:spLocks noGrp="1"/>
          </p:cNvSpPr>
          <p:nvPr>
            <p:ph type="body"/>
          </p:nvPr>
        </p:nvSpPr>
        <p:spPr>
          <a:xfrm>
            <a:off x="469440" y="404964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19" name="PlaceHolder 2"/>
          <p:cNvSpPr>
            <a:spLocks noGrp="1"/>
          </p:cNvSpPr>
          <p:nvPr>
            <p:ph type="body"/>
          </p:nvPr>
        </p:nvSpPr>
        <p:spPr>
          <a:xfrm>
            <a:off x="469440" y="428940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20" name="PlaceHolder 3"/>
          <p:cNvSpPr>
            <a:spLocks noGrp="1"/>
          </p:cNvSpPr>
          <p:nvPr>
            <p:ph type="body"/>
          </p:nvPr>
        </p:nvSpPr>
        <p:spPr>
          <a:xfrm>
            <a:off x="463320" y="2872080"/>
            <a:ext cx="5924880" cy="298800"/>
          </a:xfrm>
          <a:prstGeom prst="rect">
            <a:avLst/>
          </a:prstGeom>
          <a:noFill/>
          <a:ln w="0">
            <a:noFill/>
          </a:ln>
        </p:spPr>
        <p:txBody>
          <a:bodyPr anchor="t">
            <a:noAutofit/>
          </a:bodyPr>
          <a:p>
            <a:pPr>
              <a:lnSpc>
                <a:spcPct val="95000"/>
              </a:lnSpc>
              <a:spcBef>
                <a:spcPts val="1074"/>
              </a:spcBef>
              <a:buNone/>
              <a:tabLst>
                <a:tab algn="l" pos="0"/>
              </a:tabLst>
            </a:pPr>
            <a:r>
              <a:rPr b="0" lang="en-US" sz="2000" spc="-1" strike="noStrike">
                <a:solidFill>
                  <a:srgbClr val="81c569"/>
                </a:solidFill>
                <a:latin typeface="Arial"/>
                <a:ea typeface="ＭＳ Ｐゴシック"/>
              </a:rPr>
              <a:t>Click to edit Master text styles</a:t>
            </a:r>
            <a:endParaRPr b="0" lang="en-US" sz="2000" spc="-1" strike="noStrike">
              <a:solidFill>
                <a:srgbClr val="58585b"/>
              </a:solidFill>
              <a:latin typeface="Arial"/>
            </a:endParaRPr>
          </a:p>
        </p:txBody>
      </p:sp>
      <p:sp>
        <p:nvSpPr>
          <p:cNvPr id="21" name="PlaceHolder 4"/>
          <p:cNvSpPr>
            <a:spLocks noGrp="1"/>
          </p:cNvSpPr>
          <p:nvPr>
            <p:ph type="title"/>
          </p:nvPr>
        </p:nvSpPr>
        <p:spPr>
          <a:xfrm>
            <a:off x="425880" y="2300760"/>
            <a:ext cx="5955120" cy="64440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38c6f4"/>
                </a:solidFill>
                <a:latin typeface="Arial"/>
                <a:ea typeface="ＭＳ Ｐゴシック"/>
              </a:rPr>
              <a:t>Click to edit Master title style</a:t>
            </a:r>
            <a:endParaRPr b="0" lang="en-US" sz="3600" spc="-1" strike="noStrike">
              <a:solidFill>
                <a:srgbClr val="58585b"/>
              </a:solidFill>
              <a:latin typeface="Arial"/>
            </a:endParaRPr>
          </a:p>
        </p:txBody>
      </p:sp>
      <p:grpSp>
        <p:nvGrpSpPr>
          <p:cNvPr id="22" name="Group 4"/>
          <p:cNvGrpSpPr/>
          <p:nvPr/>
        </p:nvGrpSpPr>
        <p:grpSpPr>
          <a:xfrm>
            <a:off x="492120" y="395280"/>
            <a:ext cx="796680" cy="423360"/>
            <a:chOff x="492120" y="395280"/>
            <a:chExt cx="796680" cy="423360"/>
          </a:xfrm>
        </p:grpSpPr>
        <p:sp>
          <p:nvSpPr>
            <p:cNvPr id="23" name="Rectangle 5"/>
            <p:cNvSpPr/>
            <p:nvPr/>
          </p:nvSpPr>
          <p:spPr>
            <a:xfrm>
              <a:off x="717480" y="676440"/>
              <a:ext cx="34560" cy="139320"/>
            </a:xfrm>
            <a:prstGeom prst="rect">
              <a:avLst/>
            </a:prstGeom>
            <a:solidFill>
              <a:schemeClr val="accent5"/>
            </a:solidFill>
            <a:ln w="0">
              <a:noFill/>
            </a:ln>
          </p:spPr>
          <p:style>
            <a:lnRef idx="0"/>
            <a:fillRef idx="0"/>
            <a:effectRef idx="0"/>
            <a:fontRef idx="minor"/>
          </p:style>
        </p:sp>
        <p:sp>
          <p:nvSpPr>
            <p:cNvPr id="24" name="Freeform 6"/>
            <p:cNvSpPr/>
            <p:nvPr/>
          </p:nvSpPr>
          <p:spPr>
            <a:xfrm>
              <a:off x="928800" y="674640"/>
              <a:ext cx="104400" cy="1440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5" name="Freeform 7"/>
            <p:cNvSpPr/>
            <p:nvPr/>
          </p:nvSpPr>
          <p:spPr>
            <a:xfrm>
              <a:off x="563400" y="674640"/>
              <a:ext cx="105840" cy="1440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 name="Freeform 8"/>
            <p:cNvSpPr/>
            <p:nvPr/>
          </p:nvSpPr>
          <p:spPr>
            <a:xfrm>
              <a:off x="1071720" y="674640"/>
              <a:ext cx="144000" cy="1440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7" name="Freeform 9"/>
            <p:cNvSpPr/>
            <p:nvPr/>
          </p:nvSpPr>
          <p:spPr>
            <a:xfrm>
              <a:off x="798480" y="674640"/>
              <a:ext cx="95040" cy="1440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 name="Freeform 10"/>
            <p:cNvSpPr/>
            <p:nvPr/>
          </p:nvSpPr>
          <p:spPr>
            <a:xfrm>
              <a:off x="49212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9" name="Freeform 11"/>
            <p:cNvSpPr/>
            <p:nvPr/>
          </p:nvSpPr>
          <p:spPr>
            <a:xfrm>
              <a:off x="58752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0" name="Freeform 12"/>
            <p:cNvSpPr/>
            <p:nvPr/>
          </p:nvSpPr>
          <p:spPr>
            <a:xfrm>
              <a:off x="682560" y="395280"/>
              <a:ext cx="34560" cy="22032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1" name="Freeform 13"/>
            <p:cNvSpPr/>
            <p:nvPr/>
          </p:nvSpPr>
          <p:spPr>
            <a:xfrm>
              <a:off x="77796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2" name="Freeform 14"/>
            <p:cNvSpPr/>
            <p:nvPr/>
          </p:nvSpPr>
          <p:spPr>
            <a:xfrm>
              <a:off x="87300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3" name="Freeform 15"/>
            <p:cNvSpPr/>
            <p:nvPr/>
          </p:nvSpPr>
          <p:spPr>
            <a:xfrm>
              <a:off x="96840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4" name="Freeform 16"/>
            <p:cNvSpPr/>
            <p:nvPr/>
          </p:nvSpPr>
          <p:spPr>
            <a:xfrm>
              <a:off x="1063800" y="395280"/>
              <a:ext cx="34560" cy="22032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5" name="Freeform 17"/>
            <p:cNvSpPr/>
            <p:nvPr/>
          </p:nvSpPr>
          <p:spPr>
            <a:xfrm>
              <a:off x="115884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6" name="Freeform 18"/>
            <p:cNvSpPr/>
            <p:nvPr/>
          </p:nvSpPr>
          <p:spPr>
            <a:xfrm>
              <a:off x="1254240" y="509760"/>
              <a:ext cx="34560" cy="709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820F29FF-1CE9-4AEC-82F4-23EDA0F9D284}" type="slidenum">
              <a:rPr b="0" lang="en-US" sz="600" spc="-1" strike="noStrike">
                <a:solidFill>
                  <a:srgbClr val="d9d9d9"/>
                </a:solidFill>
                <a:latin typeface="Arial"/>
              </a:rPr>
              <a:t>&lt;number&gt;</a:t>
            </a:fld>
            <a:endParaRPr b="0" lang="en-JM" sz="600" spc="-1" strike="noStrike">
              <a:latin typeface="Arial"/>
            </a:endParaRPr>
          </a:p>
        </p:txBody>
      </p:sp>
      <p:sp>
        <p:nvSpPr>
          <p:cNvPr id="74" name="Rectangle 4"/>
          <p:cNvSpPr/>
          <p:nvPr/>
        </p:nvSpPr>
        <p:spPr>
          <a:xfrm>
            <a:off x="5632560" y="4741920"/>
            <a:ext cx="289260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75" name="Group 4"/>
          <p:cNvGrpSpPr/>
          <p:nvPr/>
        </p:nvGrpSpPr>
        <p:grpSpPr>
          <a:xfrm>
            <a:off x="507960" y="4715280"/>
            <a:ext cx="339840" cy="180360"/>
            <a:chOff x="507960" y="4715280"/>
            <a:chExt cx="339840" cy="180360"/>
          </a:xfrm>
        </p:grpSpPr>
        <p:sp>
          <p:nvSpPr>
            <p:cNvPr id="76"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77"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8"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9"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80"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1"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2"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3"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4"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5"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6"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7"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8"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9"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90" name="PlaceHolder 1"/>
          <p:cNvSpPr>
            <a:spLocks noGrp="1"/>
          </p:cNvSpPr>
          <p:nvPr>
            <p:ph type="sldNum"/>
          </p:nvPr>
        </p:nvSpPr>
        <p:spPr>
          <a:xfrm>
            <a:off x="8473320" y="4954320"/>
            <a:ext cx="676440" cy="189000"/>
          </a:xfrm>
          <a:prstGeom prst="rect">
            <a:avLst/>
          </a:prstGeom>
          <a:noFill/>
          <a:ln w="0">
            <a:noFill/>
          </a:ln>
        </p:spPr>
        <p:txBody>
          <a:bodyPr anchor="ctr">
            <a:noAutofit/>
          </a:bodyPr>
          <a:p>
            <a:pPr algn="r">
              <a:lnSpc>
                <a:spcPct val="100000"/>
              </a:lnSpc>
              <a:buNone/>
            </a:pPr>
            <a:fld id="{F302DCAB-DB38-4BF5-8076-C3D214396949}" type="slidenum">
              <a:rPr b="0" lang="en-US" sz="530" spc="-1" strike="noStrike">
                <a:solidFill>
                  <a:srgbClr val="595959"/>
                </a:solidFill>
                <a:latin typeface="Arial"/>
                <a:ea typeface="ＭＳ Ｐゴシック"/>
              </a:rPr>
              <a:t>&lt;number&gt;</a:t>
            </a:fld>
            <a:endParaRPr b="0" lang="en-JM" sz="530" spc="-1" strike="noStrike">
              <a:latin typeface="Times New Roman"/>
            </a:endParaRPr>
          </a:p>
        </p:txBody>
      </p:sp>
      <p:sp>
        <p:nvSpPr>
          <p:cNvPr id="91" name="PlaceHolder 2"/>
          <p:cNvSpPr>
            <a:spLocks noGrp="1"/>
          </p:cNvSpPr>
          <p:nvPr>
            <p:ph type="body"/>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0" lang="en-US" sz="1500" spc="-1" strike="noStrike">
                <a:solidFill>
                  <a:srgbClr val="000000"/>
                </a:solidFill>
                <a:latin typeface="Arial"/>
                <a:ea typeface="ＭＳ Ｐゴシック"/>
              </a:rPr>
              <a:t>Click to edit Master text styles</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pPr>
            <a:r>
              <a:rPr b="0" lang="en-US" sz="1400" spc="-1" strike="noStrike">
                <a:solidFill>
                  <a:srgbClr val="000000"/>
                </a:solidFill>
                <a:latin typeface="Arial"/>
                <a:ea typeface="ＭＳ Ｐゴシック"/>
              </a:rPr>
              <a:t>Second level</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Third level</a:t>
            </a:r>
            <a:endParaRPr b="0" lang="en-US" sz="12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pPr>
            <a:r>
              <a:rPr b="0" lang="en-US" sz="1100" spc="-1" strike="noStrike">
                <a:solidFill>
                  <a:srgbClr val="000000"/>
                </a:solidFill>
                <a:latin typeface="Arial"/>
                <a:ea typeface="ＭＳ Ｐゴシック"/>
              </a:rPr>
              <a:t>Fourth level</a:t>
            </a:r>
            <a:endParaRPr b="0" lang="en-US" sz="1100" spc="-1" strike="noStrike">
              <a:solidFill>
                <a:srgbClr val="58585b"/>
              </a:solidFill>
              <a:latin typeface="Arial"/>
            </a:endParaRPr>
          </a:p>
        </p:txBody>
      </p:sp>
      <p:sp>
        <p:nvSpPr>
          <p:cNvPr id="92" name="PlaceHolder 3"/>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Click to edit Master title style</a:t>
            </a:r>
            <a:endParaRPr b="0" lang="en-US" sz="24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F425F27C-FC3C-4C8B-BAF4-1C7FF70BE8AD}" type="slidenum">
              <a:rPr b="0" lang="en-US" sz="600" spc="-1" strike="noStrike">
                <a:solidFill>
                  <a:srgbClr val="d9d9d9"/>
                </a:solidFill>
                <a:latin typeface="Arial"/>
              </a:rPr>
              <a:t>&lt;number&gt;</a:t>
            </a:fld>
            <a:endParaRPr b="0" lang="en-JM" sz="600" spc="-1" strike="noStrike">
              <a:latin typeface="Arial"/>
            </a:endParaRPr>
          </a:p>
        </p:txBody>
      </p:sp>
      <p:sp>
        <p:nvSpPr>
          <p:cNvPr id="130" name="Rectangle 4" hidden="1"/>
          <p:cNvSpPr/>
          <p:nvPr/>
        </p:nvSpPr>
        <p:spPr>
          <a:xfrm>
            <a:off x="5632560" y="4741920"/>
            <a:ext cx="289260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131" name="Group 4"/>
          <p:cNvGrpSpPr/>
          <p:nvPr/>
        </p:nvGrpSpPr>
        <p:grpSpPr>
          <a:xfrm>
            <a:off x="507960" y="4715280"/>
            <a:ext cx="339840" cy="180360"/>
            <a:chOff x="507960" y="4715280"/>
            <a:chExt cx="339840" cy="180360"/>
          </a:xfrm>
        </p:grpSpPr>
        <p:sp>
          <p:nvSpPr>
            <p:cNvPr id="132"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133"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4"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5"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136"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137"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8"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9"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0"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1"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42"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3"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4"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5"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146" name="Rectangle 6"/>
          <p:cNvSpPr/>
          <p:nvPr/>
        </p:nvSpPr>
        <p:spPr>
          <a:xfrm>
            <a:off x="0" y="0"/>
            <a:ext cx="9143640" cy="5142960"/>
          </a:xfrm>
          <a:prstGeom prst="rect">
            <a:avLst/>
          </a:prstGeom>
          <a:solidFill>
            <a:srgbClr val="00394f"/>
          </a:solidFill>
          <a:ln>
            <a:noFill/>
          </a:ln>
        </p:spPr>
        <p:style>
          <a:lnRef idx="2">
            <a:schemeClr val="accent1">
              <a:shade val="50000"/>
            </a:schemeClr>
          </a:lnRef>
          <a:fillRef idx="1">
            <a:schemeClr val="accent1"/>
          </a:fillRef>
          <a:effectRef idx="0">
            <a:schemeClr val="accent1"/>
          </a:effectRef>
          <a:fontRef idx="minor"/>
        </p:style>
      </p:sp>
      <p:sp>
        <p:nvSpPr>
          <p:cNvPr id="147" name="PlaceHolder 1"/>
          <p:cNvSpPr>
            <a:spLocks noGrp="1"/>
          </p:cNvSpPr>
          <p:nvPr>
            <p:ph type="title"/>
          </p:nvPr>
        </p:nvSpPr>
        <p:spPr>
          <a:xfrm>
            <a:off x="416520" y="915480"/>
            <a:ext cx="7597800" cy="256968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38c6f4"/>
                </a:solidFill>
                <a:latin typeface="Arial"/>
                <a:ea typeface="ＭＳ Ｐゴシック"/>
              </a:rPr>
              <a:t>Click to edit Master title style</a:t>
            </a:r>
            <a:endParaRPr b="0" lang="en-US" sz="4600" spc="-1" strike="noStrike">
              <a:solidFill>
                <a:srgbClr val="58585b"/>
              </a:solidFill>
              <a:latin typeface="Arial"/>
            </a:endParaRPr>
          </a:p>
        </p:txBody>
      </p:sp>
      <p:sp>
        <p:nvSpPr>
          <p:cNvPr id="148"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E4900538-7101-43F6-8260-F3A4DA74DCA3}" type="slidenum">
              <a:rPr b="0" lang="en-US" sz="600" spc="-1" strike="noStrike">
                <a:solidFill>
                  <a:srgbClr val="086d8e"/>
                </a:solidFill>
                <a:latin typeface="Arial"/>
              </a:rPr>
              <a:t>&lt;number&gt;</a:t>
            </a:fld>
            <a:endParaRPr b="0" lang="en-JM" sz="600" spc="-1" strike="noStrike">
              <a:latin typeface="Arial"/>
            </a:endParaRPr>
          </a:p>
        </p:txBody>
      </p:sp>
      <p:sp>
        <p:nvSpPr>
          <p:cNvPr id="149"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086d8e"/>
                </a:solidFill>
                <a:latin typeface="Arial"/>
              </a:rPr>
              <a:t>© 2016  Cisco and/or its affiliates. All rights reserved.   Cisco Confidential</a:t>
            </a:r>
            <a:endParaRPr b="0" lang="en-JM" sz="600" spc="-1" strike="noStrike">
              <a:latin typeface="Arial"/>
            </a:endParaRPr>
          </a:p>
        </p:txBody>
      </p:sp>
      <p:grpSp>
        <p:nvGrpSpPr>
          <p:cNvPr id="150" name="Group 4"/>
          <p:cNvGrpSpPr/>
          <p:nvPr/>
        </p:nvGrpSpPr>
        <p:grpSpPr>
          <a:xfrm>
            <a:off x="507960" y="4715280"/>
            <a:ext cx="339840" cy="180360"/>
            <a:chOff x="507960" y="4715280"/>
            <a:chExt cx="339840" cy="180360"/>
          </a:xfrm>
        </p:grpSpPr>
        <p:sp>
          <p:nvSpPr>
            <p:cNvPr id="151" name="Rectangle 5"/>
            <p:cNvSpPr/>
            <p:nvPr/>
          </p:nvSpPr>
          <p:spPr>
            <a:xfrm>
              <a:off x="604440" y="4835160"/>
              <a:ext cx="14400" cy="59400"/>
            </a:xfrm>
            <a:prstGeom prst="rect">
              <a:avLst/>
            </a:prstGeom>
            <a:solidFill>
              <a:srgbClr val="086d8e"/>
            </a:solidFill>
            <a:ln w="0">
              <a:noFill/>
            </a:ln>
          </p:spPr>
          <p:style>
            <a:lnRef idx="0"/>
            <a:fillRef idx="0"/>
            <a:effectRef idx="0"/>
            <a:fontRef idx="minor"/>
          </p:style>
        </p:sp>
        <p:sp>
          <p:nvSpPr>
            <p:cNvPr id="152"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3"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4"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w="0">
              <a:noFill/>
            </a:ln>
          </p:spPr>
          <p:style>
            <a:lnRef idx="0"/>
            <a:fillRef idx="0"/>
            <a:effectRef idx="0"/>
            <a:fontRef idx="minor"/>
          </p:style>
        </p:sp>
        <p:sp>
          <p:nvSpPr>
            <p:cNvPr id="155"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w="0">
              <a:noFill/>
            </a:ln>
          </p:spPr>
          <p:style>
            <a:lnRef idx="0"/>
            <a:fillRef idx="0"/>
            <a:effectRef idx="0"/>
            <a:fontRef idx="minor"/>
          </p:style>
        </p:sp>
        <p:sp>
          <p:nvSpPr>
            <p:cNvPr id="156"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57"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58"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59"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0"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61"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2"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63"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4"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w="0">
              <a:noFill/>
            </a:ln>
          </p:spPr>
          <p:style>
            <a:lnRef idx="0"/>
            <a:fillRef idx="0"/>
            <a:effectRef idx="0"/>
            <a:fontRef idx="minor"/>
          </p:style>
        </p:sp>
      </p:grpSp>
      <p:sp>
        <p:nvSpPr>
          <p:cNvPr id="16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202"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595E8570-5D3B-44AB-B38E-A8C82A2B413E}" type="slidenum">
              <a:rPr b="0" lang="en-US" sz="600" spc="-1" strike="noStrike">
                <a:solidFill>
                  <a:srgbClr val="d9d9d9"/>
                </a:solidFill>
                <a:latin typeface="Arial"/>
              </a:rPr>
              <a:t>&lt;number&gt;</a:t>
            </a:fld>
            <a:endParaRPr b="0" lang="en-JM" sz="600" spc="-1" strike="noStrike">
              <a:latin typeface="Arial"/>
            </a:endParaRPr>
          </a:p>
        </p:txBody>
      </p:sp>
      <p:sp>
        <p:nvSpPr>
          <p:cNvPr id="203" name="Rectangle 4" hidden="1"/>
          <p:cNvSpPr/>
          <p:nvPr/>
        </p:nvSpPr>
        <p:spPr>
          <a:xfrm>
            <a:off x="5632560" y="4741920"/>
            <a:ext cx="289260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04" name="Group 4"/>
          <p:cNvGrpSpPr/>
          <p:nvPr/>
        </p:nvGrpSpPr>
        <p:grpSpPr>
          <a:xfrm>
            <a:off x="507960" y="4715280"/>
            <a:ext cx="339840" cy="180360"/>
            <a:chOff x="507960" y="4715280"/>
            <a:chExt cx="339840" cy="180360"/>
          </a:xfrm>
        </p:grpSpPr>
        <p:sp>
          <p:nvSpPr>
            <p:cNvPr id="205"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06"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7"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8"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09"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10"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1"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2"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3"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4"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5"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6"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7"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8"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219" name="Picture 1" descr=""/>
          <p:cNvPicPr/>
          <p:nvPr/>
        </p:nvPicPr>
        <p:blipFill>
          <a:blip r:embed="rId2"/>
          <a:stretch/>
        </p:blipFill>
        <p:spPr>
          <a:xfrm>
            <a:off x="0" y="0"/>
            <a:ext cx="9143640" cy="5165640"/>
          </a:xfrm>
          <a:prstGeom prst="rect">
            <a:avLst/>
          </a:prstGeom>
          <a:ln w="0">
            <a:noFill/>
          </a:ln>
        </p:spPr>
      </p:pic>
      <p:grpSp>
        <p:nvGrpSpPr>
          <p:cNvPr id="220" name="Group 4"/>
          <p:cNvGrpSpPr/>
          <p:nvPr/>
        </p:nvGrpSpPr>
        <p:grpSpPr>
          <a:xfrm>
            <a:off x="3746160" y="2129760"/>
            <a:ext cx="1617840" cy="860400"/>
            <a:chOff x="3746160" y="2129760"/>
            <a:chExt cx="1617840" cy="860400"/>
          </a:xfrm>
        </p:grpSpPr>
        <p:sp>
          <p:nvSpPr>
            <p:cNvPr id="221" name="Rectangle 5"/>
            <p:cNvSpPr/>
            <p:nvPr/>
          </p:nvSpPr>
          <p:spPr>
            <a:xfrm>
              <a:off x="4204080" y="2700360"/>
              <a:ext cx="70560" cy="283320"/>
            </a:xfrm>
            <a:prstGeom prst="rect">
              <a:avLst/>
            </a:prstGeom>
            <a:solidFill>
              <a:schemeClr val="accent5"/>
            </a:solidFill>
            <a:ln w="0">
              <a:noFill/>
            </a:ln>
          </p:spPr>
          <p:style>
            <a:lnRef idx="0"/>
            <a:fillRef idx="0"/>
            <a:effectRef idx="0"/>
            <a:fontRef idx="minor"/>
          </p:style>
        </p:sp>
        <p:sp>
          <p:nvSpPr>
            <p:cNvPr id="222" name="Freeform 6"/>
            <p:cNvSpPr/>
            <p:nvPr/>
          </p:nvSpPr>
          <p:spPr>
            <a:xfrm>
              <a:off x="4632480" y="2697120"/>
              <a:ext cx="212400" cy="29304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23" name="Freeform 7"/>
            <p:cNvSpPr/>
            <p:nvPr/>
          </p:nvSpPr>
          <p:spPr>
            <a:xfrm>
              <a:off x="3891240" y="2697120"/>
              <a:ext cx="215640" cy="29304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24" name="Freeform 8"/>
            <p:cNvSpPr/>
            <p:nvPr/>
          </p:nvSpPr>
          <p:spPr>
            <a:xfrm>
              <a:off x="4922640" y="2697120"/>
              <a:ext cx="293040" cy="29304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25" name="Freeform 9"/>
            <p:cNvSpPr/>
            <p:nvPr/>
          </p:nvSpPr>
          <p:spPr>
            <a:xfrm>
              <a:off x="4368240" y="2697120"/>
              <a:ext cx="192960" cy="29304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26" name="Freeform 10"/>
            <p:cNvSpPr/>
            <p:nvPr/>
          </p:nvSpPr>
          <p:spPr>
            <a:xfrm>
              <a:off x="374616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27" name="Freeform 11"/>
            <p:cNvSpPr/>
            <p:nvPr/>
          </p:nvSpPr>
          <p:spPr>
            <a:xfrm>
              <a:off x="393984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28" name="Freeform 12"/>
            <p:cNvSpPr/>
            <p:nvPr/>
          </p:nvSpPr>
          <p:spPr>
            <a:xfrm>
              <a:off x="4133160" y="2129760"/>
              <a:ext cx="70560" cy="44748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29" name="Freeform 13"/>
            <p:cNvSpPr/>
            <p:nvPr/>
          </p:nvSpPr>
          <p:spPr>
            <a:xfrm>
              <a:off x="432648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30" name="Freeform 14"/>
            <p:cNvSpPr/>
            <p:nvPr/>
          </p:nvSpPr>
          <p:spPr>
            <a:xfrm>
              <a:off x="451980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31" name="Freeform 15"/>
            <p:cNvSpPr/>
            <p:nvPr/>
          </p:nvSpPr>
          <p:spPr>
            <a:xfrm>
              <a:off x="4713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32" name="Freeform 16"/>
            <p:cNvSpPr/>
            <p:nvPr/>
          </p:nvSpPr>
          <p:spPr>
            <a:xfrm>
              <a:off x="4906440" y="2129760"/>
              <a:ext cx="70560" cy="44748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33" name="Freeform 17"/>
            <p:cNvSpPr/>
            <p:nvPr/>
          </p:nvSpPr>
          <p:spPr>
            <a:xfrm>
              <a:off x="5100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34" name="Freeform 18"/>
            <p:cNvSpPr/>
            <p:nvPr/>
          </p:nvSpPr>
          <p:spPr>
            <a:xfrm>
              <a:off x="5293440" y="2361960"/>
              <a:ext cx="70560" cy="1447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3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3200" spc="-1" strike="noStrike">
                <a:solidFill>
                  <a:srgbClr val="58585b"/>
                </a:solidFill>
                <a:latin typeface="Arial"/>
              </a:rPr>
              <a:t>Click to edit the title text format</a:t>
            </a:r>
            <a:endParaRPr b="0" lang="en-US" sz="3200" spc="-1" strike="noStrike">
              <a:solidFill>
                <a:srgbClr val="58585b"/>
              </a:solidFill>
              <a:latin typeface="Arial"/>
            </a:endParaRPr>
          </a:p>
        </p:txBody>
      </p:sp>
      <p:sp>
        <p:nvSpPr>
          <p:cNvPr id="23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tif"/><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tif"/><Relationship Id="rId2" Type="http://schemas.openxmlformats.org/officeDocument/2006/relationships/slideLayout" Target="../slideLayouts/slideLayout1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tif"/><Relationship Id="rId2" Type="http://schemas.openxmlformats.org/officeDocument/2006/relationships/slideLayout" Target="../slideLayouts/slideLayout1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tif"/><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tif"/><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tif"/><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tif"/><Relationship Id="rId2" Type="http://schemas.openxmlformats.org/officeDocument/2006/relationships/image" Target="../media/image10.tif"/><Relationship Id="rId3" Type="http://schemas.openxmlformats.org/officeDocument/2006/relationships/slideLayout" Target="../slideLayouts/slideLayout13.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1.tif"/><Relationship Id="rId2" Type="http://schemas.openxmlformats.org/officeDocument/2006/relationships/slideLayout" Target="../slideLayouts/slideLayout13.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tif"/><Relationship Id="rId2" Type="http://schemas.openxmlformats.org/officeDocument/2006/relationships/slideLayout" Target="../slideLayouts/slideLayout13.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tif"/><Relationship Id="rId2" Type="http://schemas.openxmlformats.org/officeDocument/2006/relationships/slideLayout" Target="../slideLayouts/slideLayout1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4.tif"/><Relationship Id="rId2" Type="http://schemas.openxmlformats.org/officeDocument/2006/relationships/slideLayout" Target="../slideLayouts/slideLayout13.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5.tif"/><Relationship Id="rId2" Type="http://schemas.openxmlformats.org/officeDocument/2006/relationships/slideLayout" Target="../slideLayouts/slideLayout13.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469440" y="2260440"/>
            <a:ext cx="6672240" cy="113580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afe8fb"/>
                </a:solidFill>
                <a:latin typeface="Arial"/>
                <a:ea typeface="ＭＳ Ｐゴシック"/>
              </a:rPr>
              <a:t>Module 13: ICMP</a:t>
            </a:r>
            <a:br/>
            <a:endParaRPr b="0" lang="en-US" sz="3600" spc="-1" strike="noStrike">
              <a:solidFill>
                <a:srgbClr val="58585b"/>
              </a:solidFill>
              <a:latin typeface="Arial"/>
            </a:endParaRPr>
          </a:p>
        </p:txBody>
      </p:sp>
      <p:sp>
        <p:nvSpPr>
          <p:cNvPr id="280" name="PlaceHolder 2"/>
          <p:cNvSpPr>
            <a:spLocks noGrp="1"/>
          </p:cNvSpPr>
          <p:nvPr>
            <p:ph type="subTitle"/>
          </p:nvPr>
        </p:nvSpPr>
        <p:spPr>
          <a:xfrm>
            <a:off x="469440" y="3809520"/>
            <a:ext cx="2368440" cy="901800"/>
          </a:xfrm>
          <a:prstGeom prst="rect">
            <a:avLst/>
          </a:prstGeom>
          <a:noFill/>
          <a:ln w="0">
            <a:noFill/>
          </a:ln>
        </p:spPr>
        <p:txBody>
          <a:bodyPr anchor="b">
            <a:noAutofit/>
          </a:bodyPr>
          <a:p>
            <a:pPr>
              <a:lnSpc>
                <a:spcPct val="100000"/>
              </a:lnSpc>
              <a:buNone/>
              <a:tabLst>
                <a:tab algn="l" pos="0"/>
              </a:tabLst>
            </a:pPr>
            <a:r>
              <a:rPr b="0" lang="en-US" sz="1200" spc="-1" strike="noStrike">
                <a:solidFill>
                  <a:srgbClr val="afe8fb"/>
                </a:solidFill>
                <a:latin typeface="Arial"/>
              </a:rPr>
              <a:t>Introduction of Networks v7.0 (ITN)</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0" y="41400"/>
            <a:ext cx="9143640" cy="6688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a:t>
            </a:r>
            <a:endParaRPr b="0" lang="en-US" sz="2400" spc="-1" strike="noStrike">
              <a:solidFill>
                <a:srgbClr val="58585b"/>
              </a:solidFill>
              <a:latin typeface="Arial"/>
            </a:endParaRPr>
          </a:p>
        </p:txBody>
      </p:sp>
      <p:sp>
        <p:nvSpPr>
          <p:cNvPr id="282" name="PlaceHolder 2"/>
          <p:cNvSpPr>
            <a:spLocks noGrp="1"/>
          </p:cNvSpPr>
          <p:nvPr>
            <p:ph/>
          </p:nvPr>
        </p:nvSpPr>
        <p:spPr>
          <a:xfrm>
            <a:off x="0" y="798840"/>
            <a:ext cx="9006480" cy="668880"/>
          </a:xfrm>
          <a:prstGeom prst="rect">
            <a:avLst/>
          </a:prstGeom>
          <a:noFill/>
          <a:ln w="0">
            <a:noFill/>
          </a:ln>
        </p:spPr>
        <p:txBody>
          <a:bodyPr numCol="1" spcCol="0" rIns="182880" anchor="t">
            <a:noAutofit/>
          </a:bodyPr>
          <a:p>
            <a:pPr marL="189000">
              <a:lnSpc>
                <a:spcPct val="100000"/>
              </a:lnSpc>
              <a:spcBef>
                <a:spcPts val="300"/>
              </a:spcBef>
              <a:spcAft>
                <a:spcPts val="300"/>
              </a:spcAft>
              <a:buNone/>
              <a:tabLst>
                <a:tab algn="l" pos="0"/>
              </a:tabLst>
            </a:pPr>
            <a:r>
              <a:rPr b="1" lang="en-US" sz="1600" spc="-1" strike="noStrike">
                <a:solidFill>
                  <a:srgbClr val="000000"/>
                </a:solidFill>
                <a:latin typeface="Arial"/>
                <a:ea typeface="ＭＳ Ｐゴシック"/>
              </a:rPr>
              <a:t>Module Title</a:t>
            </a:r>
            <a:r>
              <a:rPr b="0" lang="en-US" sz="1600" spc="-1" strike="noStrike">
                <a:solidFill>
                  <a:srgbClr val="000000"/>
                </a:solidFill>
                <a:latin typeface="Arial"/>
                <a:ea typeface="ＭＳ Ｐゴシック"/>
              </a:rPr>
              <a:t>: ICMP</a:t>
            </a:r>
            <a:endParaRPr b="0" lang="en-US" sz="1600" spc="-1" strike="noStrike">
              <a:solidFill>
                <a:srgbClr val="58585b"/>
              </a:solidFill>
              <a:latin typeface="Arial"/>
            </a:endParaRPr>
          </a:p>
          <a:p>
            <a:pPr marL="189000">
              <a:lnSpc>
                <a:spcPct val="100000"/>
              </a:lnSpc>
              <a:spcBef>
                <a:spcPts val="300"/>
              </a:spcBef>
              <a:spcAft>
                <a:spcPts val="300"/>
              </a:spcAft>
              <a:buNone/>
              <a:tabLst>
                <a:tab algn="l" pos="0"/>
              </a:tabLst>
            </a:pPr>
            <a:r>
              <a:rPr b="1" lang="en-US" sz="1600" spc="-1" strike="noStrike">
                <a:solidFill>
                  <a:srgbClr val="000000"/>
                </a:solidFill>
                <a:latin typeface="Arial"/>
                <a:ea typeface="ＭＳ Ｐゴシック"/>
              </a:rPr>
              <a:t>Module Objective</a:t>
            </a:r>
            <a:r>
              <a:rPr b="0" lang="en-US" sz="1600" spc="-1" strike="noStrike">
                <a:solidFill>
                  <a:srgbClr val="000000"/>
                </a:solidFill>
                <a:latin typeface="Arial"/>
                <a:ea typeface="ＭＳ Ｐゴシック"/>
              </a:rPr>
              <a:t>: Use various tools to test network connectivity.</a:t>
            </a:r>
            <a:endParaRPr b="0" lang="en-US" sz="1600" spc="-1" strike="noStrike">
              <a:solidFill>
                <a:srgbClr val="58585b"/>
              </a:solidFill>
              <a:latin typeface="Arial"/>
            </a:endParaRPr>
          </a:p>
          <a:p>
            <a:pPr marL="327960">
              <a:lnSpc>
                <a:spcPct val="100000"/>
              </a:lnSpc>
              <a:spcBef>
                <a:spcPts val="300"/>
              </a:spcBef>
              <a:spcAft>
                <a:spcPts val="300"/>
              </a:spcAft>
              <a:buNone/>
              <a:tabLst>
                <a:tab algn="l" pos="0"/>
              </a:tabLst>
            </a:pPr>
            <a:endParaRPr b="0" lang="en-US" sz="1600" spc="-1" strike="noStrike">
              <a:solidFill>
                <a:srgbClr val="58585b"/>
              </a:solidFill>
              <a:latin typeface="Arial"/>
            </a:endParaRPr>
          </a:p>
        </p:txBody>
      </p:sp>
      <p:graphicFrame>
        <p:nvGraphicFramePr>
          <p:cNvPr id="283" name="Table 3"/>
          <p:cNvGraphicFramePr/>
          <p:nvPr/>
        </p:nvGraphicFramePr>
        <p:xfrm>
          <a:off x="663480" y="1755000"/>
          <a:ext cx="7679520" cy="1281960"/>
        </p:xfrm>
        <a:graphic>
          <a:graphicData uri="http://schemas.openxmlformats.org/drawingml/2006/table">
            <a:tbl>
              <a:tblPr/>
              <a:tblGrid>
                <a:gridCol w="3839760"/>
                <a:gridCol w="3839760"/>
              </a:tblGrid>
              <a:tr h="228600">
                <a:tc>
                  <a:txBody>
                    <a:bodyPr lIns="68400" rIns="68400" tIns="0" bIns="0" anchor="t">
                      <a:noAutofit/>
                    </a:bodyPr>
                    <a:p>
                      <a:pPr>
                        <a:lnSpc>
                          <a:spcPct val="107000"/>
                        </a:lnSpc>
                        <a:buNone/>
                      </a:pPr>
                      <a:r>
                        <a:rPr b="1" lang="en-US" sz="1050" spc="-1" strike="noStrike">
                          <a:solidFill>
                            <a:srgbClr val="ffffff"/>
                          </a:solidFill>
                          <a:latin typeface="Arial"/>
                        </a:rPr>
                        <a:t>Topic Title</a:t>
                      </a:r>
                      <a:endParaRPr b="0" lang="en-JM" sz="105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68400" rIns="68400" tIns="0" bIns="0" anchor="t">
                      <a:noAutofit/>
                    </a:bodyPr>
                    <a:p>
                      <a:pPr>
                        <a:lnSpc>
                          <a:spcPct val="107000"/>
                        </a:lnSpc>
                        <a:buNone/>
                      </a:pPr>
                      <a:r>
                        <a:rPr b="1" lang="en-US" sz="1050" spc="-1" strike="noStrike">
                          <a:solidFill>
                            <a:srgbClr val="ffffff"/>
                          </a:solidFill>
                          <a:latin typeface="Arial"/>
                        </a:rPr>
                        <a:t>Topic Objective</a:t>
                      </a:r>
                      <a:endParaRPr b="0" lang="en-JM" sz="105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469080">
                <a:tc>
                  <a:txBody>
                    <a:bodyPr lIns="47520" rIns="47520" tIns="47520" bIns="47520" anchor="ctr">
                      <a:noAutofit/>
                    </a:bodyPr>
                    <a:p>
                      <a:pPr>
                        <a:lnSpc>
                          <a:spcPct val="100000"/>
                        </a:lnSpc>
                        <a:buNone/>
                      </a:pPr>
                      <a:r>
                        <a:rPr b="1" lang="en-US" sz="1050" spc="-1" strike="noStrike">
                          <a:solidFill>
                            <a:srgbClr val="ffffff"/>
                          </a:solidFill>
                          <a:latin typeface="Arial"/>
                        </a:rPr>
                        <a:t>ICMP Messages</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Explain how ICMP is used to test network connectivity.</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584280">
                <a:tc>
                  <a:txBody>
                    <a:bodyPr lIns="47520" rIns="47520" tIns="47520" bIns="47520" anchor="ctr">
                      <a:noAutofit/>
                    </a:bodyPr>
                    <a:p>
                      <a:pPr>
                        <a:lnSpc>
                          <a:spcPct val="100000"/>
                        </a:lnSpc>
                        <a:buNone/>
                      </a:pPr>
                      <a:r>
                        <a:rPr b="1" lang="en-US" sz="1050" spc="-1" strike="noStrike">
                          <a:solidFill>
                            <a:srgbClr val="ffffff"/>
                          </a:solidFill>
                          <a:latin typeface="Arial"/>
                        </a:rPr>
                        <a:t>Ping and Traceroute Testing</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050" spc="-1" strike="noStrike">
                          <a:solidFill>
                            <a:srgbClr val="58585b"/>
                          </a:solidFill>
                          <a:latin typeface="Arial"/>
                        </a:rPr>
                        <a:t>Use ping and traceroute utilities to test network connectivity.</a:t>
                      </a:r>
                      <a:endParaRPr b="0" lang="en-JM" sz="105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416520" y="1788120"/>
            <a:ext cx="75978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13.1 ICMP Messages</a:t>
            </a:r>
            <a:endParaRPr b="0" lang="en-US" sz="4600" spc="-1" strike="noStrike">
              <a:solidFill>
                <a:srgbClr val="58585b"/>
              </a:solidFill>
              <a:latin typeface="Arial"/>
            </a:endParaRPr>
          </a:p>
        </p:txBody>
      </p:sp>
    </p:spTree>
  </p:cSld>
  <p:transition spd="slow">
    <p:wipe dir="l"/>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ICMP Messages</a:t>
            </a:r>
            <a:br/>
            <a:r>
              <a:rPr b="0" lang="en-US" sz="2400" spc="-1" strike="noStrike">
                <a:solidFill>
                  <a:srgbClr val="367187"/>
                </a:solidFill>
                <a:latin typeface="Arial"/>
                <a:ea typeface="ＭＳ Ｐゴシック"/>
              </a:rPr>
              <a:t>ICMPv4 and ICMPv6 Messages</a:t>
            </a:r>
            <a:endParaRPr b="0" lang="en-US" sz="2400" spc="-1" strike="noStrike">
              <a:solidFill>
                <a:srgbClr val="58585b"/>
              </a:solidFill>
              <a:latin typeface="Arial"/>
            </a:endParaRPr>
          </a:p>
        </p:txBody>
      </p:sp>
      <p:sp>
        <p:nvSpPr>
          <p:cNvPr id="286" name="PlaceHolder 2"/>
          <p:cNvSpPr>
            <a:spLocks noGrp="1"/>
          </p:cNvSpPr>
          <p:nvPr>
            <p:ph/>
          </p:nvPr>
        </p:nvSpPr>
        <p:spPr>
          <a:xfrm>
            <a:off x="144000" y="888480"/>
            <a:ext cx="8712000" cy="362160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Internet Control Message Protocol (ICMP) provides feedback about issues related to the processing of IP packets under certain conditions.</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ICMPv4 is the messaging protocol for IPv4. ICMPv6 is the messaging protocol for IPv6 and includes additional functionality.</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The ICMP messages common to both ICMPv4 and ICMPv6 include:</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600" spc="-1" strike="noStrike">
                <a:solidFill>
                  <a:srgbClr val="000000"/>
                </a:solidFill>
                <a:latin typeface="Arial"/>
                <a:ea typeface="ＭＳ Ｐゴシック"/>
              </a:rPr>
              <a:t>Host reachability</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600" spc="-1" strike="noStrike">
                <a:solidFill>
                  <a:srgbClr val="000000"/>
                </a:solidFill>
                <a:latin typeface="Arial"/>
                <a:ea typeface="ＭＳ Ｐゴシック"/>
              </a:rPr>
              <a:t>Destination or Service Unreachable</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600" spc="-1" strike="noStrike">
                <a:solidFill>
                  <a:srgbClr val="000000"/>
                </a:solidFill>
                <a:latin typeface="Arial"/>
                <a:ea typeface="ＭＳ Ｐゴシック"/>
              </a:rPr>
              <a:t>Time exceeded</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Note: ICMPv4 messages are not required and are often not allowed within a network for security reasons. </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Tree>
  </p:cSld>
  <p:transition spd="slow">
    <p:wipe dir="l"/>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ICMP Messages</a:t>
            </a:r>
            <a:br/>
            <a:r>
              <a:rPr b="0" lang="en-US" sz="2400" spc="-1" strike="noStrike">
                <a:solidFill>
                  <a:srgbClr val="367187"/>
                </a:solidFill>
                <a:latin typeface="Arial"/>
                <a:ea typeface="ＭＳ Ｐゴシック"/>
              </a:rPr>
              <a:t>Host Reachability</a:t>
            </a:r>
            <a:endParaRPr b="0" lang="en-US" sz="2400" spc="-1" strike="noStrike">
              <a:solidFill>
                <a:srgbClr val="58585b"/>
              </a:solidFill>
              <a:latin typeface="Arial"/>
            </a:endParaRPr>
          </a:p>
        </p:txBody>
      </p:sp>
      <p:sp>
        <p:nvSpPr>
          <p:cNvPr id="288" name="PlaceHolder 2"/>
          <p:cNvSpPr>
            <a:spLocks noGrp="1"/>
          </p:cNvSpPr>
          <p:nvPr>
            <p:ph/>
          </p:nvPr>
        </p:nvSpPr>
        <p:spPr>
          <a:xfrm>
            <a:off x="145440" y="798840"/>
            <a:ext cx="3939120" cy="373572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ICMP Echo Message can be used to test the reachability of a host on an IP network. </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In the example:</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600" spc="-1" strike="noStrike">
                <a:solidFill>
                  <a:srgbClr val="000000"/>
                </a:solidFill>
                <a:latin typeface="Arial"/>
                <a:ea typeface="ＭＳ Ｐゴシック"/>
              </a:rPr>
              <a:t>The local host sends an ICMP Echo Request to a host. </a:t>
            </a:r>
            <a:endParaRPr b="0" lang="en-US" sz="16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600" spc="-1" strike="noStrike">
                <a:solidFill>
                  <a:srgbClr val="000000"/>
                </a:solidFill>
                <a:latin typeface="Arial"/>
                <a:ea typeface="ＭＳ Ｐゴシック"/>
              </a:rPr>
              <a:t>If the host is available, the destination host responds with an Echo Reply.</a:t>
            </a:r>
            <a:endParaRPr b="0" lang="en-US" sz="1600" spc="-1" strike="noStrike">
              <a:solidFill>
                <a:srgbClr val="58585b"/>
              </a:solidFill>
              <a:latin typeface="Arial"/>
            </a:endParaRPr>
          </a:p>
        </p:txBody>
      </p:sp>
      <p:pic>
        <p:nvPicPr>
          <p:cNvPr id="289" name="Picture 2" descr=""/>
          <p:cNvPicPr/>
          <p:nvPr/>
        </p:nvPicPr>
        <p:blipFill>
          <a:blip r:embed="rId1"/>
          <a:stretch/>
        </p:blipFill>
        <p:spPr>
          <a:xfrm>
            <a:off x="4572000" y="1419480"/>
            <a:ext cx="3939120" cy="2304000"/>
          </a:xfrm>
          <a:prstGeom prst="rect">
            <a:avLst/>
          </a:prstGeom>
          <a:ln w="0">
            <a:noFill/>
          </a:ln>
        </p:spPr>
      </p:pic>
    </p:spTree>
  </p:cSld>
  <p:transition spd="slow">
    <p:wipe dir="l"/>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ICMP Messages</a:t>
            </a:r>
            <a:br/>
            <a:r>
              <a:rPr b="0" lang="en-US" sz="2400" spc="-1" strike="noStrike">
                <a:solidFill>
                  <a:srgbClr val="367187"/>
                </a:solidFill>
                <a:latin typeface="Arial"/>
                <a:ea typeface="ＭＳ Ｐゴシック"/>
              </a:rPr>
              <a:t>Destination or Service Unreachable</a:t>
            </a:r>
            <a:endParaRPr b="0" lang="en-US" sz="2400" spc="-1" strike="noStrike">
              <a:solidFill>
                <a:srgbClr val="58585b"/>
              </a:solidFill>
              <a:latin typeface="Arial"/>
            </a:endParaRPr>
          </a:p>
        </p:txBody>
      </p:sp>
      <p:sp>
        <p:nvSpPr>
          <p:cNvPr id="291" name="PlaceHolder 2"/>
          <p:cNvSpPr>
            <a:spLocks noGrp="1"/>
          </p:cNvSpPr>
          <p:nvPr>
            <p:ph/>
          </p:nvPr>
        </p:nvSpPr>
        <p:spPr>
          <a:xfrm>
            <a:off x="145440" y="925560"/>
            <a:ext cx="8813520" cy="984960"/>
          </a:xfrm>
          <a:prstGeom prst="rect">
            <a:avLst/>
          </a:prstGeom>
          <a:noFill/>
          <a:ln w="0">
            <a:noFill/>
          </a:ln>
        </p:spPr>
        <p:txBody>
          <a:bodyPr numCol="1" spcCol="0" rIns="182880" anchor="t">
            <a:noAutofit/>
          </a:bodyPr>
          <a:p>
            <a:pPr marL="169920" indent="-169920">
              <a:lnSpc>
                <a:spcPct val="100000"/>
              </a:lnSpc>
              <a:spcBef>
                <a:spcPts val="601"/>
              </a:spcBef>
              <a:spcAft>
                <a:spcPts val="99"/>
              </a:spcAft>
              <a:buClr>
                <a:srgbClr val="58585b"/>
              </a:buClr>
              <a:buSzPct val="90000"/>
              <a:buFont typeface="Arial"/>
              <a:buChar char="•"/>
            </a:pPr>
            <a:r>
              <a:rPr b="0" lang="en-US" sz="1600" spc="-1" strike="noStrike">
                <a:solidFill>
                  <a:srgbClr val="000000"/>
                </a:solidFill>
                <a:latin typeface="Arial"/>
                <a:ea typeface="ＭＳ Ｐゴシック"/>
              </a:rPr>
              <a:t>An ICMP Destination Unreachable message can be used to notify the source that a destination or service is unreachable. </a:t>
            </a:r>
            <a:endParaRPr b="0" lang="en-US" sz="1600" spc="-1" strike="noStrike">
              <a:solidFill>
                <a:srgbClr val="58585b"/>
              </a:solidFill>
              <a:latin typeface="Arial"/>
            </a:endParaRPr>
          </a:p>
          <a:p>
            <a:pPr marL="169920" indent="-169920">
              <a:lnSpc>
                <a:spcPct val="100000"/>
              </a:lnSpc>
              <a:spcBef>
                <a:spcPts val="601"/>
              </a:spcBef>
              <a:spcAft>
                <a:spcPts val="99"/>
              </a:spcAft>
              <a:buClr>
                <a:srgbClr val="58585b"/>
              </a:buClr>
              <a:buSzPct val="90000"/>
              <a:buFont typeface="Arial"/>
              <a:buChar char="•"/>
            </a:pPr>
            <a:r>
              <a:rPr b="0" lang="en-US" sz="1600" spc="-1" strike="noStrike">
                <a:solidFill>
                  <a:srgbClr val="000000"/>
                </a:solidFill>
                <a:latin typeface="Arial"/>
                <a:ea typeface="ＭＳ Ｐゴシック"/>
              </a:rPr>
              <a:t>The ICMP message will include a code indicating why the packet could not be delivered.</a:t>
            </a:r>
            <a:endParaRPr b="0" lang="en-US" sz="1600" spc="-1" strike="noStrike">
              <a:solidFill>
                <a:srgbClr val="58585b"/>
              </a:solidFill>
              <a:latin typeface="Arial"/>
            </a:endParaRPr>
          </a:p>
          <a:p>
            <a:pPr>
              <a:lnSpc>
                <a:spcPct val="100000"/>
              </a:lnSpc>
              <a:spcBef>
                <a:spcPts val="601"/>
              </a:spcBef>
              <a:spcAft>
                <a:spcPts val="99"/>
              </a:spcAft>
              <a:buNone/>
            </a:pPr>
            <a:endParaRPr b="0" lang="en-US" sz="1600" spc="-1" strike="noStrike">
              <a:solidFill>
                <a:srgbClr val="58585b"/>
              </a:solidFill>
              <a:latin typeface="Arial"/>
            </a:endParaRPr>
          </a:p>
        </p:txBody>
      </p:sp>
      <p:sp>
        <p:nvSpPr>
          <p:cNvPr id="292" name="Rectangle 6"/>
          <p:cNvSpPr/>
          <p:nvPr/>
        </p:nvSpPr>
        <p:spPr>
          <a:xfrm>
            <a:off x="297720" y="1939320"/>
            <a:ext cx="3734280" cy="2278080"/>
          </a:xfrm>
          <a:prstGeom prst="rect">
            <a:avLst/>
          </a:prstGeom>
          <a:noFill/>
          <a:ln w="0">
            <a:noFill/>
          </a:ln>
        </p:spPr>
        <p:style>
          <a:lnRef idx="0"/>
          <a:fillRef idx="0"/>
          <a:effectRef idx="0"/>
          <a:fontRef idx="minor"/>
        </p:style>
        <p:txBody>
          <a:bodyPr numCol="1" spcCol="0" rIns="182880" anchor="t">
            <a:noAutofit/>
          </a:bodyPr>
          <a:p>
            <a:pPr>
              <a:lnSpc>
                <a:spcPct val="100000"/>
              </a:lnSpc>
              <a:spcBef>
                <a:spcPts val="601"/>
              </a:spcBef>
              <a:spcAft>
                <a:spcPts val="601"/>
              </a:spcAft>
              <a:buNone/>
              <a:tabLst>
                <a:tab algn="l" pos="0"/>
              </a:tabLst>
            </a:pPr>
            <a:r>
              <a:rPr b="1" lang="en-US" sz="1600" spc="-1" strike="noStrike">
                <a:solidFill>
                  <a:srgbClr val="000000"/>
                </a:solidFill>
                <a:latin typeface="Arial"/>
                <a:ea typeface="ＭＳ Ｐゴシック"/>
              </a:rPr>
              <a:t>A few Destination Unreachable codes for ICMPv4 are as follows:</a:t>
            </a:r>
            <a:endParaRPr b="0" lang="en-JM" sz="1600" spc="-1" strike="noStrike">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0 - Net unreachable</a:t>
            </a:r>
            <a:endParaRPr b="0" lang="en-JM" sz="1400" spc="-1" strike="noStrike">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1 - Host unreachable</a:t>
            </a:r>
            <a:endParaRPr b="0" lang="en-JM" sz="1400" spc="-1" strike="noStrike">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2 - Protocol unreachable</a:t>
            </a:r>
            <a:endParaRPr b="0" lang="en-JM" sz="1400" spc="-1" strike="noStrike">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3 - Port unreachable</a:t>
            </a:r>
            <a:endParaRPr b="0" lang="en-JM" sz="1400" spc="-1" strike="noStrike">
              <a:latin typeface="Arial"/>
            </a:endParaRPr>
          </a:p>
          <a:p>
            <a:pPr>
              <a:lnSpc>
                <a:spcPct val="100000"/>
              </a:lnSpc>
              <a:spcBef>
                <a:spcPts val="601"/>
              </a:spcBef>
              <a:spcAft>
                <a:spcPts val="99"/>
              </a:spcAft>
              <a:buNone/>
              <a:tabLst>
                <a:tab algn="l" pos="0"/>
              </a:tabLst>
            </a:pPr>
            <a:endParaRPr b="0" lang="en-JM" sz="1400" spc="-1" strike="noStrike">
              <a:latin typeface="Arial"/>
            </a:endParaRPr>
          </a:p>
        </p:txBody>
      </p:sp>
      <p:sp>
        <p:nvSpPr>
          <p:cNvPr id="293" name="Rectangle 6"/>
          <p:cNvSpPr/>
          <p:nvPr/>
        </p:nvSpPr>
        <p:spPr>
          <a:xfrm>
            <a:off x="4184640" y="1911960"/>
            <a:ext cx="4875840" cy="2377080"/>
          </a:xfrm>
          <a:prstGeom prst="rect">
            <a:avLst/>
          </a:prstGeom>
          <a:noFill/>
          <a:ln w="0">
            <a:noFill/>
          </a:ln>
        </p:spPr>
        <p:style>
          <a:lnRef idx="0"/>
          <a:fillRef idx="0"/>
          <a:effectRef idx="0"/>
          <a:fontRef idx="minor"/>
        </p:style>
        <p:txBody>
          <a:bodyPr numCol="1" spcCol="0" rIns="182880" anchor="t">
            <a:noAutofit/>
          </a:bodyPr>
          <a:p>
            <a:pPr>
              <a:lnSpc>
                <a:spcPct val="100000"/>
              </a:lnSpc>
              <a:spcBef>
                <a:spcPts val="601"/>
              </a:spcBef>
              <a:spcAft>
                <a:spcPts val="601"/>
              </a:spcAft>
              <a:buNone/>
              <a:tabLst>
                <a:tab algn="l" pos="0"/>
              </a:tabLst>
            </a:pPr>
            <a:r>
              <a:rPr b="1" lang="en-US" sz="1600" spc="-1" strike="noStrike">
                <a:solidFill>
                  <a:srgbClr val="000000"/>
                </a:solidFill>
                <a:latin typeface="Arial"/>
                <a:ea typeface="ＭＳ Ｐゴシック"/>
              </a:rPr>
              <a:t>A few Destination Unreachable codes for ICMPv6 are as follows:</a:t>
            </a:r>
            <a:endParaRPr b="0" lang="en-JM" sz="1600" spc="-1" strike="noStrike">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0 - No route to destination</a:t>
            </a:r>
            <a:endParaRPr b="0" lang="en-JM" sz="1400" spc="-1" strike="noStrike">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1 - Communication with the destination is administratively prohibited (e.g., firewall)</a:t>
            </a:r>
            <a:endParaRPr b="0" lang="en-JM" sz="1400" spc="-1" strike="noStrike">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2 – Beyond scope of the source address</a:t>
            </a:r>
            <a:endParaRPr b="0" lang="en-JM" sz="1400" spc="-1" strike="noStrike">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3 - Address unreachable</a:t>
            </a:r>
            <a:endParaRPr b="0" lang="en-JM" sz="1400" spc="-1" strike="noStrike">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4 - Port unreachable</a:t>
            </a:r>
            <a:endParaRPr b="0" lang="en-JM" sz="1400" spc="-1" strike="noStrike">
              <a:latin typeface="Arial"/>
            </a:endParaRPr>
          </a:p>
          <a:p>
            <a:pPr>
              <a:lnSpc>
                <a:spcPct val="100000"/>
              </a:lnSpc>
              <a:spcBef>
                <a:spcPts val="601"/>
              </a:spcBef>
              <a:spcAft>
                <a:spcPts val="99"/>
              </a:spcAft>
              <a:buNone/>
              <a:tabLst>
                <a:tab algn="l" pos="0"/>
              </a:tabLst>
            </a:pPr>
            <a:endParaRPr b="0" lang="en-JM" sz="1400" spc="-1" strike="noStrike">
              <a:latin typeface="Arial"/>
            </a:endParaRPr>
          </a:p>
        </p:txBody>
      </p:sp>
      <p:sp>
        <p:nvSpPr>
          <p:cNvPr id="294" name="TextBox 5"/>
          <p:cNvSpPr/>
          <p:nvPr/>
        </p:nvSpPr>
        <p:spPr>
          <a:xfrm>
            <a:off x="889560" y="4415400"/>
            <a:ext cx="8069400" cy="303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Note</a:t>
            </a:r>
            <a:r>
              <a:rPr b="0" lang="en-US" sz="1400" spc="-1" strike="noStrike">
                <a:solidFill>
                  <a:srgbClr val="58585b"/>
                </a:solidFill>
                <a:latin typeface="Arial"/>
                <a:ea typeface="ＭＳ Ｐゴシック"/>
              </a:rPr>
              <a:t>: ICMPv6 has similar but slightly different codes for Destination Unreachable messages</a:t>
            </a:r>
            <a:r>
              <a:rPr b="0" lang="en-US" sz="1200" spc="-1" strike="noStrike">
                <a:solidFill>
                  <a:srgbClr val="58585b"/>
                </a:solidFill>
                <a:latin typeface="Arial"/>
                <a:ea typeface="ＭＳ Ｐゴシック"/>
              </a:rPr>
              <a:t>.</a:t>
            </a:r>
            <a:endParaRPr b="0" lang="en-JM" sz="1200" spc="-1" strike="noStrike">
              <a:latin typeface="Arial"/>
            </a:endParaRPr>
          </a:p>
        </p:txBody>
      </p:sp>
    </p:spTree>
  </p:cSld>
  <p:transition spd="slow">
    <p:wipe dir="l"/>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ICMP Messages </a:t>
            </a:r>
            <a:br/>
            <a:r>
              <a:rPr b="0" lang="en-US" sz="2400" spc="-1" strike="noStrike">
                <a:solidFill>
                  <a:srgbClr val="367187"/>
                </a:solidFill>
                <a:latin typeface="Arial"/>
                <a:ea typeface="ＭＳ Ｐゴシック"/>
              </a:rPr>
              <a:t>Time Exceeded</a:t>
            </a:r>
            <a:endParaRPr b="0" lang="en-US" sz="2400" spc="-1" strike="noStrike">
              <a:solidFill>
                <a:srgbClr val="58585b"/>
              </a:solidFill>
              <a:latin typeface="Arial"/>
            </a:endParaRPr>
          </a:p>
        </p:txBody>
      </p:sp>
      <p:sp>
        <p:nvSpPr>
          <p:cNvPr id="296" name="PlaceHolder 2"/>
          <p:cNvSpPr>
            <a:spLocks noGrp="1"/>
          </p:cNvSpPr>
          <p:nvPr>
            <p:ph/>
          </p:nvPr>
        </p:nvSpPr>
        <p:spPr>
          <a:xfrm>
            <a:off x="145440" y="822960"/>
            <a:ext cx="8782560" cy="138564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When the Time to Live (TTL) field in a packet is decremented to 0, an ICMPv4 Time Exceeded message will be sent to the source host. </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ICMPv6 also sends a Time Exceeded message. Instead of the IPv4 TTL field, ICMPv6 uses the IPv6 Hop Limit field to determine if the packet has expired.</a:t>
            </a: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p:txBody>
      </p:sp>
      <p:sp>
        <p:nvSpPr>
          <p:cNvPr id="297" name="TextBox 1"/>
          <p:cNvSpPr/>
          <p:nvPr/>
        </p:nvSpPr>
        <p:spPr>
          <a:xfrm>
            <a:off x="748080" y="4156200"/>
            <a:ext cx="8395560" cy="318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500" spc="-1" strike="noStrike">
                <a:solidFill>
                  <a:srgbClr val="58585b"/>
                </a:solidFill>
                <a:latin typeface="Arial"/>
                <a:ea typeface="ＭＳ Ｐゴシック"/>
              </a:rPr>
              <a:t>Note</a:t>
            </a:r>
            <a:r>
              <a:rPr b="0" lang="en-US" sz="1500" spc="-1" strike="noStrike">
                <a:solidFill>
                  <a:srgbClr val="58585b"/>
                </a:solidFill>
                <a:latin typeface="Arial"/>
                <a:ea typeface="ＭＳ Ｐゴシック"/>
              </a:rPr>
              <a:t>: Time Exceeded messages are used by the </a:t>
            </a:r>
            <a:r>
              <a:rPr b="1" lang="en-US" sz="1500" spc="-1" strike="noStrike">
                <a:solidFill>
                  <a:srgbClr val="58585b"/>
                </a:solidFill>
                <a:latin typeface="Arial"/>
                <a:ea typeface="ＭＳ Ｐゴシック"/>
              </a:rPr>
              <a:t>traceroute</a:t>
            </a:r>
            <a:r>
              <a:rPr b="0" lang="en-US" sz="1500" spc="-1" strike="noStrike">
                <a:solidFill>
                  <a:srgbClr val="58585b"/>
                </a:solidFill>
                <a:latin typeface="Arial"/>
                <a:ea typeface="ＭＳ Ｐゴシック"/>
              </a:rPr>
              <a:t> tool.</a:t>
            </a:r>
            <a:endParaRPr b="0" lang="en-JM" sz="1500" spc="-1" strike="noStrike">
              <a:latin typeface="Arial"/>
            </a:endParaRPr>
          </a:p>
        </p:txBody>
      </p:sp>
      <p:pic>
        <p:nvPicPr>
          <p:cNvPr id="298" name="Picture 2" descr=""/>
          <p:cNvPicPr/>
          <p:nvPr/>
        </p:nvPicPr>
        <p:blipFill>
          <a:blip r:embed="rId1"/>
          <a:stretch/>
        </p:blipFill>
        <p:spPr>
          <a:xfrm>
            <a:off x="2299680" y="2330640"/>
            <a:ext cx="4544640" cy="1385640"/>
          </a:xfrm>
          <a:prstGeom prst="rect">
            <a:avLst/>
          </a:prstGeom>
          <a:ln w="0">
            <a:noFill/>
          </a:ln>
        </p:spPr>
      </p:pic>
    </p:spTree>
  </p:cSld>
  <p:transition spd="slow">
    <p:wipe dir="l"/>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ICMP Messages</a:t>
            </a:r>
            <a:br/>
            <a:r>
              <a:rPr b="0" lang="en-US" sz="2400" spc="-1" strike="noStrike">
                <a:solidFill>
                  <a:srgbClr val="367187"/>
                </a:solidFill>
                <a:latin typeface="Arial"/>
                <a:ea typeface="ＭＳ Ｐゴシック"/>
              </a:rPr>
              <a:t>ICMPv6 Messages</a:t>
            </a:r>
            <a:endParaRPr b="0" lang="en-US" sz="2400" spc="-1" strike="noStrike">
              <a:solidFill>
                <a:srgbClr val="58585b"/>
              </a:solidFill>
              <a:latin typeface="Arial"/>
            </a:endParaRPr>
          </a:p>
        </p:txBody>
      </p:sp>
      <p:sp>
        <p:nvSpPr>
          <p:cNvPr id="300" name="PlaceHolder 2"/>
          <p:cNvSpPr>
            <a:spLocks noGrp="1"/>
          </p:cNvSpPr>
          <p:nvPr>
            <p:ph/>
          </p:nvPr>
        </p:nvSpPr>
        <p:spPr>
          <a:xfrm>
            <a:off x="145440" y="822960"/>
            <a:ext cx="8710200" cy="75708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ICMPv6 has new features and improved functionality not found in ICMPv4, including four new protocols as part of the Neighbor Discovery Protocol (ND or NDP).</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endParaRPr b="0" lang="en-US" sz="1500" spc="-1" strike="noStrike">
              <a:solidFill>
                <a:srgbClr val="58585b"/>
              </a:solidFill>
              <a:latin typeface="Arial"/>
            </a:endParaRPr>
          </a:p>
          <a:p>
            <a:pPr>
              <a:lnSpc>
                <a:spcPct val="100000"/>
              </a:lnSpc>
              <a:spcBef>
                <a:spcPts val="601"/>
              </a:spcBef>
              <a:spcAft>
                <a:spcPts val="601"/>
              </a:spcAft>
              <a:buNone/>
              <a:tabLst>
                <a:tab algn="l" pos="0"/>
              </a:tabLst>
            </a:pPr>
            <a:endParaRPr b="0" lang="en-US" sz="1500" spc="-1" strike="noStrike">
              <a:solidFill>
                <a:srgbClr val="58585b"/>
              </a:solidFill>
              <a:latin typeface="Arial"/>
            </a:endParaRPr>
          </a:p>
          <a:p>
            <a:pPr>
              <a:lnSpc>
                <a:spcPct val="100000"/>
              </a:lnSpc>
              <a:spcBef>
                <a:spcPts val="601"/>
              </a:spcBef>
              <a:spcAft>
                <a:spcPts val="601"/>
              </a:spcAft>
              <a:buNone/>
              <a:tabLst>
                <a:tab algn="l" pos="0"/>
              </a:tabLst>
            </a:pPr>
            <a:endParaRPr b="0" lang="en-US" sz="1500" spc="-1" strike="noStrike">
              <a:solidFill>
                <a:srgbClr val="58585b"/>
              </a:solidFill>
              <a:latin typeface="Arial"/>
            </a:endParaRPr>
          </a:p>
        </p:txBody>
      </p:sp>
      <p:sp>
        <p:nvSpPr>
          <p:cNvPr id="301" name="Rectangle 2"/>
          <p:cNvSpPr/>
          <p:nvPr/>
        </p:nvSpPr>
        <p:spPr>
          <a:xfrm>
            <a:off x="348480" y="1751400"/>
            <a:ext cx="4045320" cy="1818360"/>
          </a:xfrm>
          <a:prstGeom prst="rect">
            <a:avLst/>
          </a:prstGeom>
          <a:noFill/>
          <a:ln w="0">
            <a:noFill/>
          </a:ln>
        </p:spPr>
        <p:style>
          <a:lnRef idx="0"/>
          <a:fillRef idx="0"/>
          <a:effectRef idx="0"/>
          <a:fontRef idx="minor"/>
        </p:style>
        <p:txBody>
          <a:bodyPr numCol="1" spcCol="0" rIns="182880" anchor="t">
            <a:noAutofit/>
          </a:bodyPr>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Messaging between an IPv6 router and an IPv6 device, including dynamic address allocation are as follows:</a:t>
            </a:r>
            <a:endParaRPr b="0" lang="en-JM" sz="1500" spc="-1" strike="noStrike">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600" spc="-1" strike="noStrike">
                <a:solidFill>
                  <a:srgbClr val="000000"/>
                </a:solidFill>
                <a:latin typeface="Arial"/>
                <a:ea typeface="ＭＳ Ｐゴシック"/>
              </a:rPr>
              <a:t>Router Solicitation (RS) message</a:t>
            </a:r>
            <a:endParaRPr b="0" lang="en-JM" sz="1600" spc="-1" strike="noStrike">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600" spc="-1" strike="noStrike">
                <a:solidFill>
                  <a:srgbClr val="000000"/>
                </a:solidFill>
                <a:latin typeface="Arial"/>
                <a:ea typeface="ＭＳ Ｐゴシック"/>
              </a:rPr>
              <a:t>Router Advertisement (RA) message</a:t>
            </a:r>
            <a:endParaRPr b="0" lang="en-JM" sz="1600" spc="-1" strike="noStrike">
              <a:latin typeface="Arial"/>
            </a:endParaRPr>
          </a:p>
          <a:p>
            <a:pPr>
              <a:lnSpc>
                <a:spcPct val="100000"/>
              </a:lnSpc>
              <a:spcBef>
                <a:spcPts val="601"/>
              </a:spcBef>
              <a:spcAft>
                <a:spcPts val="601"/>
              </a:spcAft>
              <a:buNone/>
              <a:tabLst>
                <a:tab algn="l" pos="0"/>
              </a:tabLst>
            </a:pPr>
            <a:endParaRPr b="0" lang="en-JM" sz="1600" spc="-1" strike="noStrike">
              <a:latin typeface="Arial"/>
            </a:endParaRPr>
          </a:p>
          <a:p>
            <a:pPr>
              <a:lnSpc>
                <a:spcPct val="100000"/>
              </a:lnSpc>
              <a:spcBef>
                <a:spcPts val="601"/>
              </a:spcBef>
              <a:spcAft>
                <a:spcPts val="601"/>
              </a:spcAft>
              <a:buNone/>
              <a:tabLst>
                <a:tab algn="l" pos="0"/>
              </a:tabLst>
            </a:pPr>
            <a:endParaRPr b="0" lang="en-JM" sz="1600" spc="-1" strike="noStrike">
              <a:latin typeface="Arial"/>
            </a:endParaRPr>
          </a:p>
          <a:p>
            <a:pPr>
              <a:lnSpc>
                <a:spcPct val="100000"/>
              </a:lnSpc>
              <a:spcBef>
                <a:spcPts val="601"/>
              </a:spcBef>
              <a:spcAft>
                <a:spcPts val="601"/>
              </a:spcAft>
              <a:buNone/>
              <a:tabLst>
                <a:tab algn="l" pos="0"/>
              </a:tabLst>
            </a:pPr>
            <a:endParaRPr b="0" lang="en-JM" sz="1600" spc="-1" strike="noStrike">
              <a:latin typeface="Arial"/>
            </a:endParaRPr>
          </a:p>
        </p:txBody>
      </p:sp>
      <p:sp>
        <p:nvSpPr>
          <p:cNvPr id="302" name="Rectangle 2"/>
          <p:cNvSpPr/>
          <p:nvPr/>
        </p:nvSpPr>
        <p:spPr>
          <a:xfrm>
            <a:off x="4749840" y="1757160"/>
            <a:ext cx="4248360" cy="1842120"/>
          </a:xfrm>
          <a:prstGeom prst="rect">
            <a:avLst/>
          </a:prstGeom>
          <a:noFill/>
          <a:ln w="0">
            <a:noFill/>
          </a:ln>
        </p:spPr>
        <p:style>
          <a:lnRef idx="0"/>
          <a:fillRef idx="0"/>
          <a:effectRef idx="0"/>
          <a:fontRef idx="minor"/>
        </p:style>
        <p:txBody>
          <a:bodyPr numCol="1" spcCol="0" rIns="182880" anchor="t">
            <a:noAutofit/>
          </a:bodyPr>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Messaging between IPv6 devices, including duplicate address detection and address resolution are as follows:</a:t>
            </a:r>
            <a:endParaRPr b="0" lang="en-JM" sz="1500" spc="-1" strike="noStrike">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600" spc="-1" strike="noStrike">
                <a:solidFill>
                  <a:srgbClr val="000000"/>
                </a:solidFill>
                <a:latin typeface="Arial"/>
                <a:ea typeface="ＭＳ Ｐゴシック"/>
              </a:rPr>
              <a:t>Neighbor Solicitation (NS) message</a:t>
            </a:r>
            <a:endParaRPr b="0" lang="en-JM" sz="1600" spc="-1" strike="noStrike">
              <a:latin typeface="Arial"/>
            </a:endParaRPr>
          </a:p>
          <a:p>
            <a:pPr lvl="1" marL="358920" indent="-216000">
              <a:lnSpc>
                <a:spcPct val="100000"/>
              </a:lnSpc>
              <a:spcBef>
                <a:spcPts val="300"/>
              </a:spcBef>
              <a:spcAft>
                <a:spcPts val="300"/>
              </a:spcAft>
              <a:buClr>
                <a:srgbClr val="58585b"/>
              </a:buClr>
              <a:buFont typeface="Arial"/>
              <a:buChar char="•"/>
              <a:tabLst>
                <a:tab algn="l" pos="0"/>
              </a:tabLst>
            </a:pPr>
            <a:r>
              <a:rPr b="0" lang="en-US" sz="1600" spc="-1" strike="noStrike">
                <a:solidFill>
                  <a:srgbClr val="000000"/>
                </a:solidFill>
                <a:latin typeface="Arial"/>
                <a:ea typeface="ＭＳ Ｐゴシック"/>
              </a:rPr>
              <a:t>Neighbor Advertisement (NA) message</a:t>
            </a:r>
            <a:endParaRPr b="0" lang="en-JM" sz="1600" spc="-1" strike="noStrike">
              <a:latin typeface="Arial"/>
            </a:endParaRPr>
          </a:p>
          <a:p>
            <a:pPr>
              <a:lnSpc>
                <a:spcPct val="100000"/>
              </a:lnSpc>
              <a:spcBef>
                <a:spcPts val="601"/>
              </a:spcBef>
              <a:spcAft>
                <a:spcPts val="601"/>
              </a:spcAft>
              <a:buNone/>
              <a:tabLst>
                <a:tab algn="l" pos="0"/>
              </a:tabLst>
            </a:pPr>
            <a:endParaRPr b="0" lang="en-JM" sz="1600" spc="-1" strike="noStrike">
              <a:latin typeface="Arial"/>
            </a:endParaRPr>
          </a:p>
          <a:p>
            <a:pPr>
              <a:lnSpc>
                <a:spcPct val="100000"/>
              </a:lnSpc>
              <a:spcBef>
                <a:spcPts val="601"/>
              </a:spcBef>
              <a:spcAft>
                <a:spcPts val="601"/>
              </a:spcAft>
              <a:buNone/>
              <a:tabLst>
                <a:tab algn="l" pos="0"/>
              </a:tabLst>
            </a:pPr>
            <a:endParaRPr b="0" lang="en-JM" sz="1600" spc="-1" strike="noStrike">
              <a:latin typeface="Arial"/>
            </a:endParaRPr>
          </a:p>
          <a:p>
            <a:pPr>
              <a:lnSpc>
                <a:spcPct val="100000"/>
              </a:lnSpc>
              <a:spcBef>
                <a:spcPts val="601"/>
              </a:spcBef>
              <a:spcAft>
                <a:spcPts val="601"/>
              </a:spcAft>
              <a:buNone/>
              <a:tabLst>
                <a:tab algn="l" pos="0"/>
              </a:tabLst>
            </a:pPr>
            <a:endParaRPr b="0" lang="en-JM" sz="1600" spc="-1" strike="noStrike">
              <a:latin typeface="Arial"/>
            </a:endParaRPr>
          </a:p>
        </p:txBody>
      </p:sp>
      <p:sp>
        <p:nvSpPr>
          <p:cNvPr id="303" name="TextBox 2"/>
          <p:cNvSpPr/>
          <p:nvPr/>
        </p:nvSpPr>
        <p:spPr>
          <a:xfrm>
            <a:off x="532080" y="3807720"/>
            <a:ext cx="818964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Note</a:t>
            </a:r>
            <a:r>
              <a:rPr b="0" lang="en-US" sz="1400" spc="-1" strike="noStrike">
                <a:solidFill>
                  <a:srgbClr val="58585b"/>
                </a:solidFill>
                <a:latin typeface="Arial"/>
                <a:ea typeface="ＭＳ Ｐゴシック"/>
              </a:rPr>
              <a:t>: ICMPv6 ND also includes the redirect message, which has a similar function to the redirect message used in ICMPv4.</a:t>
            </a:r>
            <a:endParaRPr b="0" lang="en-JM" sz="1400" spc="-1" strike="noStrike">
              <a:latin typeface="Arial"/>
            </a:endParaRPr>
          </a:p>
        </p:txBody>
      </p:sp>
    </p:spTree>
  </p:cSld>
  <p:transition spd="slow">
    <p:wipe dir="l"/>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ICMP Messages</a:t>
            </a:r>
            <a:br/>
            <a:r>
              <a:rPr b="0" lang="en-US" sz="2400" spc="-1" strike="noStrike">
                <a:solidFill>
                  <a:srgbClr val="367187"/>
                </a:solidFill>
                <a:latin typeface="Arial"/>
                <a:ea typeface="ＭＳ Ｐゴシック"/>
              </a:rPr>
              <a:t>ICMPv6 Messages (Cont.)</a:t>
            </a:r>
            <a:endParaRPr b="0" lang="en-US" sz="2400" spc="-1" strike="noStrike">
              <a:solidFill>
                <a:srgbClr val="58585b"/>
              </a:solidFill>
              <a:latin typeface="Arial"/>
            </a:endParaRPr>
          </a:p>
        </p:txBody>
      </p:sp>
      <p:sp>
        <p:nvSpPr>
          <p:cNvPr id="305" name="PlaceHolder 2"/>
          <p:cNvSpPr>
            <a:spLocks noGrp="1"/>
          </p:cNvSpPr>
          <p:nvPr>
            <p:ph/>
          </p:nvPr>
        </p:nvSpPr>
        <p:spPr>
          <a:xfrm>
            <a:off x="145440" y="822960"/>
            <a:ext cx="4157280" cy="365976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RA messages are sent by IPv6-enabled routers every 200 seconds to provide addressing information to IPv6-enabled hosts.</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RA message can include addressing information for the host such as the prefix, prefix length, DNS address, and domain name. </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A host using Stateless Address Autoconfiguration (SLAAC) will set its default gateway to the link-local address of the router that sent the RA.</a:t>
            </a:r>
            <a:endParaRPr b="0" lang="en-US" sz="1500" spc="-1" strike="noStrike">
              <a:solidFill>
                <a:srgbClr val="58585b"/>
              </a:solidFill>
              <a:latin typeface="Arial"/>
            </a:endParaRPr>
          </a:p>
          <a:p>
            <a:pPr>
              <a:lnSpc>
                <a:spcPct val="100000"/>
              </a:lnSpc>
              <a:spcBef>
                <a:spcPts val="601"/>
              </a:spcBef>
              <a:spcAft>
                <a:spcPts val="601"/>
              </a:spcAft>
              <a:buNone/>
            </a:pPr>
            <a:endParaRPr b="0" lang="en-US" sz="1500" spc="-1" strike="noStrike">
              <a:solidFill>
                <a:srgbClr val="58585b"/>
              </a:solidFill>
              <a:latin typeface="Arial"/>
            </a:endParaRPr>
          </a:p>
        </p:txBody>
      </p:sp>
      <p:pic>
        <p:nvPicPr>
          <p:cNvPr id="306" name="Picture 3" descr=""/>
          <p:cNvPicPr/>
          <p:nvPr/>
        </p:nvPicPr>
        <p:blipFill>
          <a:blip r:embed="rId1"/>
          <a:stretch/>
        </p:blipFill>
        <p:spPr>
          <a:xfrm>
            <a:off x="4303080" y="1510200"/>
            <a:ext cx="4514040" cy="2285640"/>
          </a:xfrm>
          <a:prstGeom prst="rect">
            <a:avLst/>
          </a:prstGeom>
          <a:ln w="0">
            <a:noFill/>
          </a:ln>
        </p:spPr>
      </p:pic>
    </p:spTree>
  </p:cSld>
  <p:transition spd="slow">
    <p:wipe dir="l"/>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ICMP Messages</a:t>
            </a:r>
            <a:br/>
            <a:r>
              <a:rPr b="0" lang="en-US" sz="2400" spc="-1" strike="noStrike">
                <a:solidFill>
                  <a:srgbClr val="367187"/>
                </a:solidFill>
                <a:latin typeface="Arial"/>
                <a:ea typeface="ＭＳ Ｐゴシック"/>
              </a:rPr>
              <a:t>ICMPv6 Messages (Cont.)</a:t>
            </a:r>
            <a:endParaRPr b="0" lang="en-US" sz="2400" spc="-1" strike="noStrike">
              <a:solidFill>
                <a:srgbClr val="58585b"/>
              </a:solidFill>
              <a:latin typeface="Arial"/>
            </a:endParaRPr>
          </a:p>
        </p:txBody>
      </p:sp>
      <p:sp>
        <p:nvSpPr>
          <p:cNvPr id="308" name="PlaceHolder 2"/>
          <p:cNvSpPr>
            <a:spLocks noGrp="1"/>
          </p:cNvSpPr>
          <p:nvPr>
            <p:ph/>
          </p:nvPr>
        </p:nvSpPr>
        <p:spPr>
          <a:xfrm>
            <a:off x="145440" y="822960"/>
            <a:ext cx="4157280" cy="379944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An IPv6-enabled router will also send out an RA message in response to an RS message. </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In the figure, PC1 sends a RS message to determine how to receive its IPv6 address information dynamically. </a:t>
            </a:r>
            <a:endParaRPr b="0" lang="en-US" sz="15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R1 replies to the RS with an RA message.</a:t>
            </a:r>
            <a:endParaRPr b="0" lang="en-US" sz="12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PC1 sends an RS message, “Hi, I just booted up. Is there an IPv6 router on the network? I need to know how to get my IPv6 address information dynamically.”</a:t>
            </a:r>
            <a:endParaRPr b="0" lang="en-US" sz="12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R1 replies with an RA message. “Hi all IPv6-enabled devices. I’m R1 and you can use SLAAC to create an IPv6 global unicast address. The prefix is 2001:db8:acad:1::/64. By the way, use my link-local address fe80::1 as your default gateway."</a:t>
            </a:r>
            <a:endParaRPr b="0" lang="en-US" sz="1200" spc="-1" strike="noStrike">
              <a:solidFill>
                <a:srgbClr val="58585b"/>
              </a:solidFill>
              <a:latin typeface="Arial"/>
            </a:endParaRPr>
          </a:p>
          <a:p>
            <a:pPr>
              <a:lnSpc>
                <a:spcPct val="100000"/>
              </a:lnSpc>
              <a:spcBef>
                <a:spcPts val="601"/>
              </a:spcBef>
              <a:spcAft>
                <a:spcPts val="601"/>
              </a:spcAft>
              <a:buNone/>
            </a:pPr>
            <a:endParaRPr b="0" lang="en-US" sz="1200" spc="-1" strike="noStrike">
              <a:solidFill>
                <a:srgbClr val="58585b"/>
              </a:solidFill>
              <a:latin typeface="Arial"/>
            </a:endParaRPr>
          </a:p>
        </p:txBody>
      </p:sp>
      <p:pic>
        <p:nvPicPr>
          <p:cNvPr id="309" name="Picture 2" descr=""/>
          <p:cNvPicPr/>
          <p:nvPr/>
        </p:nvPicPr>
        <p:blipFill>
          <a:blip r:embed="rId1"/>
          <a:stretch/>
        </p:blipFill>
        <p:spPr>
          <a:xfrm>
            <a:off x="4572000" y="1352520"/>
            <a:ext cx="4157280" cy="2437920"/>
          </a:xfrm>
          <a:prstGeom prst="rect">
            <a:avLst/>
          </a:prstGeom>
          <a:ln w="0">
            <a:noFill/>
          </a:ln>
        </p:spPr>
      </p:pic>
    </p:spTree>
  </p:cSld>
  <p:transition spd="slow">
    <p:wipe dir="l"/>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ICMP Messages</a:t>
            </a:r>
            <a:br/>
            <a:r>
              <a:rPr b="0" lang="en-US" sz="2400" spc="-1" strike="noStrike">
                <a:solidFill>
                  <a:srgbClr val="367187"/>
                </a:solidFill>
                <a:latin typeface="Arial"/>
                <a:ea typeface="ＭＳ Ｐゴシック"/>
              </a:rPr>
              <a:t>ICMPv6 Messages (Cont.)</a:t>
            </a:r>
            <a:endParaRPr b="0" lang="en-US" sz="2400" spc="-1" strike="noStrike">
              <a:solidFill>
                <a:srgbClr val="58585b"/>
              </a:solidFill>
              <a:latin typeface="Arial"/>
            </a:endParaRPr>
          </a:p>
        </p:txBody>
      </p:sp>
      <p:sp>
        <p:nvSpPr>
          <p:cNvPr id="311" name="PlaceHolder 2"/>
          <p:cNvSpPr>
            <a:spLocks noGrp="1"/>
          </p:cNvSpPr>
          <p:nvPr>
            <p:ph/>
          </p:nvPr>
        </p:nvSpPr>
        <p:spPr>
          <a:xfrm>
            <a:off x="145440" y="822960"/>
            <a:ext cx="4157280" cy="365976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A device assigned a global IPv6 unicast or link-local unicast address, may perform duplicate address detection (DAD) to ensure that the IPv6 address is unique. </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To check the uniqueness of an address, the device will send an NS message with its own IPv6 address as the targeted IPv6 address.</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If another device on the network has this address, it will respond with an NA message notifying to the sending device that the address is in use. </a:t>
            </a:r>
            <a:endParaRPr b="0" lang="en-US" sz="1500" spc="-1" strike="noStrike">
              <a:solidFill>
                <a:srgbClr val="58585b"/>
              </a:solidFill>
              <a:latin typeface="Arial"/>
            </a:endParaRPr>
          </a:p>
        </p:txBody>
      </p:sp>
      <p:sp>
        <p:nvSpPr>
          <p:cNvPr id="312" name="TextBox 2"/>
          <p:cNvSpPr/>
          <p:nvPr/>
        </p:nvSpPr>
        <p:spPr>
          <a:xfrm>
            <a:off x="4604400" y="3461760"/>
            <a:ext cx="4157280" cy="820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DAD is not required, but RFC 4861 recommends that DAD is performed on unicast addresses.</a:t>
            </a:r>
            <a:endParaRPr b="0" lang="en-JM" sz="1600" spc="-1" strike="noStrike">
              <a:latin typeface="Arial"/>
            </a:endParaRPr>
          </a:p>
        </p:txBody>
      </p:sp>
      <p:pic>
        <p:nvPicPr>
          <p:cNvPr id="313" name="Picture 3" descr=""/>
          <p:cNvPicPr/>
          <p:nvPr/>
        </p:nvPicPr>
        <p:blipFill>
          <a:blip r:embed="rId1"/>
          <a:stretch/>
        </p:blipFill>
        <p:spPr>
          <a:xfrm>
            <a:off x="4572000" y="945720"/>
            <a:ext cx="4157280" cy="1706760"/>
          </a:xfrm>
          <a:prstGeom prst="rect">
            <a:avLst/>
          </a:prstGeom>
          <a:ln w="0">
            <a:noFill/>
          </a:ln>
        </p:spPr>
      </p:pic>
    </p:spTree>
  </p:cSld>
  <p:transition spd="slow">
    <p:wipe dir="l"/>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ICMP Messages</a:t>
            </a:r>
            <a:br/>
            <a:r>
              <a:rPr b="0" lang="en-US" sz="2400" spc="-1" strike="noStrike">
                <a:solidFill>
                  <a:srgbClr val="367187"/>
                </a:solidFill>
                <a:latin typeface="Arial"/>
                <a:ea typeface="ＭＳ Ｐゴシック"/>
              </a:rPr>
              <a:t>ICMPv6 Messages (Cont.)</a:t>
            </a:r>
            <a:endParaRPr b="0" lang="en-US" sz="2400" spc="-1" strike="noStrike">
              <a:solidFill>
                <a:srgbClr val="58585b"/>
              </a:solidFill>
              <a:latin typeface="Arial"/>
            </a:endParaRPr>
          </a:p>
        </p:txBody>
      </p:sp>
      <p:sp>
        <p:nvSpPr>
          <p:cNvPr id="315" name="PlaceHolder 2"/>
          <p:cNvSpPr>
            <a:spLocks noGrp="1"/>
          </p:cNvSpPr>
          <p:nvPr>
            <p:ph/>
          </p:nvPr>
        </p:nvSpPr>
        <p:spPr>
          <a:xfrm>
            <a:off x="145440" y="822960"/>
            <a:ext cx="4157280" cy="365976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To determine the MAC address for the destination, the device will send an NS message to the solicited node address. </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The message will include the known (targeted) IPv6 address. The device that has the targeted IPv6 address will respond with an NA message containing its Ethernet MAC address.</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In the figure, R1 sends a NS message to 2001:db8:acad:1::10 asking for its MAC address. </a:t>
            </a:r>
            <a:endParaRPr b="0" lang="en-US" sz="1600" spc="-1" strike="noStrike">
              <a:solidFill>
                <a:srgbClr val="58585b"/>
              </a:solidFill>
              <a:latin typeface="Arial"/>
            </a:endParaRPr>
          </a:p>
        </p:txBody>
      </p:sp>
      <p:pic>
        <p:nvPicPr>
          <p:cNvPr id="316" name="Picture 2" descr=""/>
          <p:cNvPicPr/>
          <p:nvPr/>
        </p:nvPicPr>
        <p:blipFill>
          <a:blip r:embed="rId1"/>
          <a:stretch/>
        </p:blipFill>
        <p:spPr>
          <a:xfrm>
            <a:off x="4572000" y="1428840"/>
            <a:ext cx="4443840" cy="2285640"/>
          </a:xfrm>
          <a:prstGeom prst="rect">
            <a:avLst/>
          </a:prstGeom>
          <a:ln w="0">
            <a:noFill/>
          </a:ln>
        </p:spPr>
      </p:pic>
    </p:spTree>
  </p:cSld>
  <p:transition spd="slow">
    <p:wipe dir="l"/>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416520" y="1788120"/>
            <a:ext cx="8231040" cy="929160"/>
          </a:xfrm>
          <a:prstGeom prst="rect">
            <a:avLst/>
          </a:prstGeom>
          <a:noFill/>
          <a:ln w="0">
            <a:noFill/>
          </a:ln>
        </p:spPr>
        <p:txBody>
          <a:bodyPr numCol="1" spcCol="0" anchor="b">
            <a:noAutofit/>
          </a:bodyPr>
          <a:p>
            <a:pPr>
              <a:lnSpc>
                <a:spcPct val="90000"/>
              </a:lnSpc>
              <a:buNone/>
              <a:tabLst>
                <a:tab algn="l" pos="0"/>
              </a:tabLst>
            </a:pPr>
            <a:r>
              <a:rPr b="0" lang="en-US" sz="4000" spc="-1" strike="noStrike">
                <a:solidFill>
                  <a:srgbClr val="afe8fb"/>
                </a:solidFill>
                <a:latin typeface="Arial"/>
                <a:ea typeface="ＭＳ Ｐゴシック"/>
              </a:rPr>
              <a:t>13.2 Ping and Traceroute Tests</a:t>
            </a:r>
            <a:endParaRPr b="0" lang="en-US" sz="4000" spc="-1" strike="noStrike">
              <a:solidFill>
                <a:srgbClr val="58585b"/>
              </a:solidFill>
              <a:latin typeface="Arial"/>
            </a:endParaRPr>
          </a:p>
        </p:txBody>
      </p:sp>
    </p:spTree>
  </p:cSld>
  <p:transition spd="slow">
    <p:wipe dir="l"/>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Ping and Traceroute Tests</a:t>
            </a:r>
            <a:br/>
            <a:r>
              <a:rPr b="0" lang="en-US" sz="2400" spc="-1" strike="noStrike">
                <a:solidFill>
                  <a:srgbClr val="367187"/>
                </a:solidFill>
                <a:latin typeface="Arial"/>
                <a:ea typeface="ＭＳ Ｐゴシック"/>
              </a:rPr>
              <a:t>Ping – Test Connectivity</a:t>
            </a:r>
            <a:endParaRPr b="0" lang="en-US" sz="2400" spc="-1" strike="noStrike">
              <a:solidFill>
                <a:srgbClr val="58585b"/>
              </a:solidFill>
              <a:latin typeface="Arial"/>
            </a:endParaRPr>
          </a:p>
        </p:txBody>
      </p:sp>
      <p:sp>
        <p:nvSpPr>
          <p:cNvPr id="319" name="PlaceHolder 2"/>
          <p:cNvSpPr>
            <a:spLocks noGrp="1"/>
          </p:cNvSpPr>
          <p:nvPr>
            <p:ph/>
          </p:nvPr>
        </p:nvSpPr>
        <p:spPr>
          <a:xfrm>
            <a:off x="170640" y="798840"/>
            <a:ext cx="4680000" cy="381924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The </a:t>
            </a:r>
            <a:r>
              <a:rPr b="1" lang="en-US" sz="1500" spc="-1" strike="noStrike">
                <a:solidFill>
                  <a:srgbClr val="000000"/>
                </a:solidFill>
                <a:latin typeface="Arial"/>
                <a:ea typeface="ＭＳ Ｐゴシック"/>
              </a:rPr>
              <a:t>ping</a:t>
            </a:r>
            <a:r>
              <a:rPr b="0" lang="en-US" sz="1500" spc="-1" strike="noStrike">
                <a:solidFill>
                  <a:srgbClr val="000000"/>
                </a:solidFill>
                <a:latin typeface="Arial"/>
                <a:ea typeface="ＭＳ Ｐゴシック"/>
              </a:rPr>
              <a:t> command is an IPv4 and IPv6 testing utility that uses ICMP echo request and echo reply messages to test connectivity between hosts and provides a summary that includes the success rate and average round-trip time to the destination.</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If a reply is not received within the timeout, ping provides a message indicating that a response was not received.</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It is common for the first ping to timeout if address resolution (ARP or ND) needs to be performed before sending the ICMP Echo Request.</a:t>
            </a:r>
            <a:endParaRPr b="0" lang="en-US" sz="1500" spc="-1" strike="noStrike">
              <a:solidFill>
                <a:srgbClr val="58585b"/>
              </a:solidFill>
              <a:latin typeface="Arial"/>
            </a:endParaRPr>
          </a:p>
          <a:p>
            <a:pPr>
              <a:lnSpc>
                <a:spcPct val="100000"/>
              </a:lnSpc>
              <a:spcBef>
                <a:spcPts val="601"/>
              </a:spcBef>
              <a:spcAft>
                <a:spcPts val="601"/>
              </a:spcAft>
              <a:buNone/>
            </a:pPr>
            <a:endParaRPr b="0" lang="en-US" sz="1500" spc="-1" strike="noStrike">
              <a:solidFill>
                <a:srgbClr val="58585b"/>
              </a:solidFill>
              <a:latin typeface="Arial"/>
            </a:endParaRPr>
          </a:p>
        </p:txBody>
      </p:sp>
      <p:pic>
        <p:nvPicPr>
          <p:cNvPr id="320" name="Picture 1" descr=""/>
          <p:cNvPicPr/>
          <p:nvPr/>
        </p:nvPicPr>
        <p:blipFill>
          <a:blip r:embed="rId1"/>
          <a:stretch/>
        </p:blipFill>
        <p:spPr>
          <a:xfrm>
            <a:off x="4851000" y="1263960"/>
            <a:ext cx="4090680" cy="786240"/>
          </a:xfrm>
          <a:prstGeom prst="rect">
            <a:avLst/>
          </a:prstGeom>
          <a:ln w="0">
            <a:noFill/>
          </a:ln>
        </p:spPr>
      </p:pic>
      <p:pic>
        <p:nvPicPr>
          <p:cNvPr id="321" name="Picture 2" descr=""/>
          <p:cNvPicPr/>
          <p:nvPr/>
        </p:nvPicPr>
        <p:blipFill>
          <a:blip r:embed="rId2"/>
          <a:stretch/>
        </p:blipFill>
        <p:spPr>
          <a:xfrm>
            <a:off x="4851000" y="2571840"/>
            <a:ext cx="4090680" cy="716040"/>
          </a:xfrm>
          <a:prstGeom prst="rect">
            <a:avLst/>
          </a:prstGeom>
          <a:ln w="0">
            <a:noFill/>
          </a:ln>
        </p:spPr>
      </p:pic>
    </p:spTree>
  </p:cSld>
  <p:transition spd="slow">
    <p:wipe dir="l"/>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Ping and Traceroute Tests</a:t>
            </a:r>
            <a:br/>
            <a:r>
              <a:rPr b="0" lang="en-US" sz="2400" spc="-1" strike="noStrike">
                <a:solidFill>
                  <a:srgbClr val="367187"/>
                </a:solidFill>
                <a:latin typeface="Arial"/>
                <a:ea typeface="ＭＳ Ｐゴシック"/>
              </a:rPr>
              <a:t>Ping the Loopback</a:t>
            </a:r>
            <a:endParaRPr b="0" lang="en-US" sz="2400" spc="-1" strike="noStrike">
              <a:solidFill>
                <a:srgbClr val="58585b"/>
              </a:solidFill>
              <a:latin typeface="Arial"/>
            </a:endParaRPr>
          </a:p>
        </p:txBody>
      </p:sp>
      <p:sp>
        <p:nvSpPr>
          <p:cNvPr id="323" name="PlaceHolder 2"/>
          <p:cNvSpPr>
            <a:spLocks noGrp="1"/>
          </p:cNvSpPr>
          <p:nvPr>
            <p:ph/>
          </p:nvPr>
        </p:nvSpPr>
        <p:spPr>
          <a:xfrm>
            <a:off x="263520" y="866160"/>
            <a:ext cx="4091040" cy="3410640"/>
          </a:xfrm>
          <a:prstGeom prst="rect">
            <a:avLst/>
          </a:prstGeom>
          <a:noFill/>
          <a:ln w="0">
            <a:noFill/>
          </a:ln>
        </p:spPr>
        <p:txBody>
          <a:bodyPr numCol="1" spcCol="0" rIns="182880" anchor="t">
            <a:noAutofit/>
          </a:bodyPr>
          <a:p>
            <a:pPr>
              <a:lnSpc>
                <a:spcPct val="100000"/>
              </a:lnSpc>
              <a:spcBef>
                <a:spcPts val="601"/>
              </a:spcBef>
              <a:spcAft>
                <a:spcPts val="99"/>
              </a:spcAft>
              <a:buNone/>
              <a:tabLst>
                <a:tab algn="l" pos="0"/>
              </a:tabLst>
            </a:pPr>
            <a:r>
              <a:rPr b="0" lang="en-US" sz="1600" spc="-1" strike="noStrike">
                <a:solidFill>
                  <a:srgbClr val="000000"/>
                </a:solidFill>
                <a:latin typeface="Arial"/>
                <a:ea typeface="ＭＳ Ｐゴシック"/>
              </a:rPr>
              <a:t>Ping can be used to test the internal configuration of IPv4 or IPv6 on the local host. To do this, </a:t>
            </a:r>
            <a:r>
              <a:rPr b="1" lang="en-US" sz="1600" spc="-1" strike="noStrike">
                <a:solidFill>
                  <a:srgbClr val="000000"/>
                </a:solidFill>
                <a:latin typeface="Arial"/>
                <a:ea typeface="ＭＳ Ｐゴシック"/>
              </a:rPr>
              <a:t>ping</a:t>
            </a:r>
            <a:r>
              <a:rPr b="0" lang="en-US" sz="1600" spc="-1" strike="noStrike">
                <a:solidFill>
                  <a:srgbClr val="000000"/>
                </a:solidFill>
                <a:latin typeface="Arial"/>
                <a:ea typeface="ＭＳ Ｐゴシック"/>
              </a:rPr>
              <a:t> the local loopback address of 127.0.0.1 for IPv4 (::1 for IPv6).</a:t>
            </a:r>
            <a:endParaRPr b="0" lang="en-US" sz="1600" spc="-1" strike="noStrike">
              <a:solidFill>
                <a:srgbClr val="58585b"/>
              </a:solidFill>
              <a:latin typeface="Arial"/>
            </a:endParaRPr>
          </a:p>
          <a:p>
            <a:pPr marL="169920" indent="-169920">
              <a:lnSpc>
                <a:spcPct val="100000"/>
              </a:lnSpc>
              <a:spcBef>
                <a:spcPts val="601"/>
              </a:spcBef>
              <a:spcAft>
                <a:spcPts val="99"/>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A response from 127.0.0.1 for IPv4, or ::1 for IPv6, indicates that IP is properly installed on the host.</a:t>
            </a:r>
            <a:endParaRPr b="0" lang="en-US" sz="1600" spc="-1" strike="noStrike">
              <a:solidFill>
                <a:srgbClr val="58585b"/>
              </a:solidFill>
              <a:latin typeface="Arial"/>
            </a:endParaRPr>
          </a:p>
          <a:p>
            <a:pPr marL="169920" indent="-169920">
              <a:lnSpc>
                <a:spcPct val="100000"/>
              </a:lnSpc>
              <a:spcBef>
                <a:spcPts val="601"/>
              </a:spcBef>
              <a:spcAft>
                <a:spcPts val="99"/>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An error message indicates that TCP/IP is not operational on the host.</a:t>
            </a:r>
            <a:endParaRPr b="0" lang="en-US" sz="1600" spc="-1" strike="noStrike">
              <a:solidFill>
                <a:srgbClr val="58585b"/>
              </a:solidFill>
              <a:latin typeface="Arial"/>
            </a:endParaRPr>
          </a:p>
        </p:txBody>
      </p:sp>
      <p:pic>
        <p:nvPicPr>
          <p:cNvPr id="324" name="Picture 1" descr=""/>
          <p:cNvPicPr/>
          <p:nvPr/>
        </p:nvPicPr>
        <p:blipFill>
          <a:blip r:embed="rId1"/>
          <a:stretch/>
        </p:blipFill>
        <p:spPr>
          <a:xfrm>
            <a:off x="4572000" y="835200"/>
            <a:ext cx="4392000" cy="3472560"/>
          </a:xfrm>
          <a:prstGeom prst="rect">
            <a:avLst/>
          </a:prstGeom>
          <a:ln w="0">
            <a:noFill/>
          </a:ln>
        </p:spPr>
      </p:pic>
    </p:spTree>
  </p:cSld>
  <p:transition spd="slow">
    <p:wipe dir="l"/>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0" y="118800"/>
            <a:ext cx="9143640" cy="59256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Ping and Traceroute Tests</a:t>
            </a:r>
            <a:br/>
            <a:r>
              <a:rPr b="0" lang="en-US" sz="2400" spc="-1" strike="noStrike">
                <a:solidFill>
                  <a:srgbClr val="367187"/>
                </a:solidFill>
                <a:latin typeface="Arial"/>
                <a:ea typeface="ＭＳ Ｐゴシック"/>
              </a:rPr>
              <a:t>Ping the Default Gateway</a:t>
            </a:r>
            <a:endParaRPr b="0" lang="en-US" sz="2400" spc="-1" strike="noStrike">
              <a:solidFill>
                <a:srgbClr val="58585b"/>
              </a:solidFill>
              <a:latin typeface="Arial"/>
            </a:endParaRPr>
          </a:p>
        </p:txBody>
      </p:sp>
      <p:sp>
        <p:nvSpPr>
          <p:cNvPr id="326" name="PlaceHolder 2"/>
          <p:cNvSpPr>
            <a:spLocks noGrp="1"/>
          </p:cNvSpPr>
          <p:nvPr>
            <p:ph/>
          </p:nvPr>
        </p:nvSpPr>
        <p:spPr>
          <a:xfrm>
            <a:off x="180000" y="833760"/>
            <a:ext cx="4391640" cy="390420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The </a:t>
            </a:r>
            <a:r>
              <a:rPr b="1" lang="en-US" sz="1500" spc="-1" strike="noStrike">
                <a:solidFill>
                  <a:srgbClr val="000000"/>
                </a:solidFill>
                <a:latin typeface="Arial"/>
                <a:ea typeface="ＭＳ Ｐゴシック"/>
              </a:rPr>
              <a:t>ping </a:t>
            </a:r>
            <a:r>
              <a:rPr b="0" lang="en-US" sz="1500" spc="-1" strike="noStrike">
                <a:solidFill>
                  <a:srgbClr val="000000"/>
                </a:solidFill>
                <a:latin typeface="Arial"/>
                <a:ea typeface="ＭＳ Ｐゴシック"/>
              </a:rPr>
              <a:t>command can be used to test the ability of a host to communicate on the local network. </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The default gateway address is most often used because the router is normally always operational.</a:t>
            </a:r>
            <a:endParaRPr b="0" lang="en-US" sz="15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500" spc="-1" strike="noStrike">
                <a:solidFill>
                  <a:srgbClr val="000000"/>
                </a:solidFill>
                <a:latin typeface="Arial"/>
                <a:ea typeface="ＭＳ Ｐゴシック"/>
              </a:rPr>
              <a:t>A successful </a:t>
            </a:r>
            <a:r>
              <a:rPr b="1" lang="en-US" sz="1500" spc="-1" strike="noStrike">
                <a:solidFill>
                  <a:srgbClr val="000000"/>
                </a:solidFill>
                <a:latin typeface="Arial"/>
                <a:ea typeface="ＭＳ Ｐゴシック"/>
              </a:rPr>
              <a:t>ping</a:t>
            </a:r>
            <a:r>
              <a:rPr b="0" lang="en-US" sz="1500" spc="-1" strike="noStrike">
                <a:solidFill>
                  <a:srgbClr val="000000"/>
                </a:solidFill>
                <a:latin typeface="Arial"/>
                <a:ea typeface="ＭＳ Ｐゴシック"/>
              </a:rPr>
              <a:t> to the default gateway indicates that the host and the router interface serving as the default gateway are both operational on the local network.</a:t>
            </a:r>
            <a:endParaRPr b="0" lang="en-US" sz="15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500" spc="-1" strike="noStrike">
                <a:solidFill>
                  <a:srgbClr val="000000"/>
                </a:solidFill>
                <a:latin typeface="Arial"/>
                <a:ea typeface="ＭＳ Ｐゴシック"/>
              </a:rPr>
              <a:t>If the default gateway address does not respond, a </a:t>
            </a:r>
            <a:r>
              <a:rPr b="1" lang="en-US" sz="1500" spc="-1" strike="noStrike">
                <a:solidFill>
                  <a:srgbClr val="000000"/>
                </a:solidFill>
                <a:latin typeface="Arial"/>
                <a:ea typeface="ＭＳ Ｐゴシック"/>
              </a:rPr>
              <a:t>ping</a:t>
            </a:r>
            <a:r>
              <a:rPr b="0" lang="en-US" sz="1500" spc="-1" strike="noStrike">
                <a:solidFill>
                  <a:srgbClr val="000000"/>
                </a:solidFill>
                <a:latin typeface="Arial"/>
                <a:ea typeface="ＭＳ Ｐゴシック"/>
              </a:rPr>
              <a:t> can be sent to the IP address of another host on the local network that is known to be operational.</a:t>
            </a:r>
            <a:endParaRPr b="0" lang="en-US" sz="1500" spc="-1" strike="noStrike">
              <a:solidFill>
                <a:srgbClr val="58585b"/>
              </a:solidFill>
              <a:latin typeface="Arial"/>
            </a:endParaRPr>
          </a:p>
        </p:txBody>
      </p:sp>
      <p:pic>
        <p:nvPicPr>
          <p:cNvPr id="327" name="Picture 1" descr=""/>
          <p:cNvPicPr/>
          <p:nvPr/>
        </p:nvPicPr>
        <p:blipFill>
          <a:blip r:embed="rId1"/>
          <a:stretch/>
        </p:blipFill>
        <p:spPr>
          <a:xfrm>
            <a:off x="5221800" y="933120"/>
            <a:ext cx="3423960" cy="3277080"/>
          </a:xfrm>
          <a:prstGeom prst="rect">
            <a:avLst/>
          </a:prstGeom>
          <a:ln w="0">
            <a:noFill/>
          </a:ln>
        </p:spPr>
      </p:pic>
    </p:spTree>
  </p:cSld>
  <p:transition spd="slow">
    <p:wipe dir="l"/>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Ping and Traceroute Tests</a:t>
            </a:r>
            <a:br/>
            <a:r>
              <a:rPr b="0" lang="en-US" sz="2400" spc="-1" strike="noStrike">
                <a:solidFill>
                  <a:srgbClr val="367187"/>
                </a:solidFill>
                <a:latin typeface="Arial"/>
                <a:ea typeface="ＭＳ Ｐゴシック"/>
              </a:rPr>
              <a:t>Ping a Remote Host</a:t>
            </a:r>
            <a:endParaRPr b="0" lang="en-US" sz="2400" spc="-1" strike="noStrike">
              <a:solidFill>
                <a:srgbClr val="58585b"/>
              </a:solidFill>
              <a:latin typeface="Arial"/>
            </a:endParaRPr>
          </a:p>
        </p:txBody>
      </p:sp>
      <p:sp>
        <p:nvSpPr>
          <p:cNvPr id="329" name="PlaceHolder 2"/>
          <p:cNvSpPr>
            <a:spLocks noGrp="1"/>
          </p:cNvSpPr>
          <p:nvPr>
            <p:ph/>
          </p:nvPr>
        </p:nvSpPr>
        <p:spPr>
          <a:xfrm>
            <a:off x="134280" y="896400"/>
            <a:ext cx="4196160" cy="196992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Ping can also be used to test the ability of a local host to communicate across an internetwork.</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A local host can ping a host on a remote network. A successful </a:t>
            </a:r>
            <a:r>
              <a:rPr b="1" lang="en-US" sz="1600" spc="-1" strike="noStrike">
                <a:solidFill>
                  <a:srgbClr val="000000"/>
                </a:solidFill>
                <a:latin typeface="Arial"/>
                <a:ea typeface="ＭＳ Ｐゴシック"/>
              </a:rPr>
              <a:t>ping</a:t>
            </a:r>
            <a:r>
              <a:rPr b="0" lang="en-US" sz="1600" spc="-1" strike="noStrike">
                <a:solidFill>
                  <a:srgbClr val="000000"/>
                </a:solidFill>
                <a:latin typeface="Arial"/>
                <a:ea typeface="ＭＳ Ｐゴシック"/>
              </a:rPr>
              <a:t> across the internetwork confirms communication on the local network.</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330" name="TextBox 2"/>
          <p:cNvSpPr/>
          <p:nvPr/>
        </p:nvSpPr>
        <p:spPr>
          <a:xfrm>
            <a:off x="134280" y="3211560"/>
            <a:ext cx="4585680" cy="1276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Many network administrators limit or prohibit the entry of ICMP messages therefore, the lack of a </a:t>
            </a:r>
            <a:r>
              <a:rPr b="1" lang="en-US" sz="1600" spc="-1" strike="noStrike">
                <a:solidFill>
                  <a:srgbClr val="000000"/>
                </a:solidFill>
                <a:latin typeface="Arial"/>
                <a:ea typeface="ＭＳ Ｐゴシック"/>
              </a:rPr>
              <a:t>ping</a:t>
            </a:r>
            <a:r>
              <a:rPr b="0" lang="en-US" sz="1600" spc="-1" strike="noStrike">
                <a:solidFill>
                  <a:srgbClr val="000000"/>
                </a:solidFill>
                <a:latin typeface="Arial"/>
                <a:ea typeface="ＭＳ Ｐゴシック"/>
              </a:rPr>
              <a:t> response could be due to security restrictions.</a:t>
            </a:r>
            <a:endParaRPr b="0" lang="en-JM" sz="1600" spc="-1" strike="noStrike">
              <a:latin typeface="Arial"/>
            </a:endParaRPr>
          </a:p>
          <a:p>
            <a:pPr>
              <a:lnSpc>
                <a:spcPct val="100000"/>
              </a:lnSpc>
              <a:buNone/>
            </a:pPr>
            <a:endParaRPr b="0" lang="en-JM" sz="1600" spc="-1" strike="noStrike">
              <a:latin typeface="Arial"/>
            </a:endParaRPr>
          </a:p>
        </p:txBody>
      </p:sp>
      <p:pic>
        <p:nvPicPr>
          <p:cNvPr id="331" name="Picture 1" descr=""/>
          <p:cNvPicPr/>
          <p:nvPr/>
        </p:nvPicPr>
        <p:blipFill>
          <a:blip r:embed="rId1"/>
          <a:stretch/>
        </p:blipFill>
        <p:spPr>
          <a:xfrm>
            <a:off x="4720320" y="1310400"/>
            <a:ext cx="4095720" cy="2841480"/>
          </a:xfrm>
          <a:prstGeom prst="rect">
            <a:avLst/>
          </a:prstGeom>
          <a:ln w="0">
            <a:noFill/>
          </a:ln>
        </p:spPr>
      </p:pic>
    </p:spTree>
  </p:cSld>
  <p:transition spd="slow">
    <p:wipe dir="l"/>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Ping and Traceroute Tests</a:t>
            </a:r>
            <a:br/>
            <a:r>
              <a:rPr b="0" lang="en-US" sz="2400" spc="-1" strike="noStrike">
                <a:solidFill>
                  <a:srgbClr val="367187"/>
                </a:solidFill>
                <a:latin typeface="Arial"/>
                <a:ea typeface="ＭＳ Ｐゴシック"/>
              </a:rPr>
              <a:t>Traceroute – Test the Path</a:t>
            </a:r>
            <a:endParaRPr b="0" lang="en-US" sz="2400" spc="-1" strike="noStrike">
              <a:solidFill>
                <a:srgbClr val="58585b"/>
              </a:solidFill>
              <a:latin typeface="Arial"/>
            </a:endParaRPr>
          </a:p>
        </p:txBody>
      </p:sp>
      <p:sp>
        <p:nvSpPr>
          <p:cNvPr id="333" name="PlaceHolder 2"/>
          <p:cNvSpPr>
            <a:spLocks noGrp="1"/>
          </p:cNvSpPr>
          <p:nvPr>
            <p:ph/>
          </p:nvPr>
        </p:nvSpPr>
        <p:spPr>
          <a:xfrm>
            <a:off x="134280" y="896400"/>
            <a:ext cx="4244400" cy="351108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Traceroute (</a:t>
            </a:r>
            <a:r>
              <a:rPr b="1" lang="en-US" sz="1600" spc="-1" strike="noStrike">
                <a:solidFill>
                  <a:srgbClr val="000000"/>
                </a:solidFill>
                <a:latin typeface="Arial"/>
                <a:ea typeface="ＭＳ Ｐゴシック"/>
              </a:rPr>
              <a:t>tracert</a:t>
            </a:r>
            <a:r>
              <a:rPr b="0" lang="en-US" sz="1600" spc="-1" strike="noStrike">
                <a:solidFill>
                  <a:srgbClr val="000000"/>
                </a:solidFill>
                <a:latin typeface="Arial"/>
                <a:ea typeface="ＭＳ Ｐゴシック"/>
              </a:rPr>
              <a:t>) is a utility that is used to test the path between two hosts and provide a list of hops that were successfully reached along that path.</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Traceroute provides round-trip time for each hop along the path and indicates if a hop fails to respond. An asterisk (*) is used to indicate a lost or unreplied packet.</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This information can be used to locate a problematic router in the path or may indicate that the router is configured not to reply. </a:t>
            </a: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p:txBody>
      </p:sp>
      <p:sp>
        <p:nvSpPr>
          <p:cNvPr id="334" name="TextBox 1"/>
          <p:cNvSpPr/>
          <p:nvPr/>
        </p:nvSpPr>
        <p:spPr>
          <a:xfrm>
            <a:off x="4379040" y="3067560"/>
            <a:ext cx="4609800" cy="10638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600" spc="-1" strike="noStrike">
                <a:solidFill>
                  <a:srgbClr val="000000"/>
                </a:solidFill>
                <a:latin typeface="Arial"/>
                <a:ea typeface="ＭＳ Ｐゴシック"/>
              </a:rPr>
              <a:t>Note</a:t>
            </a:r>
            <a:r>
              <a:rPr b="0" lang="en-US" sz="1600" spc="-1" strike="noStrike">
                <a:solidFill>
                  <a:srgbClr val="000000"/>
                </a:solidFill>
                <a:latin typeface="Arial"/>
                <a:ea typeface="ＭＳ Ｐゴシック"/>
              </a:rPr>
              <a:t>: Traceroute makes use of a function of the TTL field in IPv4 and the Hop Limit field in IPv6 in the Layer 3 headers, along with the ICMP Time Exceeded message.</a:t>
            </a:r>
            <a:endParaRPr b="0" lang="en-JM" sz="1600" spc="-1" strike="noStrike">
              <a:latin typeface="Arial"/>
            </a:endParaRPr>
          </a:p>
        </p:txBody>
      </p:sp>
      <p:pic>
        <p:nvPicPr>
          <p:cNvPr id="335" name="Picture 7" descr=""/>
          <p:cNvPicPr/>
          <p:nvPr/>
        </p:nvPicPr>
        <p:blipFill>
          <a:blip r:embed="rId1"/>
          <a:stretch/>
        </p:blipFill>
        <p:spPr>
          <a:xfrm>
            <a:off x="4764960" y="1525320"/>
            <a:ext cx="4101840" cy="1257120"/>
          </a:xfrm>
          <a:prstGeom prst="rect">
            <a:avLst/>
          </a:prstGeom>
          <a:ln w="0">
            <a:noFill/>
          </a:ln>
        </p:spPr>
      </p:pic>
    </p:spTree>
  </p:cSld>
  <p:transition spd="slow">
    <p:wipe dir="l"/>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Ping and Traceroute Tests</a:t>
            </a:r>
            <a:br/>
            <a:r>
              <a:rPr b="0" lang="en-US" sz="2400" spc="-1" strike="noStrike">
                <a:solidFill>
                  <a:srgbClr val="367187"/>
                </a:solidFill>
                <a:latin typeface="Arial"/>
                <a:ea typeface="ＭＳ Ｐゴシック"/>
              </a:rPr>
              <a:t>Traceroute – Test the Path (Cont.)</a:t>
            </a:r>
            <a:endParaRPr b="0" lang="en-US" sz="2400" spc="-1" strike="noStrike">
              <a:solidFill>
                <a:srgbClr val="58585b"/>
              </a:solidFill>
              <a:latin typeface="Arial"/>
            </a:endParaRPr>
          </a:p>
        </p:txBody>
      </p:sp>
      <p:sp>
        <p:nvSpPr>
          <p:cNvPr id="337" name="PlaceHolder 2"/>
          <p:cNvSpPr>
            <a:spLocks noGrp="1"/>
          </p:cNvSpPr>
          <p:nvPr>
            <p:ph/>
          </p:nvPr>
        </p:nvSpPr>
        <p:spPr>
          <a:xfrm>
            <a:off x="134280" y="896400"/>
            <a:ext cx="4437360" cy="371664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The first message sent from traceroute will have a TTL field value of 1. This causes the TTL to time out at the first router. This router then responds with a ICMPv4 Time Exceeded message. </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Traceroute then progressively increments the TTL field (2, 3, 4...) for each sequence of messages. This provides the trace with the address of each hop as the packets time out further down the path. </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The TTL field continues to be increased until the destination is reached, or it is incremented to a predefined maximum.</a:t>
            </a:r>
            <a:endParaRPr b="0" lang="en-US" sz="1600" spc="-1" strike="noStrike">
              <a:solidFill>
                <a:srgbClr val="58585b"/>
              </a:solidFill>
              <a:latin typeface="Arial"/>
            </a:endParaRPr>
          </a:p>
        </p:txBody>
      </p:sp>
      <p:pic>
        <p:nvPicPr>
          <p:cNvPr id="338" name="Picture 2" descr=""/>
          <p:cNvPicPr/>
          <p:nvPr/>
        </p:nvPicPr>
        <p:blipFill>
          <a:blip r:embed="rId1"/>
          <a:stretch/>
        </p:blipFill>
        <p:spPr>
          <a:xfrm>
            <a:off x="4764960" y="1213560"/>
            <a:ext cx="4127040" cy="2476080"/>
          </a:xfrm>
          <a:prstGeom prst="rect">
            <a:avLst/>
          </a:prstGeom>
          <a:ln w="0">
            <a:noFill/>
          </a:ln>
        </p:spPr>
      </p:pic>
    </p:spTree>
  </p:cSld>
  <p:transition spd="slow">
    <p:wipe dir="l"/>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0" y="133920"/>
            <a:ext cx="9143640" cy="59256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Ping and Traceroute Tests</a:t>
            </a:r>
            <a:br/>
            <a:r>
              <a:rPr b="0" lang="en-US" sz="2400" spc="-1" strike="noStrike">
                <a:solidFill>
                  <a:srgbClr val="367187"/>
                </a:solidFill>
                <a:latin typeface="Arial"/>
                <a:ea typeface="ＭＳ Ｐゴシック"/>
              </a:rPr>
              <a:t>Packet Tracer – Verify IPv4 and IPv6 Addressing</a:t>
            </a:r>
            <a:endParaRPr b="0" lang="en-US" sz="2400" spc="-1" strike="noStrike">
              <a:solidFill>
                <a:srgbClr val="58585b"/>
              </a:solidFill>
              <a:latin typeface="Arial"/>
            </a:endParaRPr>
          </a:p>
        </p:txBody>
      </p:sp>
      <p:sp>
        <p:nvSpPr>
          <p:cNvPr id="340" name="PlaceHolder 2"/>
          <p:cNvSpPr>
            <a:spLocks noGrp="1"/>
          </p:cNvSpPr>
          <p:nvPr>
            <p:ph/>
          </p:nvPr>
        </p:nvSpPr>
        <p:spPr>
          <a:xfrm>
            <a:off x="180000" y="893160"/>
            <a:ext cx="8649000" cy="352224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Packet Tracer, you will do the following:</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Complete the Addressing Table Documentation </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Test Connectivity Using Ping</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Discover the Path by Tracing the Route</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endParaRPr b="0" lang="en-US" sz="1800" spc="-1" strike="noStrike">
              <a:solidFill>
                <a:srgbClr val="58585b"/>
              </a:solidFill>
              <a:latin typeface="Arial"/>
            </a:endParaRPr>
          </a:p>
        </p:txBody>
      </p:sp>
    </p:spTree>
  </p:cSld>
  <p:transition spd="slow">
    <p:wipe dir="l"/>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0" y="144000"/>
            <a:ext cx="9143640" cy="89352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Ping and Traceroute Tests</a:t>
            </a:r>
            <a:br/>
            <a:r>
              <a:rPr b="0" lang="en-US" sz="2400" spc="-1" strike="noStrike">
                <a:solidFill>
                  <a:srgbClr val="367187"/>
                </a:solidFill>
                <a:latin typeface="Arial"/>
                <a:ea typeface="ＭＳ Ｐゴシック"/>
              </a:rPr>
              <a:t>Packet Tracer – Use Ping and Traceroute to Test Network Connectivity</a:t>
            </a:r>
            <a:endParaRPr b="0" lang="en-US" sz="2400" spc="-1" strike="noStrike">
              <a:solidFill>
                <a:srgbClr val="58585b"/>
              </a:solidFill>
              <a:latin typeface="Arial"/>
            </a:endParaRPr>
          </a:p>
        </p:txBody>
      </p:sp>
      <p:sp>
        <p:nvSpPr>
          <p:cNvPr id="342" name="PlaceHolder 2"/>
          <p:cNvSpPr>
            <a:spLocks noGrp="1"/>
          </p:cNvSpPr>
          <p:nvPr>
            <p:ph/>
          </p:nvPr>
        </p:nvSpPr>
        <p:spPr>
          <a:xfrm>
            <a:off x="180000" y="1130040"/>
            <a:ext cx="8649000" cy="342648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Packet Tracer, you will do the following:</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Test and Restore IPv4 Connectivity</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Test and Restore IPv6 Connectivity</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endParaRPr b="0" lang="en-US" sz="1800" spc="-1" strike="noStrike">
              <a:solidFill>
                <a:srgbClr val="58585b"/>
              </a:solidFill>
              <a:latin typeface="Arial"/>
            </a:endParaRPr>
          </a:p>
        </p:txBody>
      </p:sp>
    </p:spTree>
  </p:cSld>
  <p:transition spd="slow">
    <p:wipe dir="l"/>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13.3 Module Practice and Quiz</a:t>
            </a:r>
            <a:endParaRPr b="0" lang="en-US" sz="4600" spc="-1" strike="noStrike">
              <a:solidFill>
                <a:srgbClr val="58585b"/>
              </a:solidFill>
              <a:latin typeface="Arial"/>
            </a:endParaRPr>
          </a:p>
        </p:txBody>
      </p:sp>
    </p:spTree>
  </p:cSld>
  <p:transition spd="slow">
    <p:wipe dir="l"/>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0" y="0"/>
            <a:ext cx="9143640" cy="111960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Packet Tracer – Use ICMP to Test and Correct Network Connectivity</a:t>
            </a:r>
            <a:endParaRPr b="0" lang="en-US" sz="2400" spc="-1" strike="noStrike">
              <a:solidFill>
                <a:srgbClr val="58585b"/>
              </a:solidFill>
              <a:latin typeface="Arial"/>
            </a:endParaRPr>
          </a:p>
        </p:txBody>
      </p:sp>
      <p:sp>
        <p:nvSpPr>
          <p:cNvPr id="345" name="PlaceHolder 2"/>
          <p:cNvSpPr>
            <a:spLocks noGrp="1"/>
          </p:cNvSpPr>
          <p:nvPr>
            <p:ph/>
          </p:nvPr>
        </p:nvSpPr>
        <p:spPr>
          <a:xfrm>
            <a:off x="180000" y="1119960"/>
            <a:ext cx="8649000" cy="343692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Packet Tracer, you will do the following:</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Use ICMP to locate connectivity issues.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Configure network devices to correct connectivity issues</a:t>
            </a:r>
            <a:r>
              <a:rPr b="0" lang="en-US" sz="1500" spc="-1" strike="noStrike">
                <a:solidFill>
                  <a:srgbClr val="000000"/>
                </a:solidFill>
                <a:latin typeface="Arial"/>
                <a:ea typeface="ＭＳ Ｐゴシック"/>
              </a:rPr>
              <a:t>.</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endParaRPr b="0" lang="en-US" sz="1500" spc="-1" strike="noStrike">
              <a:solidFill>
                <a:srgbClr val="58585b"/>
              </a:solidFill>
              <a:latin typeface="Arial"/>
            </a:endParaRPr>
          </a:p>
        </p:txBody>
      </p:sp>
    </p:spTree>
  </p:cSld>
  <p:transition spd="slow">
    <p:wipe dir="l"/>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0" y="0"/>
            <a:ext cx="9143640" cy="14914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Packet Tracer - Use Ping and Traceroute to Test Network Connectivity - Physical Mode</a:t>
            </a:r>
            <a:br/>
            <a:r>
              <a:rPr b="0" lang="en-US" sz="2400" spc="-1" strike="noStrike">
                <a:solidFill>
                  <a:srgbClr val="367187"/>
                </a:solidFill>
                <a:latin typeface="Arial"/>
                <a:ea typeface="ＭＳ Ｐゴシック"/>
              </a:rPr>
              <a:t>Lab – Use Ping and Traceroute to Test Network Connectivity</a:t>
            </a:r>
            <a:endParaRPr b="0" lang="en-US" sz="2400" spc="-1" strike="noStrike">
              <a:solidFill>
                <a:srgbClr val="58585b"/>
              </a:solidFill>
              <a:latin typeface="Arial"/>
            </a:endParaRPr>
          </a:p>
        </p:txBody>
      </p:sp>
      <p:sp>
        <p:nvSpPr>
          <p:cNvPr id="347" name="PlaceHolder 2"/>
          <p:cNvSpPr>
            <a:spLocks noGrp="1"/>
          </p:cNvSpPr>
          <p:nvPr>
            <p:ph/>
          </p:nvPr>
        </p:nvSpPr>
        <p:spPr>
          <a:xfrm>
            <a:off x="247320" y="1491840"/>
            <a:ext cx="8649000" cy="352224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400" spc="-1" strike="noStrike">
                <a:solidFill>
                  <a:srgbClr val="000000"/>
                </a:solidFill>
                <a:latin typeface="Arial"/>
                <a:ea typeface="ＭＳ Ｐゴシック"/>
              </a:rPr>
              <a:t>In this Packet Tracer Physical Mode activity, you will complete the following objectives:</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400" spc="-1" strike="noStrike">
                <a:solidFill>
                  <a:srgbClr val="000000"/>
                </a:solidFill>
                <a:latin typeface="Arial"/>
                <a:ea typeface="ＭＳ Ｐゴシック"/>
              </a:rPr>
              <a:t>Use Ping Command for Basic Network Testing </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400" spc="-1" strike="noStrike">
                <a:solidFill>
                  <a:srgbClr val="000000"/>
                </a:solidFill>
                <a:latin typeface="Arial"/>
                <a:ea typeface="ＭＳ Ｐゴシック"/>
              </a:rPr>
              <a:t>Use Tracert and Traceroute Commands for Basic Network Testing</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400" spc="-1" strike="noStrike">
                <a:solidFill>
                  <a:srgbClr val="000000"/>
                </a:solidFill>
                <a:latin typeface="Arial"/>
                <a:ea typeface="ＭＳ Ｐゴシック"/>
              </a:rPr>
              <a:t>Troubleshoot the Topology</a:t>
            </a:r>
            <a:endParaRPr b="0" lang="en-US" sz="1400" spc="-1" strike="noStrike">
              <a:solidFill>
                <a:srgbClr val="58585b"/>
              </a:solidFill>
              <a:latin typeface="Arial"/>
            </a:endParaRPr>
          </a:p>
          <a:p>
            <a:pPr>
              <a:lnSpc>
                <a:spcPct val="100000"/>
              </a:lnSpc>
              <a:spcBef>
                <a:spcPts val="601"/>
              </a:spcBef>
              <a:spcAft>
                <a:spcPts val="601"/>
              </a:spcAft>
              <a:buNone/>
              <a:tabLst>
                <a:tab algn="l" pos="0"/>
              </a:tabLst>
            </a:pPr>
            <a:r>
              <a:rPr b="0" lang="en-US" sz="1400" spc="-1" strike="noStrike">
                <a:solidFill>
                  <a:srgbClr val="000000"/>
                </a:solidFill>
                <a:latin typeface="Arial"/>
                <a:ea typeface="ＭＳ Ｐゴシック"/>
              </a:rPr>
              <a:t>In this Lab, you complete the following objectives: </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400" spc="-1" strike="noStrike">
                <a:solidFill>
                  <a:srgbClr val="000000"/>
                </a:solidFill>
                <a:latin typeface="Arial"/>
                <a:ea typeface="ＭＳ Ｐゴシック"/>
              </a:rPr>
              <a:t>Build and Configure the Network </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400" spc="-1" strike="noStrike">
                <a:solidFill>
                  <a:srgbClr val="000000"/>
                </a:solidFill>
                <a:latin typeface="Arial"/>
                <a:ea typeface="ＭＳ Ｐゴシック"/>
              </a:rPr>
              <a:t>Use Ping Command for Basic Network Testing </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400" spc="-1" strike="noStrike">
                <a:solidFill>
                  <a:srgbClr val="000000"/>
                </a:solidFill>
                <a:latin typeface="Arial"/>
                <a:ea typeface="ＭＳ Ｐゴシック"/>
              </a:rPr>
              <a:t>Use Tracert and Traceroute Commands for Basic Network Testing</a:t>
            </a:r>
            <a:endParaRPr b="0" lang="en-US" sz="14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400" spc="-1" strike="noStrike">
                <a:solidFill>
                  <a:srgbClr val="000000"/>
                </a:solidFill>
                <a:latin typeface="Arial"/>
                <a:ea typeface="ＭＳ Ｐゴシック"/>
              </a:rPr>
              <a:t>Troubleshoot the Topology</a:t>
            </a:r>
            <a:endParaRPr b="0" lang="en-US" sz="1400" spc="-1" strike="noStrike">
              <a:solidFill>
                <a:srgbClr val="58585b"/>
              </a:solidFill>
              <a:latin typeface="Arial"/>
            </a:endParaRPr>
          </a:p>
        </p:txBody>
      </p:sp>
    </p:spTree>
  </p:cSld>
  <p:transition spd="slow">
    <p:wipe dir="l"/>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a:t>
            </a:r>
            <a:endParaRPr b="0" lang="en-US" sz="2400" spc="-1" strike="noStrike">
              <a:solidFill>
                <a:srgbClr val="58585b"/>
              </a:solidFill>
              <a:latin typeface="Arial"/>
            </a:endParaRPr>
          </a:p>
        </p:txBody>
      </p:sp>
      <p:sp>
        <p:nvSpPr>
          <p:cNvPr id="349" name="PlaceHolder 2"/>
          <p:cNvSpPr>
            <a:spLocks noGrp="1"/>
          </p:cNvSpPr>
          <p:nvPr>
            <p:ph/>
          </p:nvPr>
        </p:nvSpPr>
        <p:spPr>
          <a:xfrm>
            <a:off x="145440" y="798840"/>
            <a:ext cx="8640720" cy="3539160"/>
          </a:xfrm>
          <a:prstGeom prst="rect">
            <a:avLst/>
          </a:prstGeom>
          <a:noFill/>
          <a:ln w="0">
            <a:noFill/>
          </a:ln>
        </p:spPr>
        <p:txBody>
          <a:bodyPr numCol="1" spcCol="0" rIns="182880" anchor="t">
            <a:noAutofit/>
          </a:bodyPr>
          <a:p>
            <a:pPr marL="169920" indent="-169920">
              <a:lnSpc>
                <a:spcPct val="85000"/>
              </a:lnSpc>
              <a:spcBef>
                <a:spcPts val="479"/>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The purpose of ICMP messages is to provide feedback about issues related to the processing of IP packets under certain conditions.</a:t>
            </a:r>
            <a:endParaRPr b="0" lang="en-US" sz="1600" spc="-1" strike="noStrike">
              <a:solidFill>
                <a:srgbClr val="58585b"/>
              </a:solidFill>
              <a:latin typeface="Arial"/>
            </a:endParaRPr>
          </a:p>
          <a:p>
            <a:pPr marL="169920" indent="-169920">
              <a:lnSpc>
                <a:spcPct val="85000"/>
              </a:lnSpc>
              <a:spcBef>
                <a:spcPts val="479"/>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The ICMP messages common to both ICMPv4 and ICMPv6 are: Host reachability, Destination or Service Unreachable, and Time exceeded. </a:t>
            </a:r>
            <a:endParaRPr b="0" lang="en-US" sz="1600" spc="-1" strike="noStrike">
              <a:solidFill>
                <a:srgbClr val="58585b"/>
              </a:solidFill>
              <a:latin typeface="Arial"/>
            </a:endParaRPr>
          </a:p>
          <a:p>
            <a:pPr marL="169920" indent="-169920">
              <a:lnSpc>
                <a:spcPct val="85000"/>
              </a:lnSpc>
              <a:spcBef>
                <a:spcPts val="479"/>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The messages between an IPv6 router and an IPv6 device including dynamic address allocation include RS and RA. The messages between IPv6 devices include the redirect (similar to IPv4), NS and NA.</a:t>
            </a:r>
            <a:endParaRPr b="0" lang="en-US" sz="1600" spc="-1" strike="noStrike">
              <a:solidFill>
                <a:srgbClr val="58585b"/>
              </a:solidFill>
              <a:latin typeface="Arial"/>
            </a:endParaRPr>
          </a:p>
          <a:p>
            <a:pPr marL="169920" indent="-169920">
              <a:lnSpc>
                <a:spcPct val="85000"/>
              </a:lnSpc>
              <a:spcBef>
                <a:spcPts val="479"/>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Ping (used by IPv4 and IPv6) uses ICMP echo request and echo reply messages to test connectivity between hosts</a:t>
            </a:r>
            <a:endParaRPr b="0" lang="en-US" sz="1600" spc="-1" strike="noStrike">
              <a:solidFill>
                <a:srgbClr val="58585b"/>
              </a:solidFill>
              <a:latin typeface="Arial"/>
            </a:endParaRPr>
          </a:p>
          <a:p>
            <a:pPr marL="169920" indent="-169920">
              <a:lnSpc>
                <a:spcPct val="85000"/>
              </a:lnSpc>
              <a:spcBef>
                <a:spcPts val="479"/>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Ping can be used to test the internal configuration of IPv4 or IPv6 on the local host. </a:t>
            </a:r>
            <a:endParaRPr b="0" lang="en-US" sz="1600" spc="-1" strike="noStrike">
              <a:solidFill>
                <a:srgbClr val="58585b"/>
              </a:solidFill>
              <a:latin typeface="Arial"/>
            </a:endParaRPr>
          </a:p>
          <a:p>
            <a:pPr marL="169920" indent="-169920">
              <a:lnSpc>
                <a:spcPct val="85000"/>
              </a:lnSpc>
              <a:spcBef>
                <a:spcPts val="479"/>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Traceroute (tracert) generates a list of hops that were successfully reached along the path.</a:t>
            </a:r>
            <a:endParaRPr b="0" lang="en-US" sz="1600" spc="-1" strike="noStrike">
              <a:solidFill>
                <a:srgbClr val="58585b"/>
              </a:solidFill>
              <a:latin typeface="Arial"/>
            </a:endParaRPr>
          </a:p>
        </p:txBody>
      </p:sp>
    </p:spTree>
  </p:cSld>
  <p:transition spd="slow">
    <p:wipe dir="l"/>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0" y="41400"/>
            <a:ext cx="9143640" cy="60876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13 : ICMP</a:t>
            </a:r>
            <a:br/>
            <a:r>
              <a:rPr b="0" lang="en-US" sz="2400" spc="-1" strike="noStrike">
                <a:solidFill>
                  <a:srgbClr val="367187"/>
                </a:solidFill>
                <a:latin typeface="Arial"/>
                <a:ea typeface="ＭＳ Ｐゴシック"/>
              </a:rPr>
              <a:t>New Terms and Commands</a:t>
            </a:r>
            <a:endParaRPr b="0" lang="en-US" sz="2400" spc="-1" strike="noStrike">
              <a:solidFill>
                <a:srgbClr val="58585b"/>
              </a:solidFill>
              <a:latin typeface="Arial"/>
            </a:endParaRPr>
          </a:p>
        </p:txBody>
      </p:sp>
      <p:sp>
        <p:nvSpPr>
          <p:cNvPr id="351"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ICMP</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ICMPv4</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ICMPv6</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ping</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traceroute</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tracert</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Network Discovery Protocol</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Router Solicitation (RS)</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Router Advertisement (RA)</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Neighbor Solicitation (NS)</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Neighbor Advertisement (NA)</a:t>
            </a:r>
            <a:endParaRPr b="0" lang="en-US" sz="1500" spc="-1" strike="noStrike">
              <a:solidFill>
                <a:srgbClr val="58585b"/>
              </a:solidFill>
              <a:latin typeface="Arial"/>
            </a:endParaRPr>
          </a:p>
          <a:p>
            <a:pPr marL="173160" indent="-173160">
              <a:lnSpc>
                <a:spcPct val="100000"/>
              </a:lnSpc>
              <a:spcBef>
                <a:spcPts val="201"/>
              </a:spcBef>
              <a:spcAft>
                <a:spcPts val="201"/>
              </a:spcAft>
              <a:buClr>
                <a:srgbClr val="58585b"/>
              </a:buClr>
              <a:buSzPct val="90000"/>
              <a:buFont typeface="Arial"/>
              <a:buChar char="•"/>
            </a:pPr>
            <a:r>
              <a:rPr b="0" lang="en-US" sz="1500" spc="-1" strike="noStrike">
                <a:solidFill>
                  <a:srgbClr val="58585b"/>
                </a:solidFill>
                <a:latin typeface="Arial"/>
                <a:ea typeface="ＭＳ Ｐゴシック"/>
              </a:rPr>
              <a:t>TTL</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endParaRPr b="0" lang="en-US" sz="1500" spc="-1" strike="noStrike">
              <a:solidFill>
                <a:srgbClr val="58585b"/>
              </a:solidFill>
              <a:latin typeface="Arial"/>
            </a:endParaRPr>
          </a:p>
        </p:txBody>
      </p:sp>
    </p:spTree>
  </p:cSld>
  <p:transition spd="slow">
    <p:wipe dir="l"/>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transition spd="slow">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10013</TotalTime>
  <Application>LibreOffice/7.2.7.2$Windows_X86_64 LibreOffice_project/8d71d29d553c0f7dcbfa38fbfda25ee34cce99a2</Application>
  <AppVersion>15.0000</AppVersion>
  <Words>3042</Words>
  <Paragraphs>367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dc:description/>
  <dc:language>en-JM</dc:language>
  <cp:lastModifiedBy/>
  <dcterms:modified xsi:type="dcterms:W3CDTF">2025-05-21T21:44:52Z</dcterms:modified>
  <cp:revision>286</cp:revision>
  <dc:subject/>
  <dc:title>Chapter 2: Basic Switch and End Device Configuration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F9A496F7-57D7-4028-9572-D40DFDF3715A</vt:lpwstr>
  </property>
  <property fmtid="{D5CDD505-2E9C-101B-9397-08002B2CF9AE}" pid="3" name="ArticulatePath">
    <vt:lpwstr>ITE7_Chp9_by_jg</vt:lpwstr>
  </property>
  <property fmtid="{D5CDD505-2E9C-101B-9397-08002B2CF9AE}" pid="4" name="HiddenSlides">
    <vt:i4>9</vt:i4>
  </property>
  <property fmtid="{D5CDD505-2E9C-101B-9397-08002B2CF9AE}" pid="5" name="Jive_LatestUserAccountName">
    <vt:lpwstr>alljohns</vt:lpwstr>
  </property>
  <property fmtid="{D5CDD505-2E9C-101B-9397-08002B2CF9AE}" pid="6" name="Jive_VersionGuid">
    <vt:lpwstr>fd96a0b3-f68d-4727-8e4f-2128d37ed30a</vt:lpwstr>
  </property>
  <property fmtid="{D5CDD505-2E9C-101B-9397-08002B2CF9AE}" pid="7" name="Notes">
    <vt:i4>34</vt:i4>
  </property>
  <property fmtid="{D5CDD505-2E9C-101B-9397-08002B2CF9AE}" pid="8" name="Offisync_ProviderInitializationData">
    <vt:lpwstr>https://cisco.jiveon.com</vt:lpwstr>
  </property>
  <property fmtid="{D5CDD505-2E9C-101B-9397-08002B2CF9AE}" pid="9" name="Offisync_ServerID">
    <vt:lpwstr>07841bbc-cd3c-4a76-827f-75a2226890f4</vt:lpwstr>
  </property>
  <property fmtid="{D5CDD505-2E9C-101B-9397-08002B2CF9AE}" pid="10" name="Offisync_UniqueId">
    <vt:lpwstr>1702406</vt:lpwstr>
  </property>
  <property fmtid="{D5CDD505-2E9C-101B-9397-08002B2CF9AE}" pid="11" name="Offisync_UpdateToken">
    <vt:lpwstr>1</vt:lpwstr>
  </property>
  <property fmtid="{D5CDD505-2E9C-101B-9397-08002B2CF9AE}" pid="12" name="PresentationFormat">
    <vt:lpwstr>On-screen Show (16:9)</vt:lpwstr>
  </property>
  <property fmtid="{D5CDD505-2E9C-101B-9397-08002B2CF9AE}" pid="13" name="Slides">
    <vt:i4>36</vt:i4>
  </property>
</Properties>
</file>