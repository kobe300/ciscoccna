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_rels/notesSlide44.xml.rels" ContentType="application/vnd.openxmlformats-package.relationships+xml"/>
  <Override PartName="/ppt/notesSlides/_rels/notesSlide1.xml.rels" ContentType="application/vnd.openxmlformats-package.relationships+xml"/>
  <Override PartName="/ppt/notesSlides/_rels/notesSlide45.xml.rels" ContentType="application/vnd.openxmlformats-package.relationships+xml"/>
  <Override PartName="/ppt/notesSlides/_rels/notesSlide2.xml.rels" ContentType="application/vnd.openxmlformats-package.relationships+xml"/>
  <Override PartName="/ppt/notesSlides/_rels/notesSlide46.xml.rels" ContentType="application/vnd.openxmlformats-package.relationships+xml"/>
  <Override PartName="/ppt/notesSlides/_rels/notesSlide3.xml.rels" ContentType="application/vnd.openxmlformats-package.relationships+xml"/>
  <Override PartName="/ppt/notesSlides/_rels/notesSlide47.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48.xml.rels" ContentType="application/vnd.openxmlformats-package.relationships+xml"/>
  <Override PartName="/ppt/notesSlides/_rels/notesSlide6.xml.rels" ContentType="application/vnd.openxmlformats-package.relationships+xml"/>
  <Override PartName="/ppt/notesSlides/_rels/notesSlide49.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39.xml.rels" ContentType="application/vnd.openxmlformats-package.relationships+xml"/>
  <Override PartName="/ppt/notesSlides/_rels/notesSlide40.xml.rels" ContentType="application/vnd.openxmlformats-package.relationships+xml"/>
  <Override PartName="/ppt/notesSlides/_rels/notesSlide41.xml.rels" ContentType="application/vnd.openxmlformats-package.relationships+xml"/>
  <Override PartName="/ppt/notesSlides/_rels/notesSlide42.xml.rels" ContentType="application/vnd.openxmlformats-package.relationships+xml"/>
  <Override PartName="/ppt/notesSlides/_rels/notesSlide43.xml.rels" ContentType="application/vnd.openxmlformats-package.relationships+xml"/>
  <Override PartName="/ppt/notesSlides/_rels/notesSlide50.xml.rels" ContentType="application/vnd.openxmlformats-package.relationships+xml"/>
  <Override PartName="/ppt/notesSlides/_rels/notesSlide51.xml.rels" ContentType="application/vnd.openxmlformats-package.relationships+xml"/>
  <Override PartName="/ppt/notesSlides/_rels/notesSlide52.xml.rels" ContentType="application/vnd.openxmlformats-package.relationship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media/image28.png" ContentType="image/png"/>
  <Override PartName="/ppt/media/image1.jpeg" ContentType="image/jpeg"/>
  <Override PartName="/ppt/media/image3.png" ContentType="image/png"/>
  <Override PartName="/ppt/media/image2.jpeg" ContentType="image/jpeg"/>
  <Override PartName="/ppt/media/image8.png" ContentType="image/png"/>
  <Override PartName="/ppt/media/image4.png" ContentType="image/png"/>
  <Override PartName="/ppt/media/image5.png" ContentType="image/png"/>
  <Override PartName="/ppt/media/image6.png" ContentType="image/png"/>
  <Override PartName="/ppt/media/image7.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9.png" ContentType="image/png"/>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37.xml" ContentType="application/vnd.openxmlformats-officedocument.presentationml.slideLayout+xml"/>
  <Override PartName="/ppt/slideLayouts/slideLayout8.xml" ContentType="application/vnd.openxmlformats-officedocument.presentationml.slideLayout+xml"/>
  <Override PartName="/ppt/slideLayouts/slideLayout38.xml" ContentType="application/vnd.openxmlformats-officedocument.presentationml.slideLayout+xml"/>
  <Override PartName="/ppt/slideLayouts/slideLayout9.xml" ContentType="application/vnd.openxmlformats-officedocument.presentationml.slideLayout+xml"/>
  <Override PartName="/ppt/slideLayouts/slideLayout3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_rels/slideLayout31.xml.rels" ContentType="application/vnd.openxmlformats-package.relationships+xml"/>
  <Override PartName="/ppt/slideLayouts/_rels/slideLayout53.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55.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56.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57.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58.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59.xml.rels" ContentType="application/vnd.openxmlformats-package.relationships+xml"/>
  <Override PartName="/ppt/slideLayouts/_rels/slideLayout38.xml.rels" ContentType="application/vnd.openxmlformats-package.relationships+xml"/>
  <Override PartName="/ppt/slideLayouts/_rels/slideLayout8.xml.rels" ContentType="application/vnd.openxmlformats-package.relationships+xml"/>
  <Override PartName="/ppt/slideLayouts/_rels/slideLayout39.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45.xml.rels" ContentType="application/vnd.openxmlformats-package.relationships+xml"/>
  <Override PartName="/ppt/slideLayouts/_rels/slideLayout46.xml.rels" ContentType="application/vnd.openxmlformats-package.relationships+xml"/>
  <Override PartName="/ppt/slideLayouts/_rels/slideLayout47.xml.rels" ContentType="application/vnd.openxmlformats-package.relationships+xml"/>
  <Override PartName="/ppt/slideLayouts/_rels/slideLayout48.xml.rels" ContentType="application/vnd.openxmlformats-package.relationships+xml"/>
  <Override PartName="/ppt/slideLayouts/_rels/slideLayout49.xml.rels" ContentType="application/vnd.openxmlformats-package.relationships+xml"/>
  <Override PartName="/ppt/slideLayouts/_rels/slideLayout50.xml.rels" ContentType="application/vnd.openxmlformats-package.relationships+xml"/>
  <Override PartName="/ppt/slideLayouts/_rels/slideLayout51.xml.rels" ContentType="application/vnd.openxmlformats-package.relationships+xml"/>
  <Override PartName="/ppt/slideLayouts/_rels/slideLayout52.xml.rels" ContentType="application/vnd.openxmlformats-package.relationships+xml"/>
  <Override PartName="/ppt/slideLayouts/_rels/slideLayout60.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3200" spc="-1" strike="noStrike">
                <a:solidFill>
                  <a:srgbClr val="58585b"/>
                </a:solidFill>
                <a:latin typeface="Arial"/>
              </a:rPr>
              <a:t>Click to move the slide</a:t>
            </a:r>
            <a:endParaRPr b="0" lang="en-US" sz="3200" spc="-1" strike="noStrike">
              <a:solidFill>
                <a:srgbClr val="58585b"/>
              </a:solidFill>
              <a:latin typeface="Arial"/>
            </a:endParaRPr>
          </a:p>
        </p:txBody>
      </p:sp>
      <p:sp>
        <p:nvSpPr>
          <p:cNvPr id="32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JM" sz="2000" spc="-1" strike="noStrike">
                <a:latin typeface="Arial"/>
              </a:rPr>
              <a:t>Click to edit the notes format</a:t>
            </a:r>
            <a:endParaRPr b="0" lang="en-JM" sz="2000" spc="-1" strike="noStrike">
              <a:latin typeface="Arial"/>
            </a:endParaRPr>
          </a:p>
        </p:txBody>
      </p:sp>
      <p:sp>
        <p:nvSpPr>
          <p:cNvPr id="33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JM" sz="1400" spc="-1" strike="noStrike">
                <a:latin typeface="Times New Roman"/>
              </a:rPr>
              <a:t>&lt;header&gt;</a:t>
            </a:r>
            <a:endParaRPr b="0" lang="en-JM" sz="1400" spc="-1" strike="noStrike">
              <a:latin typeface="Times New Roman"/>
            </a:endParaRPr>
          </a:p>
        </p:txBody>
      </p:sp>
      <p:sp>
        <p:nvSpPr>
          <p:cNvPr id="331" name="PlaceHolder 4"/>
          <p:cNvSpPr>
            <a:spLocks noGrp="1"/>
          </p:cNvSpPr>
          <p:nvPr>
            <p:ph type="dt"/>
          </p:nvPr>
        </p:nvSpPr>
        <p:spPr>
          <a:xfrm>
            <a:off x="4278960" y="0"/>
            <a:ext cx="3280680" cy="534240"/>
          </a:xfrm>
          <a:prstGeom prst="rect">
            <a:avLst/>
          </a:prstGeom>
          <a:noFill/>
          <a:ln w="0">
            <a:noFill/>
          </a:ln>
        </p:spPr>
        <p:txBody>
          <a:bodyPr lIns="0" rIns="0" tIns="0" bIns="0" anchor="t">
            <a:noAutofit/>
          </a:bodyPr>
          <a:p>
            <a:pPr algn="r">
              <a:buNone/>
            </a:pPr>
            <a:r>
              <a:rPr b="0" lang="en-JM" sz="1400" spc="-1" strike="noStrike">
                <a:latin typeface="Times New Roman"/>
              </a:rPr>
              <a:t>&lt;date/time&gt;</a:t>
            </a:r>
            <a:endParaRPr b="0" lang="en-JM" sz="1400" spc="-1" strike="noStrike">
              <a:latin typeface="Times New Roman"/>
            </a:endParaRPr>
          </a:p>
        </p:txBody>
      </p:sp>
      <p:sp>
        <p:nvSpPr>
          <p:cNvPr id="332" name="PlaceHolder 5"/>
          <p:cNvSpPr>
            <a:spLocks noGrp="1"/>
          </p:cNvSpPr>
          <p:nvPr>
            <p:ph type="ftr"/>
          </p:nvPr>
        </p:nvSpPr>
        <p:spPr>
          <a:xfrm>
            <a:off x="0" y="10157400"/>
            <a:ext cx="3280680" cy="534240"/>
          </a:xfrm>
          <a:prstGeom prst="rect">
            <a:avLst/>
          </a:prstGeom>
          <a:noFill/>
          <a:ln w="0">
            <a:noFill/>
          </a:ln>
        </p:spPr>
        <p:txBody>
          <a:bodyPr lIns="0" rIns="0" tIns="0" bIns="0" anchor="b">
            <a:noAutofit/>
          </a:bodyPr>
          <a:p>
            <a:r>
              <a:rPr b="0" lang="en-JM" sz="1400" spc="-1" strike="noStrike">
                <a:latin typeface="Times New Roman"/>
              </a:rPr>
              <a:t>&lt;footer&gt;</a:t>
            </a:r>
            <a:endParaRPr b="0" lang="en-JM" sz="1400" spc="-1" strike="noStrike">
              <a:latin typeface="Times New Roman"/>
            </a:endParaRPr>
          </a:p>
        </p:txBody>
      </p:sp>
      <p:sp>
        <p:nvSpPr>
          <p:cNvPr id="333" name="PlaceHolder 6"/>
          <p:cNvSpPr>
            <a:spLocks noGrp="1"/>
          </p:cNvSpPr>
          <p:nvPr>
            <p:ph type="sldNum"/>
          </p:nvPr>
        </p:nvSpPr>
        <p:spPr>
          <a:xfrm>
            <a:off x="4278960" y="10157400"/>
            <a:ext cx="3280680" cy="534240"/>
          </a:xfrm>
          <a:prstGeom prst="rect">
            <a:avLst/>
          </a:prstGeom>
          <a:noFill/>
          <a:ln w="0">
            <a:noFill/>
          </a:ln>
        </p:spPr>
        <p:txBody>
          <a:bodyPr lIns="0" rIns="0" tIns="0" bIns="0" anchor="b">
            <a:noAutofit/>
          </a:bodyPr>
          <a:p>
            <a:pPr algn="r">
              <a:buNone/>
            </a:pPr>
            <a:fld id="{A2054F32-BD04-45AC-8651-E6F91F01E1A7}" type="slidenum">
              <a:rPr b="0" lang="en-JM" sz="1400" spc="-1" strike="noStrike">
                <a:latin typeface="Times New Roman"/>
              </a:rPr>
              <a:t>&lt;number&gt;</a:t>
            </a:fld>
            <a:endParaRPr b="0" lang="en-JM"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sldImg"/>
          </p:nvPr>
        </p:nvSpPr>
        <p:spPr>
          <a:xfrm>
            <a:off x="380880" y="685800"/>
            <a:ext cx="6095520" cy="3428640"/>
          </a:xfrm>
          <a:prstGeom prst="rect">
            <a:avLst/>
          </a:prstGeom>
          <a:ln w="0">
            <a:noFill/>
          </a:ln>
        </p:spPr>
      </p:sp>
      <p:sp>
        <p:nvSpPr>
          <p:cNvPr id="461"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
        <p:nvSpPr>
          <p:cNvPr id="46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87DAA51-14F3-4C50-8E94-7B9A840F2CF3}"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Rectangle 11"/>
          <p:cNvSpPr/>
          <p:nvPr/>
        </p:nvSpPr>
        <p:spPr>
          <a:xfrm>
            <a:off x="5929200" y="8680320"/>
            <a:ext cx="812520" cy="286920"/>
          </a:xfrm>
          <a:prstGeom prst="rect">
            <a:avLst/>
          </a:prstGeom>
          <a:noFill/>
          <a:ln w="0">
            <a:noFill/>
          </a:ln>
        </p:spPr>
        <p:style>
          <a:lnRef idx="0"/>
          <a:fillRef idx="0"/>
          <a:effectRef idx="0"/>
          <a:fontRef idx="minor"/>
        </p:style>
        <p:txBody>
          <a:bodyPr lIns="18720" rIns="18720" tIns="0" bIns="0" anchor="b">
            <a:noAutofit/>
          </a:bodyPr>
          <a:p>
            <a:pPr algn="r">
              <a:lnSpc>
                <a:spcPct val="100000"/>
              </a:lnSpc>
              <a:buNone/>
            </a:pPr>
            <a:fld id="{C8B1D9C3-AFE4-4724-A734-00E2D03BA0C7}" type="slidenum">
              <a:rPr b="0" lang="en-US" sz="800" spc="-1" strike="noStrike">
                <a:solidFill>
                  <a:srgbClr val="000000"/>
                </a:solidFill>
                <a:latin typeface="Arial"/>
                <a:ea typeface="ＭＳ Ｐゴシック"/>
              </a:rPr>
              <a:t>&lt;number&gt;</a:t>
            </a:fld>
            <a:endParaRPr b="0" lang="en-JM" sz="800" spc="-1" strike="noStrike">
              <a:latin typeface="Arial"/>
            </a:endParaRPr>
          </a:p>
        </p:txBody>
      </p:sp>
      <p:sp>
        <p:nvSpPr>
          <p:cNvPr id="464" name="PlaceHolder 1"/>
          <p:cNvSpPr>
            <a:spLocks noGrp="1"/>
          </p:cNvSpPr>
          <p:nvPr>
            <p:ph type="sldImg"/>
          </p:nvPr>
        </p:nvSpPr>
        <p:spPr>
          <a:xfrm>
            <a:off x="380880" y="685800"/>
            <a:ext cx="6095520" cy="3428640"/>
          </a:xfrm>
          <a:prstGeom prst="rect">
            <a:avLst/>
          </a:prstGeom>
          <a:ln w="0">
            <a:noFill/>
          </a:ln>
        </p:spPr>
      </p:sp>
      <p:sp>
        <p:nvSpPr>
          <p:cNvPr id="46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14- Transport Layer</a:t>
            </a:r>
            <a:endParaRPr b="0" lang="en-JM" sz="2000" spc="-1" strike="noStrike">
              <a:latin typeface="Arial"/>
            </a:endParaRPr>
          </a:p>
          <a:p>
            <a:pPr marL="216000" indent="-216000">
              <a:lnSpc>
                <a:spcPct val="100000"/>
              </a:lnSpc>
              <a:buNone/>
            </a:pPr>
            <a:r>
              <a:rPr b="0" lang="en-GB" sz="2000" spc="-1" strike="noStrike">
                <a:latin typeface="Arial"/>
              </a:rPr>
              <a:t>14.0.2 – What will I learn to do in this module?</a:t>
            </a:r>
            <a:endParaRPr b="0" lang="en-JM" sz="2000" spc="-1" strike="noStrike">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sldImg"/>
          </p:nvPr>
        </p:nvSpPr>
        <p:spPr>
          <a:xfrm>
            <a:off x="380880" y="685800"/>
            <a:ext cx="6095520" cy="3428640"/>
          </a:xfrm>
          <a:prstGeom prst="rect">
            <a:avLst/>
          </a:prstGeom>
          <a:ln w="0">
            <a:noFill/>
          </a:ln>
        </p:spPr>
      </p:sp>
      <p:sp>
        <p:nvSpPr>
          <p:cNvPr id="46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–Transport Layer</a:t>
            </a:r>
            <a:endParaRPr b="0" lang="en-JM" sz="2000" spc="-1" strike="noStrike">
              <a:latin typeface="Arial"/>
            </a:endParaRPr>
          </a:p>
          <a:p>
            <a:pPr marL="216000" indent="-216000">
              <a:lnSpc>
                <a:spcPct val="100000"/>
              </a:lnSpc>
              <a:buNone/>
            </a:pPr>
            <a:r>
              <a:rPr b="0" lang="en-US" sz="2000" spc="-1" strike="noStrike">
                <a:latin typeface="Arial"/>
              </a:rPr>
              <a:t>14.1 - Transportation of Data</a:t>
            </a:r>
            <a:endParaRPr b="0" lang="en-JM" sz="2000" spc="-1" strike="noStrike">
              <a:latin typeface="Arial"/>
            </a:endParaRPr>
          </a:p>
        </p:txBody>
      </p:sp>
      <p:sp>
        <p:nvSpPr>
          <p:cNvPr id="46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C5C74EB-C0B0-4775-A638-A6425E82E2E2}"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sldImg"/>
          </p:nvPr>
        </p:nvSpPr>
        <p:spPr>
          <a:xfrm>
            <a:off x="380880" y="685800"/>
            <a:ext cx="6095520" cy="3428640"/>
          </a:xfrm>
          <a:prstGeom prst="rect">
            <a:avLst/>
          </a:prstGeom>
          <a:ln w="0">
            <a:noFill/>
          </a:ln>
        </p:spPr>
      </p:sp>
      <p:sp>
        <p:nvSpPr>
          <p:cNvPr id="47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–Transport Layer</a:t>
            </a:r>
            <a:endParaRPr b="0" lang="en-JM" sz="2000" spc="-1" strike="noStrike">
              <a:latin typeface="Arial"/>
            </a:endParaRPr>
          </a:p>
          <a:p>
            <a:pPr marL="216000" indent="-216000">
              <a:lnSpc>
                <a:spcPct val="100000"/>
              </a:lnSpc>
              <a:buNone/>
            </a:pPr>
            <a:r>
              <a:rPr b="0" lang="en-US" sz="2000" spc="-1" strike="noStrike">
                <a:latin typeface="Arial"/>
              </a:rPr>
              <a:t>14.1 - Transportation of Data</a:t>
            </a:r>
            <a:endParaRPr b="0" lang="en-JM" sz="2000" spc="-1" strike="noStrike">
              <a:latin typeface="Arial"/>
            </a:endParaRPr>
          </a:p>
          <a:p>
            <a:pPr marL="216000" indent="-216000">
              <a:lnSpc>
                <a:spcPct val="100000"/>
              </a:lnSpc>
              <a:buNone/>
            </a:pPr>
            <a:r>
              <a:rPr b="0" lang="en-US" sz="2000" spc="-1" strike="noStrike">
                <a:latin typeface="Arial"/>
              </a:rPr>
              <a:t>14.1.1 – Role of the Transport Layer</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7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142DF77-B300-4005-9700-B9DB05B3973E}"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380880" y="685800"/>
            <a:ext cx="6095520" cy="3428640"/>
          </a:xfrm>
          <a:prstGeom prst="rect">
            <a:avLst/>
          </a:prstGeom>
          <a:ln w="0">
            <a:noFill/>
          </a:ln>
        </p:spPr>
      </p:sp>
      <p:sp>
        <p:nvSpPr>
          <p:cNvPr id="47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–Transport Layer</a:t>
            </a:r>
            <a:endParaRPr b="0" lang="en-JM" sz="2000" spc="-1" strike="noStrike">
              <a:latin typeface="Arial"/>
            </a:endParaRPr>
          </a:p>
          <a:p>
            <a:pPr marL="216000" indent="-216000">
              <a:lnSpc>
                <a:spcPct val="100000"/>
              </a:lnSpc>
              <a:buNone/>
            </a:pPr>
            <a:r>
              <a:rPr b="0" lang="en-US" sz="2000" spc="-1" strike="noStrike">
                <a:latin typeface="Arial"/>
              </a:rPr>
              <a:t>14.1 - Transportation of Data</a:t>
            </a:r>
            <a:endParaRPr b="0" lang="en-JM" sz="2000" spc="-1" strike="noStrike">
              <a:latin typeface="Arial"/>
            </a:endParaRPr>
          </a:p>
          <a:p>
            <a:pPr marL="216000" indent="-216000">
              <a:lnSpc>
                <a:spcPct val="100000"/>
              </a:lnSpc>
              <a:buNone/>
            </a:pPr>
            <a:r>
              <a:rPr b="0" lang="en-US" sz="2000" spc="-1" strike="noStrike">
                <a:latin typeface="Arial"/>
              </a:rPr>
              <a:t>14.1.2 – Transport Layer Responsibilities</a:t>
            </a:r>
            <a:endParaRPr b="0" lang="en-JM" sz="2000" spc="-1" strike="noStrike">
              <a:latin typeface="Arial"/>
            </a:endParaRPr>
          </a:p>
        </p:txBody>
      </p:sp>
      <p:sp>
        <p:nvSpPr>
          <p:cNvPr id="47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62D38EA-F7DB-4AA6-ADBF-5E91920F9BF3}"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–Transport Layer</a:t>
            </a:r>
            <a:endParaRPr b="0" lang="en-JM" sz="2000" spc="-1" strike="noStrike">
              <a:latin typeface="Arial"/>
            </a:endParaRPr>
          </a:p>
          <a:p>
            <a:pPr marL="216000" indent="-216000">
              <a:lnSpc>
                <a:spcPct val="100000"/>
              </a:lnSpc>
              <a:buNone/>
            </a:pPr>
            <a:r>
              <a:rPr b="0" lang="en-US" sz="2000" spc="-1" strike="noStrike">
                <a:latin typeface="Arial"/>
              </a:rPr>
              <a:t>14.1 - Transportation of Data</a:t>
            </a:r>
            <a:endParaRPr b="0" lang="en-JM" sz="2000" spc="-1" strike="noStrike">
              <a:latin typeface="Arial"/>
            </a:endParaRPr>
          </a:p>
          <a:p>
            <a:pPr marL="216000" indent="-216000">
              <a:lnSpc>
                <a:spcPct val="100000"/>
              </a:lnSpc>
              <a:buNone/>
            </a:pPr>
            <a:r>
              <a:rPr b="0" lang="en-US" sz="2000" spc="-1" strike="noStrike">
                <a:latin typeface="Arial"/>
              </a:rPr>
              <a:t>14.1.3 – Transport Layer Protocols</a:t>
            </a:r>
            <a:endParaRPr b="0" lang="en-JM" sz="2000" spc="-1" strike="noStrike">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–Transport Layer</a:t>
            </a:r>
            <a:endParaRPr b="0" lang="en-JM" sz="2000" spc="-1" strike="noStrike">
              <a:latin typeface="Arial"/>
            </a:endParaRPr>
          </a:p>
          <a:p>
            <a:pPr marL="216000" indent="-216000">
              <a:lnSpc>
                <a:spcPct val="100000"/>
              </a:lnSpc>
              <a:buNone/>
            </a:pPr>
            <a:r>
              <a:rPr b="0" lang="en-US" sz="2000" spc="-1" strike="noStrike">
                <a:latin typeface="Arial"/>
              </a:rPr>
              <a:t>14.1 - Transportation of Data</a:t>
            </a:r>
            <a:endParaRPr b="0" lang="en-JM" sz="2000" spc="-1" strike="noStrike">
              <a:latin typeface="Arial"/>
            </a:endParaRPr>
          </a:p>
          <a:p>
            <a:pPr marL="216000" indent="-216000">
              <a:lnSpc>
                <a:spcPct val="100000"/>
              </a:lnSpc>
              <a:buNone/>
            </a:pPr>
            <a:r>
              <a:rPr b="0" lang="en-US" sz="2000" spc="-1" strike="noStrike">
                <a:latin typeface="Arial"/>
              </a:rPr>
              <a:t>14.1.4 – Transmission Control Protocol (TCP)</a:t>
            </a:r>
            <a:endParaRPr b="0" lang="en-JM" sz="2000" spc="-1" strike="noStrike">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PlaceHolder 1"/>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–Transport Layer</a:t>
            </a:r>
            <a:endParaRPr b="0" lang="en-JM" sz="2000" spc="-1" strike="noStrike">
              <a:latin typeface="Arial"/>
            </a:endParaRPr>
          </a:p>
          <a:p>
            <a:pPr marL="216000" indent="-216000">
              <a:lnSpc>
                <a:spcPct val="100000"/>
              </a:lnSpc>
              <a:buNone/>
            </a:pPr>
            <a:r>
              <a:rPr b="0" lang="en-US" sz="2000" spc="-1" strike="noStrike">
                <a:latin typeface="Arial"/>
              </a:rPr>
              <a:t>14.1 - Transportation of Data</a:t>
            </a:r>
            <a:endParaRPr b="0" lang="en-JM" sz="2000" spc="-1" strike="noStrike">
              <a:latin typeface="Arial"/>
            </a:endParaRPr>
          </a:p>
          <a:p>
            <a:pPr marL="216000" indent="-216000">
              <a:lnSpc>
                <a:spcPct val="100000"/>
              </a:lnSpc>
              <a:buNone/>
            </a:pPr>
            <a:r>
              <a:rPr b="0" lang="en-US" sz="2000" spc="-1" strike="noStrike">
                <a:latin typeface="Arial"/>
              </a:rPr>
              <a:t>14.1.5 – User Datagram Protocol (UDP)</a:t>
            </a:r>
            <a:endParaRPr b="0" lang="en-JM" sz="2000" spc="-1" strike="noStrike">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–Transport Layer</a:t>
            </a:r>
            <a:endParaRPr b="0" lang="en-JM" sz="2000" spc="-1" strike="noStrike">
              <a:latin typeface="Arial"/>
            </a:endParaRPr>
          </a:p>
          <a:p>
            <a:pPr marL="216000" indent="-216000">
              <a:lnSpc>
                <a:spcPct val="100000"/>
              </a:lnSpc>
              <a:buNone/>
            </a:pPr>
            <a:r>
              <a:rPr b="0" lang="en-US" sz="2000" spc="-1" strike="noStrike">
                <a:latin typeface="Arial"/>
              </a:rPr>
              <a:t>14.1 - Transportation of Data</a:t>
            </a:r>
            <a:endParaRPr b="0" lang="en-JM" sz="2000" spc="-1" strike="noStrike">
              <a:latin typeface="Arial"/>
            </a:endParaRPr>
          </a:p>
          <a:p>
            <a:pPr marL="216000" indent="-216000">
              <a:lnSpc>
                <a:spcPct val="100000"/>
              </a:lnSpc>
              <a:buNone/>
            </a:pPr>
            <a:r>
              <a:rPr b="0" lang="en-US" sz="2000" spc="-1" strike="noStrike">
                <a:latin typeface="Arial"/>
              </a:rPr>
              <a:t>14.1.6 – The Right Transport Layer Protocol for the Right Application</a:t>
            </a:r>
            <a:endParaRPr b="0" lang="en-JM" sz="2000" spc="-1" strike="noStrike">
              <a:latin typeface="Arial"/>
            </a:endParaRPr>
          </a:p>
          <a:p>
            <a:pPr marL="216000" indent="-216000">
              <a:lnSpc>
                <a:spcPct val="100000"/>
              </a:lnSpc>
              <a:buNone/>
            </a:pPr>
            <a:r>
              <a:rPr b="0" lang="en-US" sz="2000" spc="-1" strike="noStrike">
                <a:latin typeface="Arial"/>
              </a:rPr>
              <a:t>14.1.7 – Check your Understanding- Transportation of Data</a:t>
            </a:r>
            <a:endParaRPr b="0" lang="en-JM" sz="2000" spc="-1" strike="noStrike">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sldImg"/>
          </p:nvPr>
        </p:nvSpPr>
        <p:spPr>
          <a:xfrm>
            <a:off x="380880" y="685800"/>
            <a:ext cx="6095520" cy="3428640"/>
          </a:xfrm>
          <a:prstGeom prst="rect">
            <a:avLst/>
          </a:prstGeom>
          <a:ln w="0">
            <a:noFill/>
          </a:ln>
        </p:spPr>
      </p:sp>
      <p:sp>
        <p:nvSpPr>
          <p:cNvPr id="48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14.2 – TCP Overview</a:t>
            </a:r>
            <a:endParaRPr b="0" lang="en-JM" sz="2000" spc="-1" strike="noStrike">
              <a:latin typeface="Arial"/>
            </a:endParaRPr>
          </a:p>
        </p:txBody>
      </p:sp>
      <p:sp>
        <p:nvSpPr>
          <p:cNvPr id="48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8FE65E1-76E2-48F0-8091-E79B9D9D470F}"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sldImg"/>
          </p:nvPr>
        </p:nvSpPr>
        <p:spPr>
          <a:xfrm>
            <a:off x="380880" y="685800"/>
            <a:ext cx="6095520" cy="3428640"/>
          </a:xfrm>
          <a:prstGeom prst="rect">
            <a:avLst/>
          </a:prstGeom>
          <a:ln w="0">
            <a:noFill/>
          </a:ln>
        </p:spPr>
      </p:sp>
      <p:sp>
        <p:nvSpPr>
          <p:cNvPr id="48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14.2 – TCP Overview</a:t>
            </a:r>
            <a:endParaRPr b="0" lang="en-JM" sz="2000" spc="-1" strike="noStrike">
              <a:latin typeface="Arial"/>
            </a:endParaRPr>
          </a:p>
          <a:p>
            <a:pPr marL="216000" indent="-216000">
              <a:lnSpc>
                <a:spcPct val="100000"/>
              </a:lnSpc>
              <a:buNone/>
            </a:pPr>
            <a:r>
              <a:rPr b="0" lang="en-US" sz="2000" spc="-1" strike="noStrike">
                <a:latin typeface="Arial"/>
              </a:rPr>
              <a:t>14.2.1 – TCP Features</a:t>
            </a:r>
            <a:endParaRPr b="0" lang="en-JM" sz="2000" spc="-1" strike="noStrike">
              <a:latin typeface="Arial"/>
            </a:endParaRPr>
          </a:p>
        </p:txBody>
      </p:sp>
      <p:sp>
        <p:nvSpPr>
          <p:cNvPr id="48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4166F0E9-E1FB-40F0-BD2C-16898B328C2A}"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Img"/>
          </p:nvPr>
        </p:nvSpPr>
        <p:spPr>
          <a:xfrm>
            <a:off x="380880" y="685800"/>
            <a:ext cx="6095520" cy="3428640"/>
          </a:xfrm>
          <a:prstGeom prst="rect">
            <a:avLst/>
          </a:prstGeom>
          <a:ln w="0">
            <a:noFill/>
          </a:ln>
        </p:spPr>
      </p:sp>
      <p:sp>
        <p:nvSpPr>
          <p:cNvPr id="48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14.2 – TCP Overview</a:t>
            </a:r>
            <a:endParaRPr b="0" lang="en-JM" sz="2000" spc="-1" strike="noStrike">
              <a:latin typeface="Arial"/>
            </a:endParaRPr>
          </a:p>
          <a:p>
            <a:pPr marL="216000" indent="-216000">
              <a:lnSpc>
                <a:spcPct val="100000"/>
              </a:lnSpc>
              <a:buNone/>
            </a:pPr>
            <a:r>
              <a:rPr b="0" lang="en-US" sz="2000" spc="-1" strike="noStrike">
                <a:latin typeface="Arial"/>
              </a:rPr>
              <a:t>14.2.2 – TCP Header</a:t>
            </a:r>
            <a:endParaRPr b="0" lang="en-JM" sz="2000" spc="-1" strike="noStrike">
              <a:latin typeface="Arial"/>
            </a:endParaRPr>
          </a:p>
        </p:txBody>
      </p:sp>
      <p:sp>
        <p:nvSpPr>
          <p:cNvPr id="48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95C8F00-71D3-4A8F-8479-F952EDFFB68D}"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Img"/>
          </p:nvPr>
        </p:nvSpPr>
        <p:spPr>
          <a:xfrm>
            <a:off x="380880" y="685800"/>
            <a:ext cx="6095520" cy="3428640"/>
          </a:xfrm>
          <a:prstGeom prst="rect">
            <a:avLst/>
          </a:prstGeom>
          <a:ln w="0">
            <a:noFill/>
          </a:ln>
        </p:spPr>
      </p:sp>
      <p:sp>
        <p:nvSpPr>
          <p:cNvPr id="48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14.2 – TCP Overview</a:t>
            </a:r>
            <a:endParaRPr b="0" lang="en-JM" sz="2000" spc="-1" strike="noStrike">
              <a:latin typeface="Arial"/>
            </a:endParaRPr>
          </a:p>
          <a:p>
            <a:pPr marL="216000" indent="-216000">
              <a:lnSpc>
                <a:spcPct val="100000"/>
              </a:lnSpc>
              <a:buNone/>
            </a:pPr>
            <a:r>
              <a:rPr b="0" lang="en-US" sz="2000" spc="-1" strike="noStrike">
                <a:latin typeface="Arial"/>
              </a:rPr>
              <a:t>14.2.3 – TCP Header</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9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BF8BB11-ED0D-4B25-A265-69B07DE6EA23}"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sldImg"/>
          </p:nvPr>
        </p:nvSpPr>
        <p:spPr>
          <a:xfrm>
            <a:off x="380880" y="685800"/>
            <a:ext cx="6095520" cy="3428640"/>
          </a:xfrm>
          <a:prstGeom prst="rect">
            <a:avLst/>
          </a:prstGeom>
          <a:ln w="0">
            <a:noFill/>
          </a:ln>
        </p:spPr>
      </p:sp>
      <p:sp>
        <p:nvSpPr>
          <p:cNvPr id="49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14.2 – TCP Overview</a:t>
            </a:r>
            <a:endParaRPr b="0" lang="en-JM" sz="2000" spc="-1" strike="noStrike">
              <a:latin typeface="Arial"/>
            </a:endParaRPr>
          </a:p>
          <a:p>
            <a:pPr marL="216000" indent="-216000">
              <a:lnSpc>
                <a:spcPct val="100000"/>
              </a:lnSpc>
              <a:buNone/>
            </a:pPr>
            <a:r>
              <a:rPr b="0" lang="en-US" sz="2000" spc="-1" strike="noStrike">
                <a:latin typeface="Arial"/>
              </a:rPr>
              <a:t>14.2.4 – Applications that use TCP</a:t>
            </a:r>
            <a:endParaRPr b="0" lang="en-JM" sz="2000" spc="-1" strike="noStrike">
              <a:latin typeface="Arial"/>
            </a:endParaRPr>
          </a:p>
          <a:p>
            <a:pPr marL="216000" indent="-216000">
              <a:lnSpc>
                <a:spcPct val="100000"/>
              </a:lnSpc>
              <a:buNone/>
            </a:pPr>
            <a:r>
              <a:rPr b="0" lang="en-US" sz="2000" spc="-1" strike="noStrike">
                <a:latin typeface="Arial"/>
              </a:rPr>
              <a:t>14.2.5 Check your Understanding – TCP Overview</a:t>
            </a:r>
            <a:endParaRPr b="0" lang="en-JM" sz="2000" spc="-1" strike="noStrike">
              <a:latin typeface="Arial"/>
            </a:endParaRPr>
          </a:p>
        </p:txBody>
      </p:sp>
      <p:sp>
        <p:nvSpPr>
          <p:cNvPr id="49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3031420-224F-4CFD-94D7-F181BA76FBCF}"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ldImg"/>
          </p:nvPr>
        </p:nvSpPr>
        <p:spPr>
          <a:xfrm>
            <a:off x="380880" y="685800"/>
            <a:ext cx="6095520" cy="3428640"/>
          </a:xfrm>
          <a:prstGeom prst="rect">
            <a:avLst/>
          </a:prstGeom>
          <a:ln w="0">
            <a:noFill/>
          </a:ln>
        </p:spPr>
      </p:sp>
      <p:sp>
        <p:nvSpPr>
          <p:cNvPr id="49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14.3 – UDP Overview</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9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3A08082B-DBDE-4668-8233-8381E672DEFD}"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Img"/>
          </p:nvPr>
        </p:nvSpPr>
        <p:spPr>
          <a:xfrm>
            <a:off x="380880" y="685800"/>
            <a:ext cx="6095520" cy="3428640"/>
          </a:xfrm>
          <a:prstGeom prst="rect">
            <a:avLst/>
          </a:prstGeom>
          <a:ln w="0">
            <a:noFill/>
          </a:ln>
        </p:spPr>
      </p:sp>
      <p:sp>
        <p:nvSpPr>
          <p:cNvPr id="49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14.3 – UDP Overview</a:t>
            </a:r>
            <a:endParaRPr b="0" lang="en-JM" sz="2000" spc="-1" strike="noStrike">
              <a:latin typeface="Arial"/>
            </a:endParaRPr>
          </a:p>
          <a:p>
            <a:pPr marL="216000" indent="-216000">
              <a:lnSpc>
                <a:spcPct val="100000"/>
              </a:lnSpc>
              <a:buNone/>
            </a:pPr>
            <a:r>
              <a:rPr b="0" lang="en-US" sz="2000" spc="-1" strike="noStrike">
                <a:latin typeface="Arial"/>
              </a:rPr>
              <a:t>14.3.1 – UDP Features</a:t>
            </a:r>
            <a:endParaRPr b="0" lang="en-JM" sz="2000" spc="-1" strike="noStrike">
              <a:latin typeface="Arial"/>
            </a:endParaRPr>
          </a:p>
        </p:txBody>
      </p:sp>
      <p:sp>
        <p:nvSpPr>
          <p:cNvPr id="49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1F7B68B-AE1E-4102-9BEC-90E5F066597F}"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ldImg"/>
          </p:nvPr>
        </p:nvSpPr>
        <p:spPr>
          <a:xfrm>
            <a:off x="380880" y="685800"/>
            <a:ext cx="6095520" cy="3428640"/>
          </a:xfrm>
          <a:prstGeom prst="rect">
            <a:avLst/>
          </a:prstGeom>
          <a:ln w="0">
            <a:noFill/>
          </a:ln>
        </p:spPr>
      </p:sp>
      <p:sp>
        <p:nvSpPr>
          <p:cNvPr id="50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14.3 – UDP Overview</a:t>
            </a:r>
            <a:endParaRPr b="0" lang="en-JM" sz="2000" spc="-1" strike="noStrike">
              <a:latin typeface="Arial"/>
            </a:endParaRPr>
          </a:p>
          <a:p>
            <a:pPr marL="216000" indent="-216000">
              <a:lnSpc>
                <a:spcPct val="100000"/>
              </a:lnSpc>
              <a:buNone/>
            </a:pPr>
            <a:r>
              <a:rPr b="0" lang="en-US" sz="2000" spc="-1" strike="noStrike">
                <a:latin typeface="Arial"/>
              </a:rPr>
              <a:t>14.3.2 – UDP Header</a:t>
            </a:r>
            <a:endParaRPr b="0" lang="en-JM" sz="2000" spc="-1" strike="noStrike">
              <a:latin typeface="Arial"/>
            </a:endParaRPr>
          </a:p>
        </p:txBody>
      </p:sp>
      <p:sp>
        <p:nvSpPr>
          <p:cNvPr id="50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36746D2-AC5C-4886-B715-56B1D8B73B68}"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sldImg"/>
          </p:nvPr>
        </p:nvSpPr>
        <p:spPr>
          <a:xfrm>
            <a:off x="380880" y="685800"/>
            <a:ext cx="6095520" cy="3428640"/>
          </a:xfrm>
          <a:prstGeom prst="rect">
            <a:avLst/>
          </a:prstGeom>
          <a:ln w="0">
            <a:noFill/>
          </a:ln>
        </p:spPr>
      </p:sp>
      <p:sp>
        <p:nvSpPr>
          <p:cNvPr id="50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14.3 – UDP Overview</a:t>
            </a:r>
            <a:endParaRPr b="0" lang="en-JM" sz="2000" spc="-1" strike="noStrike">
              <a:latin typeface="Arial"/>
            </a:endParaRPr>
          </a:p>
          <a:p>
            <a:pPr marL="216000" indent="-216000">
              <a:lnSpc>
                <a:spcPct val="100000"/>
              </a:lnSpc>
              <a:buNone/>
            </a:pPr>
            <a:r>
              <a:rPr b="0" lang="en-US" sz="2000" spc="-1" strike="noStrike">
                <a:latin typeface="Arial"/>
              </a:rPr>
              <a:t>14.3.3 - UDP Header Fields</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50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2A0125B-0128-48D9-863D-2A3AD7233F9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sldImg"/>
          </p:nvPr>
        </p:nvSpPr>
        <p:spPr>
          <a:xfrm>
            <a:off x="380880" y="685800"/>
            <a:ext cx="6095520" cy="3428640"/>
          </a:xfrm>
          <a:prstGeom prst="rect">
            <a:avLst/>
          </a:prstGeom>
          <a:ln w="0">
            <a:noFill/>
          </a:ln>
        </p:spPr>
      </p:sp>
      <p:sp>
        <p:nvSpPr>
          <p:cNvPr id="50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14.3 – UDP Overview</a:t>
            </a:r>
            <a:endParaRPr b="0" lang="en-JM" sz="2000" spc="-1" strike="noStrike">
              <a:latin typeface="Arial"/>
            </a:endParaRPr>
          </a:p>
          <a:p>
            <a:pPr marL="216000" indent="-216000">
              <a:lnSpc>
                <a:spcPct val="100000"/>
              </a:lnSpc>
              <a:buNone/>
            </a:pPr>
            <a:r>
              <a:rPr b="0" lang="en-US" sz="2000" spc="-1" strike="noStrike">
                <a:latin typeface="Arial"/>
              </a:rPr>
              <a:t>14.3.4 – Applications that use UDP</a:t>
            </a:r>
            <a:endParaRPr b="0" lang="en-JM" sz="2000" spc="-1" strike="noStrike">
              <a:latin typeface="Arial"/>
            </a:endParaRPr>
          </a:p>
          <a:p>
            <a:pPr marL="216000" indent="-216000">
              <a:lnSpc>
                <a:spcPct val="100000"/>
              </a:lnSpc>
              <a:buNone/>
            </a:pPr>
            <a:r>
              <a:rPr b="0" lang="en-US" sz="2000" spc="-1" strike="noStrike">
                <a:latin typeface="Arial"/>
              </a:rPr>
              <a:t>14.3.5 - Check Your Understanding – UDP Overview</a:t>
            </a:r>
            <a:endParaRPr b="0" lang="en-JM" sz="2000" spc="-1" strike="noStrike">
              <a:latin typeface="Arial"/>
            </a:endParaRPr>
          </a:p>
        </p:txBody>
      </p:sp>
      <p:sp>
        <p:nvSpPr>
          <p:cNvPr id="50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F392430-5328-41E9-804B-6D8B5FDF7EA1}"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sldImg"/>
          </p:nvPr>
        </p:nvSpPr>
        <p:spPr>
          <a:xfrm>
            <a:off x="380880" y="685800"/>
            <a:ext cx="6095520" cy="3428640"/>
          </a:xfrm>
          <a:prstGeom prst="rect">
            <a:avLst/>
          </a:prstGeom>
          <a:ln w="0">
            <a:noFill/>
          </a:ln>
        </p:spPr>
      </p:sp>
      <p:sp>
        <p:nvSpPr>
          <p:cNvPr id="51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14.4 – Port Numbers</a:t>
            </a:r>
            <a:endParaRPr b="0" lang="en-JM" sz="2000" spc="-1" strike="noStrike">
              <a:latin typeface="Arial"/>
            </a:endParaRPr>
          </a:p>
        </p:txBody>
      </p:sp>
      <p:sp>
        <p:nvSpPr>
          <p:cNvPr id="51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2FBEF84-7043-4C0D-B3E2-788A4E8AB755}"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sldImg"/>
          </p:nvPr>
        </p:nvSpPr>
        <p:spPr>
          <a:xfrm>
            <a:off x="380880" y="685800"/>
            <a:ext cx="6095520" cy="3428640"/>
          </a:xfrm>
          <a:prstGeom prst="rect">
            <a:avLst/>
          </a:prstGeom>
          <a:ln w="0">
            <a:noFill/>
          </a:ln>
        </p:spPr>
      </p:sp>
      <p:sp>
        <p:nvSpPr>
          <p:cNvPr id="51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14.4 – Port Numbers</a:t>
            </a:r>
            <a:endParaRPr b="0" lang="en-JM" sz="2000" spc="-1" strike="noStrike">
              <a:latin typeface="Arial"/>
            </a:endParaRPr>
          </a:p>
          <a:p>
            <a:pPr marL="216000" indent="-216000">
              <a:lnSpc>
                <a:spcPct val="100000"/>
              </a:lnSpc>
              <a:buNone/>
            </a:pPr>
            <a:r>
              <a:rPr b="0" lang="en-US" sz="2000" spc="-1" strike="noStrike">
                <a:latin typeface="Arial"/>
              </a:rPr>
              <a:t>14.4.1 - Multiple Separate Communications</a:t>
            </a:r>
            <a:endParaRPr b="0" lang="en-JM" sz="2000" spc="-1" strike="noStrike">
              <a:latin typeface="Arial"/>
            </a:endParaRPr>
          </a:p>
        </p:txBody>
      </p:sp>
      <p:sp>
        <p:nvSpPr>
          <p:cNvPr id="51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A0C89EF-6A26-4CE7-A0B2-EA7E5E5ECCAE}"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sldImg"/>
          </p:nvPr>
        </p:nvSpPr>
        <p:spPr>
          <a:xfrm>
            <a:off x="380880" y="685800"/>
            <a:ext cx="6095520" cy="3428640"/>
          </a:xfrm>
          <a:prstGeom prst="rect">
            <a:avLst/>
          </a:prstGeom>
          <a:ln w="0">
            <a:noFill/>
          </a:ln>
        </p:spPr>
      </p:sp>
      <p:sp>
        <p:nvSpPr>
          <p:cNvPr id="51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14.4 – Port Numbers</a:t>
            </a:r>
            <a:endParaRPr b="0" lang="en-JM" sz="2000" spc="-1" strike="noStrike">
              <a:latin typeface="Arial"/>
            </a:endParaRPr>
          </a:p>
          <a:p>
            <a:pPr marL="216000" indent="-216000">
              <a:lnSpc>
                <a:spcPct val="100000"/>
              </a:lnSpc>
              <a:buNone/>
            </a:pPr>
            <a:r>
              <a:rPr b="0" lang="en-US" sz="2000" spc="-1" strike="noStrike">
                <a:latin typeface="Arial"/>
              </a:rPr>
              <a:t>14.4.2 – Socket Pairs</a:t>
            </a:r>
            <a:endParaRPr b="0" lang="en-JM" sz="2000" spc="-1" strike="noStrike">
              <a:latin typeface="Arial"/>
            </a:endParaRPr>
          </a:p>
        </p:txBody>
      </p:sp>
      <p:sp>
        <p:nvSpPr>
          <p:cNvPr id="51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1044B97-C5CB-4DDD-A340-3CA12D0E9769}"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sldImg"/>
          </p:nvPr>
        </p:nvSpPr>
        <p:spPr>
          <a:xfrm>
            <a:off x="380880" y="685800"/>
            <a:ext cx="6095520" cy="3428640"/>
          </a:xfrm>
          <a:prstGeom prst="rect">
            <a:avLst/>
          </a:prstGeom>
          <a:ln w="0">
            <a:noFill/>
          </a:ln>
        </p:spPr>
      </p:sp>
      <p:sp>
        <p:nvSpPr>
          <p:cNvPr id="51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14.4 – Port Numbers</a:t>
            </a:r>
            <a:endParaRPr b="0" lang="en-JM" sz="2000" spc="-1" strike="noStrike">
              <a:latin typeface="Arial"/>
            </a:endParaRPr>
          </a:p>
          <a:p>
            <a:pPr marL="216000" indent="-216000">
              <a:lnSpc>
                <a:spcPct val="100000"/>
              </a:lnSpc>
              <a:buNone/>
            </a:pPr>
            <a:r>
              <a:rPr b="0" lang="en-US" sz="2000" spc="-1" strike="noStrike">
                <a:latin typeface="Arial"/>
              </a:rPr>
              <a:t>14.4.3 - Port Number Groups</a:t>
            </a:r>
            <a:endParaRPr b="0" lang="en-JM" sz="2000" spc="-1" strike="noStrike">
              <a:latin typeface="Arial"/>
            </a:endParaRPr>
          </a:p>
        </p:txBody>
      </p:sp>
      <p:sp>
        <p:nvSpPr>
          <p:cNvPr id="52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F9E4ED4-9850-4607-AC38-2C64DC72D927}"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Img"/>
          </p:nvPr>
        </p:nvSpPr>
        <p:spPr>
          <a:xfrm>
            <a:off x="380880" y="685800"/>
            <a:ext cx="6095520" cy="3428640"/>
          </a:xfrm>
          <a:prstGeom prst="rect">
            <a:avLst/>
          </a:prstGeom>
          <a:ln w="0">
            <a:noFill/>
          </a:ln>
        </p:spPr>
      </p:sp>
      <p:sp>
        <p:nvSpPr>
          <p:cNvPr id="52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14.4 – Port Numbers</a:t>
            </a:r>
            <a:endParaRPr b="0" lang="en-JM" sz="2000" spc="-1" strike="noStrike">
              <a:latin typeface="Arial"/>
            </a:endParaRPr>
          </a:p>
          <a:p>
            <a:pPr marL="216000" indent="-216000">
              <a:lnSpc>
                <a:spcPct val="100000"/>
              </a:lnSpc>
              <a:buNone/>
            </a:pPr>
            <a:r>
              <a:rPr b="0" lang="en-US" sz="2000" spc="-1" strike="noStrike">
                <a:latin typeface="Arial"/>
              </a:rPr>
              <a:t>14.4.3 - Port Number Groups (Cont.)</a:t>
            </a:r>
            <a:endParaRPr b="0" lang="en-JM" sz="2000" spc="-1" strike="noStrike">
              <a:latin typeface="Arial"/>
            </a:endParaRPr>
          </a:p>
        </p:txBody>
      </p:sp>
      <p:sp>
        <p:nvSpPr>
          <p:cNvPr id="52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17B9CB5-6A2D-40B2-9337-AB41A86E3A15}"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Img"/>
          </p:nvPr>
        </p:nvSpPr>
        <p:spPr>
          <a:xfrm>
            <a:off x="380880" y="685800"/>
            <a:ext cx="6095520" cy="3428640"/>
          </a:xfrm>
          <a:prstGeom prst="rect">
            <a:avLst/>
          </a:prstGeom>
          <a:ln w="0">
            <a:noFill/>
          </a:ln>
        </p:spPr>
      </p:sp>
      <p:sp>
        <p:nvSpPr>
          <p:cNvPr id="52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14.4 – Port Numbers</a:t>
            </a:r>
            <a:endParaRPr b="0" lang="en-JM" sz="2000" spc="-1" strike="noStrike">
              <a:latin typeface="Arial"/>
            </a:endParaRPr>
          </a:p>
          <a:p>
            <a:pPr marL="216000" indent="-216000">
              <a:lnSpc>
                <a:spcPct val="100000"/>
              </a:lnSpc>
              <a:buNone/>
            </a:pPr>
            <a:r>
              <a:rPr b="0" lang="en-US" sz="2000" spc="-1" strike="noStrike">
                <a:latin typeface="Arial"/>
              </a:rPr>
              <a:t>14.4.4 - The netstat Command</a:t>
            </a:r>
            <a:endParaRPr b="0" lang="en-JM" sz="2000" spc="-1" strike="noStrike">
              <a:latin typeface="Arial"/>
            </a:endParaRPr>
          </a:p>
          <a:p>
            <a:pPr marL="216000" indent="-216000">
              <a:lnSpc>
                <a:spcPct val="100000"/>
              </a:lnSpc>
              <a:buNone/>
            </a:pPr>
            <a:r>
              <a:rPr b="0" lang="en-US" sz="2000" spc="-1" strike="noStrike">
                <a:latin typeface="Arial"/>
              </a:rPr>
              <a:t>14.4.5 – Check Your Understanding – Port Numbers</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52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DC8969D-048B-4CC6-9D7F-7B5451B645C3}"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Img"/>
          </p:nvPr>
        </p:nvSpPr>
        <p:spPr>
          <a:xfrm>
            <a:off x="380880" y="685800"/>
            <a:ext cx="6095520" cy="3428640"/>
          </a:xfrm>
          <a:prstGeom prst="rect">
            <a:avLst/>
          </a:prstGeom>
          <a:ln w="0">
            <a:noFill/>
          </a:ln>
        </p:spPr>
      </p:sp>
      <p:sp>
        <p:nvSpPr>
          <p:cNvPr id="52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14.5 – TCP Communication Process</a:t>
            </a:r>
            <a:endParaRPr b="0" lang="en-JM" sz="2000" spc="-1" strike="noStrike">
              <a:latin typeface="Arial"/>
            </a:endParaRPr>
          </a:p>
        </p:txBody>
      </p:sp>
      <p:sp>
        <p:nvSpPr>
          <p:cNvPr id="52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7FDA66B-4D29-4BA4-BC61-C5A4D6D6F3D2}"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sldImg"/>
          </p:nvPr>
        </p:nvSpPr>
        <p:spPr>
          <a:xfrm>
            <a:off x="380880" y="685800"/>
            <a:ext cx="6095520" cy="3428640"/>
          </a:xfrm>
          <a:prstGeom prst="rect">
            <a:avLst/>
          </a:prstGeom>
          <a:ln w="0">
            <a:noFill/>
          </a:ln>
        </p:spPr>
      </p:sp>
      <p:sp>
        <p:nvSpPr>
          <p:cNvPr id="53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14.5 – TCP Communication Process</a:t>
            </a:r>
            <a:endParaRPr b="0" lang="en-JM" sz="2000" spc="-1" strike="noStrike">
              <a:latin typeface="Arial"/>
            </a:endParaRPr>
          </a:p>
          <a:p>
            <a:pPr marL="216000" indent="-216000">
              <a:lnSpc>
                <a:spcPct val="100000"/>
              </a:lnSpc>
              <a:buNone/>
            </a:pPr>
            <a:r>
              <a:rPr b="0" lang="en-US" sz="2000" spc="-1" strike="noStrike">
                <a:latin typeface="Arial"/>
              </a:rPr>
              <a:t>14.5.1 – TCP Server Processes</a:t>
            </a:r>
            <a:endParaRPr b="0" lang="en-JM" sz="2000" spc="-1" strike="noStrike">
              <a:latin typeface="Arial"/>
            </a:endParaRPr>
          </a:p>
        </p:txBody>
      </p:sp>
      <p:sp>
        <p:nvSpPr>
          <p:cNvPr id="53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A1F538D-D5D9-428F-A044-59CD122C0019}"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sldImg"/>
          </p:nvPr>
        </p:nvSpPr>
        <p:spPr>
          <a:xfrm>
            <a:off x="380880" y="685800"/>
            <a:ext cx="6095520" cy="3428640"/>
          </a:xfrm>
          <a:prstGeom prst="rect">
            <a:avLst/>
          </a:prstGeom>
          <a:ln w="0">
            <a:noFill/>
          </a:ln>
        </p:spPr>
      </p:sp>
      <p:sp>
        <p:nvSpPr>
          <p:cNvPr id="53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14.5 – TCP Communication Process</a:t>
            </a:r>
            <a:endParaRPr b="0" lang="en-JM" sz="2000" spc="-1" strike="noStrike">
              <a:latin typeface="Arial"/>
            </a:endParaRPr>
          </a:p>
          <a:p>
            <a:pPr marL="216000" indent="-216000">
              <a:lnSpc>
                <a:spcPct val="100000"/>
              </a:lnSpc>
              <a:buNone/>
            </a:pPr>
            <a:r>
              <a:rPr b="0" lang="en-US" sz="2000" spc="-1" strike="noStrike">
                <a:latin typeface="Arial"/>
              </a:rPr>
              <a:t>14.5.2 – TCP Connection Establishment</a:t>
            </a:r>
            <a:endParaRPr b="0" lang="en-JM" sz="2000" spc="-1" strike="noStrike">
              <a:latin typeface="Arial"/>
            </a:endParaRPr>
          </a:p>
        </p:txBody>
      </p:sp>
      <p:sp>
        <p:nvSpPr>
          <p:cNvPr id="53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FCC24A7-2EB2-414B-A4A0-A1170BFE47B7}"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sldImg"/>
          </p:nvPr>
        </p:nvSpPr>
        <p:spPr>
          <a:xfrm>
            <a:off x="380880" y="685800"/>
            <a:ext cx="6095520" cy="3428640"/>
          </a:xfrm>
          <a:prstGeom prst="rect">
            <a:avLst/>
          </a:prstGeom>
          <a:ln w="0">
            <a:noFill/>
          </a:ln>
        </p:spPr>
      </p:sp>
      <p:sp>
        <p:nvSpPr>
          <p:cNvPr id="53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14.5 – TCP Communication Process</a:t>
            </a:r>
            <a:endParaRPr b="0" lang="en-JM" sz="2000" spc="-1" strike="noStrike">
              <a:latin typeface="Arial"/>
            </a:endParaRPr>
          </a:p>
          <a:p>
            <a:pPr marL="216000" indent="-216000">
              <a:lnSpc>
                <a:spcPct val="100000"/>
              </a:lnSpc>
              <a:buNone/>
            </a:pPr>
            <a:r>
              <a:rPr b="0" lang="en-US" sz="2000" spc="-1" strike="noStrike">
                <a:latin typeface="Arial"/>
              </a:rPr>
              <a:t>14.5.3 – Session Termination</a:t>
            </a:r>
            <a:endParaRPr b="0" lang="en-JM" sz="2000" spc="-1" strike="noStrike">
              <a:latin typeface="Arial"/>
            </a:endParaRPr>
          </a:p>
        </p:txBody>
      </p:sp>
      <p:sp>
        <p:nvSpPr>
          <p:cNvPr id="53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C38CDEF3-6495-409A-9D6F-AAC4A332DDBD}"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sldImg"/>
          </p:nvPr>
        </p:nvSpPr>
        <p:spPr>
          <a:xfrm>
            <a:off x="380880" y="685800"/>
            <a:ext cx="6095520" cy="3428640"/>
          </a:xfrm>
          <a:prstGeom prst="rect">
            <a:avLst/>
          </a:prstGeom>
          <a:ln w="0">
            <a:noFill/>
          </a:ln>
        </p:spPr>
      </p:sp>
      <p:sp>
        <p:nvSpPr>
          <p:cNvPr id="54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14.5 – TCP Communication Process</a:t>
            </a:r>
            <a:endParaRPr b="0" lang="en-JM" sz="2000" spc="-1" strike="noStrike">
              <a:latin typeface="Arial"/>
            </a:endParaRPr>
          </a:p>
          <a:p>
            <a:pPr marL="216000" indent="-216000">
              <a:lnSpc>
                <a:spcPct val="100000"/>
              </a:lnSpc>
              <a:buNone/>
            </a:pPr>
            <a:r>
              <a:rPr b="0" lang="en-US" sz="2000" spc="-1" strike="noStrike">
                <a:latin typeface="Arial"/>
              </a:rPr>
              <a:t>14.5.4 – Three-way Handshake Establishment</a:t>
            </a:r>
            <a:endParaRPr b="0" lang="en-JM" sz="2000" spc="-1" strike="noStrike">
              <a:latin typeface="Arial"/>
            </a:endParaRPr>
          </a:p>
        </p:txBody>
      </p:sp>
      <p:sp>
        <p:nvSpPr>
          <p:cNvPr id="54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7700819-32A7-42EF-A44D-06E54D6A9035}"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sldImg"/>
          </p:nvPr>
        </p:nvSpPr>
        <p:spPr>
          <a:xfrm>
            <a:off x="380880" y="685800"/>
            <a:ext cx="6095520" cy="3428640"/>
          </a:xfrm>
          <a:prstGeom prst="rect">
            <a:avLst/>
          </a:prstGeom>
          <a:ln w="0">
            <a:noFill/>
          </a:ln>
        </p:spPr>
      </p:sp>
      <p:sp>
        <p:nvSpPr>
          <p:cNvPr id="54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14.5 – TCP Communication Process</a:t>
            </a:r>
            <a:endParaRPr b="0" lang="en-JM" sz="2000" spc="-1" strike="noStrike">
              <a:latin typeface="Arial"/>
            </a:endParaRPr>
          </a:p>
          <a:p>
            <a:pPr marL="216000" indent="-216000">
              <a:lnSpc>
                <a:spcPct val="100000"/>
              </a:lnSpc>
              <a:buNone/>
            </a:pPr>
            <a:r>
              <a:rPr b="0" lang="en-US" sz="2000" spc="-1" strike="noStrike">
                <a:latin typeface="Arial"/>
              </a:rPr>
              <a:t>14.5.4 – Three-way Handshake Analysis</a:t>
            </a:r>
            <a:endParaRPr b="0" lang="en-JM" sz="2000" spc="-1" strike="noStrike">
              <a:latin typeface="Arial"/>
            </a:endParaRPr>
          </a:p>
        </p:txBody>
      </p:sp>
      <p:sp>
        <p:nvSpPr>
          <p:cNvPr id="54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1349629-117C-4969-BB20-B665BC412B61}"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sldImg"/>
          </p:nvPr>
        </p:nvSpPr>
        <p:spPr>
          <a:xfrm>
            <a:off x="380880" y="685800"/>
            <a:ext cx="6095520" cy="3428640"/>
          </a:xfrm>
          <a:prstGeom prst="rect">
            <a:avLst/>
          </a:prstGeom>
          <a:ln w="0">
            <a:noFill/>
          </a:ln>
        </p:spPr>
      </p:sp>
      <p:sp>
        <p:nvSpPr>
          <p:cNvPr id="54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14.5 – TCP Communication Process</a:t>
            </a:r>
            <a:endParaRPr b="0" lang="en-JM" sz="2000" spc="-1" strike="noStrike">
              <a:latin typeface="Arial"/>
            </a:endParaRPr>
          </a:p>
          <a:p>
            <a:pPr marL="216000" indent="-216000">
              <a:lnSpc>
                <a:spcPct val="100000"/>
              </a:lnSpc>
              <a:buNone/>
            </a:pPr>
            <a:r>
              <a:rPr b="0" lang="en-US" sz="2000" spc="-1" strike="noStrike">
                <a:latin typeface="Arial"/>
              </a:rPr>
              <a:t>14.5.5 – Video - TCP Three Way Handshake</a:t>
            </a:r>
            <a:endParaRPr b="0" lang="en-JM" sz="2000" spc="-1" strike="noStrike">
              <a:latin typeface="Arial"/>
            </a:endParaRPr>
          </a:p>
          <a:p>
            <a:pPr marL="216000" indent="-216000">
              <a:lnSpc>
                <a:spcPct val="100000"/>
              </a:lnSpc>
              <a:buNone/>
            </a:pPr>
            <a:r>
              <a:rPr b="0" lang="en-US" sz="2000" spc="-1" strike="noStrike">
                <a:latin typeface="Arial"/>
              </a:rPr>
              <a:t>14.5.6 – Check your Understanding - TCP Communication Process</a:t>
            </a:r>
            <a:endParaRPr b="0" lang="en-JM" sz="2000" spc="-1" strike="noStrike">
              <a:latin typeface="Arial"/>
            </a:endParaRPr>
          </a:p>
        </p:txBody>
      </p:sp>
      <p:sp>
        <p:nvSpPr>
          <p:cNvPr id="54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247C3B8-08FF-4159-9FE5-6C5362BCFB1F}"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sldImg"/>
          </p:nvPr>
        </p:nvSpPr>
        <p:spPr>
          <a:xfrm>
            <a:off x="380880" y="685800"/>
            <a:ext cx="6095520" cy="3428640"/>
          </a:xfrm>
          <a:prstGeom prst="rect">
            <a:avLst/>
          </a:prstGeom>
          <a:ln w="0">
            <a:noFill/>
          </a:ln>
        </p:spPr>
      </p:sp>
      <p:sp>
        <p:nvSpPr>
          <p:cNvPr id="54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14.6 – Reliability and Flow Control</a:t>
            </a:r>
            <a:endParaRPr b="0" lang="en-JM" sz="2000" spc="-1" strike="noStrike">
              <a:latin typeface="Arial"/>
            </a:endParaRPr>
          </a:p>
        </p:txBody>
      </p:sp>
      <p:sp>
        <p:nvSpPr>
          <p:cNvPr id="55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348CCF16-D593-472A-A16A-A975FC5C413E}"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sldImg"/>
          </p:nvPr>
        </p:nvSpPr>
        <p:spPr>
          <a:xfrm>
            <a:off x="380880" y="685800"/>
            <a:ext cx="6095520" cy="3428640"/>
          </a:xfrm>
          <a:prstGeom prst="rect">
            <a:avLst/>
          </a:prstGeom>
          <a:ln w="0">
            <a:noFill/>
          </a:ln>
        </p:spPr>
      </p:sp>
      <p:sp>
        <p:nvSpPr>
          <p:cNvPr id="55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14.6 – Reliability and Flow Control</a:t>
            </a:r>
            <a:endParaRPr b="0" lang="en-JM" sz="2000" spc="-1" strike="noStrike">
              <a:latin typeface="Arial"/>
            </a:endParaRPr>
          </a:p>
          <a:p>
            <a:pPr marL="216000" indent="-216000">
              <a:lnSpc>
                <a:spcPct val="100000"/>
              </a:lnSpc>
              <a:buNone/>
            </a:pPr>
            <a:r>
              <a:rPr b="0" lang="en-US" sz="2000" spc="-1" strike="noStrike">
                <a:latin typeface="Arial"/>
              </a:rPr>
              <a:t>14.6.1 – TCP Reliability – Guaranteed and Ordered Delivery</a:t>
            </a:r>
            <a:endParaRPr b="0" lang="en-JM" sz="2000" spc="-1" strike="noStrike">
              <a:latin typeface="Arial"/>
            </a:endParaRPr>
          </a:p>
        </p:txBody>
      </p:sp>
      <p:sp>
        <p:nvSpPr>
          <p:cNvPr id="55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C8C9E1DC-110E-4CF0-B69D-75C86F7A9B77}"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PlaceHolder 1"/>
          <p:cNvSpPr>
            <a:spLocks noGrp="1"/>
          </p:cNvSpPr>
          <p:nvPr>
            <p:ph type="sldImg"/>
          </p:nvPr>
        </p:nvSpPr>
        <p:spPr>
          <a:xfrm>
            <a:off x="380880" y="685800"/>
            <a:ext cx="6095520" cy="3428640"/>
          </a:xfrm>
          <a:prstGeom prst="rect">
            <a:avLst/>
          </a:prstGeom>
          <a:ln w="0">
            <a:noFill/>
          </a:ln>
        </p:spPr>
      </p:sp>
      <p:sp>
        <p:nvSpPr>
          <p:cNvPr id="55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14.6 – Reliability and Flow Control</a:t>
            </a:r>
            <a:endParaRPr b="0" lang="en-JM" sz="2000" spc="-1" strike="noStrike">
              <a:latin typeface="Arial"/>
            </a:endParaRPr>
          </a:p>
          <a:p>
            <a:pPr marL="216000" indent="-216000">
              <a:lnSpc>
                <a:spcPct val="100000"/>
              </a:lnSpc>
              <a:buNone/>
            </a:pPr>
            <a:r>
              <a:rPr b="0" lang="en-US" sz="2000" spc="-1" strike="noStrike">
                <a:latin typeface="Arial"/>
              </a:rPr>
              <a:t>14.6.2 – Video –TCP Reliability – Sequence Numbers and Acknowledgements</a:t>
            </a:r>
            <a:endParaRPr b="0" lang="en-JM" sz="2000" spc="-1" strike="noStrike">
              <a:latin typeface="Arial"/>
            </a:endParaRPr>
          </a:p>
        </p:txBody>
      </p:sp>
      <p:sp>
        <p:nvSpPr>
          <p:cNvPr id="55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93C99C5-D767-4D28-BAE5-B9B6C8D72FD1}"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PlaceHolder 1"/>
          <p:cNvSpPr>
            <a:spLocks noGrp="1"/>
          </p:cNvSpPr>
          <p:nvPr>
            <p:ph type="sldImg"/>
          </p:nvPr>
        </p:nvSpPr>
        <p:spPr>
          <a:xfrm>
            <a:off x="380880" y="685800"/>
            <a:ext cx="6095520" cy="3428640"/>
          </a:xfrm>
          <a:prstGeom prst="rect">
            <a:avLst/>
          </a:prstGeom>
          <a:ln w="0">
            <a:noFill/>
          </a:ln>
        </p:spPr>
      </p:sp>
      <p:sp>
        <p:nvSpPr>
          <p:cNvPr id="55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14.6 – Reliability and Flow Control</a:t>
            </a:r>
            <a:endParaRPr b="0" lang="en-JM" sz="2000" spc="-1" strike="noStrike">
              <a:latin typeface="Arial"/>
            </a:endParaRPr>
          </a:p>
          <a:p>
            <a:pPr marL="216000" indent="-216000">
              <a:lnSpc>
                <a:spcPct val="100000"/>
              </a:lnSpc>
              <a:buNone/>
            </a:pPr>
            <a:r>
              <a:rPr b="0" lang="en-US" sz="2000" spc="-1" strike="noStrike">
                <a:latin typeface="Arial"/>
              </a:rPr>
              <a:t>14.6.3 TCP Reliability – Data Loss and Transmission</a:t>
            </a:r>
            <a:endParaRPr b="0" lang="en-JM" sz="2000" spc="-1" strike="noStrike">
              <a:latin typeface="Arial"/>
            </a:endParaRPr>
          </a:p>
        </p:txBody>
      </p:sp>
      <p:sp>
        <p:nvSpPr>
          <p:cNvPr id="55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3687D0C-4D3F-43A8-9889-DFBA6E93B4B5}"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PlaceHolder 1"/>
          <p:cNvSpPr>
            <a:spLocks noGrp="1"/>
          </p:cNvSpPr>
          <p:nvPr>
            <p:ph type="sldImg"/>
          </p:nvPr>
        </p:nvSpPr>
        <p:spPr>
          <a:xfrm>
            <a:off x="380880" y="685800"/>
            <a:ext cx="6095520" cy="3428640"/>
          </a:xfrm>
          <a:prstGeom prst="rect">
            <a:avLst/>
          </a:prstGeom>
          <a:ln w="0">
            <a:noFill/>
          </a:ln>
        </p:spPr>
      </p:sp>
      <p:sp>
        <p:nvSpPr>
          <p:cNvPr id="56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14.6 – Reliability and Flow Control</a:t>
            </a:r>
            <a:endParaRPr b="0" lang="en-JM" sz="2000" spc="-1" strike="noStrike">
              <a:latin typeface="Arial"/>
            </a:endParaRPr>
          </a:p>
          <a:p>
            <a:pPr marL="216000" indent="-216000">
              <a:lnSpc>
                <a:spcPct val="100000"/>
              </a:lnSpc>
              <a:buNone/>
            </a:pPr>
            <a:r>
              <a:rPr b="0" lang="en-US" sz="2000" spc="-1" strike="noStrike">
                <a:latin typeface="Arial"/>
              </a:rPr>
              <a:t>14.6.3 TCP Reliability – Data Loss and Transmission (Cont.)</a:t>
            </a:r>
            <a:endParaRPr b="0" lang="en-JM" sz="2000" spc="-1" strike="noStrike">
              <a:latin typeface="Arial"/>
            </a:endParaRPr>
          </a:p>
        </p:txBody>
      </p:sp>
      <p:sp>
        <p:nvSpPr>
          <p:cNvPr id="56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DABA60E-E9FB-4DF7-9BC6-B80F968DDB83}"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PlaceHolder 1"/>
          <p:cNvSpPr>
            <a:spLocks noGrp="1"/>
          </p:cNvSpPr>
          <p:nvPr>
            <p:ph type="sldImg"/>
          </p:nvPr>
        </p:nvSpPr>
        <p:spPr>
          <a:xfrm>
            <a:off x="380880" y="685800"/>
            <a:ext cx="6095520" cy="3428640"/>
          </a:xfrm>
          <a:prstGeom prst="rect">
            <a:avLst/>
          </a:prstGeom>
          <a:ln w="0">
            <a:noFill/>
          </a:ln>
        </p:spPr>
      </p:sp>
      <p:sp>
        <p:nvSpPr>
          <p:cNvPr id="56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14.6 – Reliability and Flow Control</a:t>
            </a:r>
            <a:endParaRPr b="0" lang="en-JM" sz="2000" spc="-1" strike="noStrike">
              <a:latin typeface="Arial"/>
            </a:endParaRPr>
          </a:p>
          <a:p>
            <a:pPr marL="216000" indent="-216000">
              <a:lnSpc>
                <a:spcPct val="100000"/>
              </a:lnSpc>
              <a:buNone/>
            </a:pPr>
            <a:r>
              <a:rPr b="0" lang="en-US" sz="2000" spc="-1" strike="noStrike">
                <a:latin typeface="Arial"/>
              </a:rPr>
              <a:t>14.6.4 – Video –TCP-Reliability – Data Loss and Retransmission</a:t>
            </a:r>
            <a:endParaRPr b="0" lang="en-JM" sz="2000" spc="-1" strike="noStrike">
              <a:latin typeface="Arial"/>
            </a:endParaRPr>
          </a:p>
        </p:txBody>
      </p:sp>
      <p:sp>
        <p:nvSpPr>
          <p:cNvPr id="56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C15D02A2-1C0B-4E92-9854-0C8A56B1DDC3}"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PlaceHolder 1"/>
          <p:cNvSpPr>
            <a:spLocks noGrp="1"/>
          </p:cNvSpPr>
          <p:nvPr>
            <p:ph type="sldImg"/>
          </p:nvPr>
        </p:nvSpPr>
        <p:spPr>
          <a:xfrm>
            <a:off x="380880" y="685800"/>
            <a:ext cx="6095520" cy="3428640"/>
          </a:xfrm>
          <a:prstGeom prst="rect">
            <a:avLst/>
          </a:prstGeom>
          <a:ln w="0">
            <a:noFill/>
          </a:ln>
        </p:spPr>
      </p:sp>
      <p:sp>
        <p:nvSpPr>
          <p:cNvPr id="56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14.6 – Reliability and Flow Control</a:t>
            </a:r>
            <a:endParaRPr b="0" lang="en-JM" sz="2000" spc="-1" strike="noStrike">
              <a:latin typeface="Arial"/>
            </a:endParaRPr>
          </a:p>
          <a:p>
            <a:pPr marL="216000" indent="-216000">
              <a:lnSpc>
                <a:spcPct val="100000"/>
              </a:lnSpc>
              <a:buNone/>
            </a:pPr>
            <a:r>
              <a:rPr b="0" lang="en-US" sz="2000" spc="-1" strike="noStrike">
                <a:latin typeface="Arial"/>
              </a:rPr>
              <a:t>14.6.5 – TCP Flow Control – Window Size and Acknowledgments</a:t>
            </a:r>
            <a:endParaRPr b="0" lang="en-JM" sz="2000" spc="-1" strike="noStrike">
              <a:latin typeface="Arial"/>
            </a:endParaRPr>
          </a:p>
        </p:txBody>
      </p:sp>
      <p:sp>
        <p:nvSpPr>
          <p:cNvPr id="56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7720C4B-F1F3-4604-903D-840826747BA2}"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PlaceHolder 1"/>
          <p:cNvSpPr>
            <a:spLocks noGrp="1"/>
          </p:cNvSpPr>
          <p:nvPr>
            <p:ph type="sldImg"/>
          </p:nvPr>
        </p:nvSpPr>
        <p:spPr>
          <a:xfrm>
            <a:off x="380880" y="685800"/>
            <a:ext cx="6095520" cy="3428640"/>
          </a:xfrm>
          <a:prstGeom prst="rect">
            <a:avLst/>
          </a:prstGeom>
          <a:ln w="0">
            <a:noFill/>
          </a:ln>
        </p:spPr>
      </p:sp>
      <p:sp>
        <p:nvSpPr>
          <p:cNvPr id="57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14.6 – Reliability and Flow Control</a:t>
            </a:r>
            <a:endParaRPr b="0" lang="en-JM" sz="2000" spc="-1" strike="noStrike">
              <a:latin typeface="Arial"/>
            </a:endParaRPr>
          </a:p>
          <a:p>
            <a:pPr marL="216000" indent="-216000">
              <a:lnSpc>
                <a:spcPct val="100000"/>
              </a:lnSpc>
              <a:buNone/>
            </a:pPr>
            <a:r>
              <a:rPr b="0" lang="en-US" sz="2000" spc="-1" strike="noStrike">
                <a:latin typeface="Arial"/>
              </a:rPr>
              <a:t>14.6.6 – TCP Flow Control – Maximum Segment Size (MSS)</a:t>
            </a:r>
            <a:endParaRPr b="0" lang="en-JM" sz="2000" spc="-1" strike="noStrike">
              <a:latin typeface="Arial"/>
            </a:endParaRPr>
          </a:p>
        </p:txBody>
      </p:sp>
      <p:sp>
        <p:nvSpPr>
          <p:cNvPr id="57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4CE47DF-30C3-44FA-BE13-7E16F84602B5}"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2" name="PlaceHolder 1"/>
          <p:cNvSpPr>
            <a:spLocks noGrp="1"/>
          </p:cNvSpPr>
          <p:nvPr>
            <p:ph type="sldImg"/>
          </p:nvPr>
        </p:nvSpPr>
        <p:spPr>
          <a:xfrm>
            <a:off x="380880" y="685800"/>
            <a:ext cx="6095520" cy="3428640"/>
          </a:xfrm>
          <a:prstGeom prst="rect">
            <a:avLst/>
          </a:prstGeom>
          <a:ln w="0">
            <a:noFill/>
          </a:ln>
        </p:spPr>
      </p:sp>
      <p:sp>
        <p:nvSpPr>
          <p:cNvPr id="57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14.6 – Reliability and Flow Control</a:t>
            </a:r>
            <a:endParaRPr b="0" lang="en-JM" sz="2000" spc="-1" strike="noStrike">
              <a:latin typeface="Arial"/>
            </a:endParaRPr>
          </a:p>
          <a:p>
            <a:pPr marL="216000" indent="-216000">
              <a:lnSpc>
                <a:spcPct val="100000"/>
              </a:lnSpc>
              <a:buNone/>
            </a:pPr>
            <a:r>
              <a:rPr b="0" lang="en-US" sz="2000" spc="-1" strike="noStrike">
                <a:latin typeface="Arial"/>
              </a:rPr>
              <a:t>14.6.7 – TCP Flow Control – Congestion Avoidance</a:t>
            </a:r>
            <a:endParaRPr b="0" lang="en-JM" sz="2000" spc="-1" strike="noStrike">
              <a:latin typeface="Arial"/>
            </a:endParaRPr>
          </a:p>
          <a:p>
            <a:pPr marL="216000" indent="-216000">
              <a:lnSpc>
                <a:spcPct val="100000"/>
              </a:lnSpc>
              <a:buNone/>
            </a:pPr>
            <a:r>
              <a:rPr b="0" lang="en-US" sz="2000" spc="-1" strike="noStrike">
                <a:latin typeface="Arial"/>
              </a:rPr>
              <a:t>14.6.8 – Check you Understanding – Reliability and Flow Control</a:t>
            </a:r>
            <a:endParaRPr b="0" lang="en-JM" sz="2000" spc="-1" strike="noStrike">
              <a:latin typeface="Arial"/>
            </a:endParaRPr>
          </a:p>
        </p:txBody>
      </p:sp>
      <p:sp>
        <p:nvSpPr>
          <p:cNvPr id="57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7EA1AAD-39DC-4BF6-BF5F-F21D89014040}"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5" name="PlaceHolder 1"/>
          <p:cNvSpPr>
            <a:spLocks noGrp="1"/>
          </p:cNvSpPr>
          <p:nvPr>
            <p:ph type="sldImg"/>
          </p:nvPr>
        </p:nvSpPr>
        <p:spPr>
          <a:xfrm>
            <a:off x="380880" y="685800"/>
            <a:ext cx="6095520" cy="3428640"/>
          </a:xfrm>
          <a:prstGeom prst="rect">
            <a:avLst/>
          </a:prstGeom>
          <a:ln w="0">
            <a:noFill/>
          </a:ln>
        </p:spPr>
      </p:sp>
      <p:sp>
        <p:nvSpPr>
          <p:cNvPr id="57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14.7 UDP Communication</a:t>
            </a:r>
            <a:endParaRPr b="0" lang="en-JM" sz="2000" spc="-1" strike="noStrike">
              <a:latin typeface="Arial"/>
            </a:endParaRPr>
          </a:p>
        </p:txBody>
      </p:sp>
      <p:sp>
        <p:nvSpPr>
          <p:cNvPr id="57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EE038BE-A28A-429F-926E-E6217B9AF2BC}"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PlaceHolder 1"/>
          <p:cNvSpPr>
            <a:spLocks noGrp="1"/>
          </p:cNvSpPr>
          <p:nvPr>
            <p:ph type="sldImg"/>
          </p:nvPr>
        </p:nvSpPr>
        <p:spPr>
          <a:xfrm>
            <a:off x="380880" y="685800"/>
            <a:ext cx="6095520" cy="3428640"/>
          </a:xfrm>
          <a:prstGeom prst="rect">
            <a:avLst/>
          </a:prstGeom>
          <a:ln w="0">
            <a:noFill/>
          </a:ln>
        </p:spPr>
      </p:sp>
      <p:sp>
        <p:nvSpPr>
          <p:cNvPr id="57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14.7 - UDP Communication</a:t>
            </a:r>
            <a:endParaRPr b="0" lang="en-JM" sz="2000" spc="-1" strike="noStrike">
              <a:latin typeface="Arial"/>
            </a:endParaRPr>
          </a:p>
          <a:p>
            <a:pPr marL="216000" indent="-216000">
              <a:lnSpc>
                <a:spcPct val="100000"/>
              </a:lnSpc>
              <a:buNone/>
            </a:pPr>
            <a:r>
              <a:rPr b="0" lang="en-US" sz="2000" spc="-1" strike="noStrike">
                <a:latin typeface="Arial"/>
              </a:rPr>
              <a:t>14.7.1 -  UDP Low Overhead versus Reliability</a:t>
            </a:r>
            <a:endParaRPr b="0" lang="en-JM" sz="2000" spc="-1" strike="noStrike">
              <a:latin typeface="Arial"/>
            </a:endParaRPr>
          </a:p>
        </p:txBody>
      </p:sp>
      <p:sp>
        <p:nvSpPr>
          <p:cNvPr id="58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D2D6162-FBF1-4475-B3F2-1C17AC200646}"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sldImg"/>
          </p:nvPr>
        </p:nvSpPr>
        <p:spPr>
          <a:xfrm>
            <a:off x="380880" y="685800"/>
            <a:ext cx="6095520" cy="3428640"/>
          </a:xfrm>
          <a:prstGeom prst="rect">
            <a:avLst/>
          </a:prstGeom>
          <a:ln w="0">
            <a:noFill/>
          </a:ln>
        </p:spPr>
      </p:sp>
      <p:sp>
        <p:nvSpPr>
          <p:cNvPr id="58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14.7 - UDP Communication</a:t>
            </a:r>
            <a:endParaRPr b="0" lang="en-JM" sz="2000" spc="-1" strike="noStrike">
              <a:latin typeface="Arial"/>
            </a:endParaRPr>
          </a:p>
          <a:p>
            <a:pPr marL="216000" indent="-216000">
              <a:lnSpc>
                <a:spcPct val="100000"/>
              </a:lnSpc>
              <a:buNone/>
            </a:pPr>
            <a:r>
              <a:rPr b="0" lang="en-US" sz="2000" spc="-1" strike="noStrike">
                <a:latin typeface="Arial"/>
              </a:rPr>
              <a:t>14.7.2 – UDP Datagram Reassembly</a:t>
            </a:r>
            <a:endParaRPr b="0" lang="en-JM" sz="2000" spc="-1" strike="noStrike">
              <a:latin typeface="Arial"/>
            </a:endParaRPr>
          </a:p>
        </p:txBody>
      </p:sp>
      <p:sp>
        <p:nvSpPr>
          <p:cNvPr id="58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A317AFA-F480-4E08-AA36-9B449A287D3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PlaceHolder 1"/>
          <p:cNvSpPr>
            <a:spLocks noGrp="1"/>
          </p:cNvSpPr>
          <p:nvPr>
            <p:ph type="sldImg"/>
          </p:nvPr>
        </p:nvSpPr>
        <p:spPr>
          <a:xfrm>
            <a:off x="380880" y="685800"/>
            <a:ext cx="6095520" cy="3428640"/>
          </a:xfrm>
          <a:prstGeom prst="rect">
            <a:avLst/>
          </a:prstGeom>
          <a:ln w="0">
            <a:noFill/>
          </a:ln>
        </p:spPr>
      </p:sp>
      <p:sp>
        <p:nvSpPr>
          <p:cNvPr id="58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14.7 - UDP Communication</a:t>
            </a:r>
            <a:endParaRPr b="0" lang="en-JM" sz="2000" spc="-1" strike="noStrike">
              <a:latin typeface="Arial"/>
            </a:endParaRPr>
          </a:p>
          <a:p>
            <a:pPr marL="216000" indent="-216000">
              <a:lnSpc>
                <a:spcPct val="100000"/>
              </a:lnSpc>
              <a:buNone/>
            </a:pPr>
            <a:r>
              <a:rPr b="0" lang="en-US" sz="2000" spc="-1" strike="noStrike">
                <a:latin typeface="Arial"/>
              </a:rPr>
              <a:t>14.7.3 – UDP Server Processes and Requests</a:t>
            </a:r>
            <a:endParaRPr b="0" lang="en-JM" sz="2000" spc="-1" strike="noStrike">
              <a:latin typeface="Arial"/>
            </a:endParaRPr>
          </a:p>
        </p:txBody>
      </p:sp>
      <p:sp>
        <p:nvSpPr>
          <p:cNvPr id="58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1F1EA44-1C14-4547-8AB2-E73AAE0A1517}"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sldImg"/>
          </p:nvPr>
        </p:nvSpPr>
        <p:spPr>
          <a:xfrm>
            <a:off x="380880" y="685800"/>
            <a:ext cx="6095520" cy="3428640"/>
          </a:xfrm>
          <a:prstGeom prst="rect">
            <a:avLst/>
          </a:prstGeom>
          <a:ln w="0">
            <a:noFill/>
          </a:ln>
        </p:spPr>
      </p:sp>
      <p:sp>
        <p:nvSpPr>
          <p:cNvPr id="58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14.7 - UDP Communication</a:t>
            </a:r>
            <a:endParaRPr b="0" lang="en-JM" sz="2000" spc="-1" strike="noStrike">
              <a:latin typeface="Arial"/>
            </a:endParaRPr>
          </a:p>
          <a:p>
            <a:pPr marL="216000" indent="-216000">
              <a:lnSpc>
                <a:spcPct val="100000"/>
              </a:lnSpc>
              <a:buNone/>
            </a:pPr>
            <a:r>
              <a:rPr b="0" lang="en-US" sz="2000" spc="-1" strike="noStrike">
                <a:latin typeface="Arial"/>
              </a:rPr>
              <a:t>14.7.4 – UDP Client Processes </a:t>
            </a:r>
            <a:endParaRPr b="0" lang="en-JM" sz="2000" spc="-1" strike="noStrike">
              <a:latin typeface="Arial"/>
            </a:endParaRPr>
          </a:p>
          <a:p>
            <a:pPr marL="216000" indent="-216000">
              <a:lnSpc>
                <a:spcPct val="100000"/>
              </a:lnSpc>
              <a:buNone/>
            </a:pPr>
            <a:r>
              <a:rPr b="0" lang="en-US" sz="2000" spc="-1" strike="noStrike">
                <a:latin typeface="Arial"/>
              </a:rPr>
              <a:t>14.7.5 Check Your Understanding – UDP Communication</a:t>
            </a:r>
            <a:endParaRPr b="0" lang="en-JM" sz="2000" spc="-1" strike="noStrike">
              <a:latin typeface="Arial"/>
            </a:endParaRPr>
          </a:p>
        </p:txBody>
      </p:sp>
      <p:sp>
        <p:nvSpPr>
          <p:cNvPr id="58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AFB3549-C4AA-42E2-8179-AA026EB55C7D}"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PlaceHolder 1"/>
          <p:cNvSpPr>
            <a:spLocks noGrp="1"/>
          </p:cNvSpPr>
          <p:nvPr>
            <p:ph type="sldImg"/>
          </p:nvPr>
        </p:nvSpPr>
        <p:spPr>
          <a:xfrm>
            <a:off x="380880" y="685800"/>
            <a:ext cx="6095520" cy="3428640"/>
          </a:xfrm>
          <a:prstGeom prst="rect">
            <a:avLst/>
          </a:prstGeom>
          <a:ln w="0">
            <a:noFill/>
          </a:ln>
        </p:spPr>
      </p:sp>
      <p:sp>
        <p:nvSpPr>
          <p:cNvPr id="59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14.8 – Module Practice and Quiz</a:t>
            </a:r>
            <a:endParaRPr b="0" lang="en-JM" sz="2000" spc="-1" strike="noStrike">
              <a:latin typeface="Arial"/>
            </a:endParaRPr>
          </a:p>
        </p:txBody>
      </p:sp>
      <p:sp>
        <p:nvSpPr>
          <p:cNvPr id="59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1206E36-C47D-4DFB-9074-4F88C859603B}"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0A6051D-5A8F-421A-8A4F-CF5E483BF7B5}"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594" name="PlaceHolder 2"/>
          <p:cNvSpPr>
            <a:spLocks noGrp="1"/>
          </p:cNvSpPr>
          <p:nvPr>
            <p:ph type="sldImg"/>
          </p:nvPr>
        </p:nvSpPr>
        <p:spPr>
          <a:xfrm>
            <a:off x="380880" y="685800"/>
            <a:ext cx="6095520" cy="3428640"/>
          </a:xfrm>
          <a:prstGeom prst="rect">
            <a:avLst/>
          </a:prstGeom>
          <a:ln w="0">
            <a:noFill/>
          </a:ln>
        </p:spPr>
      </p:sp>
      <p:sp>
        <p:nvSpPr>
          <p:cNvPr id="595"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14.8 – Modules Practice and Quiz</a:t>
            </a:r>
            <a:endParaRPr b="0" lang="en-JM" sz="2000" spc="-1" strike="noStrike">
              <a:latin typeface="Arial"/>
            </a:endParaRPr>
          </a:p>
          <a:p>
            <a:pPr marL="216000" indent="-216000">
              <a:lnSpc>
                <a:spcPct val="100000"/>
              </a:lnSpc>
              <a:buNone/>
            </a:pPr>
            <a:r>
              <a:rPr b="0" lang="en-US" sz="2000" spc="-1" strike="noStrike">
                <a:latin typeface="Arial"/>
              </a:rPr>
              <a:t>14.8.1 – Packet Tracer – TCP and UDP Communications</a:t>
            </a:r>
            <a:endParaRPr b="0" lang="en-JM" sz="2000" spc="-1" strike="noStrike">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6"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C7CA0DF0-2A3A-42CF-BF9A-EC99FB783D4B}"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597" name="PlaceHolder 2"/>
          <p:cNvSpPr>
            <a:spLocks noGrp="1"/>
          </p:cNvSpPr>
          <p:nvPr>
            <p:ph type="sldImg"/>
          </p:nvPr>
        </p:nvSpPr>
        <p:spPr>
          <a:xfrm>
            <a:off x="380880" y="685800"/>
            <a:ext cx="6095520" cy="3428640"/>
          </a:xfrm>
          <a:prstGeom prst="rect">
            <a:avLst/>
          </a:prstGeom>
          <a:ln w="0">
            <a:noFill/>
          </a:ln>
        </p:spPr>
      </p:sp>
      <p:sp>
        <p:nvSpPr>
          <p:cNvPr id="598"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14.8 – Modules Practice and Quiz</a:t>
            </a:r>
            <a:endParaRPr b="0" lang="en-JM" sz="2000" spc="-1" strike="noStrike">
              <a:latin typeface="Arial"/>
            </a:endParaRPr>
          </a:p>
          <a:p>
            <a:pPr marL="216000" indent="-216000">
              <a:lnSpc>
                <a:spcPct val="100000"/>
              </a:lnSpc>
              <a:buNone/>
            </a:pPr>
            <a:r>
              <a:rPr b="0" lang="en-US" sz="2000" spc="-1" strike="noStrike">
                <a:latin typeface="Arial"/>
              </a:rPr>
              <a:t>14.8.2 – What did I learn this module?</a:t>
            </a:r>
            <a:endParaRPr b="0" lang="en-JM" sz="2000" spc="-1" strike="noStrike">
              <a:latin typeface="Arial"/>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9"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60CA25A-E8AB-4CD9-AEF3-4B3A351673A8}"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600" name="PlaceHolder 2"/>
          <p:cNvSpPr>
            <a:spLocks noGrp="1"/>
          </p:cNvSpPr>
          <p:nvPr>
            <p:ph type="sldImg"/>
          </p:nvPr>
        </p:nvSpPr>
        <p:spPr>
          <a:xfrm>
            <a:off x="380880" y="685800"/>
            <a:ext cx="6095520" cy="3428640"/>
          </a:xfrm>
          <a:prstGeom prst="rect">
            <a:avLst/>
          </a:prstGeom>
          <a:ln w="0">
            <a:noFill/>
          </a:ln>
        </p:spPr>
      </p:sp>
      <p:sp>
        <p:nvSpPr>
          <p:cNvPr id="601"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14 – Transport Layer</a:t>
            </a:r>
            <a:endParaRPr b="0" lang="en-JM" sz="2000" spc="-1" strike="noStrike">
              <a:latin typeface="Arial"/>
            </a:endParaRPr>
          </a:p>
          <a:p>
            <a:pPr marL="216000" indent="-216000">
              <a:lnSpc>
                <a:spcPct val="100000"/>
              </a:lnSpc>
              <a:buNone/>
            </a:pPr>
            <a:r>
              <a:rPr b="0" lang="en-US" sz="2000" spc="-1" strike="noStrike">
                <a:latin typeface="Arial"/>
              </a:rPr>
              <a:t>14.8 – Modules Practice and Quiz</a:t>
            </a:r>
            <a:endParaRPr b="0" lang="en-JM" sz="2000" spc="-1" strike="noStrike">
              <a:latin typeface="Arial"/>
            </a:endParaRPr>
          </a:p>
          <a:p>
            <a:pPr marL="216000" indent="-216000">
              <a:lnSpc>
                <a:spcPct val="100000"/>
              </a:lnSpc>
              <a:buNone/>
            </a:pPr>
            <a:r>
              <a:rPr b="0" lang="en-US" sz="2000" spc="-1" strike="noStrike">
                <a:latin typeface="Arial"/>
              </a:rPr>
              <a:t>14.8.2 – What did I learn this module? (Cont.)</a:t>
            </a:r>
            <a:endParaRPr b="0" lang="en-JM" sz="2000" spc="-1" strike="noStrike">
              <a:latin typeface="Arial"/>
            </a:endParaRPr>
          </a:p>
          <a:p>
            <a:pPr marL="216000" indent="-216000">
              <a:lnSpc>
                <a:spcPct val="100000"/>
              </a:lnSpc>
              <a:buNone/>
            </a:pPr>
            <a:r>
              <a:rPr b="0" lang="en-US" sz="2000" spc="-1" strike="noStrike">
                <a:latin typeface="Arial"/>
              </a:rPr>
              <a:t>14.8.3 - Module Quiz - Transport Layer</a:t>
            </a:r>
            <a:endParaRPr b="0" lang="en-JM" sz="2000" spc="-1" strike="noStrike">
              <a:latin typeface="Arial"/>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D41E8CE-FE2A-44C4-A2AE-23CD362E91F2}"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603" name="PlaceHolder 2"/>
          <p:cNvSpPr>
            <a:spLocks noGrp="1"/>
          </p:cNvSpPr>
          <p:nvPr>
            <p:ph type="sldImg"/>
          </p:nvPr>
        </p:nvSpPr>
        <p:spPr>
          <a:xfrm>
            <a:off x="380880" y="685800"/>
            <a:ext cx="6095520" cy="3428640"/>
          </a:xfrm>
          <a:prstGeom prst="rect">
            <a:avLst/>
          </a:prstGeom>
          <a:ln w="0">
            <a:noFill/>
          </a:ln>
        </p:spPr>
      </p:sp>
      <p:sp>
        <p:nvSpPr>
          <p:cNvPr id="604" name="PlaceHolder 3"/>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5" name="PlaceHolder 1"/>
          <p:cNvSpPr>
            <a:spLocks noGrp="1"/>
          </p:cNvSpPr>
          <p:nvPr>
            <p:ph type="sldImg"/>
          </p:nvPr>
        </p:nvSpPr>
        <p:spPr>
          <a:xfrm>
            <a:off x="380880" y="685800"/>
            <a:ext cx="6095520" cy="3428640"/>
          </a:xfrm>
          <a:prstGeom prst="rect">
            <a:avLst/>
          </a:prstGeom>
          <a:ln w="0">
            <a:noFill/>
          </a:ln>
        </p:spPr>
      </p:sp>
      <p:sp>
        <p:nvSpPr>
          <p:cNvPr id="606"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
        <p:nvSpPr>
          <p:cNvPr id="60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E407059-B316-4B3B-B339-535AFA856128}" type="slidenum">
              <a:rPr b="0" lang="en-US" sz="1200" spc="-1" strike="noStrike">
                <a:latin typeface="Times New Roman"/>
              </a:rPr>
              <a:t>&lt;number&gt;</a:t>
            </a:fld>
            <a:endParaRPr b="0" lang="en-JM"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5"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3"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7"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9"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0"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6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5"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67"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8"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9"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0"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1"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2"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9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0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0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9"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3"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5"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6"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1"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23"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4"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5"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6"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7"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8"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67"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69"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7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4"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7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0"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2"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6"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8"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9"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9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4"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96"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7"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8"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9"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00"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01"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2"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4"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2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2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2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29"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3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7"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1"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3"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4"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9"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51"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2"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3"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4"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5"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6"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9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9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9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0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0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0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0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0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2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jpeg"/><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8c6f4"/>
        </a:solidFill>
      </p:bgPr>
    </p:bg>
    <p:spTree>
      <p:nvGrpSpPr>
        <p:cNvPr id="1" name=""/>
        <p:cNvGrpSpPr/>
        <p:nvPr/>
      </p:nvGrpSpPr>
      <p:grpSpPr>
        <a:xfrm>
          <a:off x="0" y="0"/>
          <a:ext cx="0" cy="0"/>
          <a:chOff x="0" y="0"/>
          <a:chExt cx="0" cy="0"/>
        </a:xfrm>
      </p:grpSpPr>
      <p:sp>
        <p:nvSpPr>
          <p:cNvPr id="0"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164F8512-CD3C-4EC3-BADA-248EEEFC7559}" type="slidenum">
              <a:rPr b="0" lang="en-US" sz="600" spc="-1" strike="noStrike">
                <a:solidFill>
                  <a:srgbClr val="d9d9d9"/>
                </a:solidFill>
                <a:latin typeface="Arial"/>
              </a:rPr>
              <a:t>&lt;number&gt;</a:t>
            </a:fld>
            <a:endParaRPr b="0" lang="en-JM" sz="600" spc="-1" strike="noStrike">
              <a:latin typeface="Arial"/>
            </a:endParaRPr>
          </a:p>
        </p:txBody>
      </p:sp>
      <p:sp>
        <p:nvSpPr>
          <p:cNvPr id="1" name="Rectangle 4" hidden="1"/>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2" name="Group 4"/>
          <p:cNvGrpSpPr/>
          <p:nvPr/>
        </p:nvGrpSpPr>
        <p:grpSpPr>
          <a:xfrm>
            <a:off x="507960" y="4715280"/>
            <a:ext cx="339840" cy="180360"/>
            <a:chOff x="507960" y="4715280"/>
            <a:chExt cx="339840" cy="180360"/>
          </a:xfrm>
        </p:grpSpPr>
        <p:sp>
          <p:nvSpPr>
            <p:cNvPr id="3"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4"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5"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6"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7"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8"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9"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0"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1"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2"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5"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6"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17" name="Picture 2" descr=""/>
          <p:cNvPicPr/>
          <p:nvPr/>
        </p:nvPicPr>
        <p:blipFill>
          <a:blip r:embed="rId2"/>
          <a:stretch/>
        </p:blipFill>
        <p:spPr>
          <a:xfrm>
            <a:off x="0" y="0"/>
            <a:ext cx="9143640" cy="5143320"/>
          </a:xfrm>
          <a:prstGeom prst="rect">
            <a:avLst/>
          </a:prstGeom>
          <a:ln w="0">
            <a:noFill/>
          </a:ln>
        </p:spPr>
      </p:pic>
      <p:sp>
        <p:nvSpPr>
          <p:cNvPr id="18" name="PlaceHolder 1"/>
          <p:cNvSpPr>
            <a:spLocks noGrp="1"/>
          </p:cNvSpPr>
          <p:nvPr>
            <p:ph type="body"/>
          </p:nvPr>
        </p:nvSpPr>
        <p:spPr>
          <a:xfrm>
            <a:off x="469440" y="4049640"/>
            <a:ext cx="4318920" cy="287640"/>
          </a:xfrm>
          <a:prstGeom prst="rect">
            <a:avLst/>
          </a:prstGeom>
          <a:noFill/>
          <a:ln w="0">
            <a:noFill/>
          </a:ln>
        </p:spPr>
        <p:txBody>
          <a:bodyPr anchor="t">
            <a:noAutofit/>
          </a:bodyPr>
          <a:p>
            <a:pPr>
              <a:lnSpc>
                <a:spcPct val="95000"/>
              </a:lnSpc>
              <a:spcBef>
                <a:spcPts val="1074"/>
              </a:spcBef>
              <a:buNone/>
              <a:tabLst>
                <a:tab algn="l" pos="0"/>
              </a:tabLst>
            </a:pPr>
            <a:r>
              <a:rPr b="0" lang="en-US" sz="1200" spc="-1" strike="noStrike">
                <a:solidFill>
                  <a:srgbClr val="38c6f4"/>
                </a:solidFill>
                <a:latin typeface="Arial"/>
              </a:rPr>
              <a:t>Click to edit Master text styles</a:t>
            </a:r>
            <a:endParaRPr b="0" lang="en-US" sz="1200" spc="-1" strike="noStrike">
              <a:solidFill>
                <a:srgbClr val="58585b"/>
              </a:solidFill>
              <a:latin typeface="Arial"/>
            </a:endParaRPr>
          </a:p>
        </p:txBody>
      </p:sp>
      <p:sp>
        <p:nvSpPr>
          <p:cNvPr id="19" name="PlaceHolder 2"/>
          <p:cNvSpPr>
            <a:spLocks noGrp="1"/>
          </p:cNvSpPr>
          <p:nvPr>
            <p:ph type="body"/>
          </p:nvPr>
        </p:nvSpPr>
        <p:spPr>
          <a:xfrm>
            <a:off x="469440" y="4289400"/>
            <a:ext cx="4318920" cy="287640"/>
          </a:xfrm>
          <a:prstGeom prst="rect">
            <a:avLst/>
          </a:prstGeom>
          <a:noFill/>
          <a:ln w="0">
            <a:noFill/>
          </a:ln>
        </p:spPr>
        <p:txBody>
          <a:bodyPr anchor="t">
            <a:noAutofit/>
          </a:bodyPr>
          <a:p>
            <a:pPr>
              <a:lnSpc>
                <a:spcPct val="95000"/>
              </a:lnSpc>
              <a:spcBef>
                <a:spcPts val="1074"/>
              </a:spcBef>
              <a:buNone/>
              <a:tabLst>
                <a:tab algn="l" pos="0"/>
              </a:tabLst>
            </a:pPr>
            <a:r>
              <a:rPr b="0" lang="en-US" sz="1200" spc="-1" strike="noStrike">
                <a:solidFill>
                  <a:srgbClr val="38c6f4"/>
                </a:solidFill>
                <a:latin typeface="Arial"/>
              </a:rPr>
              <a:t>Click to edit Master text styles</a:t>
            </a:r>
            <a:endParaRPr b="0" lang="en-US" sz="1200" spc="-1" strike="noStrike">
              <a:solidFill>
                <a:srgbClr val="58585b"/>
              </a:solidFill>
              <a:latin typeface="Arial"/>
            </a:endParaRPr>
          </a:p>
        </p:txBody>
      </p:sp>
      <p:sp>
        <p:nvSpPr>
          <p:cNvPr id="20" name="PlaceHolder 3"/>
          <p:cNvSpPr>
            <a:spLocks noGrp="1"/>
          </p:cNvSpPr>
          <p:nvPr>
            <p:ph type="body"/>
          </p:nvPr>
        </p:nvSpPr>
        <p:spPr>
          <a:xfrm>
            <a:off x="463320" y="2872080"/>
            <a:ext cx="5924880" cy="298800"/>
          </a:xfrm>
          <a:prstGeom prst="rect">
            <a:avLst/>
          </a:prstGeom>
          <a:noFill/>
          <a:ln w="0">
            <a:noFill/>
          </a:ln>
        </p:spPr>
        <p:txBody>
          <a:bodyPr anchor="t">
            <a:noAutofit/>
          </a:bodyPr>
          <a:p>
            <a:pPr>
              <a:lnSpc>
                <a:spcPct val="95000"/>
              </a:lnSpc>
              <a:spcBef>
                <a:spcPts val="1074"/>
              </a:spcBef>
              <a:buNone/>
              <a:tabLst>
                <a:tab algn="l" pos="0"/>
              </a:tabLst>
            </a:pPr>
            <a:r>
              <a:rPr b="0" lang="en-US" sz="2000" spc="-1" strike="noStrike">
                <a:solidFill>
                  <a:srgbClr val="81c569"/>
                </a:solidFill>
                <a:latin typeface="Arial"/>
                <a:ea typeface="ＭＳ Ｐゴシック"/>
              </a:rPr>
              <a:t>Click to edit Master text styles</a:t>
            </a:r>
            <a:endParaRPr b="0" lang="en-US" sz="2000" spc="-1" strike="noStrike">
              <a:solidFill>
                <a:srgbClr val="58585b"/>
              </a:solidFill>
              <a:latin typeface="Arial"/>
            </a:endParaRPr>
          </a:p>
        </p:txBody>
      </p:sp>
      <p:sp>
        <p:nvSpPr>
          <p:cNvPr id="21" name="PlaceHolder 4"/>
          <p:cNvSpPr>
            <a:spLocks noGrp="1"/>
          </p:cNvSpPr>
          <p:nvPr>
            <p:ph type="title"/>
          </p:nvPr>
        </p:nvSpPr>
        <p:spPr>
          <a:xfrm>
            <a:off x="425880" y="2300760"/>
            <a:ext cx="5955120" cy="644400"/>
          </a:xfrm>
          <a:prstGeom prst="rect">
            <a:avLst/>
          </a:prstGeom>
          <a:noFill/>
          <a:ln w="0">
            <a:noFill/>
          </a:ln>
        </p:spPr>
        <p:txBody>
          <a:bodyPr numCol="1" spcCol="0" anchor="b">
            <a:noAutofit/>
          </a:bodyPr>
          <a:p>
            <a:pPr>
              <a:lnSpc>
                <a:spcPct val="90000"/>
              </a:lnSpc>
              <a:buNone/>
              <a:tabLst>
                <a:tab algn="l" pos="0"/>
              </a:tabLst>
            </a:pPr>
            <a:r>
              <a:rPr b="0" lang="en-US" sz="3600" spc="-1" strike="noStrike">
                <a:solidFill>
                  <a:srgbClr val="38c6f4"/>
                </a:solidFill>
                <a:latin typeface="Arial"/>
                <a:ea typeface="ＭＳ Ｐゴシック"/>
              </a:rPr>
              <a:t>Click to edit Master title style</a:t>
            </a:r>
            <a:endParaRPr b="0" lang="en-US" sz="3600" spc="-1" strike="noStrike">
              <a:solidFill>
                <a:srgbClr val="58585b"/>
              </a:solidFill>
              <a:latin typeface="Arial"/>
            </a:endParaRPr>
          </a:p>
        </p:txBody>
      </p:sp>
      <p:grpSp>
        <p:nvGrpSpPr>
          <p:cNvPr id="22" name="Group 4"/>
          <p:cNvGrpSpPr/>
          <p:nvPr/>
        </p:nvGrpSpPr>
        <p:grpSpPr>
          <a:xfrm>
            <a:off x="492120" y="395280"/>
            <a:ext cx="796680" cy="423360"/>
            <a:chOff x="492120" y="395280"/>
            <a:chExt cx="796680" cy="423360"/>
          </a:xfrm>
        </p:grpSpPr>
        <p:sp>
          <p:nvSpPr>
            <p:cNvPr id="23" name="Rectangle 5"/>
            <p:cNvSpPr/>
            <p:nvPr/>
          </p:nvSpPr>
          <p:spPr>
            <a:xfrm>
              <a:off x="717480" y="676440"/>
              <a:ext cx="34560" cy="139320"/>
            </a:xfrm>
            <a:prstGeom prst="rect">
              <a:avLst/>
            </a:prstGeom>
            <a:solidFill>
              <a:schemeClr val="accent5"/>
            </a:solidFill>
            <a:ln w="0">
              <a:noFill/>
            </a:ln>
          </p:spPr>
          <p:style>
            <a:lnRef idx="0"/>
            <a:fillRef idx="0"/>
            <a:effectRef idx="0"/>
            <a:fontRef idx="minor"/>
          </p:style>
        </p:sp>
        <p:sp>
          <p:nvSpPr>
            <p:cNvPr id="24" name="Freeform 6"/>
            <p:cNvSpPr/>
            <p:nvPr/>
          </p:nvSpPr>
          <p:spPr>
            <a:xfrm>
              <a:off x="928800" y="674640"/>
              <a:ext cx="104400" cy="1440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5" name="Freeform 7"/>
            <p:cNvSpPr/>
            <p:nvPr/>
          </p:nvSpPr>
          <p:spPr>
            <a:xfrm>
              <a:off x="563400" y="674640"/>
              <a:ext cx="105840" cy="1440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 name="Freeform 8"/>
            <p:cNvSpPr/>
            <p:nvPr/>
          </p:nvSpPr>
          <p:spPr>
            <a:xfrm>
              <a:off x="1071720" y="674640"/>
              <a:ext cx="144000" cy="1440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7" name="Freeform 9"/>
            <p:cNvSpPr/>
            <p:nvPr/>
          </p:nvSpPr>
          <p:spPr>
            <a:xfrm>
              <a:off x="798480" y="674640"/>
              <a:ext cx="95040" cy="1440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8" name="Freeform 10"/>
            <p:cNvSpPr/>
            <p:nvPr/>
          </p:nvSpPr>
          <p:spPr>
            <a:xfrm>
              <a:off x="49212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9" name="Freeform 11"/>
            <p:cNvSpPr/>
            <p:nvPr/>
          </p:nvSpPr>
          <p:spPr>
            <a:xfrm>
              <a:off x="58752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0" name="Freeform 12"/>
            <p:cNvSpPr/>
            <p:nvPr/>
          </p:nvSpPr>
          <p:spPr>
            <a:xfrm>
              <a:off x="682560" y="395280"/>
              <a:ext cx="34560" cy="22032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1" name="Freeform 13"/>
            <p:cNvSpPr/>
            <p:nvPr/>
          </p:nvSpPr>
          <p:spPr>
            <a:xfrm>
              <a:off x="77796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2" name="Freeform 14"/>
            <p:cNvSpPr/>
            <p:nvPr/>
          </p:nvSpPr>
          <p:spPr>
            <a:xfrm>
              <a:off x="87300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33" name="Freeform 15"/>
            <p:cNvSpPr/>
            <p:nvPr/>
          </p:nvSpPr>
          <p:spPr>
            <a:xfrm>
              <a:off x="96840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4" name="Freeform 16"/>
            <p:cNvSpPr/>
            <p:nvPr/>
          </p:nvSpPr>
          <p:spPr>
            <a:xfrm>
              <a:off x="1063800" y="395280"/>
              <a:ext cx="34560" cy="22032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5" name="Freeform 17"/>
            <p:cNvSpPr/>
            <p:nvPr/>
          </p:nvSpPr>
          <p:spPr>
            <a:xfrm>
              <a:off x="115884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6" name="Freeform 18"/>
            <p:cNvSpPr/>
            <p:nvPr/>
          </p:nvSpPr>
          <p:spPr>
            <a:xfrm>
              <a:off x="1254240" y="509760"/>
              <a:ext cx="34560" cy="709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2CCEAFC2-DDAE-4695-9F78-BDC448E52E2B}" type="slidenum">
              <a:rPr b="0" lang="en-US" sz="600" spc="-1" strike="noStrike">
                <a:solidFill>
                  <a:srgbClr val="d9d9d9"/>
                </a:solidFill>
                <a:latin typeface="Arial"/>
              </a:rPr>
              <a:t>&lt;number&gt;</a:t>
            </a:fld>
            <a:endParaRPr b="0" lang="en-JM" sz="600" spc="-1" strike="noStrike">
              <a:latin typeface="Arial"/>
            </a:endParaRPr>
          </a:p>
        </p:txBody>
      </p:sp>
      <p:sp>
        <p:nvSpPr>
          <p:cNvPr id="74" name="Rectangle 4"/>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75" name="Group 4"/>
          <p:cNvGrpSpPr/>
          <p:nvPr/>
        </p:nvGrpSpPr>
        <p:grpSpPr>
          <a:xfrm>
            <a:off x="507960" y="4715280"/>
            <a:ext cx="339840" cy="180360"/>
            <a:chOff x="507960" y="4715280"/>
            <a:chExt cx="339840" cy="180360"/>
          </a:xfrm>
        </p:grpSpPr>
        <p:sp>
          <p:nvSpPr>
            <p:cNvPr id="76"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77"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78"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79"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80"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81"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82"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3"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84"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5"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86"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7"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88"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9"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90" name="PlaceHolder 1"/>
          <p:cNvSpPr>
            <a:spLocks noGrp="1"/>
          </p:cNvSpPr>
          <p:nvPr>
            <p:ph type="sldNum"/>
          </p:nvPr>
        </p:nvSpPr>
        <p:spPr>
          <a:xfrm>
            <a:off x="8473320" y="4954320"/>
            <a:ext cx="676440" cy="189000"/>
          </a:xfrm>
          <a:prstGeom prst="rect">
            <a:avLst/>
          </a:prstGeom>
          <a:noFill/>
          <a:ln w="0">
            <a:noFill/>
          </a:ln>
        </p:spPr>
        <p:txBody>
          <a:bodyPr anchor="ctr">
            <a:noAutofit/>
          </a:bodyPr>
          <a:p>
            <a:pPr algn="r">
              <a:lnSpc>
                <a:spcPct val="100000"/>
              </a:lnSpc>
              <a:buNone/>
            </a:pPr>
            <a:fld id="{F8BAB022-5685-4A6D-A813-FB1BD86773C7}" type="slidenum">
              <a:rPr b="0" lang="en-US" sz="530" spc="-1" strike="noStrike">
                <a:solidFill>
                  <a:srgbClr val="595959"/>
                </a:solidFill>
                <a:latin typeface="Arial"/>
                <a:ea typeface="ＭＳ Ｐゴシック"/>
              </a:rPr>
              <a:t>&lt;number&gt;</a:t>
            </a:fld>
            <a:endParaRPr b="0" lang="en-JM" sz="530" spc="-1" strike="noStrike">
              <a:latin typeface="Times New Roman"/>
            </a:endParaRPr>
          </a:p>
        </p:txBody>
      </p:sp>
      <p:sp>
        <p:nvSpPr>
          <p:cNvPr id="91" name="PlaceHolder 2"/>
          <p:cNvSpPr>
            <a:spLocks noGrp="1"/>
          </p:cNvSpPr>
          <p:nvPr>
            <p:ph type="body"/>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Wingdings" charset="2"/>
              <a:buChar char=""/>
            </a:pPr>
            <a:r>
              <a:rPr b="0" lang="en-US" sz="1500" spc="-1" strike="noStrike">
                <a:solidFill>
                  <a:srgbClr val="000000"/>
                </a:solidFill>
                <a:latin typeface="Arial"/>
                <a:ea typeface="ＭＳ Ｐゴシック"/>
              </a:rPr>
              <a:t>Click to edit Master text styles</a:t>
            </a:r>
            <a:endParaRPr b="0" lang="en-US" sz="15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pPr>
            <a:r>
              <a:rPr b="0" lang="en-US" sz="1400" spc="-1" strike="noStrike">
                <a:solidFill>
                  <a:srgbClr val="000000"/>
                </a:solidFill>
                <a:latin typeface="Arial"/>
                <a:ea typeface="ＭＳ Ｐゴシック"/>
              </a:rPr>
              <a:t>Second level</a:t>
            </a:r>
            <a:endParaRPr b="0" lang="en-US" sz="14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pPr>
            <a:r>
              <a:rPr b="0" lang="en-US" sz="1200" spc="-1" strike="noStrike">
                <a:solidFill>
                  <a:srgbClr val="000000"/>
                </a:solidFill>
                <a:latin typeface="Arial"/>
                <a:ea typeface="ＭＳ Ｐゴシック"/>
              </a:rPr>
              <a:t>Third level</a:t>
            </a:r>
            <a:endParaRPr b="0" lang="en-US" sz="1200" spc="-1" strike="noStrike">
              <a:solidFill>
                <a:srgbClr val="58585b"/>
              </a:solidFill>
              <a:latin typeface="Arial"/>
            </a:endParaRPr>
          </a:p>
          <a:p>
            <a:pPr lvl="3" marL="503280" indent="-169920">
              <a:lnSpc>
                <a:spcPct val="100000"/>
              </a:lnSpc>
              <a:spcBef>
                <a:spcPts val="300"/>
              </a:spcBef>
              <a:spcAft>
                <a:spcPts val="300"/>
              </a:spcAft>
              <a:buClr>
                <a:srgbClr val="000000"/>
              </a:buClr>
              <a:buFont typeface="Arial"/>
              <a:buChar char="•"/>
            </a:pPr>
            <a:r>
              <a:rPr b="0" lang="en-US" sz="1100" spc="-1" strike="noStrike">
                <a:solidFill>
                  <a:srgbClr val="000000"/>
                </a:solidFill>
                <a:latin typeface="Arial"/>
                <a:ea typeface="ＭＳ Ｐゴシック"/>
              </a:rPr>
              <a:t>Fourth level</a:t>
            </a:r>
            <a:endParaRPr b="0" lang="en-US" sz="1100" spc="-1" strike="noStrike">
              <a:solidFill>
                <a:srgbClr val="58585b"/>
              </a:solidFill>
              <a:latin typeface="Arial"/>
            </a:endParaRPr>
          </a:p>
        </p:txBody>
      </p:sp>
      <p:sp>
        <p:nvSpPr>
          <p:cNvPr id="92" name="PlaceHolder 3"/>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Click to edit Master title style</a:t>
            </a:r>
            <a:endParaRPr b="0" lang="en-US" sz="24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9"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7E405CAB-EAF4-4A2A-89A5-586615C000CC}" type="slidenum">
              <a:rPr b="0" lang="en-US" sz="600" spc="-1" strike="noStrike">
                <a:solidFill>
                  <a:srgbClr val="d9d9d9"/>
                </a:solidFill>
                <a:latin typeface="Arial"/>
              </a:rPr>
              <a:t>&lt;number&gt;</a:t>
            </a:fld>
            <a:endParaRPr b="0" lang="en-JM" sz="600" spc="-1" strike="noStrike">
              <a:latin typeface="Arial"/>
            </a:endParaRPr>
          </a:p>
        </p:txBody>
      </p:sp>
      <p:sp>
        <p:nvSpPr>
          <p:cNvPr id="130" name="Rectangle 4" hidden="1"/>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131" name="Group 4"/>
          <p:cNvGrpSpPr/>
          <p:nvPr/>
        </p:nvGrpSpPr>
        <p:grpSpPr>
          <a:xfrm>
            <a:off x="507960" y="4715280"/>
            <a:ext cx="339840" cy="180360"/>
            <a:chOff x="507960" y="4715280"/>
            <a:chExt cx="339840" cy="180360"/>
          </a:xfrm>
        </p:grpSpPr>
        <p:sp>
          <p:nvSpPr>
            <p:cNvPr id="132"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133"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34"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35"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136"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137"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8"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39"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40"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1"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42"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3"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44"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5"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146" name="Rectangle 6"/>
          <p:cNvSpPr/>
          <p:nvPr/>
        </p:nvSpPr>
        <p:spPr>
          <a:xfrm>
            <a:off x="0" y="0"/>
            <a:ext cx="9143640" cy="5142960"/>
          </a:xfrm>
          <a:prstGeom prst="rect">
            <a:avLst/>
          </a:prstGeom>
          <a:solidFill>
            <a:srgbClr val="00394f"/>
          </a:solidFill>
          <a:ln>
            <a:noFill/>
          </a:ln>
        </p:spPr>
        <p:style>
          <a:lnRef idx="2">
            <a:schemeClr val="accent1">
              <a:shade val="50000"/>
            </a:schemeClr>
          </a:lnRef>
          <a:fillRef idx="1">
            <a:schemeClr val="accent1"/>
          </a:fillRef>
          <a:effectRef idx="0">
            <a:schemeClr val="accent1"/>
          </a:effectRef>
          <a:fontRef idx="minor"/>
        </p:style>
      </p:sp>
      <p:sp>
        <p:nvSpPr>
          <p:cNvPr id="147" name="PlaceHolder 1"/>
          <p:cNvSpPr>
            <a:spLocks noGrp="1"/>
          </p:cNvSpPr>
          <p:nvPr>
            <p:ph type="title"/>
          </p:nvPr>
        </p:nvSpPr>
        <p:spPr>
          <a:xfrm>
            <a:off x="416520" y="915480"/>
            <a:ext cx="7597800" cy="256968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38c6f4"/>
                </a:solidFill>
                <a:latin typeface="Arial"/>
                <a:ea typeface="ＭＳ Ｐゴシック"/>
              </a:rPr>
              <a:t>Click to edit Master title style</a:t>
            </a:r>
            <a:endParaRPr b="0" lang="en-US" sz="4600" spc="-1" strike="noStrike">
              <a:solidFill>
                <a:srgbClr val="58585b"/>
              </a:solidFill>
              <a:latin typeface="Arial"/>
            </a:endParaRPr>
          </a:p>
        </p:txBody>
      </p:sp>
      <p:sp>
        <p:nvSpPr>
          <p:cNvPr id="148"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F9A27BFE-F13B-4274-9C24-C83D8278D357}" type="slidenum">
              <a:rPr b="0" lang="en-US" sz="600" spc="-1" strike="noStrike">
                <a:solidFill>
                  <a:srgbClr val="086d8e"/>
                </a:solidFill>
                <a:latin typeface="Arial"/>
              </a:rPr>
              <a:t>&lt;number&gt;</a:t>
            </a:fld>
            <a:endParaRPr b="0" lang="en-JM" sz="600" spc="-1" strike="noStrike">
              <a:latin typeface="Arial"/>
            </a:endParaRPr>
          </a:p>
        </p:txBody>
      </p:sp>
      <p:sp>
        <p:nvSpPr>
          <p:cNvPr id="149" name="Rectangle 4"/>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086d8e"/>
                </a:solidFill>
                <a:latin typeface="Arial"/>
              </a:rPr>
              <a:t>© 2016  Cisco and/or its affiliates. All rights reserved.   Cisco Confidential</a:t>
            </a:r>
            <a:endParaRPr b="0" lang="en-JM" sz="600" spc="-1" strike="noStrike">
              <a:latin typeface="Arial"/>
            </a:endParaRPr>
          </a:p>
        </p:txBody>
      </p:sp>
      <p:grpSp>
        <p:nvGrpSpPr>
          <p:cNvPr id="150" name="Group 4"/>
          <p:cNvGrpSpPr/>
          <p:nvPr/>
        </p:nvGrpSpPr>
        <p:grpSpPr>
          <a:xfrm>
            <a:off x="507960" y="4715280"/>
            <a:ext cx="339840" cy="180360"/>
            <a:chOff x="507960" y="4715280"/>
            <a:chExt cx="339840" cy="180360"/>
          </a:xfrm>
        </p:grpSpPr>
        <p:sp>
          <p:nvSpPr>
            <p:cNvPr id="151" name="Rectangle 5"/>
            <p:cNvSpPr/>
            <p:nvPr/>
          </p:nvSpPr>
          <p:spPr>
            <a:xfrm>
              <a:off x="604440" y="4835160"/>
              <a:ext cx="14400" cy="59400"/>
            </a:xfrm>
            <a:prstGeom prst="rect">
              <a:avLst/>
            </a:prstGeom>
            <a:solidFill>
              <a:srgbClr val="086d8e"/>
            </a:solidFill>
            <a:ln w="0">
              <a:noFill/>
            </a:ln>
          </p:spPr>
          <p:style>
            <a:lnRef idx="0"/>
            <a:fillRef idx="0"/>
            <a:effectRef idx="0"/>
            <a:fontRef idx="minor"/>
          </p:style>
        </p:sp>
        <p:sp>
          <p:nvSpPr>
            <p:cNvPr id="152"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153"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154"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w="0">
              <a:noFill/>
            </a:ln>
          </p:spPr>
          <p:style>
            <a:lnRef idx="0"/>
            <a:fillRef idx="0"/>
            <a:effectRef idx="0"/>
            <a:fontRef idx="minor"/>
          </p:style>
        </p:sp>
        <p:sp>
          <p:nvSpPr>
            <p:cNvPr id="155"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w="0">
              <a:noFill/>
            </a:ln>
          </p:spPr>
          <p:style>
            <a:lnRef idx="0"/>
            <a:fillRef idx="0"/>
            <a:effectRef idx="0"/>
            <a:fontRef idx="minor"/>
          </p:style>
        </p:sp>
        <p:sp>
          <p:nvSpPr>
            <p:cNvPr id="156"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157"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58"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159"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0"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161"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2"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163"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4"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w="0">
              <a:noFill/>
            </a:ln>
          </p:spPr>
          <p:style>
            <a:lnRef idx="0"/>
            <a:fillRef idx="0"/>
            <a:effectRef idx="0"/>
            <a:fontRef idx="minor"/>
          </p:style>
        </p:sp>
      </p:grpSp>
      <p:sp>
        <p:nvSpPr>
          <p:cNvPr id="16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500" spc="-1" strike="noStrike">
                <a:solidFill>
                  <a:srgbClr val="58585b"/>
                </a:solidFill>
                <a:latin typeface="Arial"/>
              </a:rPr>
              <a:t>Click to edit the outline text format</a:t>
            </a:r>
            <a:endParaRPr b="0" lang="en-US" sz="1500" spc="-1" strike="noStrike">
              <a:solidFill>
                <a:srgbClr val="58585b"/>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58585b"/>
                </a:solidFill>
                <a:latin typeface="Arial"/>
              </a:rPr>
              <a:t>Second Outline Level</a:t>
            </a:r>
            <a:endParaRPr b="0" lang="en-US" sz="1200" spc="-1" strike="noStrike">
              <a:solidFill>
                <a:srgbClr val="58585b"/>
              </a:solidFill>
              <a:latin typeface="Arial"/>
            </a:endParaRPr>
          </a:p>
          <a:p>
            <a:pPr lvl="2" marL="1296000" indent="-288000">
              <a:spcBef>
                <a:spcPts val="850"/>
              </a:spcBef>
              <a:buClr>
                <a:srgbClr val="000000"/>
              </a:buClr>
              <a:buSzPct val="45000"/>
              <a:buFont typeface="Wingdings" charset="2"/>
              <a:buChar char=""/>
            </a:pPr>
            <a:r>
              <a:rPr b="0" lang="en-US" sz="1100" spc="-1" strike="noStrike">
                <a:solidFill>
                  <a:srgbClr val="58585b"/>
                </a:solidFill>
                <a:latin typeface="Arial"/>
              </a:rPr>
              <a:t>Third Outline Level</a:t>
            </a:r>
            <a:endParaRPr b="0" lang="en-US" sz="1100" spc="-1" strike="noStrike">
              <a:solidFill>
                <a:srgbClr val="58585b"/>
              </a:solidFill>
              <a:latin typeface="Arial"/>
            </a:endParaRPr>
          </a:p>
          <a:p>
            <a:pPr lvl="3" marL="1728000" indent="-216000">
              <a:spcBef>
                <a:spcPts val="567"/>
              </a:spcBef>
              <a:buClr>
                <a:srgbClr val="000000"/>
              </a:buClr>
              <a:buSzPct val="75000"/>
              <a:buFont typeface="Symbol" charset="2"/>
              <a:buChar char=""/>
            </a:pPr>
            <a:r>
              <a:rPr b="0" lang="en-US" sz="1100" spc="-1" strike="noStrike">
                <a:solidFill>
                  <a:srgbClr val="58585b"/>
                </a:solidFill>
                <a:latin typeface="Arial"/>
              </a:rPr>
              <a:t>Fourth Outline Level</a:t>
            </a:r>
            <a:endParaRPr b="0" lang="en-US" sz="1100" spc="-1" strike="noStrike">
              <a:solidFill>
                <a:srgbClr val="58585b"/>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58585b"/>
                </a:solidFill>
                <a:latin typeface="Arial"/>
              </a:rPr>
              <a:t>Fifth Outline Level</a:t>
            </a:r>
            <a:endParaRPr b="0" lang="en-US" sz="2000" spc="-1" strike="noStrike">
              <a:solidFill>
                <a:srgbClr val="58585b"/>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58585b"/>
                </a:solidFill>
                <a:latin typeface="Arial"/>
              </a:rPr>
              <a:t>Sixth Outline Level</a:t>
            </a:r>
            <a:endParaRPr b="0" lang="en-US" sz="2000" spc="-1" strike="noStrike">
              <a:solidFill>
                <a:srgbClr val="58585b"/>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58585b"/>
                </a:solidFill>
                <a:latin typeface="Arial"/>
              </a:rPr>
              <a:t>Seventh Outline Level</a:t>
            </a:r>
            <a:endParaRPr b="0" lang="en-US" sz="20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2"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309C4D3B-70DF-4B04-9AD6-04D9A07F0499}" type="slidenum">
              <a:rPr b="0" lang="en-US" sz="600" spc="-1" strike="noStrike">
                <a:solidFill>
                  <a:srgbClr val="d9d9d9"/>
                </a:solidFill>
                <a:latin typeface="Arial"/>
              </a:rPr>
              <a:t>&lt;number&gt;</a:t>
            </a:fld>
            <a:endParaRPr b="0" lang="en-JM" sz="600" spc="-1" strike="noStrike">
              <a:latin typeface="Arial"/>
            </a:endParaRPr>
          </a:p>
        </p:txBody>
      </p:sp>
      <p:sp>
        <p:nvSpPr>
          <p:cNvPr id="203" name="Rectangle 4"/>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204" name="Group 4"/>
          <p:cNvGrpSpPr/>
          <p:nvPr/>
        </p:nvGrpSpPr>
        <p:grpSpPr>
          <a:xfrm>
            <a:off x="507960" y="4715280"/>
            <a:ext cx="339840" cy="180360"/>
            <a:chOff x="507960" y="4715280"/>
            <a:chExt cx="339840" cy="180360"/>
          </a:xfrm>
        </p:grpSpPr>
        <p:sp>
          <p:nvSpPr>
            <p:cNvPr id="205"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206"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07"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08"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09"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10"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11"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2"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13"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4"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15"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6"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17"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8"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219" name="PlaceHolder 1"/>
          <p:cNvSpPr>
            <a:spLocks noGrp="1"/>
          </p:cNvSpPr>
          <p:nvPr>
            <p:ph type="body"/>
          </p:nvPr>
        </p:nvSpPr>
        <p:spPr>
          <a:xfrm>
            <a:off x="474840" y="1347840"/>
            <a:ext cx="8279640" cy="3073680"/>
          </a:xfrm>
          <a:prstGeom prst="rect">
            <a:avLst/>
          </a:prstGeom>
          <a:noFill/>
          <a:ln w="0">
            <a:noFill/>
          </a:ln>
        </p:spPr>
        <p:txBody>
          <a:bodyPr anchor="t">
            <a:noAutofit/>
          </a:bodyPr>
          <a:p>
            <a:pPr marL="285840" indent="-285840" algn="ctr">
              <a:lnSpc>
                <a:spcPct val="100000"/>
              </a:lnSpc>
              <a:spcBef>
                <a:spcPts val="400"/>
              </a:spcBef>
              <a:buNone/>
              <a:tabLst>
                <a:tab algn="l" pos="0"/>
              </a:tabLst>
            </a:pPr>
            <a:r>
              <a:rPr b="0" lang="en-US" sz="2000" spc="-1" strike="noStrike">
                <a:solidFill>
                  <a:srgbClr val="ffffff"/>
                </a:solidFill>
                <a:latin typeface="Arial"/>
                <a:ea typeface="ＭＳ Ｐゴシック"/>
              </a:rPr>
              <a:t>Click to edit Master text styles</a:t>
            </a:r>
            <a:endParaRPr b="0" lang="en-US" sz="2000" spc="-1" strike="noStrike">
              <a:solidFill>
                <a:srgbClr val="58585b"/>
              </a:solidFill>
              <a:latin typeface="Arial"/>
            </a:endParaRPr>
          </a:p>
        </p:txBody>
      </p:sp>
      <p:sp>
        <p:nvSpPr>
          <p:cNvPr id="220" name="PlaceHolder 2"/>
          <p:cNvSpPr>
            <a:spLocks noGrp="1"/>
          </p:cNvSpPr>
          <p:nvPr>
            <p:ph type="title"/>
          </p:nvPr>
        </p:nvSpPr>
        <p:spPr>
          <a:xfrm>
            <a:off x="437760" y="341280"/>
            <a:ext cx="8345160" cy="731520"/>
          </a:xfrm>
          <a:prstGeom prst="rect">
            <a:avLst/>
          </a:prstGeom>
          <a:noFill/>
          <a:ln w="0">
            <a:noFill/>
          </a:ln>
        </p:spPr>
        <p:txBody>
          <a:bodyPr numCol="1" spcCol="0" anchor="ctr">
            <a:noAutofit/>
          </a:bodyPr>
          <a:p>
            <a:pPr>
              <a:lnSpc>
                <a:spcPct val="80000"/>
              </a:lnSpc>
              <a:buNone/>
            </a:pPr>
            <a:r>
              <a:rPr b="0" lang="en-US" sz="3200" spc="-1" strike="noStrike">
                <a:solidFill>
                  <a:srgbClr val="004c69"/>
                </a:solidFill>
                <a:latin typeface="Arial"/>
                <a:ea typeface="ＭＳ Ｐゴシック"/>
              </a:rPr>
              <a:t>Click to edit Master title style</a:t>
            </a:r>
            <a:endParaRPr b="0" lang="en-US" sz="32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8c6f4"/>
        </a:solidFill>
      </p:bgPr>
    </p:bg>
    <p:spTree>
      <p:nvGrpSpPr>
        <p:cNvPr id="1" name=""/>
        <p:cNvGrpSpPr/>
        <p:nvPr/>
      </p:nvGrpSpPr>
      <p:grpSpPr>
        <a:xfrm>
          <a:off x="0" y="0"/>
          <a:ext cx="0" cy="0"/>
          <a:chOff x="0" y="0"/>
          <a:chExt cx="0" cy="0"/>
        </a:xfrm>
      </p:grpSpPr>
      <p:sp>
        <p:nvSpPr>
          <p:cNvPr id="257"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CCB43A6D-6B1A-4D40-98CF-481604936AA3}" type="slidenum">
              <a:rPr b="0" lang="en-US" sz="600" spc="-1" strike="noStrike">
                <a:solidFill>
                  <a:srgbClr val="d9d9d9"/>
                </a:solidFill>
                <a:latin typeface="Arial"/>
              </a:rPr>
              <a:t>&lt;number&gt;</a:t>
            </a:fld>
            <a:endParaRPr b="0" lang="en-JM" sz="600" spc="-1" strike="noStrike">
              <a:latin typeface="Arial"/>
            </a:endParaRPr>
          </a:p>
        </p:txBody>
      </p:sp>
      <p:sp>
        <p:nvSpPr>
          <p:cNvPr id="258" name="Rectangle 4" hidden="1"/>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259" name="Group 4"/>
          <p:cNvGrpSpPr/>
          <p:nvPr/>
        </p:nvGrpSpPr>
        <p:grpSpPr>
          <a:xfrm>
            <a:off x="507960" y="4715280"/>
            <a:ext cx="339840" cy="180360"/>
            <a:chOff x="507960" y="4715280"/>
            <a:chExt cx="339840" cy="180360"/>
          </a:xfrm>
        </p:grpSpPr>
        <p:sp>
          <p:nvSpPr>
            <p:cNvPr id="260"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261"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2"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3"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64"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65"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66"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67"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68"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69"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70"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71"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72"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73"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274" name="Picture 1" descr=""/>
          <p:cNvPicPr/>
          <p:nvPr/>
        </p:nvPicPr>
        <p:blipFill>
          <a:blip r:embed="rId2"/>
          <a:stretch/>
        </p:blipFill>
        <p:spPr>
          <a:xfrm>
            <a:off x="0" y="0"/>
            <a:ext cx="9143640" cy="5165640"/>
          </a:xfrm>
          <a:prstGeom prst="rect">
            <a:avLst/>
          </a:prstGeom>
          <a:ln w="0">
            <a:noFill/>
          </a:ln>
        </p:spPr>
      </p:pic>
      <p:grpSp>
        <p:nvGrpSpPr>
          <p:cNvPr id="275" name="Group 4"/>
          <p:cNvGrpSpPr/>
          <p:nvPr/>
        </p:nvGrpSpPr>
        <p:grpSpPr>
          <a:xfrm>
            <a:off x="3746160" y="2129760"/>
            <a:ext cx="1617840" cy="860400"/>
            <a:chOff x="3746160" y="2129760"/>
            <a:chExt cx="1617840" cy="860400"/>
          </a:xfrm>
        </p:grpSpPr>
        <p:sp>
          <p:nvSpPr>
            <p:cNvPr id="276" name="Rectangle 5"/>
            <p:cNvSpPr/>
            <p:nvPr/>
          </p:nvSpPr>
          <p:spPr>
            <a:xfrm>
              <a:off x="4204080" y="2700360"/>
              <a:ext cx="70560" cy="283320"/>
            </a:xfrm>
            <a:prstGeom prst="rect">
              <a:avLst/>
            </a:prstGeom>
            <a:solidFill>
              <a:schemeClr val="accent5"/>
            </a:solidFill>
            <a:ln w="0">
              <a:noFill/>
            </a:ln>
          </p:spPr>
          <p:style>
            <a:lnRef idx="0"/>
            <a:fillRef idx="0"/>
            <a:effectRef idx="0"/>
            <a:fontRef idx="minor"/>
          </p:style>
        </p:sp>
        <p:sp>
          <p:nvSpPr>
            <p:cNvPr id="277" name="Freeform 6"/>
            <p:cNvSpPr/>
            <p:nvPr/>
          </p:nvSpPr>
          <p:spPr>
            <a:xfrm>
              <a:off x="4632480" y="2697120"/>
              <a:ext cx="212400" cy="29304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78" name="Freeform 7"/>
            <p:cNvSpPr/>
            <p:nvPr/>
          </p:nvSpPr>
          <p:spPr>
            <a:xfrm>
              <a:off x="3891240" y="2697120"/>
              <a:ext cx="215640" cy="29304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79" name="Freeform 8"/>
            <p:cNvSpPr/>
            <p:nvPr/>
          </p:nvSpPr>
          <p:spPr>
            <a:xfrm>
              <a:off x="4922640" y="2697120"/>
              <a:ext cx="293040" cy="29304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80" name="Freeform 9"/>
            <p:cNvSpPr/>
            <p:nvPr/>
          </p:nvSpPr>
          <p:spPr>
            <a:xfrm>
              <a:off x="4368240" y="2697120"/>
              <a:ext cx="192960" cy="29304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81" name="Freeform 10"/>
            <p:cNvSpPr/>
            <p:nvPr/>
          </p:nvSpPr>
          <p:spPr>
            <a:xfrm>
              <a:off x="374616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82" name="Freeform 11"/>
            <p:cNvSpPr/>
            <p:nvPr/>
          </p:nvSpPr>
          <p:spPr>
            <a:xfrm>
              <a:off x="393984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3" name="Freeform 12"/>
            <p:cNvSpPr/>
            <p:nvPr/>
          </p:nvSpPr>
          <p:spPr>
            <a:xfrm>
              <a:off x="4133160" y="2129760"/>
              <a:ext cx="70560" cy="44748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84" name="Freeform 13"/>
            <p:cNvSpPr/>
            <p:nvPr/>
          </p:nvSpPr>
          <p:spPr>
            <a:xfrm>
              <a:off x="432648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5" name="Freeform 14"/>
            <p:cNvSpPr/>
            <p:nvPr/>
          </p:nvSpPr>
          <p:spPr>
            <a:xfrm>
              <a:off x="451980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86" name="Freeform 15"/>
            <p:cNvSpPr/>
            <p:nvPr/>
          </p:nvSpPr>
          <p:spPr>
            <a:xfrm>
              <a:off x="4713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7" name="Freeform 16"/>
            <p:cNvSpPr/>
            <p:nvPr/>
          </p:nvSpPr>
          <p:spPr>
            <a:xfrm>
              <a:off x="4906440" y="2129760"/>
              <a:ext cx="70560" cy="44748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88" name="Freeform 17"/>
            <p:cNvSpPr/>
            <p:nvPr/>
          </p:nvSpPr>
          <p:spPr>
            <a:xfrm>
              <a:off x="5100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9" name="Freeform 18"/>
            <p:cNvSpPr/>
            <p:nvPr/>
          </p:nvSpPr>
          <p:spPr>
            <a:xfrm>
              <a:off x="5293440" y="2361960"/>
              <a:ext cx="70560" cy="1447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2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3200" spc="-1" strike="noStrike">
                <a:solidFill>
                  <a:srgbClr val="58585b"/>
                </a:solidFill>
                <a:latin typeface="Arial"/>
              </a:rPr>
              <a:t>Click to edit the title text format</a:t>
            </a:r>
            <a:endParaRPr b="0" lang="en-US" sz="3200" spc="-1" strike="noStrike">
              <a:solidFill>
                <a:srgbClr val="58585b"/>
              </a:solidFill>
              <a:latin typeface="Arial"/>
            </a:endParaRPr>
          </a:p>
        </p:txBody>
      </p:sp>
      <p:sp>
        <p:nvSpPr>
          <p:cNvPr id="29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500" spc="-1" strike="noStrike">
                <a:solidFill>
                  <a:srgbClr val="58585b"/>
                </a:solidFill>
                <a:latin typeface="Arial"/>
              </a:rPr>
              <a:t>Click to edit the outline text format</a:t>
            </a:r>
            <a:endParaRPr b="0" lang="en-US" sz="1500" spc="-1" strike="noStrike">
              <a:solidFill>
                <a:srgbClr val="58585b"/>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58585b"/>
                </a:solidFill>
                <a:latin typeface="Arial"/>
              </a:rPr>
              <a:t>Second Outline Level</a:t>
            </a:r>
            <a:endParaRPr b="0" lang="en-US" sz="1200" spc="-1" strike="noStrike">
              <a:solidFill>
                <a:srgbClr val="58585b"/>
              </a:solidFill>
              <a:latin typeface="Arial"/>
            </a:endParaRPr>
          </a:p>
          <a:p>
            <a:pPr lvl="2" marL="1296000" indent="-288000">
              <a:spcBef>
                <a:spcPts val="850"/>
              </a:spcBef>
              <a:buClr>
                <a:srgbClr val="000000"/>
              </a:buClr>
              <a:buSzPct val="45000"/>
              <a:buFont typeface="Wingdings" charset="2"/>
              <a:buChar char=""/>
            </a:pPr>
            <a:r>
              <a:rPr b="0" lang="en-US" sz="1100" spc="-1" strike="noStrike">
                <a:solidFill>
                  <a:srgbClr val="58585b"/>
                </a:solidFill>
                <a:latin typeface="Arial"/>
              </a:rPr>
              <a:t>Third Outline Level</a:t>
            </a:r>
            <a:endParaRPr b="0" lang="en-US" sz="1100" spc="-1" strike="noStrike">
              <a:solidFill>
                <a:srgbClr val="58585b"/>
              </a:solidFill>
              <a:latin typeface="Arial"/>
            </a:endParaRPr>
          </a:p>
          <a:p>
            <a:pPr lvl="3" marL="1728000" indent="-216000">
              <a:spcBef>
                <a:spcPts val="567"/>
              </a:spcBef>
              <a:buClr>
                <a:srgbClr val="000000"/>
              </a:buClr>
              <a:buSzPct val="75000"/>
              <a:buFont typeface="Symbol" charset="2"/>
              <a:buChar char=""/>
            </a:pPr>
            <a:r>
              <a:rPr b="0" lang="en-US" sz="1100" spc="-1" strike="noStrike">
                <a:solidFill>
                  <a:srgbClr val="58585b"/>
                </a:solidFill>
                <a:latin typeface="Arial"/>
              </a:rPr>
              <a:t>Fourth Outline Level</a:t>
            </a:r>
            <a:endParaRPr b="0" lang="en-US" sz="1100" spc="-1" strike="noStrike">
              <a:solidFill>
                <a:srgbClr val="58585b"/>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58585b"/>
                </a:solidFill>
                <a:latin typeface="Arial"/>
              </a:rPr>
              <a:t>Fifth Outline Level</a:t>
            </a:r>
            <a:endParaRPr b="0" lang="en-US" sz="2000" spc="-1" strike="noStrike">
              <a:solidFill>
                <a:srgbClr val="58585b"/>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58585b"/>
                </a:solidFill>
                <a:latin typeface="Arial"/>
              </a:rPr>
              <a:t>Sixth Outline Level</a:t>
            </a:r>
            <a:endParaRPr b="0" lang="en-US" sz="2000" spc="-1" strike="noStrike">
              <a:solidFill>
                <a:srgbClr val="58585b"/>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58585b"/>
                </a:solidFill>
                <a:latin typeface="Arial"/>
              </a:rPr>
              <a:t>Seventh Outline Level</a:t>
            </a:r>
            <a:endParaRPr b="0" lang="en-US" sz="20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7.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7.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7.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7.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7.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7.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7.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7.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7.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37.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37.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3.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37.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3.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37.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3.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3.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37.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slideLayout" Target="../slideLayouts/slideLayout37.xml"/><Relationship Id="rId4"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37.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37.xml"/><Relationship Id="rId3"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37.xml"/><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37.xml"/><Relationship Id="rId3"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37.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469440" y="2316600"/>
            <a:ext cx="6672240" cy="1079640"/>
          </a:xfrm>
          <a:prstGeom prst="rect">
            <a:avLst/>
          </a:prstGeom>
          <a:noFill/>
          <a:ln w="0">
            <a:noFill/>
          </a:ln>
        </p:spPr>
        <p:txBody>
          <a:bodyPr numCol="1" spcCol="0" anchor="b">
            <a:noAutofit/>
          </a:bodyPr>
          <a:p>
            <a:pPr>
              <a:lnSpc>
                <a:spcPct val="90000"/>
              </a:lnSpc>
              <a:buNone/>
              <a:tabLst>
                <a:tab algn="l" pos="0"/>
              </a:tabLst>
            </a:pPr>
            <a:r>
              <a:rPr b="0" lang="en-US" sz="3600" spc="-1" strike="noStrike">
                <a:solidFill>
                  <a:srgbClr val="afe8fb"/>
                </a:solidFill>
                <a:latin typeface="Arial"/>
                <a:ea typeface="ＭＳ Ｐゴシック"/>
              </a:rPr>
              <a:t>Module 14: Transport Layer</a:t>
            </a:r>
            <a:endParaRPr b="0" lang="en-US" sz="3600" spc="-1" strike="noStrike">
              <a:solidFill>
                <a:srgbClr val="58585b"/>
              </a:solidFill>
              <a:latin typeface="Arial"/>
            </a:endParaRPr>
          </a:p>
        </p:txBody>
      </p:sp>
      <p:sp>
        <p:nvSpPr>
          <p:cNvPr id="335" name="PlaceHolder 2"/>
          <p:cNvSpPr>
            <a:spLocks noGrp="1"/>
          </p:cNvSpPr>
          <p:nvPr>
            <p:ph type="subTitle"/>
          </p:nvPr>
        </p:nvSpPr>
        <p:spPr>
          <a:xfrm>
            <a:off x="469440" y="3809520"/>
            <a:ext cx="2368440" cy="901800"/>
          </a:xfrm>
          <a:prstGeom prst="rect">
            <a:avLst/>
          </a:prstGeom>
          <a:noFill/>
          <a:ln w="0">
            <a:noFill/>
          </a:ln>
        </p:spPr>
        <p:txBody>
          <a:bodyPr anchor="b">
            <a:noAutofit/>
          </a:bodyPr>
          <a:p>
            <a:pPr>
              <a:lnSpc>
                <a:spcPct val="100000"/>
              </a:lnSpc>
              <a:buNone/>
              <a:tabLst>
                <a:tab algn="l" pos="0"/>
              </a:tabLst>
            </a:pPr>
            <a:r>
              <a:rPr b="0" lang="en-US" sz="1200" spc="-1" strike="noStrike">
                <a:solidFill>
                  <a:srgbClr val="afe8fb"/>
                </a:solidFill>
                <a:latin typeface="Arial"/>
              </a:rPr>
              <a:t>Introduction to Networks v7.0 (ITN)</a:t>
            </a:r>
            <a:endParaRPr b="0" lang="en-JM" sz="1200" spc="-1" strike="noStrike">
              <a:latin typeface="Arial"/>
            </a:endParaRPr>
          </a:p>
          <a:p>
            <a:pPr>
              <a:lnSpc>
                <a:spcPct val="100000"/>
              </a:lnSpc>
              <a:buNone/>
              <a:tabLst>
                <a:tab algn="l" pos="0"/>
              </a:tabLst>
            </a:pPr>
            <a:endParaRPr b="0" lang="en-JM" sz="1200" spc="-1" strike="noStrike">
              <a:latin typeface="Arial"/>
            </a:endParaRPr>
          </a:p>
        </p:txBody>
      </p:sp>
    </p:spTree>
  </p:cSld>
  <p:transition spd="slow">
    <p:wipe dir="l"/>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0" y="41400"/>
            <a:ext cx="9143640" cy="60516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Module Objectives</a:t>
            </a:r>
            <a:endParaRPr b="0" lang="en-US" sz="2400" spc="-1" strike="noStrike">
              <a:solidFill>
                <a:srgbClr val="58585b"/>
              </a:solidFill>
              <a:latin typeface="Arial"/>
            </a:endParaRPr>
          </a:p>
        </p:txBody>
      </p:sp>
      <p:sp>
        <p:nvSpPr>
          <p:cNvPr id="337" name="Rectangle 1"/>
          <p:cNvSpPr/>
          <p:nvPr/>
        </p:nvSpPr>
        <p:spPr>
          <a:xfrm>
            <a:off x="169560" y="652320"/>
            <a:ext cx="8804160" cy="1065600"/>
          </a:xfrm>
          <a:prstGeom prst="rect">
            <a:avLst/>
          </a:prstGeom>
          <a:noFill/>
          <a:ln w="0">
            <a:noFill/>
          </a:ln>
        </p:spPr>
        <p:style>
          <a:lnRef idx="0"/>
          <a:fillRef idx="0"/>
          <a:effectRef idx="0"/>
          <a:fontRef idx="minor"/>
        </p:style>
        <p:txBody>
          <a:bodyPr numCol="1" spcCol="0" anchor="ctr">
            <a:spAutoFit/>
          </a:bodyPr>
          <a:p>
            <a:pPr>
              <a:lnSpc>
                <a:spcPct val="100000"/>
              </a:lnSpc>
              <a:buNone/>
              <a:tabLst>
                <a:tab algn="l" pos="0"/>
              </a:tabLst>
            </a:pPr>
            <a:r>
              <a:rPr b="1" lang="en-US" sz="1600" spc="-1" strike="noStrike">
                <a:solidFill>
                  <a:srgbClr val="58585b"/>
                </a:solidFill>
                <a:latin typeface="Arial"/>
                <a:ea typeface="Calibri"/>
              </a:rPr>
              <a:t>Module Title: </a:t>
            </a:r>
            <a:r>
              <a:rPr b="0" lang="en-US" sz="1600" spc="-1" strike="noStrike">
                <a:solidFill>
                  <a:srgbClr val="58585b"/>
                </a:solidFill>
                <a:latin typeface="Arial"/>
                <a:ea typeface="Calibri"/>
              </a:rPr>
              <a:t>Transport Layer</a:t>
            </a:r>
            <a:endParaRPr b="0" lang="en-JM" sz="1600" spc="-1" strike="noStrike">
              <a:latin typeface="Arial"/>
            </a:endParaRPr>
          </a:p>
          <a:p>
            <a:pPr>
              <a:lnSpc>
                <a:spcPct val="100000"/>
              </a:lnSpc>
              <a:buNone/>
              <a:tabLst>
                <a:tab algn="l" pos="0"/>
              </a:tabLst>
            </a:pPr>
            <a:endParaRPr b="0" lang="en-JM" sz="1600" spc="-1" strike="noStrike">
              <a:latin typeface="Arial"/>
            </a:endParaRPr>
          </a:p>
          <a:p>
            <a:pPr>
              <a:lnSpc>
                <a:spcPct val="100000"/>
              </a:lnSpc>
              <a:buNone/>
              <a:tabLst>
                <a:tab algn="l" pos="0"/>
              </a:tabLst>
            </a:pPr>
            <a:r>
              <a:rPr b="1" lang="en-US" sz="1600" spc="-1" strike="noStrike">
                <a:solidFill>
                  <a:srgbClr val="58585b"/>
                </a:solidFill>
                <a:latin typeface="Arial"/>
                <a:ea typeface="Calibri"/>
              </a:rPr>
              <a:t>Module Objective</a:t>
            </a:r>
            <a:r>
              <a:rPr b="0" lang="en-US" sz="1600" spc="-1" strike="noStrike">
                <a:solidFill>
                  <a:srgbClr val="58585b"/>
                </a:solidFill>
                <a:latin typeface="Arial"/>
                <a:ea typeface="Calibri"/>
              </a:rPr>
              <a:t>: </a:t>
            </a:r>
            <a:r>
              <a:rPr b="0" lang="en-US" sz="1600" spc="-1" strike="noStrike">
                <a:solidFill>
                  <a:srgbClr val="58585b"/>
                </a:solidFill>
                <a:latin typeface="Arial"/>
                <a:ea typeface="ＭＳ Ｐゴシック"/>
              </a:rPr>
              <a:t>Compare the operations of transport layer protocols in supporting end-to-end communication.</a:t>
            </a:r>
            <a:endParaRPr b="0" lang="en-JM" sz="1600" spc="-1" strike="noStrike">
              <a:latin typeface="Arial"/>
            </a:endParaRPr>
          </a:p>
        </p:txBody>
      </p:sp>
      <p:graphicFrame>
        <p:nvGraphicFramePr>
          <p:cNvPr id="338" name="Table 1"/>
          <p:cNvGraphicFramePr/>
          <p:nvPr/>
        </p:nvGraphicFramePr>
        <p:xfrm>
          <a:off x="574920" y="1724040"/>
          <a:ext cx="8276400" cy="2870280"/>
        </p:xfrm>
        <a:graphic>
          <a:graphicData uri="http://schemas.openxmlformats.org/drawingml/2006/table">
            <a:tbl>
              <a:tblPr/>
              <a:tblGrid>
                <a:gridCol w="2745000"/>
                <a:gridCol w="5531400"/>
              </a:tblGrid>
              <a:tr h="219240">
                <a:tc>
                  <a:txBody>
                    <a:bodyPr lIns="68400" rIns="68400" tIns="0" bIns="0" anchor="t">
                      <a:noAutofit/>
                    </a:bodyPr>
                    <a:p>
                      <a:pPr>
                        <a:lnSpc>
                          <a:spcPct val="107000"/>
                        </a:lnSpc>
                        <a:buNone/>
                      </a:pPr>
                      <a:r>
                        <a:rPr b="1" lang="en-US" sz="1200" spc="-1" strike="noStrike">
                          <a:solidFill>
                            <a:srgbClr val="ffffff"/>
                          </a:solidFill>
                          <a:latin typeface="Arial"/>
                        </a:rPr>
                        <a:t>Topic Title</a:t>
                      </a:r>
                      <a:endParaRPr b="0" lang="en-JM" sz="12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68400" rIns="68400" tIns="0" bIns="0" anchor="t">
                      <a:noAutofit/>
                    </a:bodyPr>
                    <a:p>
                      <a:pPr>
                        <a:lnSpc>
                          <a:spcPct val="107000"/>
                        </a:lnSpc>
                        <a:buNone/>
                      </a:pPr>
                      <a:r>
                        <a:rPr b="1" lang="en-US" sz="1200" spc="-1" strike="noStrike">
                          <a:solidFill>
                            <a:srgbClr val="ffffff"/>
                          </a:solidFill>
                          <a:latin typeface="Arial"/>
                        </a:rPr>
                        <a:t>Topic Objective</a:t>
                      </a:r>
                      <a:endParaRPr b="0" lang="en-JM" sz="12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544320">
                <a:tc>
                  <a:txBody>
                    <a:bodyPr lIns="68400" rIns="68400" tIns="0" bIns="0" anchor="t">
                      <a:noAutofit/>
                    </a:bodyPr>
                    <a:p>
                      <a:pPr>
                        <a:lnSpc>
                          <a:spcPct val="107000"/>
                        </a:lnSpc>
                        <a:buNone/>
                      </a:pPr>
                      <a:r>
                        <a:rPr b="1" lang="en-US" sz="1200" spc="-1" strike="noStrike">
                          <a:solidFill>
                            <a:srgbClr val="ffffff"/>
                          </a:solidFill>
                          <a:latin typeface="Arial"/>
                        </a:rPr>
                        <a:t>Transportation of Data</a:t>
                      </a:r>
                      <a:endParaRPr b="0" lang="en-JM" sz="12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68400" rIns="68400" tIns="0" bIns="0" anchor="t">
                      <a:noAutofit/>
                    </a:bodyPr>
                    <a:p>
                      <a:pPr>
                        <a:lnSpc>
                          <a:spcPct val="107000"/>
                        </a:lnSpc>
                        <a:buNone/>
                      </a:pPr>
                      <a:r>
                        <a:rPr b="0" lang="en-US" sz="1200" spc="-1" strike="noStrike">
                          <a:solidFill>
                            <a:srgbClr val="080808"/>
                          </a:solidFill>
                          <a:latin typeface="Arial"/>
                          <a:ea typeface="Calibri"/>
                        </a:rPr>
                        <a:t>Explain the purpose of the transport layer in managing the transportation of data in end-to-end communication.</a:t>
                      </a:r>
                      <a:endParaRPr b="0" lang="en-JM" sz="12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62520">
                <a:tc>
                  <a:txBody>
                    <a:bodyPr lIns="68400" rIns="68400" tIns="0" bIns="0" anchor="t">
                      <a:noAutofit/>
                    </a:bodyPr>
                    <a:p>
                      <a:pPr>
                        <a:lnSpc>
                          <a:spcPct val="107000"/>
                        </a:lnSpc>
                        <a:buNone/>
                      </a:pPr>
                      <a:r>
                        <a:rPr b="1" lang="en-US" sz="1200" spc="-1" strike="noStrike">
                          <a:solidFill>
                            <a:srgbClr val="ffffff"/>
                          </a:solidFill>
                          <a:latin typeface="Arial"/>
                        </a:rPr>
                        <a:t>TCP Overview</a:t>
                      </a:r>
                      <a:endParaRPr b="0" lang="en-JM" sz="12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68400" rIns="68400" tIns="0" bIns="0" anchor="t">
                      <a:noAutofit/>
                    </a:bodyPr>
                    <a:p>
                      <a:pPr>
                        <a:lnSpc>
                          <a:spcPct val="107000"/>
                        </a:lnSpc>
                        <a:buNone/>
                      </a:pPr>
                      <a:r>
                        <a:rPr b="0" lang="en-US" sz="1200" spc="-1" strike="noStrike">
                          <a:solidFill>
                            <a:srgbClr val="080808"/>
                          </a:solidFill>
                          <a:latin typeface="Arial"/>
                        </a:rPr>
                        <a:t>Explain characteristics of TCP.</a:t>
                      </a:r>
                      <a:endParaRPr b="0" lang="en-JM" sz="12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195480">
                <a:tc>
                  <a:txBody>
                    <a:bodyPr lIns="68400" rIns="68400" tIns="0" bIns="0" anchor="t">
                      <a:noAutofit/>
                    </a:bodyPr>
                    <a:p>
                      <a:pPr>
                        <a:lnSpc>
                          <a:spcPct val="107000"/>
                        </a:lnSpc>
                        <a:buNone/>
                      </a:pPr>
                      <a:r>
                        <a:rPr b="1" lang="en-US" sz="1200" spc="-1" strike="noStrike">
                          <a:solidFill>
                            <a:srgbClr val="ffffff"/>
                          </a:solidFill>
                          <a:latin typeface="Arial"/>
                        </a:rPr>
                        <a:t>UDP Overview</a:t>
                      </a:r>
                      <a:endParaRPr b="0" lang="en-JM" sz="12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68400" rIns="68400" tIns="0" bIns="0" anchor="t">
                      <a:noAutofit/>
                    </a:bodyPr>
                    <a:p>
                      <a:pPr>
                        <a:lnSpc>
                          <a:spcPct val="107000"/>
                        </a:lnSpc>
                        <a:buNone/>
                      </a:pPr>
                      <a:r>
                        <a:rPr b="0" lang="en-US" sz="1200" spc="-1" strike="noStrike">
                          <a:solidFill>
                            <a:srgbClr val="080808"/>
                          </a:solidFill>
                          <a:latin typeface="Arial"/>
                          <a:ea typeface="Calibri"/>
                        </a:rPr>
                        <a:t>Explain characteristics of UDP.</a:t>
                      </a:r>
                      <a:endParaRPr b="0" lang="en-JM" sz="12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15280">
                <a:tc>
                  <a:txBody>
                    <a:bodyPr lIns="68400" rIns="68400" tIns="0" bIns="0" anchor="t">
                      <a:noAutofit/>
                    </a:bodyPr>
                    <a:p>
                      <a:pPr>
                        <a:lnSpc>
                          <a:spcPct val="107000"/>
                        </a:lnSpc>
                        <a:buNone/>
                      </a:pPr>
                      <a:r>
                        <a:rPr b="1" lang="en-US" sz="1200" spc="-1" strike="noStrike">
                          <a:solidFill>
                            <a:srgbClr val="ffffff"/>
                          </a:solidFill>
                          <a:latin typeface="Arial"/>
                        </a:rPr>
                        <a:t>Port Numbers</a:t>
                      </a:r>
                      <a:endParaRPr b="0" lang="en-JM" sz="12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68400" rIns="68400" tIns="0" bIns="0" anchor="t">
                      <a:noAutofit/>
                    </a:bodyPr>
                    <a:p>
                      <a:pPr>
                        <a:lnSpc>
                          <a:spcPct val="107000"/>
                        </a:lnSpc>
                        <a:buNone/>
                      </a:pPr>
                      <a:r>
                        <a:rPr b="0" lang="en-US" sz="1200" spc="-1" strike="noStrike">
                          <a:solidFill>
                            <a:srgbClr val="080808"/>
                          </a:solidFill>
                          <a:latin typeface="Arial"/>
                        </a:rPr>
                        <a:t>Explain how TCP and UDP use port numbers.</a:t>
                      </a:r>
                      <a:endParaRPr b="0" lang="en-JM" sz="12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580320">
                <a:tc>
                  <a:txBody>
                    <a:bodyPr lIns="68400" rIns="68400" tIns="0" bIns="0" anchor="t">
                      <a:noAutofit/>
                    </a:bodyPr>
                    <a:p>
                      <a:pPr>
                        <a:lnSpc>
                          <a:spcPct val="107000"/>
                        </a:lnSpc>
                        <a:buNone/>
                      </a:pPr>
                      <a:r>
                        <a:rPr b="1" lang="en-US" sz="1200" spc="-1" strike="noStrike">
                          <a:solidFill>
                            <a:srgbClr val="ffffff"/>
                          </a:solidFill>
                          <a:latin typeface="Arial"/>
                        </a:rPr>
                        <a:t>TCP Communication Process</a:t>
                      </a:r>
                      <a:endParaRPr b="0" lang="en-JM" sz="12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68400" rIns="68400" tIns="0" bIns="0" anchor="t">
                      <a:noAutofit/>
                    </a:bodyPr>
                    <a:p>
                      <a:pPr>
                        <a:lnSpc>
                          <a:spcPct val="107000"/>
                        </a:lnSpc>
                        <a:buNone/>
                      </a:pPr>
                      <a:r>
                        <a:rPr b="0" lang="en-US" sz="1200" spc="-1" strike="noStrike">
                          <a:solidFill>
                            <a:srgbClr val="080808"/>
                          </a:solidFill>
                          <a:latin typeface="Arial"/>
                        </a:rPr>
                        <a:t>Explain how TCP session establishment and termination processes facilitate reliable communication.</a:t>
                      </a:r>
                      <a:endParaRPr b="0" lang="en-JM" sz="12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90600">
                <a:tc>
                  <a:txBody>
                    <a:bodyPr lIns="68400" rIns="68400" tIns="0" bIns="0" anchor="t">
                      <a:noAutofit/>
                    </a:bodyPr>
                    <a:p>
                      <a:pPr>
                        <a:lnSpc>
                          <a:spcPct val="107000"/>
                        </a:lnSpc>
                        <a:buNone/>
                      </a:pPr>
                      <a:r>
                        <a:rPr b="1" lang="en-US" sz="1200" spc="-1" strike="noStrike">
                          <a:solidFill>
                            <a:srgbClr val="ffffff"/>
                          </a:solidFill>
                          <a:latin typeface="Arial"/>
                        </a:rPr>
                        <a:t>Reliability and Flow Control</a:t>
                      </a:r>
                      <a:endParaRPr b="0" lang="en-JM" sz="12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68400" rIns="68400" tIns="0" bIns="0" anchor="t">
                      <a:noAutofit/>
                    </a:bodyPr>
                    <a:p>
                      <a:pPr>
                        <a:lnSpc>
                          <a:spcPct val="107000"/>
                        </a:lnSpc>
                        <a:buNone/>
                      </a:pPr>
                      <a:r>
                        <a:rPr b="0" lang="en-US" sz="1200" spc="-1" strike="noStrike">
                          <a:solidFill>
                            <a:srgbClr val="080808"/>
                          </a:solidFill>
                          <a:latin typeface="Arial"/>
                        </a:rPr>
                        <a:t>Explain how TCP protocol data units are transmitted and acknowledged to guarantee delivery.</a:t>
                      </a:r>
                      <a:endParaRPr b="0" lang="en-JM" sz="12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423360">
                <a:tc>
                  <a:txBody>
                    <a:bodyPr lIns="68400" rIns="68400" tIns="0" bIns="0" anchor="t">
                      <a:noAutofit/>
                    </a:bodyPr>
                    <a:p>
                      <a:pPr>
                        <a:lnSpc>
                          <a:spcPct val="107000"/>
                        </a:lnSpc>
                        <a:buNone/>
                      </a:pPr>
                      <a:r>
                        <a:rPr b="1" lang="en-US" sz="1100" spc="-1" strike="noStrike">
                          <a:solidFill>
                            <a:srgbClr val="ffffff"/>
                          </a:solidFill>
                          <a:latin typeface="Arial"/>
                          <a:ea typeface="Calibri"/>
                        </a:rPr>
                        <a:t>UDP Communication</a:t>
                      </a:r>
                      <a:endParaRPr b="0" lang="en-JM" sz="11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68400" rIns="68400" tIns="0" bIns="0" anchor="t">
                      <a:noAutofit/>
                    </a:bodyPr>
                    <a:p>
                      <a:pPr>
                        <a:lnSpc>
                          <a:spcPct val="107000"/>
                        </a:lnSpc>
                        <a:buNone/>
                      </a:pPr>
                      <a:r>
                        <a:rPr b="0" lang="en-US" sz="1200" spc="-1" strike="noStrike">
                          <a:solidFill>
                            <a:srgbClr val="080808"/>
                          </a:solidFill>
                          <a:latin typeface="Arial"/>
                        </a:rPr>
                        <a:t>Compare the operations of transport layer protocols in supporting end-to-end communication</a:t>
                      </a:r>
                      <a:r>
                        <a:rPr b="0" lang="en-US" sz="1400" spc="-1" strike="noStrike">
                          <a:solidFill>
                            <a:srgbClr val="080808"/>
                          </a:solidFill>
                          <a:latin typeface="Arial"/>
                        </a:rPr>
                        <a:t>.</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bl>
          </a:graphicData>
        </a:graphic>
      </p:graphicFrame>
    </p:spTree>
  </p:cSld>
  <p:transition spd="slow">
    <p:wipe dir="l"/>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416520" y="1788120"/>
            <a:ext cx="75978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14.1 Transportation of Data</a:t>
            </a:r>
            <a:endParaRPr b="0" lang="en-US" sz="4600" spc="-1" strike="noStrike">
              <a:solidFill>
                <a:srgbClr val="58585b"/>
              </a:solidFill>
              <a:latin typeface="Arial"/>
            </a:endParaRPr>
          </a:p>
        </p:txBody>
      </p:sp>
    </p:spTree>
  </p:cSld>
  <p:transition spd="slow">
    <p:wipe dir="l"/>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Transportation of Data</a:t>
            </a:r>
            <a:br/>
            <a:r>
              <a:rPr b="0" lang="en-US" sz="2400" spc="-1" strike="noStrike">
                <a:solidFill>
                  <a:srgbClr val="004c69"/>
                </a:solidFill>
                <a:latin typeface="Arial"/>
                <a:ea typeface="ＭＳ Ｐゴシック"/>
              </a:rPr>
              <a:t>Role of the Transport Layer</a:t>
            </a:r>
            <a:endParaRPr b="0" lang="en-US" sz="2400" spc="-1" strike="noStrike">
              <a:solidFill>
                <a:srgbClr val="58585b"/>
              </a:solidFill>
              <a:latin typeface="Arial"/>
            </a:endParaRPr>
          </a:p>
        </p:txBody>
      </p:sp>
      <p:sp>
        <p:nvSpPr>
          <p:cNvPr id="341" name="PlaceHolder 2"/>
          <p:cNvSpPr>
            <a:spLocks noGrp="1"/>
          </p:cNvSpPr>
          <p:nvPr>
            <p:ph/>
          </p:nvPr>
        </p:nvSpPr>
        <p:spPr>
          <a:xfrm>
            <a:off x="360360" y="855360"/>
            <a:ext cx="3601800" cy="3559320"/>
          </a:xfrm>
          <a:prstGeom prst="rect">
            <a:avLst/>
          </a:prstGeom>
          <a:noFill/>
          <a:ln w="0">
            <a:noFill/>
          </a:ln>
        </p:spPr>
        <p:txBody>
          <a:bodyPr anchor="t">
            <a:noAutofit/>
          </a:bodyPr>
          <a:p>
            <a:pPr>
              <a:lnSpc>
                <a:spcPct val="100000"/>
              </a:lnSpc>
              <a:spcBef>
                <a:spcPts val="360"/>
              </a:spcBef>
              <a:buNone/>
              <a:tabLst>
                <a:tab algn="l" pos="0"/>
              </a:tabLst>
            </a:pPr>
            <a:r>
              <a:rPr b="0" lang="en-US" sz="1800" spc="-1" strike="noStrike">
                <a:solidFill>
                  <a:srgbClr val="000000"/>
                </a:solidFill>
                <a:latin typeface="Arial"/>
                <a:ea typeface="ＭＳ Ｐゴシック"/>
              </a:rPr>
              <a:t>The transport layer is:</a:t>
            </a:r>
            <a:endParaRPr b="0" lang="en-US" sz="1800" spc="-1" strike="noStrike">
              <a:solidFill>
                <a:srgbClr val="58585b"/>
              </a:solidFill>
              <a:latin typeface="Arial"/>
            </a:endParaRPr>
          </a:p>
          <a:p>
            <a:pPr marL="285840" indent="-28584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responsible for logical communications between applications running on different hosts.</a:t>
            </a:r>
            <a:endParaRPr b="0" lang="en-US" sz="1800" spc="-1" strike="noStrike">
              <a:solidFill>
                <a:srgbClr val="58585b"/>
              </a:solidFill>
              <a:latin typeface="Arial"/>
            </a:endParaRPr>
          </a:p>
          <a:p>
            <a:pPr marL="343080" indent="-34308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The link between the application layer and the lower layers that are responsible for network transmission.</a:t>
            </a:r>
            <a:endParaRPr b="0" lang="en-US" sz="1800" spc="-1" strike="noStrike">
              <a:solidFill>
                <a:srgbClr val="58585b"/>
              </a:solidFill>
              <a:latin typeface="Arial"/>
            </a:endParaRPr>
          </a:p>
          <a:p>
            <a:pPr>
              <a:lnSpc>
                <a:spcPct val="100000"/>
              </a:lnSpc>
              <a:spcBef>
                <a:spcPts val="360"/>
              </a:spcBef>
              <a:buNone/>
              <a:tabLst>
                <a:tab algn="l" pos="0"/>
              </a:tabLst>
            </a:pPr>
            <a:endParaRPr b="0" lang="en-US" sz="1800" spc="-1" strike="noStrike">
              <a:solidFill>
                <a:srgbClr val="58585b"/>
              </a:solidFill>
              <a:latin typeface="Arial"/>
            </a:endParaRPr>
          </a:p>
          <a:p>
            <a:pPr>
              <a:lnSpc>
                <a:spcPct val="100000"/>
              </a:lnSpc>
              <a:spcBef>
                <a:spcPts val="320"/>
              </a:spcBef>
              <a:buNone/>
              <a:tabLst>
                <a:tab algn="l" pos="0"/>
              </a:tabLst>
            </a:pPr>
            <a:endParaRPr b="0" lang="en-US" sz="1800" spc="-1" strike="noStrike">
              <a:solidFill>
                <a:srgbClr val="58585b"/>
              </a:solidFill>
              <a:latin typeface="Arial"/>
            </a:endParaRPr>
          </a:p>
        </p:txBody>
      </p:sp>
      <p:pic>
        <p:nvPicPr>
          <p:cNvPr id="342" name="Picture 5" descr=""/>
          <p:cNvPicPr/>
          <p:nvPr/>
        </p:nvPicPr>
        <p:blipFill>
          <a:blip r:embed="rId1"/>
          <a:stretch/>
        </p:blipFill>
        <p:spPr>
          <a:xfrm>
            <a:off x="4304880" y="855360"/>
            <a:ext cx="4478760" cy="35593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Transportation of Data</a:t>
            </a:r>
            <a:br/>
            <a:r>
              <a:rPr b="0" lang="en-US" sz="2400" spc="-1" strike="noStrike">
                <a:solidFill>
                  <a:srgbClr val="004c69"/>
                </a:solidFill>
                <a:latin typeface="Arial"/>
                <a:ea typeface="ＭＳ Ｐゴシック"/>
              </a:rPr>
              <a:t>Transport Layer Responsibilities</a:t>
            </a:r>
            <a:endParaRPr b="0" lang="en-US" sz="2400" spc="-1" strike="noStrike">
              <a:solidFill>
                <a:srgbClr val="58585b"/>
              </a:solidFill>
              <a:latin typeface="Arial"/>
            </a:endParaRPr>
          </a:p>
        </p:txBody>
      </p:sp>
      <p:sp>
        <p:nvSpPr>
          <p:cNvPr id="344" name="PlaceHolder 2"/>
          <p:cNvSpPr>
            <a:spLocks noGrp="1"/>
          </p:cNvSpPr>
          <p:nvPr>
            <p:ph/>
          </p:nvPr>
        </p:nvSpPr>
        <p:spPr>
          <a:xfrm>
            <a:off x="216720" y="801360"/>
            <a:ext cx="3770280" cy="38646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The transport layer has the following responsibilities: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Tracking individual conversations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Segmenting data and reassembling segments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Adds header information</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Identify, separate, and manage multiple conversations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Uses segmentation and multiplexing to enable different communication conversations to be interleaved on the same network</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pic>
        <p:nvPicPr>
          <p:cNvPr id="345" name="Picture 5" descr=""/>
          <p:cNvPicPr/>
          <p:nvPr/>
        </p:nvPicPr>
        <p:blipFill>
          <a:blip r:embed="rId1"/>
          <a:stretch/>
        </p:blipFill>
        <p:spPr>
          <a:xfrm>
            <a:off x="4172760" y="1358280"/>
            <a:ext cx="4429800" cy="24267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Transportation of Data</a:t>
            </a:r>
            <a:br/>
            <a:r>
              <a:rPr b="0" lang="en-US" sz="2400" spc="-1" strike="noStrike">
                <a:solidFill>
                  <a:srgbClr val="004c69"/>
                </a:solidFill>
                <a:latin typeface="Arial"/>
                <a:ea typeface="ＭＳ Ｐゴシック"/>
              </a:rPr>
              <a:t>Transport Layer Protocols</a:t>
            </a:r>
            <a:endParaRPr b="0" lang="en-US" sz="2400" spc="-1" strike="noStrike">
              <a:solidFill>
                <a:srgbClr val="58585b"/>
              </a:solidFill>
              <a:latin typeface="Arial"/>
            </a:endParaRPr>
          </a:p>
        </p:txBody>
      </p:sp>
      <p:sp>
        <p:nvSpPr>
          <p:cNvPr id="347" name="PlaceHolder 2"/>
          <p:cNvSpPr>
            <a:spLocks noGrp="1"/>
          </p:cNvSpPr>
          <p:nvPr>
            <p:ph/>
          </p:nvPr>
        </p:nvSpPr>
        <p:spPr>
          <a:xfrm>
            <a:off x="302760" y="910800"/>
            <a:ext cx="3401280" cy="352764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IP does not specify how the delivery or transportation of the packets takes place.</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Transport layer protocols specify how to transfer messages between hosts, and are responsible for managing reliability requirements of a conversation.</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The transport layer includes the TCP and UDP protocols.</a:t>
            </a:r>
            <a:endParaRPr b="0" lang="en-US" sz="1600" spc="-1" strike="noStrike">
              <a:solidFill>
                <a:srgbClr val="58585b"/>
              </a:solidFill>
              <a:latin typeface="Arial"/>
            </a:endParaRPr>
          </a:p>
        </p:txBody>
      </p:sp>
      <p:pic>
        <p:nvPicPr>
          <p:cNvPr id="348" name="Picture 4" descr=""/>
          <p:cNvPicPr/>
          <p:nvPr/>
        </p:nvPicPr>
        <p:blipFill>
          <a:blip r:embed="rId1"/>
          <a:stretch/>
        </p:blipFill>
        <p:spPr>
          <a:xfrm>
            <a:off x="4471200" y="910800"/>
            <a:ext cx="3769560" cy="32774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Transportation of Data</a:t>
            </a:r>
            <a:br/>
            <a:r>
              <a:rPr b="0" lang="en-US" sz="2400" spc="-1" strike="noStrike">
                <a:solidFill>
                  <a:srgbClr val="004c69"/>
                </a:solidFill>
                <a:latin typeface="Arial"/>
                <a:ea typeface="ＭＳ Ｐゴシック"/>
              </a:rPr>
              <a:t>Transmission Control Protocol</a:t>
            </a:r>
            <a:endParaRPr b="0" lang="en-US" sz="2400" spc="-1" strike="noStrike">
              <a:solidFill>
                <a:srgbClr val="58585b"/>
              </a:solidFill>
              <a:latin typeface="Arial"/>
            </a:endParaRPr>
          </a:p>
        </p:txBody>
      </p:sp>
      <p:sp>
        <p:nvSpPr>
          <p:cNvPr id="350" name="PlaceHolder 2"/>
          <p:cNvSpPr>
            <a:spLocks noGrp="1"/>
          </p:cNvSpPr>
          <p:nvPr>
            <p:ph/>
          </p:nvPr>
        </p:nvSpPr>
        <p:spPr>
          <a:xfrm>
            <a:off x="302760" y="910800"/>
            <a:ext cx="3613320" cy="362376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TCP provides reliability and flow control. TCP basic operations: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Number and track data segments transmitted to a specific host from a specific application</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Acknowledge received data</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Retransmit any unacknowledged data after a certain amount of time</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Sequence data that might arrive in wrong order</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Send data at an efficient rate that is acceptable by the receiver</a:t>
            </a:r>
            <a:endParaRPr b="0" lang="en-US" sz="1600" spc="-1" strike="noStrike">
              <a:solidFill>
                <a:srgbClr val="58585b"/>
              </a:solidFill>
              <a:latin typeface="Arial"/>
            </a:endParaRPr>
          </a:p>
        </p:txBody>
      </p:sp>
      <p:pic>
        <p:nvPicPr>
          <p:cNvPr id="351" name="Picture 1" descr=""/>
          <p:cNvPicPr/>
          <p:nvPr/>
        </p:nvPicPr>
        <p:blipFill>
          <a:blip r:embed="rId1"/>
          <a:stretch/>
        </p:blipFill>
        <p:spPr>
          <a:xfrm>
            <a:off x="4244760" y="1093320"/>
            <a:ext cx="4773240" cy="29563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Transportation of Data</a:t>
            </a:r>
            <a:br/>
            <a:r>
              <a:rPr b="0" lang="en-US" sz="2400" spc="-1" strike="noStrike">
                <a:solidFill>
                  <a:srgbClr val="004c69"/>
                </a:solidFill>
                <a:latin typeface="Arial"/>
                <a:ea typeface="ＭＳ Ｐゴシック"/>
              </a:rPr>
              <a:t>User Datagram Protocol (UDP)</a:t>
            </a:r>
            <a:endParaRPr b="0" lang="en-US" sz="2400" spc="-1" strike="noStrike">
              <a:solidFill>
                <a:srgbClr val="58585b"/>
              </a:solidFill>
              <a:latin typeface="Arial"/>
            </a:endParaRPr>
          </a:p>
        </p:txBody>
      </p:sp>
      <p:sp>
        <p:nvSpPr>
          <p:cNvPr id="353" name="PlaceHolder 2"/>
          <p:cNvSpPr>
            <a:spLocks noGrp="1"/>
          </p:cNvSpPr>
          <p:nvPr>
            <p:ph/>
          </p:nvPr>
        </p:nvSpPr>
        <p:spPr>
          <a:xfrm>
            <a:off x="302760" y="910800"/>
            <a:ext cx="3613320" cy="3623760"/>
          </a:xfrm>
          <a:prstGeom prst="rect">
            <a:avLst/>
          </a:prstGeom>
          <a:noFill/>
          <a:ln w="0">
            <a:noFill/>
          </a:ln>
        </p:spPr>
        <p:txBody>
          <a:bodyPr anchor="t">
            <a:noAutofit/>
          </a:bodyPr>
          <a:p>
            <a:pPr>
              <a:lnSpc>
                <a:spcPct val="100000"/>
              </a:lnSpc>
              <a:spcBef>
                <a:spcPts val="360"/>
              </a:spcBef>
              <a:buNone/>
              <a:tabLst>
                <a:tab algn="l" pos="0"/>
              </a:tabLst>
            </a:pPr>
            <a:r>
              <a:rPr b="0" lang="en-US" sz="1800" spc="-1" strike="noStrike">
                <a:solidFill>
                  <a:srgbClr val="000000"/>
                </a:solidFill>
                <a:latin typeface="Arial"/>
                <a:ea typeface="ＭＳ Ｐゴシック"/>
              </a:rPr>
              <a:t>UDP provides the basic functions for delivering datagrams between the appropriate applications, with very little overhead and data checking.</a:t>
            </a:r>
            <a:endParaRPr b="0" lang="en-US" sz="1800" spc="-1" strike="noStrike">
              <a:solidFill>
                <a:srgbClr val="58585b"/>
              </a:solidFill>
              <a:latin typeface="Arial"/>
            </a:endParaRPr>
          </a:p>
          <a:p>
            <a:pPr marL="343080" indent="-34308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UDP is a connectionless protocol. </a:t>
            </a:r>
            <a:endParaRPr b="0" lang="en-US" sz="1800" spc="-1" strike="noStrike">
              <a:solidFill>
                <a:srgbClr val="58585b"/>
              </a:solidFill>
              <a:latin typeface="Arial"/>
            </a:endParaRPr>
          </a:p>
          <a:p>
            <a:pPr marL="343080" indent="-34308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UDP is known as a best-effort delivery protocol because there is no acknowledgment that the data is received at the destination.</a:t>
            </a:r>
            <a:endParaRPr b="0" lang="en-US" sz="1800" spc="-1" strike="noStrike">
              <a:solidFill>
                <a:srgbClr val="58585b"/>
              </a:solidFill>
              <a:latin typeface="Arial"/>
            </a:endParaRPr>
          </a:p>
          <a:p>
            <a:pPr>
              <a:lnSpc>
                <a:spcPct val="100000"/>
              </a:lnSpc>
              <a:spcBef>
                <a:spcPts val="320"/>
              </a:spcBef>
              <a:buNone/>
              <a:tabLst>
                <a:tab algn="l" pos="0"/>
              </a:tabLst>
            </a:pPr>
            <a:endParaRPr b="0" lang="en-US" sz="1800" spc="-1" strike="noStrike">
              <a:solidFill>
                <a:srgbClr val="58585b"/>
              </a:solidFill>
              <a:latin typeface="Arial"/>
            </a:endParaRPr>
          </a:p>
        </p:txBody>
      </p:sp>
      <p:pic>
        <p:nvPicPr>
          <p:cNvPr id="354" name="Picture 6" descr=""/>
          <p:cNvPicPr/>
          <p:nvPr/>
        </p:nvPicPr>
        <p:blipFill>
          <a:blip r:embed="rId1"/>
          <a:stretch/>
        </p:blipFill>
        <p:spPr>
          <a:xfrm>
            <a:off x="4212000" y="910800"/>
            <a:ext cx="4738320" cy="29404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Transportation of Data</a:t>
            </a:r>
            <a:br/>
            <a:r>
              <a:rPr b="0" lang="en-US" sz="2400" spc="-1" strike="noStrike">
                <a:solidFill>
                  <a:srgbClr val="004c69"/>
                </a:solidFill>
                <a:latin typeface="Arial"/>
                <a:ea typeface="ＭＳ Ｐゴシック"/>
              </a:rPr>
              <a:t>The Right Transport Layer Protocol for the Right Application</a:t>
            </a:r>
            <a:endParaRPr b="0" lang="en-US" sz="2400" spc="-1" strike="noStrike">
              <a:solidFill>
                <a:srgbClr val="58585b"/>
              </a:solidFill>
              <a:latin typeface="Arial"/>
            </a:endParaRPr>
          </a:p>
        </p:txBody>
      </p:sp>
      <p:sp>
        <p:nvSpPr>
          <p:cNvPr id="356" name="PlaceHolder 2"/>
          <p:cNvSpPr>
            <a:spLocks noGrp="1"/>
          </p:cNvSpPr>
          <p:nvPr>
            <p:ph/>
          </p:nvPr>
        </p:nvSpPr>
        <p:spPr>
          <a:xfrm>
            <a:off x="302760" y="910800"/>
            <a:ext cx="3613320" cy="362376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UDP is also used by request-and-reply applications where the data is minimal, and retransmission can be done quickly.</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If it is important that all the data arrives and that it can be processed in its proper sequence, TCP is used as the transport protocol.</a:t>
            </a:r>
            <a:endParaRPr b="0" lang="en-US" sz="1600" spc="-1" strike="noStrike">
              <a:solidFill>
                <a:srgbClr val="58585b"/>
              </a:solidFill>
              <a:latin typeface="Arial"/>
            </a:endParaRPr>
          </a:p>
        </p:txBody>
      </p:sp>
      <p:pic>
        <p:nvPicPr>
          <p:cNvPr id="357" name="Picture 1" descr=""/>
          <p:cNvPicPr/>
          <p:nvPr/>
        </p:nvPicPr>
        <p:blipFill>
          <a:blip r:embed="rId1"/>
          <a:stretch/>
        </p:blipFill>
        <p:spPr>
          <a:xfrm>
            <a:off x="4193280" y="910800"/>
            <a:ext cx="4442400" cy="34574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14.2 TCP Overview</a:t>
            </a:r>
            <a:endParaRPr b="0" lang="en-US" sz="4600" spc="-1" strike="noStrike">
              <a:solidFill>
                <a:srgbClr val="58585b"/>
              </a:solidFill>
              <a:latin typeface="Arial"/>
            </a:endParaRPr>
          </a:p>
        </p:txBody>
      </p:sp>
    </p:spTree>
  </p:cSld>
  <p:transition spd="slow">
    <p:wipe dir="l"/>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Wingdings" charset="2"/>
              <a:buChar char=""/>
            </a:pPr>
            <a:r>
              <a:rPr b="1" lang="en-US" sz="1600" spc="-1" strike="noStrike">
                <a:solidFill>
                  <a:srgbClr val="000000"/>
                </a:solidFill>
                <a:latin typeface="Arial"/>
                <a:ea typeface="ＭＳ Ｐゴシック"/>
              </a:rPr>
              <a:t>Establishes a Session </a:t>
            </a:r>
            <a:r>
              <a:rPr b="0" lang="en-US" sz="1600" spc="-1" strike="noStrike">
                <a:solidFill>
                  <a:srgbClr val="000000"/>
                </a:solidFill>
                <a:latin typeface="Arial"/>
                <a:ea typeface="ＭＳ Ｐゴシック"/>
              </a:rPr>
              <a:t>- TCP is a connection-oriented protocol that negotiates and establishes a permanent connection (or session) between source and destination devices prior to forwarding any traffic.</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Wingdings" charset="2"/>
              <a:buChar char=""/>
            </a:pPr>
            <a:r>
              <a:rPr b="1" lang="en-US" sz="1600" spc="-1" strike="noStrike">
                <a:solidFill>
                  <a:srgbClr val="000000"/>
                </a:solidFill>
                <a:latin typeface="Arial"/>
                <a:ea typeface="ＭＳ Ｐゴシック"/>
              </a:rPr>
              <a:t>Ensures Reliable Delivery </a:t>
            </a:r>
            <a:r>
              <a:rPr b="0" lang="en-US" sz="1600" spc="-1" strike="noStrike">
                <a:solidFill>
                  <a:srgbClr val="000000"/>
                </a:solidFill>
                <a:latin typeface="Arial"/>
                <a:ea typeface="ＭＳ Ｐゴシック"/>
              </a:rPr>
              <a:t>- For many reasons, it is possible for a segment to become corrupted or lost completely, as it is transmitted over the network. TCP ensures that each segment that is sent by the source arrives at the destination.</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Wingdings" charset="2"/>
              <a:buChar char=""/>
            </a:pPr>
            <a:r>
              <a:rPr b="1" lang="en-US" sz="1600" spc="-1" strike="noStrike">
                <a:solidFill>
                  <a:srgbClr val="000000"/>
                </a:solidFill>
                <a:latin typeface="Arial"/>
                <a:ea typeface="ＭＳ Ｐゴシック"/>
              </a:rPr>
              <a:t>Provides Same-Order Delivery </a:t>
            </a:r>
            <a:r>
              <a:rPr b="0" lang="en-US" sz="1600" spc="-1" strike="noStrike">
                <a:solidFill>
                  <a:srgbClr val="000000"/>
                </a:solidFill>
                <a:latin typeface="Arial"/>
                <a:ea typeface="ＭＳ Ｐゴシック"/>
              </a:rPr>
              <a:t>- Because networks may provide multiple routes that can have different transmission rates, data can arrive in the wrong order. </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Wingdings" charset="2"/>
              <a:buChar char=""/>
            </a:pPr>
            <a:r>
              <a:rPr b="1" lang="en-US" sz="1600" spc="-1" strike="noStrike">
                <a:solidFill>
                  <a:srgbClr val="000000"/>
                </a:solidFill>
                <a:latin typeface="Arial"/>
                <a:ea typeface="ＭＳ Ｐゴシック"/>
              </a:rPr>
              <a:t>Supports Flow Control </a:t>
            </a:r>
            <a:r>
              <a:rPr b="0" lang="en-US" sz="1600" spc="-1" strike="noStrike">
                <a:solidFill>
                  <a:srgbClr val="000000"/>
                </a:solidFill>
                <a:latin typeface="Arial"/>
                <a:ea typeface="ＭＳ Ｐゴシック"/>
              </a:rPr>
              <a:t>- Network hosts have limited resources (i.e., memory and processing power). When TCP is aware that these resources are overtaxed, it can request that the sending application reduce the rate of data flow. </a:t>
            </a:r>
            <a:endParaRPr b="0" lang="en-US" sz="1600" spc="-1" strike="noStrike">
              <a:solidFill>
                <a:srgbClr val="58585b"/>
              </a:solidFill>
              <a:latin typeface="Arial"/>
            </a:endParaRPr>
          </a:p>
        </p:txBody>
      </p:sp>
      <p:sp>
        <p:nvSpPr>
          <p:cNvPr id="360" name="PlaceHolder 2"/>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TCP Overview</a:t>
            </a:r>
            <a:br/>
            <a:r>
              <a:rPr b="0" lang="en-US" sz="2400" spc="-1" strike="noStrike">
                <a:solidFill>
                  <a:srgbClr val="367187"/>
                </a:solidFill>
                <a:latin typeface="Arial"/>
                <a:ea typeface="ＭＳ Ｐゴシック"/>
              </a:rPr>
              <a:t>TCP Features</a:t>
            </a:r>
            <a:endParaRPr b="0" lang="en-US" sz="2400" spc="-1" strike="noStrike">
              <a:solidFill>
                <a:srgbClr val="58585b"/>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TCP Overview</a:t>
            </a:r>
            <a:br/>
            <a:r>
              <a:rPr b="0" lang="en-US" sz="2400" spc="-1" strike="noStrike">
                <a:solidFill>
                  <a:srgbClr val="004c69"/>
                </a:solidFill>
                <a:latin typeface="Arial"/>
                <a:ea typeface="ＭＳ Ｐゴシック"/>
              </a:rPr>
              <a:t>TCP  Header</a:t>
            </a:r>
            <a:endParaRPr b="0" lang="en-US" sz="2400" spc="-1" strike="noStrike">
              <a:solidFill>
                <a:srgbClr val="58585b"/>
              </a:solidFill>
              <a:latin typeface="Arial"/>
            </a:endParaRPr>
          </a:p>
        </p:txBody>
      </p:sp>
      <p:sp>
        <p:nvSpPr>
          <p:cNvPr id="362" name="PlaceHolder 2"/>
          <p:cNvSpPr>
            <a:spLocks noGrp="1"/>
          </p:cNvSpPr>
          <p:nvPr>
            <p:ph/>
          </p:nvPr>
        </p:nvSpPr>
        <p:spPr>
          <a:xfrm>
            <a:off x="474840" y="844200"/>
            <a:ext cx="3293280" cy="357732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TCP is a stateful protocol which means it keeps track of the state of the communication session.</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TCP records which information it has sent, and which information has been acknowledged.</a:t>
            </a:r>
            <a:endParaRPr b="0" lang="en-US" sz="1600" spc="-1" strike="noStrike">
              <a:solidFill>
                <a:srgbClr val="58585b"/>
              </a:solidFill>
              <a:latin typeface="Arial"/>
            </a:endParaRPr>
          </a:p>
        </p:txBody>
      </p:sp>
      <p:pic>
        <p:nvPicPr>
          <p:cNvPr id="363" name="Picture 1" descr=""/>
          <p:cNvPicPr/>
          <p:nvPr/>
        </p:nvPicPr>
        <p:blipFill>
          <a:blip r:embed="rId1"/>
          <a:stretch/>
        </p:blipFill>
        <p:spPr>
          <a:xfrm>
            <a:off x="3677760" y="591480"/>
            <a:ext cx="5333760" cy="37584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TCP Overview</a:t>
            </a:r>
            <a:br/>
            <a:r>
              <a:rPr b="0" lang="en-US" sz="2400" spc="-1" strike="noStrike">
                <a:solidFill>
                  <a:srgbClr val="004c69"/>
                </a:solidFill>
                <a:latin typeface="Arial"/>
                <a:ea typeface="ＭＳ Ｐゴシック"/>
              </a:rPr>
              <a:t>TCP Header Fields</a:t>
            </a:r>
            <a:endParaRPr b="0" lang="en-US" sz="2400" spc="-1" strike="noStrike">
              <a:solidFill>
                <a:srgbClr val="58585b"/>
              </a:solidFill>
              <a:latin typeface="Arial"/>
            </a:endParaRPr>
          </a:p>
        </p:txBody>
      </p:sp>
      <p:graphicFrame>
        <p:nvGraphicFramePr>
          <p:cNvPr id="365" name="Content Placeholder 5"/>
          <p:cNvGraphicFramePr/>
          <p:nvPr/>
        </p:nvGraphicFramePr>
        <p:xfrm>
          <a:off x="539640" y="763560"/>
          <a:ext cx="8280000" cy="3274200"/>
        </p:xfrm>
        <a:graphic>
          <a:graphicData uri="http://schemas.openxmlformats.org/drawingml/2006/table">
            <a:tbl>
              <a:tblPr/>
              <a:tblGrid>
                <a:gridCol w="2058840"/>
                <a:gridCol w="6221160"/>
              </a:tblGrid>
              <a:tr h="279000">
                <a:tc>
                  <a:txBody>
                    <a:bodyPr lIns="47520" rIns="47520" tIns="47520" bIns="47520" anchor="ctr">
                      <a:noAutofit/>
                    </a:bodyPr>
                    <a:p>
                      <a:pPr>
                        <a:lnSpc>
                          <a:spcPct val="100000"/>
                        </a:lnSpc>
                        <a:buNone/>
                      </a:pPr>
                      <a:r>
                        <a:rPr b="1" lang="en-US" sz="1200" spc="-1" strike="noStrike">
                          <a:solidFill>
                            <a:srgbClr val="ffffff"/>
                          </a:solidFill>
                          <a:latin typeface="Arial"/>
                        </a:rPr>
                        <a:t>TCP Header Field</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47520" rIns="47520" tIns="47520" bIns="47520" anchor="ctr">
                      <a:noAutofit/>
                    </a:bodyPr>
                    <a:p>
                      <a:pPr>
                        <a:lnSpc>
                          <a:spcPct val="100000"/>
                        </a:lnSpc>
                        <a:buNone/>
                      </a:pPr>
                      <a:r>
                        <a:rPr b="1" lang="en-US" sz="1200" spc="-1" strike="noStrike">
                          <a:solidFill>
                            <a:srgbClr val="ffffff"/>
                          </a:solidFill>
                          <a:latin typeface="Arial"/>
                        </a:rPr>
                        <a:t>Description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279000">
                <a:tc>
                  <a:txBody>
                    <a:bodyPr lIns="47520" rIns="47520" tIns="47520" bIns="47520" anchor="ctr">
                      <a:noAutofit/>
                    </a:bodyPr>
                    <a:p>
                      <a:pPr>
                        <a:lnSpc>
                          <a:spcPct val="100000"/>
                        </a:lnSpc>
                        <a:buNone/>
                      </a:pPr>
                      <a:r>
                        <a:rPr b="1" lang="en-US" sz="1200" spc="-1" strike="noStrike">
                          <a:solidFill>
                            <a:srgbClr val="58585b"/>
                          </a:solidFill>
                          <a:latin typeface="Arial"/>
                        </a:rPr>
                        <a:t>Source Port</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A 16-bit field used to identify the source application by port number.</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79000">
                <a:tc>
                  <a:txBody>
                    <a:bodyPr lIns="47520" rIns="47520" tIns="47520" bIns="47520" anchor="ctr">
                      <a:noAutofit/>
                    </a:bodyPr>
                    <a:p>
                      <a:pPr>
                        <a:lnSpc>
                          <a:spcPct val="100000"/>
                        </a:lnSpc>
                        <a:buNone/>
                      </a:pPr>
                      <a:r>
                        <a:rPr b="1" lang="en-US" sz="1200" spc="-1" strike="noStrike">
                          <a:solidFill>
                            <a:srgbClr val="58585b"/>
                          </a:solidFill>
                          <a:latin typeface="Arial"/>
                        </a:rPr>
                        <a:t>Destination Port</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A 16-bit field used to identify the destination application by port number.</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79000">
                <a:tc>
                  <a:txBody>
                    <a:bodyPr lIns="47520" rIns="47520" tIns="47520" bIns="47520" anchor="ctr">
                      <a:noAutofit/>
                    </a:bodyPr>
                    <a:p>
                      <a:pPr>
                        <a:lnSpc>
                          <a:spcPct val="100000"/>
                        </a:lnSpc>
                        <a:buNone/>
                      </a:pPr>
                      <a:r>
                        <a:rPr b="1" lang="en-US" sz="1200" spc="-1" strike="noStrike">
                          <a:solidFill>
                            <a:srgbClr val="58585b"/>
                          </a:solidFill>
                          <a:latin typeface="Arial"/>
                        </a:rPr>
                        <a:t>Sequence Number</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A 32-bit field used for data reassembly purposes.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436680">
                <a:tc>
                  <a:txBody>
                    <a:bodyPr lIns="47520" rIns="47520" tIns="47520" bIns="47520" anchor="ctr">
                      <a:noAutofit/>
                    </a:bodyPr>
                    <a:p>
                      <a:pPr>
                        <a:lnSpc>
                          <a:spcPct val="100000"/>
                        </a:lnSpc>
                        <a:buNone/>
                      </a:pPr>
                      <a:r>
                        <a:rPr b="1" lang="en-US" sz="1200" spc="-1" strike="noStrike">
                          <a:solidFill>
                            <a:srgbClr val="58585b"/>
                          </a:solidFill>
                          <a:latin typeface="Arial"/>
                        </a:rPr>
                        <a:t>Acknowledgment Number</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A 32-bit field used to indicate that data has been received and the next byte expected from the source.</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47040">
                <a:tc>
                  <a:txBody>
                    <a:bodyPr lIns="47520" rIns="47520" tIns="47520" bIns="47520" anchor="ctr">
                      <a:noAutofit/>
                    </a:bodyPr>
                    <a:p>
                      <a:pPr>
                        <a:lnSpc>
                          <a:spcPct val="100000"/>
                        </a:lnSpc>
                        <a:buNone/>
                      </a:pPr>
                      <a:r>
                        <a:rPr b="1" lang="en-US" sz="1200" spc="-1" strike="noStrike">
                          <a:solidFill>
                            <a:srgbClr val="58585b"/>
                          </a:solidFill>
                          <a:latin typeface="Arial"/>
                        </a:rPr>
                        <a:t>Header Length</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A 4-bit field known as ʺdata offsetʺ that indicates the length of the TCP segment header.</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79000">
                <a:tc>
                  <a:txBody>
                    <a:bodyPr lIns="47520" rIns="47520" tIns="47520" bIns="47520" anchor="ctr">
                      <a:noAutofit/>
                    </a:bodyPr>
                    <a:p>
                      <a:pPr>
                        <a:lnSpc>
                          <a:spcPct val="100000"/>
                        </a:lnSpc>
                        <a:buNone/>
                      </a:pPr>
                      <a:r>
                        <a:rPr b="1" lang="en-US" sz="1200" spc="-1" strike="noStrike">
                          <a:solidFill>
                            <a:srgbClr val="58585b"/>
                          </a:solidFill>
                          <a:latin typeface="Arial"/>
                        </a:rPr>
                        <a:t>Reserved</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A 6-bit field that is reserved for future use.</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436680">
                <a:tc>
                  <a:txBody>
                    <a:bodyPr lIns="47520" rIns="47520" tIns="47520" bIns="47520" anchor="ctr">
                      <a:noAutofit/>
                    </a:bodyPr>
                    <a:p>
                      <a:pPr>
                        <a:lnSpc>
                          <a:spcPct val="100000"/>
                        </a:lnSpc>
                        <a:buNone/>
                      </a:pPr>
                      <a:r>
                        <a:rPr b="1" lang="en-US" sz="1200" spc="-1" strike="noStrike">
                          <a:solidFill>
                            <a:srgbClr val="58585b"/>
                          </a:solidFill>
                          <a:latin typeface="Arial"/>
                        </a:rPr>
                        <a:t>Control bits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A 6-bit field used that includes bit codes, or flags, which indicate the purpose and function of the TCP segment.</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79000">
                <a:tc>
                  <a:txBody>
                    <a:bodyPr lIns="47520" rIns="47520" tIns="47520" bIns="47520" anchor="ctr">
                      <a:noAutofit/>
                    </a:bodyPr>
                    <a:p>
                      <a:pPr>
                        <a:lnSpc>
                          <a:spcPct val="100000"/>
                        </a:lnSpc>
                        <a:buNone/>
                      </a:pPr>
                      <a:r>
                        <a:rPr b="1" lang="en-US" sz="1200" spc="-1" strike="noStrike">
                          <a:solidFill>
                            <a:srgbClr val="58585b"/>
                          </a:solidFill>
                          <a:latin typeface="Arial"/>
                        </a:rPr>
                        <a:t>Window size</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A 16-bit field used to indicate the number of bytes that can be accepted at one time.</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79000">
                <a:tc>
                  <a:txBody>
                    <a:bodyPr lIns="47520" rIns="47520" tIns="47520" bIns="47520" anchor="ctr">
                      <a:noAutofit/>
                    </a:bodyPr>
                    <a:p>
                      <a:pPr>
                        <a:lnSpc>
                          <a:spcPct val="100000"/>
                        </a:lnSpc>
                        <a:buNone/>
                      </a:pPr>
                      <a:r>
                        <a:rPr b="1" lang="en-US" sz="1200" spc="-1" strike="noStrike">
                          <a:solidFill>
                            <a:srgbClr val="58585b"/>
                          </a:solidFill>
                          <a:latin typeface="Arial"/>
                        </a:rPr>
                        <a:t>Checksum</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A 16-bit field used for error checking of the segment header and data.</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79000">
                <a:tc>
                  <a:txBody>
                    <a:bodyPr lIns="47520" rIns="47520" tIns="47520" bIns="47520" anchor="ctr">
                      <a:noAutofit/>
                    </a:bodyPr>
                    <a:p>
                      <a:pPr>
                        <a:lnSpc>
                          <a:spcPct val="100000"/>
                        </a:lnSpc>
                        <a:buNone/>
                      </a:pPr>
                      <a:r>
                        <a:rPr b="1" lang="en-US" sz="1200" spc="-1" strike="noStrike">
                          <a:solidFill>
                            <a:srgbClr val="58585b"/>
                          </a:solidFill>
                          <a:latin typeface="Arial"/>
                        </a:rPr>
                        <a:t>Urgent</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A 16-bit field used to indicate if the contained data is urgent.</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TCP Overview</a:t>
            </a:r>
            <a:br/>
            <a:r>
              <a:rPr b="0" lang="en-US" sz="2400" spc="-1" strike="noStrike">
                <a:solidFill>
                  <a:srgbClr val="367187"/>
                </a:solidFill>
                <a:latin typeface="Arial"/>
                <a:ea typeface="ＭＳ Ｐゴシック"/>
              </a:rPr>
              <a:t>Applications that use TCP</a:t>
            </a:r>
            <a:endParaRPr b="0" lang="en-US" sz="2400" spc="-1" strike="noStrike">
              <a:solidFill>
                <a:srgbClr val="58585b"/>
              </a:solidFill>
              <a:latin typeface="Arial"/>
            </a:endParaRPr>
          </a:p>
        </p:txBody>
      </p:sp>
      <p:sp>
        <p:nvSpPr>
          <p:cNvPr id="367" name="PlaceHolder 2"/>
          <p:cNvSpPr>
            <a:spLocks noGrp="1"/>
          </p:cNvSpPr>
          <p:nvPr>
            <p:ph/>
          </p:nvPr>
        </p:nvSpPr>
        <p:spPr>
          <a:xfrm>
            <a:off x="144000" y="1152000"/>
            <a:ext cx="4042080" cy="337788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800" spc="-1" strike="noStrike">
                <a:solidFill>
                  <a:srgbClr val="000000"/>
                </a:solidFill>
                <a:latin typeface="Arial"/>
                <a:ea typeface="ＭＳ Ｐゴシック"/>
              </a:rPr>
              <a:t>TCP handles all tasks associated with dividing the data stream into segments, providing reliability, controlling data flow, and reordering segments.</a:t>
            </a:r>
            <a:endParaRPr b="0" lang="en-US" sz="1800" spc="-1" strike="noStrike">
              <a:solidFill>
                <a:srgbClr val="58585b"/>
              </a:solidFill>
              <a:latin typeface="Arial"/>
            </a:endParaRPr>
          </a:p>
          <a:p>
            <a:pPr>
              <a:lnSpc>
                <a:spcPct val="100000"/>
              </a:lnSpc>
              <a:spcBef>
                <a:spcPts val="601"/>
              </a:spcBef>
              <a:spcAft>
                <a:spcPts val="601"/>
              </a:spcAft>
              <a:buNone/>
              <a:tabLst>
                <a:tab algn="l" pos="0"/>
              </a:tabLst>
            </a:pPr>
            <a:endParaRPr b="0" lang="en-US" sz="1800" spc="-1" strike="noStrike">
              <a:solidFill>
                <a:srgbClr val="58585b"/>
              </a:solidFill>
              <a:latin typeface="Arial"/>
            </a:endParaRPr>
          </a:p>
        </p:txBody>
      </p:sp>
      <p:pic>
        <p:nvPicPr>
          <p:cNvPr id="368" name="Picture 6" descr=""/>
          <p:cNvPicPr/>
          <p:nvPr/>
        </p:nvPicPr>
        <p:blipFill>
          <a:blip r:embed="rId1"/>
          <a:srcRect l="0" t="0" r="3353" b="0"/>
          <a:stretch/>
        </p:blipFill>
        <p:spPr>
          <a:xfrm>
            <a:off x="4379400" y="902880"/>
            <a:ext cx="4042080" cy="333756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14.3 UDP Overview</a:t>
            </a:r>
            <a:endParaRPr b="0" lang="en-US" sz="4600" spc="-1" strike="noStrike">
              <a:solidFill>
                <a:srgbClr val="58585b"/>
              </a:solidFill>
              <a:latin typeface="Arial"/>
            </a:endParaRPr>
          </a:p>
        </p:txBody>
      </p:sp>
    </p:spTree>
  </p:cSld>
  <p:transition spd="slow">
    <p:wipe dir="l"/>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UDP Overview</a:t>
            </a:r>
            <a:br/>
            <a:r>
              <a:rPr b="0" lang="en-US" sz="3200" spc="-1" strike="noStrike">
                <a:solidFill>
                  <a:srgbClr val="004c69"/>
                </a:solidFill>
                <a:latin typeface="Arial"/>
                <a:ea typeface="ＭＳ Ｐゴシック"/>
              </a:rPr>
              <a:t>UDP Features</a:t>
            </a:r>
            <a:endParaRPr b="0" lang="en-US" sz="3200" spc="-1" strike="noStrike">
              <a:solidFill>
                <a:srgbClr val="58585b"/>
              </a:solidFill>
              <a:latin typeface="Arial"/>
            </a:endParaRPr>
          </a:p>
        </p:txBody>
      </p:sp>
      <p:sp>
        <p:nvSpPr>
          <p:cNvPr id="371" name="PlaceHolder 2"/>
          <p:cNvSpPr>
            <a:spLocks noGrp="1"/>
          </p:cNvSpPr>
          <p:nvPr>
            <p:ph/>
          </p:nvPr>
        </p:nvSpPr>
        <p:spPr>
          <a:xfrm>
            <a:off x="432000" y="902160"/>
            <a:ext cx="8279640" cy="3505320"/>
          </a:xfrm>
          <a:prstGeom prst="rect">
            <a:avLst/>
          </a:prstGeom>
          <a:noFill/>
          <a:ln w="0">
            <a:noFill/>
          </a:ln>
        </p:spPr>
        <p:txBody>
          <a:bodyPr anchor="t">
            <a:noAutofit/>
          </a:bodyPr>
          <a:p>
            <a:pPr>
              <a:lnSpc>
                <a:spcPct val="100000"/>
              </a:lnSpc>
              <a:spcBef>
                <a:spcPts val="360"/>
              </a:spcBef>
              <a:buNone/>
              <a:tabLst>
                <a:tab algn="l" pos="0"/>
              </a:tabLst>
            </a:pPr>
            <a:r>
              <a:rPr b="0" lang="en-US" sz="1800" spc="-1" strike="noStrike">
                <a:solidFill>
                  <a:srgbClr val="000000"/>
                </a:solidFill>
                <a:latin typeface="Arial"/>
                <a:ea typeface="ＭＳ Ｐゴシック"/>
              </a:rPr>
              <a:t>UDP features include the following:</a:t>
            </a:r>
            <a:endParaRPr b="0" lang="en-US" sz="1800" spc="-1" strike="noStrike">
              <a:solidFill>
                <a:srgbClr val="58585b"/>
              </a:solidFill>
              <a:latin typeface="Arial"/>
            </a:endParaRPr>
          </a:p>
          <a:p>
            <a:pPr marL="285840" indent="-28584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Data is reconstructed in the order that it is received.</a:t>
            </a:r>
            <a:endParaRPr b="0" lang="en-US" sz="1800" spc="-1" strike="noStrike">
              <a:solidFill>
                <a:srgbClr val="58585b"/>
              </a:solidFill>
              <a:latin typeface="Arial"/>
            </a:endParaRPr>
          </a:p>
          <a:p>
            <a:pPr marL="285840" indent="-28584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Any segments that are lost are not resent.</a:t>
            </a:r>
            <a:endParaRPr b="0" lang="en-US" sz="1800" spc="-1" strike="noStrike">
              <a:solidFill>
                <a:srgbClr val="58585b"/>
              </a:solidFill>
              <a:latin typeface="Arial"/>
            </a:endParaRPr>
          </a:p>
          <a:p>
            <a:pPr marL="285840" indent="-28584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There is no session establishment.</a:t>
            </a:r>
            <a:endParaRPr b="0" lang="en-US" sz="1800" spc="-1" strike="noStrike">
              <a:solidFill>
                <a:srgbClr val="58585b"/>
              </a:solidFill>
              <a:latin typeface="Arial"/>
            </a:endParaRPr>
          </a:p>
          <a:p>
            <a:pPr marL="285840" indent="-28584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The sending is not informed about resource availability.</a:t>
            </a:r>
            <a:endParaRPr b="0" lang="en-US" sz="18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UDP Overview</a:t>
            </a:r>
            <a:br/>
            <a:r>
              <a:rPr b="0" lang="en-US" sz="2400" spc="-1" strike="noStrike">
                <a:solidFill>
                  <a:srgbClr val="004c69"/>
                </a:solidFill>
                <a:latin typeface="Arial"/>
                <a:ea typeface="ＭＳ Ｐゴシック"/>
              </a:rPr>
              <a:t>UDP Header</a:t>
            </a:r>
            <a:endParaRPr b="0" lang="en-US" sz="2400" spc="-1" strike="noStrike">
              <a:solidFill>
                <a:srgbClr val="58585b"/>
              </a:solidFill>
              <a:latin typeface="Arial"/>
            </a:endParaRPr>
          </a:p>
        </p:txBody>
      </p:sp>
      <p:sp>
        <p:nvSpPr>
          <p:cNvPr id="373" name="TextBox 1"/>
          <p:cNvSpPr/>
          <p:nvPr/>
        </p:nvSpPr>
        <p:spPr>
          <a:xfrm>
            <a:off x="498600" y="731880"/>
            <a:ext cx="7846200" cy="639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58585b"/>
                </a:solidFill>
                <a:latin typeface="Arial"/>
                <a:ea typeface="ＭＳ Ｐゴシック"/>
              </a:rPr>
              <a:t>The UDP header is far simpler than the TCP header because it only has four fields and requires 8 bytes (i.e. 64 bits).</a:t>
            </a:r>
            <a:endParaRPr b="0" lang="en-JM" sz="1800" spc="-1" strike="noStrike">
              <a:latin typeface="Arial"/>
            </a:endParaRPr>
          </a:p>
        </p:txBody>
      </p:sp>
      <p:pic>
        <p:nvPicPr>
          <p:cNvPr id="374" name="Content Placeholder 4" descr=""/>
          <p:cNvPicPr/>
          <p:nvPr/>
        </p:nvPicPr>
        <p:blipFill>
          <a:blip r:embed="rId1"/>
          <a:srcRect l="1427" t="4185" r="1833" b="4115"/>
          <a:stretch/>
        </p:blipFill>
        <p:spPr>
          <a:xfrm>
            <a:off x="890280" y="1540080"/>
            <a:ext cx="7711920" cy="23580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UDP Overview</a:t>
            </a:r>
            <a:br/>
            <a:r>
              <a:rPr b="0" lang="en-US" sz="2400" spc="-1" strike="noStrike">
                <a:solidFill>
                  <a:srgbClr val="004c69"/>
                </a:solidFill>
                <a:latin typeface="Arial"/>
                <a:ea typeface="ＭＳ Ｐゴシック"/>
              </a:rPr>
              <a:t>UDP Header Fields</a:t>
            </a:r>
            <a:endParaRPr b="0" lang="en-US" sz="2400" spc="-1" strike="noStrike">
              <a:solidFill>
                <a:srgbClr val="58585b"/>
              </a:solidFill>
              <a:latin typeface="Arial"/>
            </a:endParaRPr>
          </a:p>
        </p:txBody>
      </p:sp>
      <p:sp>
        <p:nvSpPr>
          <p:cNvPr id="376" name="TextBox 1"/>
          <p:cNvSpPr/>
          <p:nvPr/>
        </p:nvSpPr>
        <p:spPr>
          <a:xfrm>
            <a:off x="194040" y="731880"/>
            <a:ext cx="7328520" cy="3646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58585b"/>
                </a:solidFill>
                <a:latin typeface="Arial"/>
                <a:ea typeface="ＭＳ Ｐゴシック"/>
              </a:rPr>
              <a:t>The table identifies and describes the four fields in a UDP header.</a:t>
            </a:r>
            <a:endParaRPr b="0" lang="en-JM" sz="1800" spc="-1" strike="noStrike">
              <a:latin typeface="Arial"/>
            </a:endParaRPr>
          </a:p>
        </p:txBody>
      </p:sp>
      <p:graphicFrame>
        <p:nvGraphicFramePr>
          <p:cNvPr id="377" name="Content Placeholder 5"/>
          <p:cNvGraphicFramePr/>
          <p:nvPr/>
        </p:nvGraphicFramePr>
        <p:xfrm>
          <a:off x="431640" y="1644480"/>
          <a:ext cx="8280000" cy="1854000"/>
        </p:xfrm>
        <a:graphic>
          <a:graphicData uri="http://schemas.openxmlformats.org/drawingml/2006/table">
            <a:tbl>
              <a:tblPr/>
              <a:tblGrid>
                <a:gridCol w="1697760"/>
                <a:gridCol w="6582600"/>
              </a:tblGrid>
              <a:tr h="370800">
                <a:tc>
                  <a:txBody>
                    <a:bodyPr lIns="47520" rIns="47520" tIns="47520" bIns="47520" anchor="ctr">
                      <a:noAutofit/>
                    </a:bodyPr>
                    <a:p>
                      <a:pPr>
                        <a:lnSpc>
                          <a:spcPct val="100000"/>
                        </a:lnSpc>
                        <a:buNone/>
                      </a:pPr>
                      <a:r>
                        <a:rPr b="1" lang="en-US" sz="1400" spc="-1" strike="noStrike">
                          <a:solidFill>
                            <a:srgbClr val="ffffff"/>
                          </a:solidFill>
                          <a:latin typeface="Arial"/>
                        </a:rPr>
                        <a:t>UDP Header Field</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47520" rIns="47520" tIns="47520" bIns="47520" anchor="ctr">
                      <a:noAutofit/>
                    </a:bodyPr>
                    <a:p>
                      <a:pPr>
                        <a:lnSpc>
                          <a:spcPct val="100000"/>
                        </a:lnSpc>
                        <a:buNone/>
                      </a:pPr>
                      <a:r>
                        <a:rPr b="1" lang="en-US" sz="1400" spc="-1" strike="noStrike">
                          <a:solidFill>
                            <a:srgbClr val="ffffff"/>
                          </a:solidFill>
                          <a:latin typeface="Arial"/>
                        </a:rPr>
                        <a:t>Description</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370800">
                <a:tc>
                  <a:txBody>
                    <a:bodyPr lIns="47520" rIns="47520" tIns="47520" bIns="47520" anchor="ctr">
                      <a:noAutofit/>
                    </a:bodyPr>
                    <a:p>
                      <a:pPr>
                        <a:lnSpc>
                          <a:spcPct val="100000"/>
                        </a:lnSpc>
                        <a:buNone/>
                      </a:pPr>
                      <a:r>
                        <a:rPr b="1" lang="en-US" sz="1400" spc="-1" strike="noStrike">
                          <a:solidFill>
                            <a:srgbClr val="58585b"/>
                          </a:solidFill>
                          <a:latin typeface="Arial"/>
                        </a:rPr>
                        <a:t>Source Port</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400" spc="-1" strike="noStrike">
                          <a:solidFill>
                            <a:srgbClr val="58585b"/>
                          </a:solidFill>
                          <a:latin typeface="Arial"/>
                        </a:rPr>
                        <a:t>A 16-bit field used to identify the source application by port number.</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47520" rIns="47520" tIns="47520" bIns="47520" anchor="ctr">
                      <a:noAutofit/>
                    </a:bodyPr>
                    <a:p>
                      <a:pPr>
                        <a:lnSpc>
                          <a:spcPct val="100000"/>
                        </a:lnSpc>
                        <a:buNone/>
                      </a:pPr>
                      <a:r>
                        <a:rPr b="1" lang="en-US" sz="1400" spc="-1" strike="noStrike">
                          <a:solidFill>
                            <a:srgbClr val="58585b"/>
                          </a:solidFill>
                          <a:latin typeface="Arial"/>
                        </a:rPr>
                        <a:t>Destination Port</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400" spc="-1" strike="noStrike">
                          <a:solidFill>
                            <a:srgbClr val="58585b"/>
                          </a:solidFill>
                          <a:latin typeface="Arial"/>
                        </a:rPr>
                        <a:t>A 16-bit field used to identify the destination application by port number.</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70800">
                <a:tc>
                  <a:txBody>
                    <a:bodyPr lIns="47520" rIns="47520" tIns="47520" bIns="47520" anchor="ctr">
                      <a:noAutofit/>
                    </a:bodyPr>
                    <a:p>
                      <a:pPr>
                        <a:lnSpc>
                          <a:spcPct val="100000"/>
                        </a:lnSpc>
                        <a:buNone/>
                      </a:pPr>
                      <a:r>
                        <a:rPr b="1" lang="en-US" sz="1400" spc="-1" strike="noStrike">
                          <a:solidFill>
                            <a:srgbClr val="58585b"/>
                          </a:solidFill>
                          <a:latin typeface="Arial"/>
                        </a:rPr>
                        <a:t>Length</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400" spc="-1" strike="noStrike">
                          <a:solidFill>
                            <a:srgbClr val="58585b"/>
                          </a:solidFill>
                          <a:latin typeface="Arial"/>
                        </a:rPr>
                        <a:t>A 16-bit field that indicates the length of the UDP datagram header.</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47520" rIns="47520" tIns="47520" bIns="47520" anchor="ctr">
                      <a:noAutofit/>
                    </a:bodyPr>
                    <a:p>
                      <a:pPr>
                        <a:lnSpc>
                          <a:spcPct val="100000"/>
                        </a:lnSpc>
                        <a:buNone/>
                      </a:pPr>
                      <a:r>
                        <a:rPr b="1" lang="en-US" sz="1400" spc="-1" strike="noStrike">
                          <a:solidFill>
                            <a:srgbClr val="58585b"/>
                          </a:solidFill>
                          <a:latin typeface="Arial"/>
                        </a:rPr>
                        <a:t>Checksum</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400" spc="-1" strike="noStrike">
                          <a:solidFill>
                            <a:srgbClr val="58585b"/>
                          </a:solidFill>
                          <a:latin typeface="Arial"/>
                        </a:rPr>
                        <a:t>A 16-bit field used for error checking of the datagram header and data.</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UDP Overview</a:t>
            </a:r>
            <a:br/>
            <a:r>
              <a:rPr b="0" lang="en-US" sz="2400" spc="-1" strike="noStrike">
                <a:solidFill>
                  <a:srgbClr val="367187"/>
                </a:solidFill>
                <a:latin typeface="Arial"/>
                <a:ea typeface="ＭＳ Ｐゴシック"/>
              </a:rPr>
              <a:t>Applications that use UDP</a:t>
            </a:r>
            <a:endParaRPr b="0" lang="en-US" sz="2400" spc="-1" strike="noStrike">
              <a:solidFill>
                <a:srgbClr val="58585b"/>
              </a:solidFill>
              <a:latin typeface="Arial"/>
            </a:endParaRPr>
          </a:p>
        </p:txBody>
      </p:sp>
      <p:sp>
        <p:nvSpPr>
          <p:cNvPr id="379" name="PlaceHolder 2"/>
          <p:cNvSpPr>
            <a:spLocks noGrp="1"/>
          </p:cNvSpPr>
          <p:nvPr>
            <p:ph/>
          </p:nvPr>
        </p:nvSpPr>
        <p:spPr>
          <a:xfrm>
            <a:off x="144000" y="798840"/>
            <a:ext cx="4922640" cy="415512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Wingdings" charset="2"/>
              <a:buChar char=""/>
            </a:pPr>
            <a:r>
              <a:rPr b="0" lang="en-US" sz="1600" spc="-1" strike="noStrike">
                <a:solidFill>
                  <a:srgbClr val="000000"/>
                </a:solidFill>
                <a:latin typeface="Arial"/>
                <a:ea typeface="ＭＳ Ｐゴシック"/>
              </a:rPr>
              <a:t>Live video and multimedia applications - These applications can tolerate some data loss but require little or no delay. Examples include VoIP and live streaming video.</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Wingdings" charset="2"/>
              <a:buChar char=""/>
            </a:pPr>
            <a:r>
              <a:rPr b="0" lang="en-US" sz="1600" spc="-1" strike="noStrike">
                <a:solidFill>
                  <a:srgbClr val="000000"/>
                </a:solidFill>
                <a:latin typeface="Arial"/>
                <a:ea typeface="ＭＳ Ｐゴシック"/>
              </a:rPr>
              <a:t>Simple request and reply applications - Applications with simple transactions where a host sends a request and may or may not receive a reply. Examples include DNS and DHCP.</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Wingdings" charset="2"/>
              <a:buChar char=""/>
            </a:pPr>
            <a:r>
              <a:rPr b="0" lang="en-US" sz="1600" spc="-1" strike="noStrike">
                <a:solidFill>
                  <a:srgbClr val="000000"/>
                </a:solidFill>
                <a:latin typeface="Arial"/>
                <a:ea typeface="ＭＳ Ｐゴシック"/>
              </a:rPr>
              <a:t>Applications that handle reliability themselves - Unidirectional communications where flow control, error detection, acknowledgments, and error recovery is not required, or can be handled by the application. Examples include SNMP and TFTP.</a:t>
            </a:r>
            <a:endParaRPr b="0" lang="en-US" sz="1600" spc="-1" strike="noStrike">
              <a:solidFill>
                <a:srgbClr val="58585b"/>
              </a:solidFill>
              <a:latin typeface="Arial"/>
            </a:endParaRPr>
          </a:p>
        </p:txBody>
      </p:sp>
      <p:pic>
        <p:nvPicPr>
          <p:cNvPr id="380" name="Picture 5" descr=""/>
          <p:cNvPicPr/>
          <p:nvPr/>
        </p:nvPicPr>
        <p:blipFill>
          <a:blip r:embed="rId1"/>
          <a:srcRect l="15104" t="3226" r="12046" b="3296"/>
          <a:stretch/>
        </p:blipFill>
        <p:spPr>
          <a:xfrm>
            <a:off x="5293440" y="568800"/>
            <a:ext cx="3380400" cy="367416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14.4 Port Numbers</a:t>
            </a:r>
            <a:endParaRPr b="0" lang="en-US" sz="4600" spc="-1" strike="noStrike">
              <a:solidFill>
                <a:srgbClr val="58585b"/>
              </a:solidFill>
              <a:latin typeface="Arial"/>
            </a:endParaRPr>
          </a:p>
        </p:txBody>
      </p:sp>
    </p:spTree>
  </p:cSld>
  <p:transition spd="slow">
    <p:wipe dir="l"/>
  </p:transition>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Port Numbers</a:t>
            </a:r>
            <a:br/>
            <a:r>
              <a:rPr b="0" lang="en-US" sz="2400" spc="-1" strike="noStrike">
                <a:solidFill>
                  <a:srgbClr val="004c69"/>
                </a:solidFill>
                <a:latin typeface="Arial"/>
                <a:ea typeface="ＭＳ Ｐゴシック"/>
              </a:rPr>
              <a:t>Multiple Separate Communications</a:t>
            </a:r>
            <a:endParaRPr b="0" lang="en-US" sz="2400" spc="-1" strike="noStrike">
              <a:solidFill>
                <a:srgbClr val="58585b"/>
              </a:solidFill>
              <a:latin typeface="Arial"/>
            </a:endParaRPr>
          </a:p>
        </p:txBody>
      </p:sp>
      <p:sp>
        <p:nvSpPr>
          <p:cNvPr id="383" name="PlaceHolder 2"/>
          <p:cNvSpPr>
            <a:spLocks noGrp="1"/>
          </p:cNvSpPr>
          <p:nvPr>
            <p:ph/>
          </p:nvPr>
        </p:nvSpPr>
        <p:spPr>
          <a:xfrm>
            <a:off x="230760" y="892440"/>
            <a:ext cx="8516880" cy="18882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TCP and UDP transport layer protocols use port numbers to manage multiple, simultaneous conversations.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The source port number is associated with the originating application on the local host whereas the destination port number is associated with the destination application on the remote host.</a:t>
            </a:r>
            <a:endParaRPr b="0" lang="en-US" sz="1600" spc="-1" strike="noStrike">
              <a:solidFill>
                <a:srgbClr val="58585b"/>
              </a:solidFill>
              <a:latin typeface="Arial"/>
            </a:endParaRPr>
          </a:p>
        </p:txBody>
      </p:sp>
      <p:pic>
        <p:nvPicPr>
          <p:cNvPr id="384" name="Picture 1" descr=""/>
          <p:cNvPicPr/>
          <p:nvPr/>
        </p:nvPicPr>
        <p:blipFill>
          <a:blip r:embed="rId1"/>
          <a:stretch/>
        </p:blipFill>
        <p:spPr>
          <a:xfrm>
            <a:off x="655560" y="2941560"/>
            <a:ext cx="7832160" cy="13618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title"/>
          </p:nvPr>
        </p:nvSpPr>
        <p:spPr>
          <a:xfrm>
            <a:off x="0" y="0"/>
            <a:ext cx="597744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Port numbers</a:t>
            </a:r>
            <a:br/>
            <a:r>
              <a:rPr b="0" lang="en-US" sz="2400" spc="-1" strike="noStrike">
                <a:solidFill>
                  <a:srgbClr val="004c69"/>
                </a:solidFill>
                <a:latin typeface="Arial"/>
                <a:ea typeface="ＭＳ Ｐゴシック"/>
              </a:rPr>
              <a:t>Socket Pairs</a:t>
            </a:r>
            <a:endParaRPr b="0" lang="en-US" sz="2400" spc="-1" strike="noStrike">
              <a:solidFill>
                <a:srgbClr val="58585b"/>
              </a:solidFill>
              <a:latin typeface="Arial"/>
            </a:endParaRPr>
          </a:p>
        </p:txBody>
      </p:sp>
      <p:sp>
        <p:nvSpPr>
          <p:cNvPr id="386" name="PlaceHolder 2"/>
          <p:cNvSpPr>
            <a:spLocks noGrp="1"/>
          </p:cNvSpPr>
          <p:nvPr>
            <p:ph/>
          </p:nvPr>
        </p:nvSpPr>
        <p:spPr>
          <a:xfrm>
            <a:off x="207360" y="864000"/>
            <a:ext cx="4179600" cy="3675600"/>
          </a:xfrm>
          <a:prstGeom prst="rect">
            <a:avLst/>
          </a:prstGeom>
          <a:noFill/>
          <a:ln w="0">
            <a:noFill/>
          </a:ln>
        </p:spPr>
        <p:txBody>
          <a:bodyPr anchor="t">
            <a:noAutofit/>
          </a:bodyPr>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The source and destination ports are placed within the segment.</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The segments are then encapsulated within an IP packet.</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The combination of the source IP address and source port number, or the destination IP address and destination port number is known as a socket.</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Sockets enable multiple processes, running on a client, to distinguish themselves from each other, and multiple connections to a server process to be distinguished from each other.</a:t>
            </a:r>
            <a:endParaRPr b="0" lang="en-US" sz="1600" spc="-1" strike="noStrike">
              <a:solidFill>
                <a:srgbClr val="58585b"/>
              </a:solidFill>
              <a:latin typeface="Arial"/>
            </a:endParaRPr>
          </a:p>
        </p:txBody>
      </p:sp>
      <p:pic>
        <p:nvPicPr>
          <p:cNvPr id="387" name="Picture 1" descr=""/>
          <p:cNvPicPr/>
          <p:nvPr/>
        </p:nvPicPr>
        <p:blipFill>
          <a:blip r:embed="rId1"/>
          <a:stretch/>
        </p:blipFill>
        <p:spPr>
          <a:xfrm>
            <a:off x="4503240" y="864000"/>
            <a:ext cx="4370040" cy="35506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Port Numbers</a:t>
            </a:r>
            <a:br/>
            <a:r>
              <a:rPr b="0" lang="en-US" sz="2400" spc="-1" strike="noStrike">
                <a:solidFill>
                  <a:srgbClr val="004c69"/>
                </a:solidFill>
                <a:latin typeface="Arial"/>
                <a:ea typeface="ＭＳ Ｐゴシック"/>
              </a:rPr>
              <a:t>Port Number Groups</a:t>
            </a:r>
            <a:endParaRPr b="0" lang="en-US" sz="2400" spc="-1" strike="noStrike">
              <a:solidFill>
                <a:srgbClr val="58585b"/>
              </a:solidFill>
              <a:latin typeface="Arial"/>
            </a:endParaRPr>
          </a:p>
        </p:txBody>
      </p:sp>
      <p:graphicFrame>
        <p:nvGraphicFramePr>
          <p:cNvPr id="389" name="Table 3"/>
          <p:cNvGraphicFramePr/>
          <p:nvPr/>
        </p:nvGraphicFramePr>
        <p:xfrm>
          <a:off x="529560" y="744120"/>
          <a:ext cx="7988760" cy="1482840"/>
        </p:xfrm>
        <a:graphic>
          <a:graphicData uri="http://schemas.openxmlformats.org/drawingml/2006/table">
            <a:tbl>
              <a:tblPr/>
              <a:tblGrid>
                <a:gridCol w="1143000"/>
                <a:gridCol w="1636200"/>
                <a:gridCol w="5209560"/>
              </a:tblGrid>
              <a:tr h="370800">
                <a:tc>
                  <a:txBody>
                    <a:bodyPr lIns="47520" rIns="47520" tIns="47520" bIns="47520" anchor="ctr">
                      <a:noAutofit/>
                    </a:bodyPr>
                    <a:p>
                      <a:pPr>
                        <a:lnSpc>
                          <a:spcPct val="100000"/>
                        </a:lnSpc>
                        <a:buNone/>
                      </a:pPr>
                      <a:r>
                        <a:rPr b="1" lang="en-US" sz="1200" spc="-1" strike="noStrike">
                          <a:solidFill>
                            <a:srgbClr val="ffffff"/>
                          </a:solidFill>
                          <a:latin typeface="Arial"/>
                        </a:rPr>
                        <a:t>Port Group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47520" rIns="47520" tIns="47520" bIns="47520" anchor="ctr">
                      <a:noAutofit/>
                    </a:bodyPr>
                    <a:p>
                      <a:pPr>
                        <a:lnSpc>
                          <a:spcPct val="100000"/>
                        </a:lnSpc>
                        <a:buNone/>
                      </a:pPr>
                      <a:r>
                        <a:rPr b="1" lang="en-US" sz="1200" spc="-1" strike="noStrike">
                          <a:solidFill>
                            <a:srgbClr val="ffffff"/>
                          </a:solidFill>
                          <a:latin typeface="Arial"/>
                        </a:rPr>
                        <a:t>Number Range</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47520" rIns="47520" tIns="47520" bIns="47520" anchor="ctr">
                      <a:noAutofit/>
                    </a:bodyPr>
                    <a:p>
                      <a:pPr>
                        <a:lnSpc>
                          <a:spcPct val="100000"/>
                        </a:lnSpc>
                        <a:buNone/>
                      </a:pPr>
                      <a:r>
                        <a:rPr b="1" lang="en-US" sz="1200" spc="-1" strike="noStrike">
                          <a:solidFill>
                            <a:srgbClr val="ffffff"/>
                          </a:solidFill>
                          <a:latin typeface="Arial"/>
                        </a:rPr>
                        <a:t>Description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370800">
                <a:tc>
                  <a:txBody>
                    <a:bodyPr lIns="47520" rIns="47520" tIns="47520" bIns="47520" anchor="ctr">
                      <a:noAutofit/>
                    </a:bodyPr>
                    <a:p>
                      <a:pPr>
                        <a:lnSpc>
                          <a:spcPct val="100000"/>
                        </a:lnSpc>
                        <a:buNone/>
                      </a:pPr>
                      <a:r>
                        <a:rPr b="1" lang="en-US" sz="1200" spc="-1" strike="noStrike">
                          <a:solidFill>
                            <a:srgbClr val="58585b"/>
                          </a:solidFill>
                          <a:latin typeface="Arial"/>
                        </a:rPr>
                        <a:t>Well-known Ports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1" lang="en-US" sz="1200" spc="-1" strike="noStrike">
                          <a:solidFill>
                            <a:srgbClr val="58585b"/>
                          </a:solidFill>
                          <a:latin typeface="Arial"/>
                        </a:rPr>
                        <a:t>0 to 1,023</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indent="-216000">
                        <a:lnSpc>
                          <a:spcPct val="100000"/>
                        </a:lnSpc>
                        <a:buClr>
                          <a:srgbClr val="58585b"/>
                        </a:buClr>
                        <a:buFont typeface="Arial"/>
                        <a:buChar char="•"/>
                      </a:pPr>
                      <a:r>
                        <a:rPr b="0" lang="en-US" sz="1200" spc="-1" strike="noStrike">
                          <a:solidFill>
                            <a:srgbClr val="58585b"/>
                          </a:solidFill>
                          <a:latin typeface="Arial"/>
                        </a:rPr>
                        <a:t>These port numbers are reserved for common or popular services and applications such as web browsers, email clients, and remote access clients.</a:t>
                      </a:r>
                      <a:endParaRPr b="0" lang="en-JM" sz="1200" spc="-1" strike="noStrike">
                        <a:latin typeface="Arial"/>
                      </a:endParaRPr>
                    </a:p>
                    <a:p>
                      <a:pPr indent="-216000">
                        <a:lnSpc>
                          <a:spcPct val="100000"/>
                        </a:lnSpc>
                        <a:buClr>
                          <a:srgbClr val="58585b"/>
                        </a:buClr>
                        <a:buFont typeface="Arial"/>
                        <a:buChar char="•"/>
                      </a:pPr>
                      <a:r>
                        <a:rPr b="0" lang="en-US" sz="1200" spc="-1" strike="noStrike">
                          <a:solidFill>
                            <a:srgbClr val="58585b"/>
                          </a:solidFill>
                          <a:latin typeface="Arial"/>
                        </a:rPr>
                        <a:t>Defined well-known ports for common server applications enables clients to easily identify the associated service required.</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47520" rIns="47520" tIns="47520" bIns="47520" anchor="ctr">
                      <a:noAutofit/>
                    </a:bodyPr>
                    <a:p>
                      <a:pPr>
                        <a:lnSpc>
                          <a:spcPct val="100000"/>
                        </a:lnSpc>
                        <a:buNone/>
                      </a:pPr>
                      <a:r>
                        <a:rPr b="1" lang="en-US" sz="1200" spc="-1" strike="noStrike">
                          <a:solidFill>
                            <a:srgbClr val="58585b"/>
                          </a:solidFill>
                          <a:latin typeface="Arial"/>
                        </a:rPr>
                        <a:t>Registered Ports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1" lang="en-US" sz="1200" spc="-1" strike="noStrike">
                          <a:solidFill>
                            <a:srgbClr val="58585b"/>
                          </a:solidFill>
                          <a:latin typeface="Arial"/>
                        </a:rPr>
                        <a:t>1,024 to 49,151</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indent="-216000">
                        <a:lnSpc>
                          <a:spcPct val="100000"/>
                        </a:lnSpc>
                        <a:buClr>
                          <a:srgbClr val="58585b"/>
                        </a:buClr>
                        <a:buFont typeface="Arial"/>
                        <a:buChar char="•"/>
                      </a:pPr>
                      <a:r>
                        <a:rPr b="0" lang="en-US" sz="1200" spc="-1" strike="noStrike">
                          <a:solidFill>
                            <a:srgbClr val="58585b"/>
                          </a:solidFill>
                          <a:latin typeface="Arial"/>
                        </a:rPr>
                        <a:t>These port numbers are assigned by IANA to a requesting entity to use with specific processes or applications.</a:t>
                      </a:r>
                      <a:endParaRPr b="0" lang="en-JM" sz="1200" spc="-1" strike="noStrike">
                        <a:latin typeface="Arial"/>
                      </a:endParaRPr>
                    </a:p>
                    <a:p>
                      <a:pPr indent="-216000">
                        <a:lnSpc>
                          <a:spcPct val="100000"/>
                        </a:lnSpc>
                        <a:buClr>
                          <a:srgbClr val="58585b"/>
                        </a:buClr>
                        <a:buFont typeface="Arial"/>
                        <a:buChar char="•"/>
                      </a:pPr>
                      <a:r>
                        <a:rPr b="0" lang="en-US" sz="1200" spc="-1" strike="noStrike">
                          <a:solidFill>
                            <a:srgbClr val="58585b"/>
                          </a:solidFill>
                          <a:latin typeface="Arial"/>
                        </a:rPr>
                        <a:t>These processes are primarily individual applications that a user has chosen to install, rather than common applications that would receive a well-known port number.</a:t>
                      </a:r>
                      <a:endParaRPr b="0" lang="en-JM" sz="1200" spc="-1" strike="noStrike">
                        <a:latin typeface="Arial"/>
                      </a:endParaRPr>
                    </a:p>
                    <a:p>
                      <a:pPr indent="-216000">
                        <a:lnSpc>
                          <a:spcPct val="100000"/>
                        </a:lnSpc>
                        <a:buClr>
                          <a:srgbClr val="58585b"/>
                        </a:buClr>
                        <a:buFont typeface="Arial"/>
                        <a:buChar char="•"/>
                      </a:pPr>
                      <a:r>
                        <a:rPr b="0" lang="en-US" sz="1200" spc="-1" strike="noStrike">
                          <a:solidFill>
                            <a:srgbClr val="58585b"/>
                          </a:solidFill>
                          <a:latin typeface="Arial"/>
                        </a:rPr>
                        <a:t>For example, Cisco has registered port 1812 for its RADIUS server authentication process.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70800">
                <a:tc>
                  <a:txBody>
                    <a:bodyPr lIns="47520" rIns="47520" tIns="47520" bIns="47520" anchor="ctr">
                      <a:noAutofit/>
                    </a:bodyPr>
                    <a:p>
                      <a:pPr>
                        <a:lnSpc>
                          <a:spcPct val="100000"/>
                        </a:lnSpc>
                        <a:buNone/>
                      </a:pPr>
                      <a:r>
                        <a:rPr b="1" lang="en-US" sz="1200" spc="-1" strike="noStrike">
                          <a:solidFill>
                            <a:srgbClr val="58585b"/>
                          </a:solidFill>
                          <a:latin typeface="Arial"/>
                        </a:rPr>
                        <a:t>Private </a:t>
                      </a:r>
                      <a:r>
                        <a:rPr b="0" lang="en-US" sz="1200" spc="-1" strike="noStrike">
                          <a:solidFill>
                            <a:srgbClr val="58585b"/>
                          </a:solidFill>
                          <a:latin typeface="Arial"/>
                        </a:rPr>
                        <a:t>and/or</a:t>
                      </a:r>
                      <a:r>
                        <a:rPr b="1" lang="en-US" sz="1200" spc="-1" strike="noStrike">
                          <a:solidFill>
                            <a:srgbClr val="58585b"/>
                          </a:solidFill>
                          <a:latin typeface="Arial"/>
                        </a:rPr>
                        <a:t> Dynamic Ports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1" lang="en-US" sz="1200" spc="-1" strike="noStrike">
                          <a:solidFill>
                            <a:srgbClr val="58585b"/>
                          </a:solidFill>
                          <a:latin typeface="Arial"/>
                        </a:rPr>
                        <a:t>49,152 to 65,535</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indent="-216000">
                        <a:lnSpc>
                          <a:spcPct val="100000"/>
                        </a:lnSpc>
                        <a:buClr>
                          <a:srgbClr val="58585b"/>
                        </a:buClr>
                        <a:buFont typeface="Arial"/>
                        <a:buChar char="•"/>
                      </a:pPr>
                      <a:r>
                        <a:rPr b="0" lang="en-US" sz="1200" spc="-1" strike="noStrike">
                          <a:solidFill>
                            <a:srgbClr val="58585b"/>
                          </a:solidFill>
                          <a:latin typeface="Arial"/>
                        </a:rPr>
                        <a:t>These ports are also known as </a:t>
                      </a:r>
                      <a:r>
                        <a:rPr b="0" i="1" lang="en-US" sz="1200" spc="-1" strike="noStrike">
                          <a:solidFill>
                            <a:srgbClr val="58585b"/>
                          </a:solidFill>
                          <a:latin typeface="Arial"/>
                        </a:rPr>
                        <a:t>ephemeral ports</a:t>
                      </a:r>
                      <a:r>
                        <a:rPr b="0" lang="en-US" sz="1200" spc="-1" strike="noStrike">
                          <a:solidFill>
                            <a:srgbClr val="58585b"/>
                          </a:solidFill>
                          <a:latin typeface="Arial"/>
                        </a:rPr>
                        <a:t>.</a:t>
                      </a:r>
                      <a:endParaRPr b="0" lang="en-JM" sz="1200" spc="-1" strike="noStrike">
                        <a:latin typeface="Arial"/>
                      </a:endParaRPr>
                    </a:p>
                    <a:p>
                      <a:pPr indent="-216000">
                        <a:lnSpc>
                          <a:spcPct val="100000"/>
                        </a:lnSpc>
                        <a:buClr>
                          <a:srgbClr val="58585b"/>
                        </a:buClr>
                        <a:buFont typeface="Arial"/>
                        <a:buChar char="•"/>
                      </a:pPr>
                      <a:r>
                        <a:rPr b="0" lang="en-US" sz="1200" spc="-1" strike="noStrike">
                          <a:solidFill>
                            <a:srgbClr val="58585b"/>
                          </a:solidFill>
                          <a:latin typeface="Arial"/>
                        </a:rPr>
                        <a:t>The client’s OS usually assign port numbers dynamically when a connection to a service is initiated.</a:t>
                      </a:r>
                      <a:endParaRPr b="0" lang="en-JM" sz="1200" spc="-1" strike="noStrike">
                        <a:latin typeface="Arial"/>
                      </a:endParaRPr>
                    </a:p>
                    <a:p>
                      <a:pPr indent="-216000">
                        <a:lnSpc>
                          <a:spcPct val="100000"/>
                        </a:lnSpc>
                        <a:buClr>
                          <a:srgbClr val="58585b"/>
                        </a:buClr>
                        <a:buFont typeface="Arial"/>
                        <a:buChar char="•"/>
                      </a:pPr>
                      <a:r>
                        <a:rPr b="0" lang="en-US" sz="1200" spc="-1" strike="noStrike">
                          <a:solidFill>
                            <a:srgbClr val="58585b"/>
                          </a:solidFill>
                          <a:latin typeface="Arial"/>
                        </a:rPr>
                        <a:t>The dynamic port is then used to identify the client application during communication.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title"/>
          </p:nvPr>
        </p:nvSpPr>
        <p:spPr>
          <a:xfrm>
            <a:off x="0" y="0"/>
            <a:ext cx="8345160" cy="57744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Port Numbers</a:t>
            </a:r>
            <a:br/>
            <a:r>
              <a:rPr b="0" lang="en-US" sz="2400" spc="-1" strike="noStrike">
                <a:solidFill>
                  <a:srgbClr val="004c69"/>
                </a:solidFill>
                <a:latin typeface="Arial"/>
                <a:ea typeface="ＭＳ Ｐゴシック"/>
              </a:rPr>
              <a:t>Port Number Groups (Cont.)</a:t>
            </a:r>
            <a:endParaRPr b="0" lang="en-US" sz="2400" spc="-1" strike="noStrike">
              <a:solidFill>
                <a:srgbClr val="58585b"/>
              </a:solidFill>
              <a:latin typeface="Arial"/>
            </a:endParaRPr>
          </a:p>
        </p:txBody>
      </p:sp>
      <p:sp>
        <p:nvSpPr>
          <p:cNvPr id="391" name="TextBox 5"/>
          <p:cNvSpPr/>
          <p:nvPr/>
        </p:nvSpPr>
        <p:spPr>
          <a:xfrm>
            <a:off x="3033360" y="577800"/>
            <a:ext cx="2278080" cy="303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400" spc="-1" strike="noStrike">
                <a:solidFill>
                  <a:srgbClr val="58585b"/>
                </a:solidFill>
                <a:latin typeface="Arial"/>
                <a:ea typeface="ＭＳ Ｐゴシック"/>
              </a:rPr>
              <a:t>Well-Known Port Numbers</a:t>
            </a:r>
            <a:endParaRPr b="0" lang="en-JM" sz="1400" spc="-1" strike="noStrike">
              <a:latin typeface="Arial"/>
            </a:endParaRPr>
          </a:p>
        </p:txBody>
      </p:sp>
      <p:graphicFrame>
        <p:nvGraphicFramePr>
          <p:cNvPr id="392" name="Table 4"/>
          <p:cNvGraphicFramePr/>
          <p:nvPr/>
        </p:nvGraphicFramePr>
        <p:xfrm>
          <a:off x="445320" y="852120"/>
          <a:ext cx="8048880" cy="3902400"/>
        </p:xfrm>
        <a:graphic>
          <a:graphicData uri="http://schemas.openxmlformats.org/drawingml/2006/table">
            <a:tbl>
              <a:tblPr/>
              <a:tblGrid>
                <a:gridCol w="1203120"/>
                <a:gridCol w="1058760"/>
                <a:gridCol w="5787000"/>
              </a:tblGrid>
              <a:tr h="313560">
                <a:tc>
                  <a:txBody>
                    <a:bodyPr lIns="47520" rIns="47520" tIns="47520" bIns="47520" anchor="ctr">
                      <a:noAutofit/>
                    </a:bodyPr>
                    <a:p>
                      <a:pPr>
                        <a:lnSpc>
                          <a:spcPct val="100000"/>
                        </a:lnSpc>
                        <a:buNone/>
                      </a:pPr>
                      <a:r>
                        <a:rPr b="1" lang="en-US" sz="1200" spc="-1" strike="noStrike">
                          <a:solidFill>
                            <a:srgbClr val="ffffff"/>
                          </a:solidFill>
                          <a:latin typeface="Arial"/>
                        </a:rPr>
                        <a:t>Port Number</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47520" rIns="47520" tIns="47520" bIns="47520" anchor="ctr">
                      <a:noAutofit/>
                    </a:bodyPr>
                    <a:p>
                      <a:pPr>
                        <a:lnSpc>
                          <a:spcPct val="100000"/>
                        </a:lnSpc>
                        <a:buNone/>
                      </a:pPr>
                      <a:r>
                        <a:rPr b="1" lang="en-US" sz="1200" spc="-1" strike="noStrike">
                          <a:solidFill>
                            <a:srgbClr val="ffffff"/>
                          </a:solidFill>
                          <a:latin typeface="Arial"/>
                        </a:rPr>
                        <a:t>Protocol</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47520" rIns="47520" tIns="47520" bIns="47520" anchor="ctr">
                      <a:noAutofit/>
                    </a:bodyPr>
                    <a:p>
                      <a:pPr>
                        <a:lnSpc>
                          <a:spcPct val="100000"/>
                        </a:lnSpc>
                        <a:buNone/>
                      </a:pPr>
                      <a:r>
                        <a:rPr b="1" lang="en-US" sz="1200" spc="-1" strike="noStrike">
                          <a:solidFill>
                            <a:srgbClr val="ffffff"/>
                          </a:solidFill>
                          <a:latin typeface="Arial"/>
                        </a:rPr>
                        <a:t>Application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277920">
                <a:tc>
                  <a:txBody>
                    <a:bodyPr lIns="47520" rIns="47520" tIns="47520" bIns="47520" anchor="ctr">
                      <a:noAutofit/>
                    </a:bodyPr>
                    <a:p>
                      <a:pPr>
                        <a:lnSpc>
                          <a:spcPct val="100000"/>
                        </a:lnSpc>
                        <a:buNone/>
                      </a:pPr>
                      <a:r>
                        <a:rPr b="1" lang="en-US" sz="1200" spc="-1" strike="noStrike">
                          <a:solidFill>
                            <a:srgbClr val="58585b"/>
                          </a:solidFill>
                          <a:latin typeface="Arial"/>
                        </a:rPr>
                        <a:t>20</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TCP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File Transfer Protocol (FTP) - Data</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77920">
                <a:tc>
                  <a:txBody>
                    <a:bodyPr lIns="47520" rIns="47520" tIns="47520" bIns="47520" anchor="ctr">
                      <a:noAutofit/>
                    </a:bodyPr>
                    <a:p>
                      <a:pPr>
                        <a:lnSpc>
                          <a:spcPct val="100000"/>
                        </a:lnSpc>
                        <a:buNone/>
                      </a:pPr>
                      <a:r>
                        <a:rPr b="1" lang="en-US" sz="1200" spc="-1" strike="noStrike">
                          <a:solidFill>
                            <a:srgbClr val="58585b"/>
                          </a:solidFill>
                          <a:latin typeface="Arial"/>
                        </a:rPr>
                        <a:t>21</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TCP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File Transfer Protocol (FTP) - Control</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77920">
                <a:tc>
                  <a:txBody>
                    <a:bodyPr lIns="47520" rIns="47520" tIns="47520" bIns="47520" anchor="ctr">
                      <a:noAutofit/>
                    </a:bodyPr>
                    <a:p>
                      <a:pPr>
                        <a:lnSpc>
                          <a:spcPct val="100000"/>
                        </a:lnSpc>
                        <a:buNone/>
                      </a:pPr>
                      <a:r>
                        <a:rPr b="1" lang="en-US" sz="1200" spc="-1" strike="noStrike">
                          <a:solidFill>
                            <a:srgbClr val="58585b"/>
                          </a:solidFill>
                          <a:latin typeface="Arial"/>
                        </a:rPr>
                        <a:t>22</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TCP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Secure Shell (SSH)</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77920">
                <a:tc>
                  <a:txBody>
                    <a:bodyPr lIns="47520" rIns="47520" tIns="47520" bIns="47520" anchor="ctr">
                      <a:noAutofit/>
                    </a:bodyPr>
                    <a:p>
                      <a:pPr>
                        <a:lnSpc>
                          <a:spcPct val="100000"/>
                        </a:lnSpc>
                        <a:buNone/>
                      </a:pPr>
                      <a:r>
                        <a:rPr b="1" lang="en-US" sz="1200" spc="-1" strike="noStrike">
                          <a:solidFill>
                            <a:srgbClr val="58585b"/>
                          </a:solidFill>
                          <a:latin typeface="Arial"/>
                        </a:rPr>
                        <a:t>23</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TCP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Telnet</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77920">
                <a:tc>
                  <a:txBody>
                    <a:bodyPr lIns="47520" rIns="47520" tIns="47520" bIns="47520" anchor="ctr">
                      <a:noAutofit/>
                    </a:bodyPr>
                    <a:p>
                      <a:pPr>
                        <a:lnSpc>
                          <a:spcPct val="100000"/>
                        </a:lnSpc>
                        <a:buNone/>
                      </a:pPr>
                      <a:r>
                        <a:rPr b="1" lang="en-US" sz="1200" spc="-1" strike="noStrike">
                          <a:solidFill>
                            <a:srgbClr val="58585b"/>
                          </a:solidFill>
                          <a:latin typeface="Arial"/>
                        </a:rPr>
                        <a:t>25</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TCP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Simple Mail Transfer Protocol (SMTP)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77920">
                <a:tc>
                  <a:txBody>
                    <a:bodyPr lIns="47520" rIns="47520" tIns="47520" bIns="47520" anchor="ctr">
                      <a:noAutofit/>
                    </a:bodyPr>
                    <a:p>
                      <a:pPr>
                        <a:lnSpc>
                          <a:spcPct val="100000"/>
                        </a:lnSpc>
                        <a:buNone/>
                      </a:pPr>
                      <a:r>
                        <a:rPr b="1" lang="en-US" sz="1200" spc="-1" strike="noStrike">
                          <a:solidFill>
                            <a:srgbClr val="58585b"/>
                          </a:solidFill>
                          <a:latin typeface="Arial"/>
                        </a:rPr>
                        <a:t>53</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UDP, TCP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Domain Name Service (DNS)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77920">
                <a:tc>
                  <a:txBody>
                    <a:bodyPr lIns="47520" rIns="47520" tIns="47520" bIns="47520" anchor="ctr">
                      <a:noAutofit/>
                    </a:bodyPr>
                    <a:p>
                      <a:pPr>
                        <a:lnSpc>
                          <a:spcPct val="100000"/>
                        </a:lnSpc>
                        <a:buNone/>
                      </a:pPr>
                      <a:r>
                        <a:rPr b="1" lang="en-US" sz="1200" spc="-1" strike="noStrike">
                          <a:solidFill>
                            <a:srgbClr val="58585b"/>
                          </a:solidFill>
                          <a:latin typeface="Arial"/>
                        </a:rPr>
                        <a:t>67</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UDP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Dynamic Host Configuration Protocol (DHCP) - Server</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77920">
                <a:tc>
                  <a:txBody>
                    <a:bodyPr lIns="47520" rIns="47520" tIns="47520" bIns="47520" anchor="ctr">
                      <a:noAutofit/>
                    </a:bodyPr>
                    <a:p>
                      <a:pPr>
                        <a:lnSpc>
                          <a:spcPct val="100000"/>
                        </a:lnSpc>
                        <a:buNone/>
                      </a:pPr>
                      <a:r>
                        <a:rPr b="1" lang="en-US" sz="1200" spc="-1" strike="noStrike">
                          <a:solidFill>
                            <a:srgbClr val="58585b"/>
                          </a:solidFill>
                          <a:latin typeface="Arial"/>
                        </a:rPr>
                        <a:t>68</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UDP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Dynamic Host Configuration Protocol - Client</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77920">
                <a:tc>
                  <a:txBody>
                    <a:bodyPr lIns="47520" rIns="47520" tIns="47520" bIns="47520" anchor="ctr">
                      <a:noAutofit/>
                    </a:bodyPr>
                    <a:p>
                      <a:pPr>
                        <a:lnSpc>
                          <a:spcPct val="100000"/>
                        </a:lnSpc>
                        <a:buNone/>
                      </a:pPr>
                      <a:r>
                        <a:rPr b="1" lang="en-US" sz="1200" spc="-1" strike="noStrike">
                          <a:solidFill>
                            <a:srgbClr val="58585b"/>
                          </a:solidFill>
                          <a:latin typeface="Arial"/>
                        </a:rPr>
                        <a:t>69</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UDP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Trivial File Transfer Protocol (TFTP)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77920">
                <a:tc>
                  <a:txBody>
                    <a:bodyPr lIns="47520" rIns="47520" tIns="47520" bIns="47520" anchor="ctr">
                      <a:noAutofit/>
                    </a:bodyPr>
                    <a:p>
                      <a:pPr>
                        <a:lnSpc>
                          <a:spcPct val="100000"/>
                        </a:lnSpc>
                        <a:buNone/>
                      </a:pPr>
                      <a:r>
                        <a:rPr b="1" lang="en-US" sz="1200" spc="-1" strike="noStrike">
                          <a:solidFill>
                            <a:srgbClr val="58585b"/>
                          </a:solidFill>
                          <a:latin typeface="Arial"/>
                        </a:rPr>
                        <a:t>80</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TCP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Hypertext Transfer Protocol (HTTP)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77920">
                <a:tc>
                  <a:txBody>
                    <a:bodyPr lIns="47520" rIns="47520" tIns="47520" bIns="47520" anchor="ctr">
                      <a:noAutofit/>
                    </a:bodyPr>
                    <a:p>
                      <a:pPr>
                        <a:lnSpc>
                          <a:spcPct val="100000"/>
                        </a:lnSpc>
                        <a:buNone/>
                      </a:pPr>
                      <a:r>
                        <a:rPr b="1" lang="en-US" sz="1200" spc="-1" strike="noStrike">
                          <a:solidFill>
                            <a:srgbClr val="58585b"/>
                          </a:solidFill>
                          <a:latin typeface="Arial"/>
                        </a:rPr>
                        <a:t>110</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TCP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Post Office Protocol version 3 (POP3)</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77920">
                <a:tc>
                  <a:txBody>
                    <a:bodyPr lIns="47520" rIns="47520" tIns="47520" bIns="47520" anchor="ctr">
                      <a:noAutofit/>
                    </a:bodyPr>
                    <a:p>
                      <a:pPr>
                        <a:lnSpc>
                          <a:spcPct val="100000"/>
                        </a:lnSpc>
                        <a:buNone/>
                      </a:pPr>
                      <a:r>
                        <a:rPr b="1" lang="en-US" sz="1200" spc="-1" strike="noStrike">
                          <a:solidFill>
                            <a:srgbClr val="58585b"/>
                          </a:solidFill>
                          <a:latin typeface="Arial"/>
                        </a:rPr>
                        <a:t>143</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TCP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Internet Message Access Protocol (IMAP)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77920">
                <a:tc>
                  <a:txBody>
                    <a:bodyPr lIns="47520" rIns="47520" tIns="47520" bIns="47520" anchor="ctr">
                      <a:noAutofit/>
                    </a:bodyPr>
                    <a:p>
                      <a:pPr>
                        <a:lnSpc>
                          <a:spcPct val="100000"/>
                        </a:lnSpc>
                        <a:buNone/>
                      </a:pPr>
                      <a:r>
                        <a:rPr b="1" lang="en-US" sz="1200" spc="-1" strike="noStrike">
                          <a:solidFill>
                            <a:srgbClr val="58585b"/>
                          </a:solidFill>
                          <a:latin typeface="Arial"/>
                        </a:rPr>
                        <a:t>161</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UDP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Simple Network Management Protocol (SNMP)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77920">
                <a:tc>
                  <a:txBody>
                    <a:bodyPr lIns="47520" rIns="47520" tIns="47520" bIns="47520" anchor="ctr">
                      <a:noAutofit/>
                    </a:bodyPr>
                    <a:p>
                      <a:pPr>
                        <a:lnSpc>
                          <a:spcPct val="100000"/>
                        </a:lnSpc>
                        <a:buNone/>
                      </a:pPr>
                      <a:r>
                        <a:rPr b="1" lang="en-US" sz="1200" spc="-1" strike="noStrike">
                          <a:solidFill>
                            <a:srgbClr val="58585b"/>
                          </a:solidFill>
                          <a:latin typeface="Arial"/>
                        </a:rPr>
                        <a:t>443</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TCP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Hypertext Transfer Protocol Secure (HTTPS)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title"/>
          </p:nvPr>
        </p:nvSpPr>
        <p:spPr>
          <a:xfrm>
            <a:off x="0" y="8496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Port Numbers</a:t>
            </a:r>
            <a:br/>
            <a:r>
              <a:rPr b="0" lang="en-US" sz="2400" spc="-1" strike="noStrike">
                <a:solidFill>
                  <a:srgbClr val="004c69"/>
                </a:solidFill>
                <a:latin typeface="Arial"/>
                <a:ea typeface="ＭＳ Ｐゴシック"/>
              </a:rPr>
              <a:t>The netstat Command</a:t>
            </a:r>
            <a:endParaRPr b="0" lang="en-US" sz="2400" spc="-1" strike="noStrike">
              <a:solidFill>
                <a:srgbClr val="58585b"/>
              </a:solidFill>
              <a:latin typeface="Arial"/>
            </a:endParaRPr>
          </a:p>
        </p:txBody>
      </p:sp>
      <p:sp>
        <p:nvSpPr>
          <p:cNvPr id="394" name="TextBox 1"/>
          <p:cNvSpPr/>
          <p:nvPr/>
        </p:nvSpPr>
        <p:spPr>
          <a:xfrm>
            <a:off x="235800" y="816840"/>
            <a:ext cx="7842600" cy="639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58585b"/>
                </a:solidFill>
                <a:latin typeface="Arial"/>
                <a:ea typeface="ＭＳ Ｐゴシック"/>
              </a:rPr>
              <a:t>Unexplained TCP connections can pose a major security threat. Netstat is an important tool to verify connections. </a:t>
            </a:r>
            <a:endParaRPr b="0" lang="en-JM" sz="1800" spc="-1" strike="noStrike">
              <a:latin typeface="Arial"/>
            </a:endParaRPr>
          </a:p>
        </p:txBody>
      </p:sp>
      <p:sp>
        <p:nvSpPr>
          <p:cNvPr id="395" name="Rectangle 3"/>
          <p:cNvSpPr/>
          <p:nvPr/>
        </p:nvSpPr>
        <p:spPr>
          <a:xfrm>
            <a:off x="336960" y="2009520"/>
            <a:ext cx="8469720" cy="2008440"/>
          </a:xfrm>
          <a:prstGeom prst="rect">
            <a:avLst/>
          </a:prstGeom>
          <a:solidFill>
            <a:srgbClr val="080808"/>
          </a:solidFill>
          <a:ln w="0">
            <a:noFill/>
          </a:ln>
        </p:spPr>
        <p:style>
          <a:lnRef idx="0"/>
          <a:fillRef idx="0"/>
          <a:effectRef idx="0"/>
          <a:fontRef idx="minor"/>
        </p:style>
        <p:txBody>
          <a:bodyPr lIns="90000" rIns="90000" tIns="45000" bIns="45000" anchor="t">
            <a:spAutoFit/>
          </a:bodyPr>
          <a:p>
            <a:pPr>
              <a:lnSpc>
                <a:spcPct val="100000"/>
              </a:lnSpc>
              <a:buNone/>
            </a:pPr>
            <a:r>
              <a:rPr b="0" lang="en-US" sz="1400" spc="-1" strike="noStrike">
                <a:solidFill>
                  <a:srgbClr val="ffffff"/>
                </a:solidFill>
                <a:latin typeface="Courier New"/>
                <a:ea typeface="ＭＳ Ｐゴシック"/>
              </a:rPr>
              <a:t>C:\&gt; </a:t>
            </a:r>
            <a:r>
              <a:rPr b="1" lang="en-US" sz="1400" spc="-1" strike="noStrike">
                <a:solidFill>
                  <a:srgbClr val="ffffff"/>
                </a:solidFill>
                <a:latin typeface="Courier New"/>
                <a:ea typeface="ＭＳ Ｐゴシック"/>
              </a:rPr>
              <a:t>netstat</a:t>
            </a:r>
            <a:r>
              <a:rPr b="0" lang="en-US" sz="1400" spc="-1" strike="noStrike">
                <a:solidFill>
                  <a:srgbClr val="ffffff"/>
                </a:solidFill>
                <a:latin typeface="Courier New"/>
                <a:ea typeface="ＭＳ Ｐゴシック"/>
              </a:rPr>
              <a:t> </a:t>
            </a:r>
            <a:endParaRPr b="0" lang="en-JM" sz="1400" spc="-1" strike="noStrike">
              <a:latin typeface="Arial"/>
            </a:endParaRPr>
          </a:p>
          <a:p>
            <a:pPr>
              <a:lnSpc>
                <a:spcPct val="100000"/>
              </a:lnSpc>
              <a:buNone/>
            </a:pPr>
            <a:r>
              <a:rPr b="0" lang="en-US" sz="1400" spc="-1" strike="noStrike">
                <a:solidFill>
                  <a:srgbClr val="ffffff"/>
                </a:solidFill>
                <a:latin typeface="Courier New"/>
                <a:ea typeface="ＭＳ Ｐゴシック"/>
              </a:rPr>
              <a:t>Active Connections </a:t>
            </a:r>
            <a:endParaRPr b="0" lang="en-JM" sz="1400" spc="-1" strike="noStrike">
              <a:latin typeface="Arial"/>
            </a:endParaRPr>
          </a:p>
          <a:p>
            <a:pPr>
              <a:lnSpc>
                <a:spcPct val="100000"/>
              </a:lnSpc>
              <a:buNone/>
            </a:pPr>
            <a:r>
              <a:rPr b="0" lang="en-US" sz="1400" spc="-1" strike="noStrike">
                <a:solidFill>
                  <a:srgbClr val="ffffff"/>
                </a:solidFill>
                <a:latin typeface="Courier New"/>
                <a:ea typeface="ＭＳ Ｐゴシック"/>
              </a:rPr>
              <a:t>Proto Local Address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Foreign Address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State </a:t>
            </a:r>
            <a:endParaRPr b="0" lang="en-JM" sz="1400" spc="-1" strike="noStrike">
              <a:latin typeface="Arial"/>
            </a:endParaRPr>
          </a:p>
          <a:p>
            <a:pPr>
              <a:lnSpc>
                <a:spcPct val="100000"/>
              </a:lnSpc>
              <a:buNone/>
            </a:pPr>
            <a:r>
              <a:rPr b="0" lang="en-US" sz="1400" spc="-1" strike="noStrike">
                <a:solidFill>
                  <a:srgbClr val="ffffff"/>
                </a:solidFill>
                <a:latin typeface="Courier New"/>
                <a:ea typeface="ＭＳ Ｐゴシック"/>
              </a:rPr>
              <a:t>TCP   192.168.1.124:3126</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192.168.0.2:netbios-ssn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ESTABLISHED </a:t>
            </a:r>
            <a:endParaRPr b="0" lang="en-JM" sz="1400" spc="-1" strike="noStrike">
              <a:latin typeface="Arial"/>
            </a:endParaRPr>
          </a:p>
          <a:p>
            <a:pPr>
              <a:lnSpc>
                <a:spcPct val="100000"/>
              </a:lnSpc>
              <a:buNone/>
            </a:pPr>
            <a:r>
              <a:rPr b="0" lang="en-US" sz="1400" spc="-1" strike="noStrike">
                <a:solidFill>
                  <a:srgbClr val="ffffff"/>
                </a:solidFill>
                <a:latin typeface="Courier New"/>
                <a:ea typeface="ＭＳ Ｐゴシック"/>
              </a:rPr>
              <a:t>TCP   192.168.1.124:3158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207.138.126.152:http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ESTABLISHED </a:t>
            </a:r>
            <a:endParaRPr b="0" lang="en-JM" sz="1400" spc="-1" strike="noStrike">
              <a:latin typeface="Arial"/>
            </a:endParaRPr>
          </a:p>
          <a:p>
            <a:pPr>
              <a:lnSpc>
                <a:spcPct val="100000"/>
              </a:lnSpc>
              <a:buNone/>
            </a:pPr>
            <a:r>
              <a:rPr b="0" lang="en-US" sz="1400" spc="-1" strike="noStrike">
                <a:solidFill>
                  <a:srgbClr val="ffffff"/>
                </a:solidFill>
                <a:latin typeface="Courier New"/>
                <a:ea typeface="ＭＳ Ｐゴシック"/>
              </a:rPr>
              <a:t>TCP   192.168.1.124:3159</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207.138.126.169:http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ESTABLISHED </a:t>
            </a:r>
            <a:endParaRPr b="0" lang="en-JM" sz="1400" spc="-1" strike="noStrike">
              <a:latin typeface="Arial"/>
            </a:endParaRPr>
          </a:p>
          <a:p>
            <a:pPr>
              <a:lnSpc>
                <a:spcPct val="100000"/>
              </a:lnSpc>
              <a:buNone/>
            </a:pPr>
            <a:r>
              <a:rPr b="0" lang="en-US" sz="1400" spc="-1" strike="noStrike">
                <a:solidFill>
                  <a:srgbClr val="ffffff"/>
                </a:solidFill>
                <a:latin typeface="Courier New"/>
                <a:ea typeface="ＭＳ Ｐゴシック"/>
              </a:rPr>
              <a:t>TCP   192.168.1.124:3160</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207.138.126.169:http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ESTABLISHED </a:t>
            </a:r>
            <a:endParaRPr b="0" lang="en-JM" sz="1400" spc="-1" strike="noStrike">
              <a:latin typeface="Arial"/>
            </a:endParaRPr>
          </a:p>
          <a:p>
            <a:pPr>
              <a:lnSpc>
                <a:spcPct val="100000"/>
              </a:lnSpc>
              <a:buNone/>
            </a:pPr>
            <a:r>
              <a:rPr b="0" lang="en-US" sz="1400" spc="-1" strike="noStrike">
                <a:solidFill>
                  <a:srgbClr val="ffffff"/>
                </a:solidFill>
                <a:latin typeface="Courier New"/>
                <a:ea typeface="ＭＳ Ｐゴシック"/>
              </a:rPr>
              <a:t>TCP   192.168.1.124:3161</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sc.msn.com:http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ESTABLISHED </a:t>
            </a:r>
            <a:endParaRPr b="0" lang="en-JM" sz="1400" spc="-1" strike="noStrike">
              <a:latin typeface="Arial"/>
            </a:endParaRPr>
          </a:p>
          <a:p>
            <a:pPr>
              <a:lnSpc>
                <a:spcPct val="100000"/>
              </a:lnSpc>
              <a:buNone/>
            </a:pPr>
            <a:r>
              <a:rPr b="0" lang="en-US" sz="1400" spc="-1" strike="noStrike">
                <a:solidFill>
                  <a:srgbClr val="ffffff"/>
                </a:solidFill>
                <a:latin typeface="Courier New"/>
                <a:ea typeface="ＭＳ Ｐゴシック"/>
              </a:rPr>
              <a:t>TCP   192.168.1.124:3166</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www.cisco.com:http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ESTABLISHED</a:t>
            </a:r>
            <a:endParaRPr b="0" lang="en-JM" sz="1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14.5 TCP Communication Process</a:t>
            </a:r>
            <a:endParaRPr b="0" lang="en-US" sz="4600" spc="-1" strike="noStrike">
              <a:solidFill>
                <a:srgbClr val="58585b"/>
              </a:solidFill>
              <a:latin typeface="Arial"/>
            </a:endParaRPr>
          </a:p>
        </p:txBody>
      </p:sp>
    </p:spTree>
  </p:cSld>
  <p:transition spd="slow">
    <p:wipe dir="l"/>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TCP Communication Process</a:t>
            </a:r>
            <a:br/>
            <a:r>
              <a:rPr b="0" lang="en-US" sz="2400" spc="-1" strike="noStrike">
                <a:solidFill>
                  <a:srgbClr val="004c69"/>
                </a:solidFill>
                <a:latin typeface="Arial"/>
                <a:ea typeface="ＭＳ Ｐゴシック"/>
              </a:rPr>
              <a:t>TCP Server Processes</a:t>
            </a:r>
            <a:endParaRPr b="0" lang="en-US" sz="2400" spc="-1" strike="noStrike">
              <a:solidFill>
                <a:srgbClr val="58585b"/>
              </a:solidFill>
              <a:latin typeface="Arial"/>
            </a:endParaRPr>
          </a:p>
        </p:txBody>
      </p:sp>
      <p:sp>
        <p:nvSpPr>
          <p:cNvPr id="398" name="PlaceHolder 2"/>
          <p:cNvSpPr>
            <a:spLocks noGrp="1"/>
          </p:cNvSpPr>
          <p:nvPr>
            <p:ph/>
          </p:nvPr>
        </p:nvSpPr>
        <p:spPr>
          <a:xfrm>
            <a:off x="432000" y="902160"/>
            <a:ext cx="4472280" cy="350532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Each application process running on a server is configured to use a port number. </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An individual server cannot have two services assigned to the same port number within the same transport layer services.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An active server application assigned to a specific port is considered open, which means that the transport layer accepts, and processes segments addressed to that port. </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Any incoming client request addressed to the correct socket is accepted, and the data is passed to the server application. </a:t>
            </a:r>
            <a:endParaRPr b="0" lang="en-US" sz="1600" spc="-1" strike="noStrike">
              <a:solidFill>
                <a:srgbClr val="58585b"/>
              </a:solidFill>
              <a:latin typeface="Arial"/>
            </a:endParaRPr>
          </a:p>
        </p:txBody>
      </p:sp>
      <p:pic>
        <p:nvPicPr>
          <p:cNvPr id="399" name="Picture 1" descr=""/>
          <p:cNvPicPr/>
          <p:nvPr/>
        </p:nvPicPr>
        <p:blipFill>
          <a:blip r:embed="rId1"/>
          <a:stretch/>
        </p:blipFill>
        <p:spPr>
          <a:xfrm>
            <a:off x="5237280" y="902160"/>
            <a:ext cx="3795480" cy="29764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TCP Communication Process</a:t>
            </a:r>
            <a:br/>
            <a:r>
              <a:rPr b="0" lang="en-US" sz="2400" spc="-1" strike="noStrike">
                <a:solidFill>
                  <a:srgbClr val="367187"/>
                </a:solidFill>
                <a:latin typeface="Arial"/>
                <a:ea typeface="ＭＳ Ｐゴシック"/>
              </a:rPr>
              <a:t>TCP Connection Establishment</a:t>
            </a:r>
            <a:endParaRPr b="0" lang="en-US" sz="2400" spc="-1" strike="noStrike">
              <a:solidFill>
                <a:srgbClr val="58585b"/>
              </a:solidFill>
              <a:latin typeface="Arial"/>
            </a:endParaRPr>
          </a:p>
        </p:txBody>
      </p:sp>
      <p:sp>
        <p:nvSpPr>
          <p:cNvPr id="401" name="PlaceHolder 2"/>
          <p:cNvSpPr>
            <a:spLocks noGrp="1"/>
          </p:cNvSpPr>
          <p:nvPr>
            <p:ph/>
          </p:nvPr>
        </p:nvSpPr>
        <p:spPr>
          <a:xfrm>
            <a:off x="144000" y="979200"/>
            <a:ext cx="4076640" cy="397476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500" spc="-1" strike="noStrike">
                <a:solidFill>
                  <a:srgbClr val="000000"/>
                </a:solidFill>
                <a:latin typeface="Arial"/>
                <a:ea typeface="ＭＳ Ｐゴシック"/>
              </a:rPr>
              <a:t>Step 1: The initiating client requests a client-to-server communication session with the server.</a:t>
            </a:r>
            <a:endParaRPr b="0" lang="en-US" sz="1500" spc="-1" strike="noStrike">
              <a:solidFill>
                <a:srgbClr val="58585b"/>
              </a:solidFill>
              <a:latin typeface="Arial"/>
            </a:endParaRPr>
          </a:p>
          <a:p>
            <a:pPr>
              <a:lnSpc>
                <a:spcPct val="100000"/>
              </a:lnSpc>
              <a:spcBef>
                <a:spcPts val="601"/>
              </a:spcBef>
              <a:spcAft>
                <a:spcPts val="601"/>
              </a:spcAft>
              <a:buNone/>
              <a:tabLst>
                <a:tab algn="l" pos="0"/>
              </a:tabLst>
            </a:pPr>
            <a:r>
              <a:rPr b="0" lang="en-US" sz="1500" spc="-1" strike="noStrike">
                <a:solidFill>
                  <a:srgbClr val="000000"/>
                </a:solidFill>
                <a:latin typeface="Arial"/>
                <a:ea typeface="ＭＳ Ｐゴシック"/>
              </a:rPr>
              <a:t>Step 2: The server acknowledges the client-to-server communication session and requests a server-to-client communication session.</a:t>
            </a:r>
            <a:endParaRPr b="0" lang="en-US" sz="1500" spc="-1" strike="noStrike">
              <a:solidFill>
                <a:srgbClr val="58585b"/>
              </a:solidFill>
              <a:latin typeface="Arial"/>
            </a:endParaRPr>
          </a:p>
          <a:p>
            <a:pPr>
              <a:lnSpc>
                <a:spcPct val="100000"/>
              </a:lnSpc>
              <a:spcBef>
                <a:spcPts val="601"/>
              </a:spcBef>
              <a:spcAft>
                <a:spcPts val="601"/>
              </a:spcAft>
              <a:buNone/>
              <a:tabLst>
                <a:tab algn="l" pos="0"/>
              </a:tabLst>
            </a:pPr>
            <a:r>
              <a:rPr b="0" lang="en-US" sz="1500" spc="-1" strike="noStrike">
                <a:solidFill>
                  <a:srgbClr val="000000"/>
                </a:solidFill>
                <a:latin typeface="Arial"/>
                <a:ea typeface="ＭＳ Ｐゴシック"/>
              </a:rPr>
              <a:t>Step 3: The initiating client acknowledges the server-to-client communication session.</a:t>
            </a:r>
            <a:endParaRPr b="0" lang="en-US" sz="1500" spc="-1" strike="noStrike">
              <a:solidFill>
                <a:srgbClr val="58585b"/>
              </a:solidFill>
              <a:latin typeface="Arial"/>
            </a:endParaRPr>
          </a:p>
        </p:txBody>
      </p:sp>
      <p:pic>
        <p:nvPicPr>
          <p:cNvPr id="402" name="Picture 5" descr=""/>
          <p:cNvPicPr/>
          <p:nvPr/>
        </p:nvPicPr>
        <p:blipFill>
          <a:blip r:embed="rId1"/>
          <a:stretch/>
        </p:blipFill>
        <p:spPr>
          <a:xfrm>
            <a:off x="4390200" y="1269000"/>
            <a:ext cx="4496040" cy="260532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TCP Communication Process</a:t>
            </a:r>
            <a:br/>
            <a:r>
              <a:rPr b="0" lang="en-US" sz="2400" spc="-1" strike="noStrike">
                <a:solidFill>
                  <a:srgbClr val="004c69"/>
                </a:solidFill>
                <a:latin typeface="Arial"/>
                <a:ea typeface="ＭＳ Ｐゴシック"/>
              </a:rPr>
              <a:t>Session Termination</a:t>
            </a:r>
            <a:endParaRPr b="0" lang="en-US" sz="2400" spc="-1" strike="noStrike">
              <a:solidFill>
                <a:srgbClr val="58585b"/>
              </a:solidFill>
              <a:latin typeface="Arial"/>
            </a:endParaRPr>
          </a:p>
        </p:txBody>
      </p:sp>
      <p:sp>
        <p:nvSpPr>
          <p:cNvPr id="404" name="PlaceHolder 2"/>
          <p:cNvSpPr>
            <a:spLocks noGrp="1"/>
          </p:cNvSpPr>
          <p:nvPr>
            <p:ph/>
          </p:nvPr>
        </p:nvSpPr>
        <p:spPr>
          <a:xfrm>
            <a:off x="432000" y="933120"/>
            <a:ext cx="4139640" cy="307368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Step 1: When the client has no more data to send in the stream, it sends a segment with the FIN flag set.</a:t>
            </a: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Step 2: The server sends an ACK to acknowledge the receipt of the FIN to terminate the session from client to server.</a:t>
            </a: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Step 3: The server sends a FIN to the client to terminate the server-to-client session.</a:t>
            </a: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Step 4: The client responds with an ACK to acknowledge the FIN from the server.</a:t>
            </a:r>
            <a:endParaRPr b="0" lang="en-US" sz="1600" spc="-1" strike="noStrike">
              <a:solidFill>
                <a:srgbClr val="58585b"/>
              </a:solidFill>
              <a:latin typeface="Arial"/>
            </a:endParaRPr>
          </a:p>
        </p:txBody>
      </p:sp>
      <p:pic>
        <p:nvPicPr>
          <p:cNvPr id="405" name="Picture 5" descr=""/>
          <p:cNvPicPr/>
          <p:nvPr/>
        </p:nvPicPr>
        <p:blipFill>
          <a:blip r:embed="rId1"/>
          <a:stretch/>
        </p:blipFill>
        <p:spPr>
          <a:xfrm>
            <a:off x="4572000" y="1136520"/>
            <a:ext cx="3953160" cy="30736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TCP Communication Process</a:t>
            </a:r>
            <a:br/>
            <a:r>
              <a:rPr b="0" lang="en-US" sz="2400" spc="-1" strike="noStrike">
                <a:solidFill>
                  <a:srgbClr val="367187"/>
                </a:solidFill>
                <a:latin typeface="Arial"/>
                <a:ea typeface="ＭＳ Ｐゴシック"/>
              </a:rPr>
              <a:t>TCP Three-Way Handshake Analysis</a:t>
            </a:r>
            <a:endParaRPr b="0" lang="en-US" sz="2400" spc="-1" strike="noStrike">
              <a:solidFill>
                <a:srgbClr val="58585b"/>
              </a:solidFill>
              <a:latin typeface="Arial"/>
            </a:endParaRPr>
          </a:p>
        </p:txBody>
      </p:sp>
      <p:sp>
        <p:nvSpPr>
          <p:cNvPr id="407" name="PlaceHolder 2"/>
          <p:cNvSpPr>
            <a:spLocks noGrp="1"/>
          </p:cNvSpPr>
          <p:nvPr>
            <p:ph/>
          </p:nvPr>
        </p:nvSpPr>
        <p:spPr>
          <a:xfrm>
            <a:off x="144000" y="798840"/>
            <a:ext cx="8852760" cy="415512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Functions of the Three-Way Handshake:</a:t>
            </a:r>
            <a:endParaRPr b="0" lang="en-US" sz="16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tabLst>
                <a:tab algn="l" pos="0"/>
              </a:tabLst>
            </a:pPr>
            <a:r>
              <a:rPr b="0" lang="en-US" sz="1400" spc="-1" strike="noStrike">
                <a:solidFill>
                  <a:srgbClr val="000000"/>
                </a:solidFill>
                <a:latin typeface="Arial"/>
                <a:ea typeface="ＭＳ Ｐゴシック"/>
              </a:rPr>
              <a:t>It establishes that the destination device is present on the network.</a:t>
            </a:r>
            <a:endParaRPr b="0" lang="en-US" sz="14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tabLst>
                <a:tab algn="l" pos="0"/>
              </a:tabLst>
            </a:pPr>
            <a:r>
              <a:rPr b="0" lang="en-US" sz="1400" spc="-1" strike="noStrike">
                <a:solidFill>
                  <a:srgbClr val="000000"/>
                </a:solidFill>
                <a:latin typeface="Arial"/>
                <a:ea typeface="ＭＳ Ｐゴシック"/>
              </a:rPr>
              <a:t>It verifies that the destination device has an active service and is accepting requests on the destination port number that the initiating client intends to use.</a:t>
            </a:r>
            <a:endParaRPr b="0" lang="en-US" sz="14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tabLst>
                <a:tab algn="l" pos="0"/>
              </a:tabLst>
            </a:pPr>
            <a:r>
              <a:rPr b="0" lang="en-US" sz="1400" spc="-1" strike="noStrike">
                <a:solidFill>
                  <a:srgbClr val="000000"/>
                </a:solidFill>
                <a:latin typeface="Arial"/>
                <a:ea typeface="ＭＳ Ｐゴシック"/>
              </a:rPr>
              <a:t>It informs the destination device that the source client intends to establish a communication session on that port number.</a:t>
            </a:r>
            <a:endParaRPr b="0" lang="en-US" sz="1400" spc="-1" strike="noStrike">
              <a:solidFill>
                <a:srgbClr val="58585b"/>
              </a:solidFill>
              <a:latin typeface="Arial"/>
            </a:endParaRPr>
          </a:p>
          <a:p>
            <a:pPr>
              <a:lnSpc>
                <a:spcPct val="100000"/>
              </a:lnSpc>
              <a:spcBef>
                <a:spcPts val="601"/>
              </a:spcBef>
              <a:spcAft>
                <a:spcPts val="601"/>
              </a:spcAft>
              <a:buNone/>
              <a:tabLst>
                <a:tab algn="l" pos="0"/>
              </a:tabLst>
            </a:pPr>
            <a:r>
              <a:rPr b="0" lang="en-US" sz="1500" spc="-1" strike="noStrike">
                <a:solidFill>
                  <a:srgbClr val="000000"/>
                </a:solidFill>
                <a:latin typeface="Arial"/>
                <a:ea typeface="ＭＳ Ｐゴシック"/>
              </a:rPr>
              <a:t>After the communication is completed the sessions are closed, and the connection is terminated. The connection and session mechanisms enable TCP reliability function.</a:t>
            </a:r>
            <a:endParaRPr b="0" lang="en-US" sz="1500" spc="-1" strike="noStrike">
              <a:solidFill>
                <a:srgbClr val="58585b"/>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TCP Communication Process</a:t>
            </a:r>
            <a:br/>
            <a:r>
              <a:rPr b="0" lang="en-US" sz="2400" spc="-1" strike="noStrike">
                <a:solidFill>
                  <a:srgbClr val="367187"/>
                </a:solidFill>
                <a:latin typeface="Arial"/>
                <a:ea typeface="ＭＳ Ｐゴシック"/>
              </a:rPr>
              <a:t>TCP Three-Way Handshake Analysis (Cont.)</a:t>
            </a:r>
            <a:endParaRPr b="0" lang="en-US" sz="2400" spc="-1" strike="noStrike">
              <a:solidFill>
                <a:srgbClr val="58585b"/>
              </a:solidFill>
              <a:latin typeface="Arial"/>
            </a:endParaRPr>
          </a:p>
        </p:txBody>
      </p:sp>
      <p:sp>
        <p:nvSpPr>
          <p:cNvPr id="409" name="PlaceHolder 2"/>
          <p:cNvSpPr>
            <a:spLocks noGrp="1"/>
          </p:cNvSpPr>
          <p:nvPr>
            <p:ph/>
          </p:nvPr>
        </p:nvSpPr>
        <p:spPr>
          <a:xfrm>
            <a:off x="144000" y="798840"/>
            <a:ext cx="3850200" cy="415512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The six control bit flags are as follows:</a:t>
            </a:r>
            <a:endParaRPr b="0" lang="en-US" sz="16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tabLst>
                <a:tab algn="l" pos="0"/>
              </a:tabLst>
            </a:pPr>
            <a:r>
              <a:rPr b="1" lang="en-US" sz="1500" spc="-1" strike="noStrike">
                <a:solidFill>
                  <a:srgbClr val="000000"/>
                </a:solidFill>
                <a:latin typeface="Arial"/>
                <a:ea typeface="ＭＳ Ｐゴシック"/>
              </a:rPr>
              <a:t>URG</a:t>
            </a:r>
            <a:r>
              <a:rPr b="0" lang="en-US" sz="1500" spc="-1" strike="noStrike">
                <a:solidFill>
                  <a:srgbClr val="000000"/>
                </a:solidFill>
                <a:latin typeface="Arial"/>
                <a:ea typeface="ＭＳ Ｐゴシック"/>
              </a:rPr>
              <a:t> - Urgent pointer field significant</a:t>
            </a:r>
            <a:endParaRPr b="0" lang="en-US" sz="15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tabLst>
                <a:tab algn="l" pos="0"/>
              </a:tabLst>
            </a:pPr>
            <a:r>
              <a:rPr b="1" lang="en-US" sz="1500" spc="-1" strike="noStrike">
                <a:solidFill>
                  <a:srgbClr val="000000"/>
                </a:solidFill>
                <a:latin typeface="Arial"/>
                <a:ea typeface="ＭＳ Ｐゴシック"/>
              </a:rPr>
              <a:t>ACK</a:t>
            </a:r>
            <a:r>
              <a:rPr b="0" lang="en-US" sz="1500" spc="-1" strike="noStrike">
                <a:solidFill>
                  <a:srgbClr val="000000"/>
                </a:solidFill>
                <a:latin typeface="Arial"/>
                <a:ea typeface="ＭＳ Ｐゴシック"/>
              </a:rPr>
              <a:t> - Acknowledgment flag used in connection establishment and session termination</a:t>
            </a:r>
            <a:endParaRPr b="0" lang="en-US" sz="15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tabLst>
                <a:tab algn="l" pos="0"/>
              </a:tabLst>
            </a:pPr>
            <a:r>
              <a:rPr b="1" lang="en-US" sz="1500" spc="-1" strike="noStrike">
                <a:solidFill>
                  <a:srgbClr val="000000"/>
                </a:solidFill>
                <a:latin typeface="Arial"/>
                <a:ea typeface="ＭＳ Ｐゴシック"/>
              </a:rPr>
              <a:t>PSH</a:t>
            </a:r>
            <a:r>
              <a:rPr b="0" lang="en-US" sz="1500" spc="-1" strike="noStrike">
                <a:solidFill>
                  <a:srgbClr val="000000"/>
                </a:solidFill>
                <a:latin typeface="Arial"/>
                <a:ea typeface="ＭＳ Ｐゴシック"/>
              </a:rPr>
              <a:t> - Push function</a:t>
            </a:r>
            <a:endParaRPr b="0" lang="en-US" sz="15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tabLst>
                <a:tab algn="l" pos="0"/>
              </a:tabLst>
            </a:pPr>
            <a:r>
              <a:rPr b="1" lang="en-US" sz="1500" spc="-1" strike="noStrike">
                <a:solidFill>
                  <a:srgbClr val="000000"/>
                </a:solidFill>
                <a:latin typeface="Arial"/>
                <a:ea typeface="ＭＳ Ｐゴシック"/>
              </a:rPr>
              <a:t>RST</a:t>
            </a:r>
            <a:r>
              <a:rPr b="0" lang="en-US" sz="1500" spc="-1" strike="noStrike">
                <a:solidFill>
                  <a:srgbClr val="000000"/>
                </a:solidFill>
                <a:latin typeface="Arial"/>
                <a:ea typeface="ＭＳ Ｐゴシック"/>
              </a:rPr>
              <a:t> - Reset the connection when an error or timeout occurs</a:t>
            </a:r>
            <a:endParaRPr b="0" lang="en-US" sz="15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tabLst>
                <a:tab algn="l" pos="0"/>
              </a:tabLst>
            </a:pPr>
            <a:r>
              <a:rPr b="1" lang="en-US" sz="1500" spc="-1" strike="noStrike">
                <a:solidFill>
                  <a:srgbClr val="000000"/>
                </a:solidFill>
                <a:latin typeface="Arial"/>
                <a:ea typeface="ＭＳ Ｐゴシック"/>
              </a:rPr>
              <a:t>SYN</a:t>
            </a:r>
            <a:r>
              <a:rPr b="0" lang="en-US" sz="1500" spc="-1" strike="noStrike">
                <a:solidFill>
                  <a:srgbClr val="000000"/>
                </a:solidFill>
                <a:latin typeface="Arial"/>
                <a:ea typeface="ＭＳ Ｐゴシック"/>
              </a:rPr>
              <a:t> - Synchronize sequence numbers used in connection establishment</a:t>
            </a:r>
            <a:endParaRPr b="0" lang="en-US" sz="15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tabLst>
                <a:tab algn="l" pos="0"/>
              </a:tabLst>
            </a:pPr>
            <a:r>
              <a:rPr b="1" lang="en-US" sz="1500" spc="-1" strike="noStrike">
                <a:solidFill>
                  <a:srgbClr val="000000"/>
                </a:solidFill>
                <a:latin typeface="Arial"/>
                <a:ea typeface="ＭＳ Ｐゴシック"/>
              </a:rPr>
              <a:t>FIN</a:t>
            </a:r>
            <a:r>
              <a:rPr b="0" lang="en-US" sz="1500" spc="-1" strike="noStrike">
                <a:solidFill>
                  <a:srgbClr val="000000"/>
                </a:solidFill>
                <a:latin typeface="Arial"/>
                <a:ea typeface="ＭＳ Ｐゴシック"/>
              </a:rPr>
              <a:t> - No more data from sender and used in session termination</a:t>
            </a:r>
            <a:endParaRPr b="0" lang="en-US" sz="1500" spc="-1" strike="noStrike">
              <a:solidFill>
                <a:srgbClr val="58585b"/>
              </a:solidFill>
              <a:latin typeface="Arial"/>
            </a:endParaRPr>
          </a:p>
          <a:p>
            <a:pPr>
              <a:lnSpc>
                <a:spcPct val="100000"/>
              </a:lnSpc>
              <a:spcBef>
                <a:spcPts val="601"/>
              </a:spcBef>
              <a:spcAft>
                <a:spcPts val="601"/>
              </a:spcAft>
              <a:buNone/>
              <a:tabLst>
                <a:tab algn="l" pos="0"/>
              </a:tabLst>
            </a:pPr>
            <a:endParaRPr b="0" lang="en-US" sz="1500" spc="-1" strike="noStrike">
              <a:solidFill>
                <a:srgbClr val="58585b"/>
              </a:solidFill>
              <a:latin typeface="Arial"/>
            </a:endParaRPr>
          </a:p>
        </p:txBody>
      </p:sp>
      <p:pic>
        <p:nvPicPr>
          <p:cNvPr id="410" name="Picture 5" descr=""/>
          <p:cNvPicPr/>
          <p:nvPr/>
        </p:nvPicPr>
        <p:blipFill>
          <a:blip r:embed="rId1"/>
          <a:stretch/>
        </p:blipFill>
        <p:spPr>
          <a:xfrm>
            <a:off x="4110840" y="1369080"/>
            <a:ext cx="4973760" cy="240480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TCP Communication Process</a:t>
            </a:r>
            <a:br/>
            <a:r>
              <a:rPr b="0" lang="en-US" sz="2400" spc="-1" strike="noStrike">
                <a:solidFill>
                  <a:srgbClr val="367187"/>
                </a:solidFill>
                <a:latin typeface="Arial"/>
                <a:ea typeface="ＭＳ Ｐゴシック"/>
              </a:rPr>
              <a:t>Video TCP 3-Way Handshake</a:t>
            </a:r>
            <a:endParaRPr b="0" lang="en-US" sz="2400" spc="-1" strike="noStrike">
              <a:solidFill>
                <a:srgbClr val="58585b"/>
              </a:solidFill>
              <a:latin typeface="Arial"/>
            </a:endParaRPr>
          </a:p>
        </p:txBody>
      </p:sp>
      <p:sp>
        <p:nvSpPr>
          <p:cNvPr id="412" name="PlaceHolder 2"/>
          <p:cNvSpPr>
            <a:spLocks noGrp="1"/>
          </p:cNvSpPr>
          <p:nvPr>
            <p:ph/>
          </p:nvPr>
        </p:nvSpPr>
        <p:spPr>
          <a:xfrm>
            <a:off x="144000" y="798840"/>
            <a:ext cx="8852760" cy="415512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The video covers the following:</a:t>
            </a:r>
            <a:endParaRPr b="0" lang="en-US" sz="16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tabLst>
                <a:tab algn="l" pos="0"/>
              </a:tabLst>
            </a:pPr>
            <a:r>
              <a:rPr b="0" lang="en-US" sz="1500" spc="-1" strike="noStrike">
                <a:solidFill>
                  <a:srgbClr val="000000"/>
                </a:solidFill>
                <a:latin typeface="Arial"/>
                <a:ea typeface="ＭＳ Ｐゴシック"/>
              </a:rPr>
              <a:t>TCP 3-Way Handshake</a:t>
            </a:r>
            <a:endParaRPr b="0" lang="en-US" sz="15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tabLst>
                <a:tab algn="l" pos="0"/>
              </a:tabLst>
            </a:pPr>
            <a:r>
              <a:rPr b="0" lang="en-US" sz="1500" spc="-1" strike="noStrike">
                <a:solidFill>
                  <a:srgbClr val="000000"/>
                </a:solidFill>
                <a:latin typeface="Arial"/>
                <a:ea typeface="ＭＳ Ｐゴシック"/>
              </a:rPr>
              <a:t>Termination of a TCP conversation</a:t>
            </a:r>
            <a:endParaRPr b="0" lang="en-US" sz="1500" spc="-1" strike="noStrike">
              <a:solidFill>
                <a:srgbClr val="58585b"/>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14.6 Reliability and Flow Control</a:t>
            </a:r>
            <a:endParaRPr b="0" lang="en-US" sz="4600" spc="-1" strike="noStrike">
              <a:solidFill>
                <a:srgbClr val="58585b"/>
              </a:solidFill>
              <a:latin typeface="Arial"/>
            </a:endParaRPr>
          </a:p>
        </p:txBody>
      </p:sp>
    </p:spTree>
  </p:cSld>
  <p:transition spd="slow">
    <p:wipe dir="l"/>
  </p:transition>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Reliability and Flow Control</a:t>
            </a:r>
            <a:br/>
            <a:r>
              <a:rPr b="0" lang="en-US" sz="2400" spc="-1" strike="noStrike">
                <a:solidFill>
                  <a:srgbClr val="004c69"/>
                </a:solidFill>
                <a:latin typeface="Arial"/>
                <a:ea typeface="ＭＳ Ｐゴシック"/>
              </a:rPr>
              <a:t>TCP Reliability- Guaranteed and Ordered Delivery</a:t>
            </a:r>
            <a:endParaRPr b="0" lang="en-US" sz="2400" spc="-1" strike="noStrike">
              <a:solidFill>
                <a:srgbClr val="58585b"/>
              </a:solidFill>
              <a:latin typeface="Arial"/>
            </a:endParaRPr>
          </a:p>
        </p:txBody>
      </p:sp>
      <p:sp>
        <p:nvSpPr>
          <p:cNvPr id="415" name="PlaceHolder 2"/>
          <p:cNvSpPr>
            <a:spLocks noGrp="1"/>
          </p:cNvSpPr>
          <p:nvPr>
            <p:ph/>
          </p:nvPr>
        </p:nvSpPr>
        <p:spPr>
          <a:xfrm>
            <a:off x="288360" y="979560"/>
            <a:ext cx="3884040" cy="3438720"/>
          </a:xfrm>
          <a:prstGeom prst="rect">
            <a:avLst/>
          </a:prstGeom>
          <a:noFill/>
          <a:ln w="0">
            <a:noFill/>
          </a:ln>
        </p:spPr>
        <p:txBody>
          <a:bodyPr anchor="t">
            <a:noAutofit/>
          </a:bodyPr>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TCP can also help maintain the flow of packets so that devices do not become overloaded.</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There may be times when TCP segments do not arrive at their destination or arrive out of order.</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All the data must be received and the data in these segments must be reassembled into the original order.</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Sequence numbers are assigned in the header of each packet to achieve this goal.</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pic>
        <p:nvPicPr>
          <p:cNvPr id="416" name="Picture 5" descr=""/>
          <p:cNvPicPr/>
          <p:nvPr/>
        </p:nvPicPr>
        <p:blipFill>
          <a:blip r:embed="rId1"/>
          <a:stretch/>
        </p:blipFill>
        <p:spPr>
          <a:xfrm>
            <a:off x="4358880" y="1119960"/>
            <a:ext cx="4645080" cy="31579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title"/>
          </p:nvPr>
        </p:nvSpPr>
        <p:spPr>
          <a:xfrm>
            <a:off x="0" y="1062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Reliability and Flow Control</a:t>
            </a:r>
            <a:br/>
            <a:r>
              <a:rPr b="0" lang="en-US" sz="2400" spc="-1" strike="noStrike">
                <a:solidFill>
                  <a:srgbClr val="367187"/>
                </a:solidFill>
                <a:latin typeface="Arial"/>
                <a:ea typeface="ＭＳ Ｐゴシック"/>
              </a:rPr>
              <a:t>Video -TCP Reliability- Sequence Numbers and Acknowledgments</a:t>
            </a:r>
            <a:endParaRPr b="0" lang="en-US" sz="2400" spc="-1" strike="noStrike">
              <a:solidFill>
                <a:srgbClr val="58585b"/>
              </a:solidFill>
              <a:latin typeface="Arial"/>
            </a:endParaRPr>
          </a:p>
        </p:txBody>
      </p:sp>
      <p:sp>
        <p:nvSpPr>
          <p:cNvPr id="418" name="PlaceHolder 2"/>
          <p:cNvSpPr>
            <a:spLocks noGrp="1"/>
          </p:cNvSpPr>
          <p:nvPr>
            <p:ph/>
          </p:nvPr>
        </p:nvSpPr>
        <p:spPr>
          <a:xfrm>
            <a:off x="145440" y="1108440"/>
            <a:ext cx="8852760" cy="3928680"/>
          </a:xfrm>
          <a:prstGeom prst="rect">
            <a:avLst/>
          </a:prstGeom>
          <a:noFill/>
          <a:ln w="0">
            <a:noFill/>
          </a:ln>
        </p:spPr>
        <p:txBody>
          <a:bodyPr numCol="1" spcCol="0" rIns="182880" anchor="t">
            <a:noAutofit/>
          </a:bodyPr>
          <a:p>
            <a:pPr marL="142920">
              <a:lnSpc>
                <a:spcPct val="100000"/>
              </a:lnSpc>
              <a:spcBef>
                <a:spcPts val="300"/>
              </a:spcBef>
              <a:spcAft>
                <a:spcPts val="300"/>
              </a:spcAft>
              <a:buNone/>
              <a:tabLst>
                <a:tab algn="l" pos="0"/>
              </a:tabLst>
            </a:pPr>
            <a:r>
              <a:rPr b="0" lang="en-US" sz="1800" spc="-1" strike="noStrike">
                <a:solidFill>
                  <a:srgbClr val="000000"/>
                </a:solidFill>
                <a:latin typeface="Arial"/>
                <a:ea typeface="ＭＳ Ｐゴシック"/>
              </a:rPr>
              <a:t>This video depicts a simplified example of the TCP operations.</a:t>
            </a:r>
            <a:endParaRPr b="0" lang="en-US" sz="1800" spc="-1" strike="noStrike">
              <a:solidFill>
                <a:srgbClr val="58585b"/>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title"/>
          </p:nvPr>
        </p:nvSpPr>
        <p:spPr>
          <a:xfrm>
            <a:off x="0" y="1836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Reliability and Flow Control</a:t>
            </a:r>
            <a:br/>
            <a:r>
              <a:rPr b="0" lang="en-US" sz="2400" spc="-1" strike="noStrike">
                <a:solidFill>
                  <a:srgbClr val="367187"/>
                </a:solidFill>
                <a:latin typeface="Arial"/>
                <a:ea typeface="ＭＳ Ｐゴシック"/>
              </a:rPr>
              <a:t>TCP Reliability – Data Loss and Retransmission</a:t>
            </a:r>
            <a:endParaRPr b="0" lang="en-US" sz="2400" spc="-1" strike="noStrike">
              <a:solidFill>
                <a:srgbClr val="58585b"/>
              </a:solidFill>
              <a:latin typeface="Arial"/>
            </a:endParaRPr>
          </a:p>
        </p:txBody>
      </p:sp>
      <p:sp>
        <p:nvSpPr>
          <p:cNvPr id="420" name="PlaceHolder 2"/>
          <p:cNvSpPr>
            <a:spLocks noGrp="1"/>
          </p:cNvSpPr>
          <p:nvPr>
            <p:ph/>
          </p:nvPr>
        </p:nvSpPr>
        <p:spPr>
          <a:xfrm>
            <a:off x="144000" y="1025280"/>
            <a:ext cx="3826080" cy="392868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No matter how well designed a network is, data loss occasionally occurs.</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TCP provides methods of managing these segment losses. Among these is a mechanism to retransmit segments for unacknowledged data.</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pic>
        <p:nvPicPr>
          <p:cNvPr id="421" name="Picture 1" descr=""/>
          <p:cNvPicPr/>
          <p:nvPr/>
        </p:nvPicPr>
        <p:blipFill>
          <a:blip r:embed="rId1"/>
          <a:srcRect l="3123" t="0" r="0" b="0"/>
          <a:stretch/>
        </p:blipFill>
        <p:spPr>
          <a:xfrm>
            <a:off x="4078800" y="1025280"/>
            <a:ext cx="4920840" cy="3555000"/>
          </a:xfrm>
          <a:prstGeom prst="rect">
            <a:avLst/>
          </a:prstGeom>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title"/>
          </p:nvPr>
        </p:nvSpPr>
        <p:spPr>
          <a:xfrm>
            <a:off x="0" y="1836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Reliability and Flow Control</a:t>
            </a:r>
            <a:br/>
            <a:r>
              <a:rPr b="0" lang="en-US" sz="2400" spc="-1" strike="noStrike">
                <a:solidFill>
                  <a:srgbClr val="367187"/>
                </a:solidFill>
                <a:latin typeface="Arial"/>
                <a:ea typeface="ＭＳ Ｐゴシック"/>
              </a:rPr>
              <a:t>TCP Reliability – Data Loss and Retransmission (Cont.)</a:t>
            </a:r>
            <a:endParaRPr b="0" lang="en-US" sz="2400" spc="-1" strike="noStrike">
              <a:solidFill>
                <a:srgbClr val="58585b"/>
              </a:solidFill>
              <a:latin typeface="Arial"/>
            </a:endParaRPr>
          </a:p>
        </p:txBody>
      </p:sp>
      <p:sp>
        <p:nvSpPr>
          <p:cNvPr id="423" name="PlaceHolder 2"/>
          <p:cNvSpPr>
            <a:spLocks noGrp="1"/>
          </p:cNvSpPr>
          <p:nvPr>
            <p:ph/>
          </p:nvPr>
        </p:nvSpPr>
        <p:spPr>
          <a:xfrm>
            <a:off x="144000" y="1025280"/>
            <a:ext cx="3970440" cy="392868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Host operating systems today typically employ an optional TCP feature called selective acknowledgment (SACK), negotiated during the three-way handshake.</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If both hosts support SACK, the receiver can explicitly acknowledge which segments (bytes) were received including any discontinuous segments.</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pic>
        <p:nvPicPr>
          <p:cNvPr id="424" name="Picture 3" descr=""/>
          <p:cNvPicPr/>
          <p:nvPr/>
        </p:nvPicPr>
        <p:blipFill>
          <a:blip r:embed="rId1"/>
          <a:srcRect l="6547" t="0" r="11055" b="0"/>
          <a:stretch/>
        </p:blipFill>
        <p:spPr>
          <a:xfrm>
            <a:off x="4235040" y="822960"/>
            <a:ext cx="4475520" cy="3726360"/>
          </a:xfrm>
          <a:prstGeom prst="rect">
            <a:avLst/>
          </a:prstGeom>
          <a:ln w="0">
            <a:noFill/>
          </a:ln>
        </p:spPr>
      </p:pic>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title"/>
          </p:nvPr>
        </p:nvSpPr>
        <p:spPr>
          <a:xfrm>
            <a:off x="0" y="1836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Reliability and Flow Control</a:t>
            </a:r>
            <a:br/>
            <a:r>
              <a:rPr b="0" lang="en-US" sz="2400" spc="-1" strike="noStrike">
                <a:solidFill>
                  <a:srgbClr val="367187"/>
                </a:solidFill>
                <a:latin typeface="Arial"/>
                <a:ea typeface="ＭＳ Ｐゴシック"/>
              </a:rPr>
              <a:t>Video - TCP Reliability – Data Loss and Retransmission</a:t>
            </a:r>
            <a:endParaRPr b="0" lang="en-US" sz="2400" spc="-1" strike="noStrike">
              <a:solidFill>
                <a:srgbClr val="58585b"/>
              </a:solidFill>
              <a:latin typeface="Arial"/>
            </a:endParaRPr>
          </a:p>
        </p:txBody>
      </p:sp>
      <p:sp>
        <p:nvSpPr>
          <p:cNvPr id="426" name="PlaceHolder 2"/>
          <p:cNvSpPr>
            <a:spLocks noGrp="1"/>
          </p:cNvSpPr>
          <p:nvPr>
            <p:ph/>
          </p:nvPr>
        </p:nvSpPr>
        <p:spPr>
          <a:xfrm>
            <a:off x="144000" y="1025280"/>
            <a:ext cx="8491680" cy="392868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This video shows the process of resending segments that are not initially received by the destination.</a:t>
            </a:r>
            <a:endParaRPr b="0" lang="en-US" sz="1600" spc="-1" strike="noStrike">
              <a:solidFill>
                <a:srgbClr val="58585b"/>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Reliability and Flow Control</a:t>
            </a:r>
            <a:br/>
            <a:r>
              <a:rPr b="0" lang="en-US" sz="2400" spc="-1" strike="noStrike">
                <a:solidFill>
                  <a:srgbClr val="004c69"/>
                </a:solidFill>
                <a:latin typeface="Arial"/>
                <a:ea typeface="ＭＳ Ｐゴシック"/>
              </a:rPr>
              <a:t>TCP Flow Control – Window Size and Acknowledgments</a:t>
            </a:r>
            <a:endParaRPr b="0" lang="en-US" sz="2400" spc="-1" strike="noStrike">
              <a:solidFill>
                <a:srgbClr val="58585b"/>
              </a:solidFill>
              <a:latin typeface="Arial"/>
            </a:endParaRPr>
          </a:p>
        </p:txBody>
      </p:sp>
      <p:sp>
        <p:nvSpPr>
          <p:cNvPr id="428" name="PlaceHolder 2"/>
          <p:cNvSpPr>
            <a:spLocks noGrp="1"/>
          </p:cNvSpPr>
          <p:nvPr>
            <p:ph/>
          </p:nvPr>
        </p:nvSpPr>
        <p:spPr>
          <a:xfrm>
            <a:off x="103680" y="912240"/>
            <a:ext cx="3666600" cy="3509280"/>
          </a:xfrm>
          <a:prstGeom prst="rect">
            <a:avLst/>
          </a:prstGeom>
          <a:noFill/>
          <a:ln w="0">
            <a:noFill/>
          </a:ln>
        </p:spPr>
        <p:txBody>
          <a:bodyPr anchor="t">
            <a:noAutofit/>
          </a:bodyPr>
          <a:p>
            <a:pPr>
              <a:lnSpc>
                <a:spcPct val="100000"/>
              </a:lnSpc>
              <a:buNone/>
              <a:tabLst>
                <a:tab algn="l" pos="0"/>
              </a:tabLst>
            </a:pPr>
            <a:r>
              <a:rPr b="0" lang="en-US" sz="1600" spc="-1" strike="noStrike">
                <a:solidFill>
                  <a:srgbClr val="000000"/>
                </a:solidFill>
                <a:latin typeface="Arial"/>
                <a:ea typeface="ＭＳ Ｐゴシック"/>
              </a:rPr>
              <a:t>TCP also provides mechanisms for flow control as follows:</a:t>
            </a:r>
            <a:endParaRPr b="0" lang="en-US" sz="1600" spc="-1" strike="noStrike">
              <a:solidFill>
                <a:srgbClr val="58585b"/>
              </a:solidFill>
              <a:latin typeface="Arial"/>
            </a:endParaRPr>
          </a:p>
          <a:p>
            <a:pPr>
              <a:lnSpc>
                <a:spcPct val="100000"/>
              </a:lnSpc>
              <a:buNone/>
              <a:tabLst>
                <a:tab algn="l" pos="0"/>
              </a:tabLst>
            </a:pPr>
            <a:endParaRPr b="0" lang="en-US" sz="1600" spc="-1" strike="noStrike">
              <a:solidFill>
                <a:srgbClr val="58585b"/>
              </a:solidFill>
              <a:latin typeface="Arial"/>
            </a:endParaRPr>
          </a:p>
          <a:p>
            <a:pPr marL="285840" indent="-285840">
              <a:lnSpc>
                <a:spcPct val="100000"/>
              </a:lnSpc>
              <a:buClr>
                <a:srgbClr val="000000"/>
              </a:buClr>
              <a:buFont typeface="Arial"/>
              <a:buChar char="•"/>
              <a:tabLst>
                <a:tab algn="l" pos="0"/>
              </a:tabLst>
            </a:pPr>
            <a:r>
              <a:rPr b="0" lang="en-US" sz="1600" spc="-1" strike="noStrike">
                <a:solidFill>
                  <a:srgbClr val="000000"/>
                </a:solidFill>
                <a:latin typeface="Arial"/>
                <a:ea typeface="ＭＳ Ｐゴシック"/>
              </a:rPr>
              <a:t>Flow control is the amount of data that the destination can receive and process reliably.</a:t>
            </a:r>
            <a:endParaRPr b="0" lang="en-US" sz="1600" spc="-1" strike="noStrike">
              <a:solidFill>
                <a:srgbClr val="58585b"/>
              </a:solidFill>
              <a:latin typeface="Arial"/>
            </a:endParaRPr>
          </a:p>
          <a:p>
            <a:pPr>
              <a:lnSpc>
                <a:spcPct val="100000"/>
              </a:lnSpc>
              <a:buNone/>
              <a:tabLst>
                <a:tab algn="l" pos="0"/>
              </a:tabLst>
            </a:pPr>
            <a:endParaRPr b="0" lang="en-US" sz="1600" spc="-1" strike="noStrike">
              <a:solidFill>
                <a:srgbClr val="58585b"/>
              </a:solidFill>
              <a:latin typeface="Arial"/>
            </a:endParaRPr>
          </a:p>
          <a:p>
            <a:pPr marL="285840" indent="-285840">
              <a:lnSpc>
                <a:spcPct val="100000"/>
              </a:lnSpc>
              <a:buClr>
                <a:srgbClr val="000000"/>
              </a:buClr>
              <a:buFont typeface="Arial"/>
              <a:buChar char="•"/>
              <a:tabLst>
                <a:tab algn="l" pos="0"/>
              </a:tabLst>
            </a:pPr>
            <a:r>
              <a:rPr b="0" lang="en-US" sz="1600" spc="-1" strike="noStrike">
                <a:solidFill>
                  <a:srgbClr val="000000"/>
                </a:solidFill>
                <a:latin typeface="Arial"/>
                <a:ea typeface="ＭＳ Ｐゴシック"/>
              </a:rPr>
              <a:t>Flow control helps maintain the reliability of TCP transmission by adjusting the rate of data flow between source and destination for a given session.</a:t>
            </a:r>
            <a:endParaRPr b="0" lang="en-US" sz="1600" spc="-1" strike="noStrike">
              <a:solidFill>
                <a:srgbClr val="58585b"/>
              </a:solidFill>
              <a:latin typeface="Arial"/>
            </a:endParaRPr>
          </a:p>
        </p:txBody>
      </p:sp>
      <p:pic>
        <p:nvPicPr>
          <p:cNvPr id="429" name="Picture 5" descr=""/>
          <p:cNvPicPr/>
          <p:nvPr/>
        </p:nvPicPr>
        <p:blipFill>
          <a:blip r:embed="rId1"/>
          <a:stretch/>
        </p:blipFill>
        <p:spPr>
          <a:xfrm>
            <a:off x="3836880" y="912240"/>
            <a:ext cx="5194800" cy="33184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Reliability and Flow Control</a:t>
            </a:r>
            <a:br/>
            <a:r>
              <a:rPr b="0" lang="en-US" sz="2400" spc="-1" strike="noStrike">
                <a:solidFill>
                  <a:srgbClr val="004c69"/>
                </a:solidFill>
                <a:latin typeface="Arial"/>
                <a:ea typeface="ＭＳ Ｐゴシック"/>
              </a:rPr>
              <a:t>TCP Flow Control – Maximum Segment Size</a:t>
            </a:r>
            <a:endParaRPr b="0" lang="en-US" sz="2400" spc="-1" strike="noStrike">
              <a:solidFill>
                <a:srgbClr val="58585b"/>
              </a:solidFill>
              <a:latin typeface="Arial"/>
            </a:endParaRPr>
          </a:p>
        </p:txBody>
      </p:sp>
      <p:sp>
        <p:nvSpPr>
          <p:cNvPr id="431" name="PlaceHolder 2"/>
          <p:cNvSpPr>
            <a:spLocks noGrp="1"/>
          </p:cNvSpPr>
          <p:nvPr>
            <p:ph/>
          </p:nvPr>
        </p:nvSpPr>
        <p:spPr>
          <a:xfrm>
            <a:off x="259560" y="731880"/>
            <a:ext cx="3541320" cy="3689640"/>
          </a:xfrm>
          <a:prstGeom prst="rect">
            <a:avLst/>
          </a:prstGeom>
          <a:noFill/>
          <a:ln w="0">
            <a:noFill/>
          </a:ln>
        </p:spPr>
        <p:txBody>
          <a:bodyPr anchor="t">
            <a:noAutofit/>
          </a:bodyPr>
          <a:p>
            <a:pPr>
              <a:lnSpc>
                <a:spcPct val="100000"/>
              </a:lnSpc>
              <a:buNone/>
              <a:tabLst>
                <a:tab algn="l" pos="0"/>
              </a:tabLst>
            </a:pPr>
            <a:r>
              <a:rPr b="0" lang="en-US" sz="1600" spc="-1" strike="noStrike">
                <a:solidFill>
                  <a:srgbClr val="080808"/>
                </a:solidFill>
                <a:latin typeface="Arial"/>
                <a:ea typeface="ＭＳ Ｐゴシック"/>
              </a:rPr>
              <a:t>Maximum Segment Size (MSS) is the maximum amount of data that the destination device can receive.</a:t>
            </a:r>
            <a:endParaRPr b="0" lang="en-US" sz="1600" spc="-1" strike="noStrike">
              <a:solidFill>
                <a:srgbClr val="58585b"/>
              </a:solidFill>
              <a:latin typeface="Arial"/>
            </a:endParaRPr>
          </a:p>
          <a:p>
            <a:pPr>
              <a:lnSpc>
                <a:spcPct val="100000"/>
              </a:lnSpc>
              <a:buNone/>
              <a:tabLst>
                <a:tab algn="l" pos="0"/>
              </a:tabLst>
            </a:pPr>
            <a:endParaRPr b="0" lang="en-US" sz="1600" spc="-1" strike="noStrike">
              <a:solidFill>
                <a:srgbClr val="58585b"/>
              </a:solidFill>
              <a:latin typeface="Arial"/>
            </a:endParaRPr>
          </a:p>
          <a:p>
            <a:pPr marL="285840" indent="-285840">
              <a:lnSpc>
                <a:spcPct val="100000"/>
              </a:lnSpc>
              <a:buClr>
                <a:srgbClr val="080808"/>
              </a:buClr>
              <a:buFont typeface="Arial"/>
              <a:buChar char="•"/>
              <a:tabLst>
                <a:tab algn="l" pos="0"/>
              </a:tabLst>
            </a:pPr>
            <a:r>
              <a:rPr b="0" lang="en-US" sz="1600" spc="-1" strike="noStrike">
                <a:solidFill>
                  <a:srgbClr val="080808"/>
                </a:solidFill>
                <a:latin typeface="Arial"/>
                <a:ea typeface="ＭＳ Ｐゴシック"/>
              </a:rPr>
              <a:t>A common MSS is 1,460 bytes when using IPv4.</a:t>
            </a:r>
            <a:endParaRPr b="0" lang="en-US" sz="1600" spc="-1" strike="noStrike">
              <a:solidFill>
                <a:srgbClr val="58585b"/>
              </a:solidFill>
              <a:latin typeface="Arial"/>
            </a:endParaRPr>
          </a:p>
          <a:p>
            <a:pPr marL="285840" indent="-285840">
              <a:lnSpc>
                <a:spcPct val="100000"/>
              </a:lnSpc>
              <a:buClr>
                <a:srgbClr val="080808"/>
              </a:buClr>
              <a:buFont typeface="Arial"/>
              <a:buChar char="•"/>
              <a:tabLst>
                <a:tab algn="l" pos="0"/>
              </a:tabLst>
            </a:pPr>
            <a:r>
              <a:rPr b="0" lang="en-US" sz="1600" spc="-1" strike="noStrike">
                <a:solidFill>
                  <a:srgbClr val="080808"/>
                </a:solidFill>
                <a:latin typeface="Arial"/>
                <a:ea typeface="ＭＳ Ｐゴシック"/>
              </a:rPr>
              <a:t>A host determines the value of its MSS field by subtracting the IP and TCP headers from the Ethernet maximum transmission unit (MTU), which is 1500 bytes be default. </a:t>
            </a:r>
            <a:endParaRPr b="0" lang="en-US" sz="1600" spc="-1" strike="noStrike">
              <a:solidFill>
                <a:srgbClr val="58585b"/>
              </a:solidFill>
              <a:latin typeface="Arial"/>
            </a:endParaRPr>
          </a:p>
          <a:p>
            <a:pPr marL="285840" indent="-285840">
              <a:lnSpc>
                <a:spcPct val="100000"/>
              </a:lnSpc>
              <a:buClr>
                <a:srgbClr val="080808"/>
              </a:buClr>
              <a:buFont typeface="Arial"/>
              <a:buChar char="•"/>
              <a:tabLst>
                <a:tab algn="l" pos="0"/>
              </a:tabLst>
            </a:pPr>
            <a:r>
              <a:rPr b="0" lang="en-US" sz="1600" spc="-1" strike="noStrike">
                <a:solidFill>
                  <a:srgbClr val="080808"/>
                </a:solidFill>
                <a:latin typeface="Arial"/>
                <a:ea typeface="ＭＳ Ｐゴシック"/>
              </a:rPr>
              <a:t>1500 minus 40 (20 bytes for the IPv4 header and 20 bytes for the TCP header) leaves 1460 bytes.</a:t>
            </a:r>
            <a:endParaRPr b="0" lang="en-US" sz="1600" spc="-1" strike="noStrike">
              <a:solidFill>
                <a:srgbClr val="58585b"/>
              </a:solidFill>
              <a:latin typeface="Arial"/>
            </a:endParaRPr>
          </a:p>
        </p:txBody>
      </p:sp>
      <p:pic>
        <p:nvPicPr>
          <p:cNvPr id="432" name="Picture 5" descr=""/>
          <p:cNvPicPr/>
          <p:nvPr/>
        </p:nvPicPr>
        <p:blipFill>
          <a:blip r:embed="rId1"/>
          <a:stretch/>
        </p:blipFill>
        <p:spPr>
          <a:xfrm>
            <a:off x="4018680" y="731880"/>
            <a:ext cx="4109400" cy="2696760"/>
          </a:xfrm>
          <a:prstGeom prst="rect">
            <a:avLst/>
          </a:prstGeom>
          <a:ln w="0">
            <a:noFill/>
          </a:ln>
        </p:spPr>
      </p:pic>
      <p:pic>
        <p:nvPicPr>
          <p:cNvPr id="433" name="Picture 7" descr=""/>
          <p:cNvPicPr/>
          <p:nvPr/>
        </p:nvPicPr>
        <p:blipFill>
          <a:blip r:embed="rId2"/>
          <a:stretch/>
        </p:blipFill>
        <p:spPr>
          <a:xfrm>
            <a:off x="4254840" y="3501360"/>
            <a:ext cx="3873240" cy="13186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Reliability and Flow Control</a:t>
            </a:r>
            <a:br/>
            <a:r>
              <a:rPr b="0" lang="en-US" sz="2400" spc="-1" strike="noStrike">
                <a:solidFill>
                  <a:srgbClr val="004c69"/>
                </a:solidFill>
                <a:latin typeface="Arial"/>
                <a:ea typeface="ＭＳ Ｐゴシック"/>
              </a:rPr>
              <a:t>TCP Flow Control – Congestion Avoidance</a:t>
            </a:r>
            <a:endParaRPr b="0" lang="en-US" sz="2400" spc="-1" strike="noStrike">
              <a:solidFill>
                <a:srgbClr val="58585b"/>
              </a:solidFill>
              <a:latin typeface="Arial"/>
            </a:endParaRPr>
          </a:p>
        </p:txBody>
      </p:sp>
      <p:sp>
        <p:nvSpPr>
          <p:cNvPr id="435" name="PlaceHolder 2"/>
          <p:cNvSpPr>
            <a:spLocks noGrp="1"/>
          </p:cNvSpPr>
          <p:nvPr>
            <p:ph/>
          </p:nvPr>
        </p:nvSpPr>
        <p:spPr>
          <a:xfrm>
            <a:off x="259560" y="858960"/>
            <a:ext cx="3388320" cy="3562560"/>
          </a:xfrm>
          <a:prstGeom prst="rect">
            <a:avLst/>
          </a:prstGeom>
          <a:noFill/>
          <a:ln w="0">
            <a:noFill/>
          </a:ln>
        </p:spPr>
        <p:txBody>
          <a:bodyPr anchor="t">
            <a:noAutofit/>
          </a:bodyPr>
          <a:p>
            <a:pPr>
              <a:lnSpc>
                <a:spcPct val="100000"/>
              </a:lnSpc>
              <a:buNone/>
              <a:tabLst>
                <a:tab algn="l" pos="0"/>
              </a:tabLst>
            </a:pPr>
            <a:r>
              <a:rPr b="0" lang="en-US" sz="1600" spc="-1" strike="noStrike">
                <a:solidFill>
                  <a:srgbClr val="000000"/>
                </a:solidFill>
                <a:latin typeface="Arial"/>
                <a:ea typeface="ＭＳ Ｐゴシック"/>
              </a:rPr>
              <a:t>When congestion occurs on a network, it results in packets being discarded by the overloaded router.</a:t>
            </a:r>
            <a:endParaRPr b="0" lang="en-US" sz="1600" spc="-1" strike="noStrike">
              <a:solidFill>
                <a:srgbClr val="58585b"/>
              </a:solidFill>
              <a:latin typeface="Arial"/>
            </a:endParaRPr>
          </a:p>
          <a:p>
            <a:pPr>
              <a:lnSpc>
                <a:spcPct val="100000"/>
              </a:lnSpc>
              <a:buNone/>
              <a:tabLst>
                <a:tab algn="l" pos="0"/>
              </a:tabLst>
            </a:pPr>
            <a:endParaRPr b="0" lang="en-US" sz="1600" spc="-1" strike="noStrike">
              <a:solidFill>
                <a:srgbClr val="58585b"/>
              </a:solidFill>
              <a:latin typeface="Arial"/>
            </a:endParaRPr>
          </a:p>
          <a:p>
            <a:pPr>
              <a:lnSpc>
                <a:spcPct val="100000"/>
              </a:lnSpc>
              <a:buNone/>
              <a:tabLst>
                <a:tab algn="l" pos="0"/>
              </a:tabLst>
            </a:pPr>
            <a:r>
              <a:rPr b="0" lang="en-US" sz="1600" spc="-1" strike="noStrike">
                <a:solidFill>
                  <a:srgbClr val="000000"/>
                </a:solidFill>
                <a:latin typeface="Arial"/>
                <a:ea typeface="ＭＳ Ｐゴシック"/>
              </a:rPr>
              <a:t>To avoid and control congestion, TCP employs several congestion handling mechanisms, timers, and algorithms.</a:t>
            </a:r>
            <a:endParaRPr b="0" lang="en-US" sz="1600" spc="-1" strike="noStrike">
              <a:solidFill>
                <a:srgbClr val="58585b"/>
              </a:solidFill>
              <a:latin typeface="Arial"/>
            </a:endParaRPr>
          </a:p>
        </p:txBody>
      </p:sp>
      <p:pic>
        <p:nvPicPr>
          <p:cNvPr id="436" name="Picture 5" descr=""/>
          <p:cNvPicPr/>
          <p:nvPr/>
        </p:nvPicPr>
        <p:blipFill>
          <a:blip r:embed="rId1"/>
          <a:stretch/>
        </p:blipFill>
        <p:spPr>
          <a:xfrm>
            <a:off x="3798360" y="981360"/>
            <a:ext cx="4847040" cy="33174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14.7 UDP Communication</a:t>
            </a:r>
            <a:endParaRPr b="0" lang="en-US" sz="4600" spc="-1" strike="noStrike">
              <a:solidFill>
                <a:srgbClr val="58585b"/>
              </a:solidFill>
              <a:latin typeface="Arial"/>
            </a:endParaRPr>
          </a:p>
        </p:txBody>
      </p:sp>
    </p:spTree>
  </p:cSld>
  <p:transition spd="slow">
    <p:wipe dir="l"/>
  </p:transition>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UDP Communication</a:t>
            </a:r>
            <a:br/>
            <a:r>
              <a:rPr b="0" lang="en-US" sz="2400" spc="-1" strike="noStrike">
                <a:solidFill>
                  <a:srgbClr val="004c69"/>
                </a:solidFill>
                <a:latin typeface="Arial"/>
                <a:ea typeface="ＭＳ Ｐゴシック"/>
              </a:rPr>
              <a:t>UDP Low Overhead versus Reliability</a:t>
            </a:r>
            <a:endParaRPr b="0" lang="en-US" sz="2400" spc="-1" strike="noStrike">
              <a:solidFill>
                <a:srgbClr val="58585b"/>
              </a:solidFill>
              <a:latin typeface="Arial"/>
            </a:endParaRPr>
          </a:p>
        </p:txBody>
      </p:sp>
      <p:sp>
        <p:nvSpPr>
          <p:cNvPr id="439" name="PlaceHolder 2"/>
          <p:cNvSpPr>
            <a:spLocks noGrp="1"/>
          </p:cNvSpPr>
          <p:nvPr>
            <p:ph/>
          </p:nvPr>
        </p:nvSpPr>
        <p:spPr>
          <a:xfrm>
            <a:off x="185760" y="887400"/>
            <a:ext cx="8345160" cy="731520"/>
          </a:xfrm>
          <a:prstGeom prst="rect">
            <a:avLst/>
          </a:prstGeom>
          <a:noFill/>
          <a:ln w="0">
            <a:noFill/>
          </a:ln>
        </p:spPr>
        <p:txBody>
          <a:bodyPr anchor="t">
            <a:noAutofit/>
          </a:bodyPr>
          <a:p>
            <a:pPr>
              <a:lnSpc>
                <a:spcPct val="100000"/>
              </a:lnSpc>
              <a:buNone/>
              <a:tabLst>
                <a:tab algn="l" pos="0"/>
              </a:tabLst>
            </a:pPr>
            <a:r>
              <a:rPr b="0" lang="en-US" sz="1600" spc="-1" strike="noStrike">
                <a:solidFill>
                  <a:srgbClr val="000000"/>
                </a:solidFill>
                <a:latin typeface="Arial"/>
                <a:ea typeface="ＭＳ Ｐゴシック"/>
              </a:rPr>
              <a:t>UDP does not establish a connection. UDP provides low overhead data transport because it has a small datagram header and no network management traffic.</a:t>
            </a:r>
            <a:endParaRPr b="0" lang="en-US" sz="1600" spc="-1" strike="noStrike">
              <a:solidFill>
                <a:srgbClr val="58585b"/>
              </a:solidFill>
              <a:latin typeface="Arial"/>
            </a:endParaRPr>
          </a:p>
        </p:txBody>
      </p:sp>
      <p:pic>
        <p:nvPicPr>
          <p:cNvPr id="440" name="Picture 5" descr=""/>
          <p:cNvPicPr/>
          <p:nvPr/>
        </p:nvPicPr>
        <p:blipFill>
          <a:blip r:embed="rId1"/>
          <a:stretch/>
        </p:blipFill>
        <p:spPr>
          <a:xfrm>
            <a:off x="1663560" y="1972080"/>
            <a:ext cx="5389560" cy="24192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UDP Communication</a:t>
            </a:r>
            <a:br/>
            <a:r>
              <a:rPr b="0" lang="en-US" sz="2400" spc="-1" strike="noStrike">
                <a:solidFill>
                  <a:srgbClr val="004c69"/>
                </a:solidFill>
                <a:latin typeface="Arial"/>
                <a:ea typeface="ＭＳ Ｐゴシック"/>
              </a:rPr>
              <a:t>UDP Datagram Reassembly</a:t>
            </a:r>
            <a:endParaRPr b="0" lang="en-US" sz="2400" spc="-1" strike="noStrike">
              <a:solidFill>
                <a:srgbClr val="58585b"/>
              </a:solidFill>
              <a:latin typeface="Arial"/>
            </a:endParaRPr>
          </a:p>
        </p:txBody>
      </p:sp>
      <p:sp>
        <p:nvSpPr>
          <p:cNvPr id="442" name="PlaceHolder 2"/>
          <p:cNvSpPr>
            <a:spLocks noGrp="1"/>
          </p:cNvSpPr>
          <p:nvPr>
            <p:ph/>
          </p:nvPr>
        </p:nvSpPr>
        <p:spPr>
          <a:xfrm>
            <a:off x="185760" y="941400"/>
            <a:ext cx="3423240" cy="3562560"/>
          </a:xfrm>
          <a:prstGeom prst="rect">
            <a:avLst/>
          </a:prstGeom>
          <a:noFill/>
          <a:ln w="0">
            <a:noFill/>
          </a:ln>
        </p:spPr>
        <p:txBody>
          <a:bodyPr anchor="t">
            <a:noAutofit/>
          </a:bodyPr>
          <a:p>
            <a:pPr marL="285840" indent="-285840">
              <a:lnSpc>
                <a:spcPct val="100000"/>
              </a:lnSpc>
              <a:buClr>
                <a:srgbClr val="000000"/>
              </a:buClr>
              <a:buFont typeface="Arial"/>
              <a:buChar char="•"/>
            </a:pPr>
            <a:r>
              <a:rPr b="0" lang="en-US" sz="1800" spc="-1" strike="noStrike">
                <a:solidFill>
                  <a:srgbClr val="000000"/>
                </a:solidFill>
                <a:latin typeface="Arial"/>
                <a:ea typeface="ＭＳ Ｐゴシック"/>
              </a:rPr>
              <a:t>UDP does not track sequence numbers the way TCP does.</a:t>
            </a:r>
            <a:endParaRPr b="0" lang="en-US" sz="1800" spc="-1" strike="noStrike">
              <a:solidFill>
                <a:srgbClr val="58585b"/>
              </a:solidFill>
              <a:latin typeface="Arial"/>
            </a:endParaRPr>
          </a:p>
          <a:p>
            <a:pPr marL="285840" indent="-285840">
              <a:lnSpc>
                <a:spcPct val="100000"/>
              </a:lnSpc>
              <a:buClr>
                <a:srgbClr val="000000"/>
              </a:buClr>
              <a:buFont typeface="Arial"/>
              <a:buChar char="•"/>
            </a:pPr>
            <a:r>
              <a:rPr b="0" lang="en-US" sz="1800" spc="-1" strike="noStrike">
                <a:solidFill>
                  <a:srgbClr val="000000"/>
                </a:solidFill>
                <a:latin typeface="Arial"/>
                <a:ea typeface="ＭＳ Ｐゴシック"/>
              </a:rPr>
              <a:t>UDP has no way to reorder the datagrams into their transmission order.</a:t>
            </a:r>
            <a:endParaRPr b="0" lang="en-US" sz="1800" spc="-1" strike="noStrike">
              <a:solidFill>
                <a:srgbClr val="58585b"/>
              </a:solidFill>
              <a:latin typeface="Arial"/>
            </a:endParaRPr>
          </a:p>
          <a:p>
            <a:pPr marL="285840" indent="-285840">
              <a:lnSpc>
                <a:spcPct val="100000"/>
              </a:lnSpc>
              <a:buClr>
                <a:srgbClr val="000000"/>
              </a:buClr>
              <a:buFont typeface="Arial"/>
              <a:buChar char="•"/>
            </a:pPr>
            <a:r>
              <a:rPr b="0" lang="en-US" sz="1800" spc="-1" strike="noStrike">
                <a:solidFill>
                  <a:srgbClr val="000000"/>
                </a:solidFill>
                <a:latin typeface="Arial"/>
                <a:ea typeface="ＭＳ Ｐゴシック"/>
              </a:rPr>
              <a:t>UDP simply reassembles the data in the order that it was received and forwards it to the application.</a:t>
            </a:r>
            <a:endParaRPr b="0" lang="en-US" sz="1800" spc="-1" strike="noStrike">
              <a:solidFill>
                <a:srgbClr val="58585b"/>
              </a:solidFill>
              <a:latin typeface="Arial"/>
            </a:endParaRPr>
          </a:p>
        </p:txBody>
      </p:sp>
      <p:pic>
        <p:nvPicPr>
          <p:cNvPr id="443" name="Picture 5" descr=""/>
          <p:cNvPicPr/>
          <p:nvPr/>
        </p:nvPicPr>
        <p:blipFill>
          <a:blip r:embed="rId1"/>
          <a:stretch/>
        </p:blipFill>
        <p:spPr>
          <a:xfrm>
            <a:off x="3823200" y="1062000"/>
            <a:ext cx="4901760" cy="33206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UDP Communication</a:t>
            </a:r>
            <a:br/>
            <a:r>
              <a:rPr b="0" lang="en-US" sz="2400" spc="-1" strike="noStrike">
                <a:solidFill>
                  <a:srgbClr val="004c69"/>
                </a:solidFill>
                <a:latin typeface="Arial"/>
                <a:ea typeface="ＭＳ Ｐゴシック"/>
              </a:rPr>
              <a:t>UDP Server Processes and Requests</a:t>
            </a:r>
            <a:endParaRPr b="0" lang="en-US" sz="2400" spc="-1" strike="noStrike">
              <a:solidFill>
                <a:srgbClr val="58585b"/>
              </a:solidFill>
              <a:latin typeface="Arial"/>
            </a:endParaRPr>
          </a:p>
        </p:txBody>
      </p:sp>
      <p:sp>
        <p:nvSpPr>
          <p:cNvPr id="445" name="PlaceHolder 2"/>
          <p:cNvSpPr>
            <a:spLocks noGrp="1"/>
          </p:cNvSpPr>
          <p:nvPr>
            <p:ph/>
          </p:nvPr>
        </p:nvSpPr>
        <p:spPr>
          <a:xfrm>
            <a:off x="185760" y="1092240"/>
            <a:ext cx="3628440" cy="3411360"/>
          </a:xfrm>
          <a:prstGeom prst="rect">
            <a:avLst/>
          </a:prstGeom>
          <a:noFill/>
          <a:ln w="0">
            <a:noFill/>
          </a:ln>
        </p:spPr>
        <p:txBody>
          <a:bodyPr anchor="t">
            <a:noAutofit/>
          </a:bodyPr>
          <a:p>
            <a:pPr>
              <a:lnSpc>
                <a:spcPct val="100000"/>
              </a:lnSpc>
              <a:buNone/>
              <a:tabLst>
                <a:tab algn="l" pos="0"/>
              </a:tabLst>
            </a:pPr>
            <a:r>
              <a:rPr b="0" lang="en-US" sz="1800" spc="-1" strike="noStrike">
                <a:solidFill>
                  <a:srgbClr val="000000"/>
                </a:solidFill>
                <a:latin typeface="Arial"/>
                <a:ea typeface="ＭＳ Ｐゴシック"/>
              </a:rPr>
              <a:t>UDP-based server applications are assigned well-known or registered port numbers.</a:t>
            </a:r>
            <a:endParaRPr b="0" lang="en-US" sz="1800" spc="-1" strike="noStrike">
              <a:solidFill>
                <a:srgbClr val="58585b"/>
              </a:solidFill>
              <a:latin typeface="Arial"/>
            </a:endParaRPr>
          </a:p>
          <a:p>
            <a:pPr>
              <a:lnSpc>
                <a:spcPct val="100000"/>
              </a:lnSpc>
              <a:buNone/>
              <a:tabLst>
                <a:tab algn="l" pos="0"/>
              </a:tabLst>
            </a:pPr>
            <a:endParaRPr b="0" lang="en-US" sz="1800" spc="-1" strike="noStrike">
              <a:solidFill>
                <a:srgbClr val="58585b"/>
              </a:solidFill>
              <a:latin typeface="Arial"/>
            </a:endParaRPr>
          </a:p>
          <a:p>
            <a:pPr>
              <a:lnSpc>
                <a:spcPct val="100000"/>
              </a:lnSpc>
              <a:buNone/>
              <a:tabLst>
                <a:tab algn="l" pos="0"/>
              </a:tabLst>
            </a:pPr>
            <a:r>
              <a:rPr b="0" lang="en-US" sz="1800" spc="-1" strike="noStrike">
                <a:solidFill>
                  <a:srgbClr val="000000"/>
                </a:solidFill>
                <a:latin typeface="Arial"/>
                <a:ea typeface="ＭＳ Ｐゴシック"/>
              </a:rPr>
              <a:t>UDP receives a datagram destined for one of these ports, it forwards the application data to the appropriate application based on its port number</a:t>
            </a:r>
            <a:r>
              <a:rPr b="0" lang="en-US" sz="1600" spc="-1" strike="noStrike">
                <a:solidFill>
                  <a:srgbClr val="000000"/>
                </a:solidFill>
                <a:latin typeface="Arial"/>
                <a:ea typeface="ＭＳ Ｐゴシック"/>
              </a:rPr>
              <a:t>.</a:t>
            </a:r>
            <a:endParaRPr b="0" lang="en-US" sz="1600" spc="-1" strike="noStrike">
              <a:solidFill>
                <a:srgbClr val="58585b"/>
              </a:solidFill>
              <a:latin typeface="Arial"/>
            </a:endParaRPr>
          </a:p>
        </p:txBody>
      </p:sp>
      <p:pic>
        <p:nvPicPr>
          <p:cNvPr id="446" name="Picture 5" descr=""/>
          <p:cNvPicPr/>
          <p:nvPr/>
        </p:nvPicPr>
        <p:blipFill>
          <a:blip r:embed="rId1"/>
          <a:stretch/>
        </p:blipFill>
        <p:spPr>
          <a:xfrm>
            <a:off x="3931200" y="1087560"/>
            <a:ext cx="4866480" cy="29682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UDP Communication</a:t>
            </a:r>
            <a:br/>
            <a:r>
              <a:rPr b="0" lang="en-US" sz="2400" spc="-1" strike="noStrike">
                <a:solidFill>
                  <a:srgbClr val="004c69"/>
                </a:solidFill>
                <a:latin typeface="Arial"/>
                <a:ea typeface="ＭＳ Ｐゴシック"/>
              </a:rPr>
              <a:t>UDP Client Processes</a:t>
            </a:r>
            <a:endParaRPr b="0" lang="en-US" sz="2400" spc="-1" strike="noStrike">
              <a:solidFill>
                <a:srgbClr val="58585b"/>
              </a:solidFill>
              <a:latin typeface="Arial"/>
            </a:endParaRPr>
          </a:p>
        </p:txBody>
      </p:sp>
      <p:sp>
        <p:nvSpPr>
          <p:cNvPr id="448" name="PlaceHolder 2"/>
          <p:cNvSpPr>
            <a:spLocks noGrp="1"/>
          </p:cNvSpPr>
          <p:nvPr>
            <p:ph/>
          </p:nvPr>
        </p:nvSpPr>
        <p:spPr>
          <a:xfrm>
            <a:off x="185760" y="941400"/>
            <a:ext cx="3628440" cy="3562560"/>
          </a:xfrm>
          <a:prstGeom prst="rect">
            <a:avLst/>
          </a:prstGeom>
          <a:noFill/>
          <a:ln w="0">
            <a:noFill/>
          </a:ln>
        </p:spPr>
        <p:txBody>
          <a:bodyPr anchor="t">
            <a:noAutofit/>
          </a:bodyPr>
          <a:p>
            <a:pPr marL="285840" indent="-285840">
              <a:lnSpc>
                <a:spcPct val="100000"/>
              </a:lnSpc>
              <a:buClr>
                <a:srgbClr val="000000"/>
              </a:buClr>
              <a:buFont typeface="Arial"/>
              <a:buChar char="•"/>
            </a:pPr>
            <a:r>
              <a:rPr b="0" lang="en-US" sz="1600" spc="-1" strike="noStrike">
                <a:solidFill>
                  <a:srgbClr val="000000"/>
                </a:solidFill>
                <a:latin typeface="Arial"/>
                <a:ea typeface="ＭＳ Ｐゴシック"/>
              </a:rPr>
              <a:t>The UDP client process dynamically selects a port number from the range of port numbers and uses this as the source port for the conversation.</a:t>
            </a:r>
            <a:endParaRPr b="0" lang="en-US" sz="1600" spc="-1" strike="noStrike">
              <a:solidFill>
                <a:srgbClr val="58585b"/>
              </a:solidFill>
              <a:latin typeface="Arial"/>
            </a:endParaRPr>
          </a:p>
          <a:p>
            <a:pPr marL="285840" indent="-285840">
              <a:lnSpc>
                <a:spcPct val="100000"/>
              </a:lnSpc>
              <a:buClr>
                <a:srgbClr val="000000"/>
              </a:buClr>
              <a:buFont typeface="Arial"/>
              <a:buChar char="•"/>
            </a:pPr>
            <a:r>
              <a:rPr b="0" lang="en-US" sz="1600" spc="-1" strike="noStrike">
                <a:solidFill>
                  <a:srgbClr val="000000"/>
                </a:solidFill>
                <a:latin typeface="Arial"/>
                <a:ea typeface="ＭＳ Ｐゴシック"/>
              </a:rPr>
              <a:t>The destination port is usually the well-known or registered port number assigned to the server process.</a:t>
            </a:r>
            <a:endParaRPr b="0" lang="en-US" sz="1600" spc="-1" strike="noStrike">
              <a:solidFill>
                <a:srgbClr val="58585b"/>
              </a:solidFill>
              <a:latin typeface="Arial"/>
            </a:endParaRPr>
          </a:p>
          <a:p>
            <a:pPr marL="285840" indent="-285840">
              <a:lnSpc>
                <a:spcPct val="100000"/>
              </a:lnSpc>
              <a:buClr>
                <a:srgbClr val="000000"/>
              </a:buClr>
              <a:buFont typeface="Arial"/>
              <a:buChar char="•"/>
            </a:pPr>
            <a:r>
              <a:rPr b="0" lang="en-US" sz="1600" spc="-1" strike="noStrike">
                <a:solidFill>
                  <a:srgbClr val="000000"/>
                </a:solidFill>
                <a:latin typeface="Arial"/>
                <a:ea typeface="ＭＳ Ｐゴシック"/>
              </a:rPr>
              <a:t>After a client has selected the source and destination ports, the same pair of ports are used in the header of all datagrams in the transaction.</a:t>
            </a:r>
            <a:endParaRPr b="0" lang="en-US" sz="1600" spc="-1" strike="noStrike">
              <a:solidFill>
                <a:srgbClr val="58585b"/>
              </a:solidFill>
              <a:latin typeface="Arial"/>
            </a:endParaRPr>
          </a:p>
        </p:txBody>
      </p:sp>
      <p:pic>
        <p:nvPicPr>
          <p:cNvPr id="449" name="Picture 5" descr=""/>
          <p:cNvPicPr/>
          <p:nvPr/>
        </p:nvPicPr>
        <p:blipFill>
          <a:blip r:embed="rId1"/>
          <a:stretch/>
        </p:blipFill>
        <p:spPr>
          <a:xfrm>
            <a:off x="3898080" y="1499760"/>
            <a:ext cx="4869000" cy="27964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PlaceHolder 1"/>
          <p:cNvSpPr>
            <a:spLocks noGrp="1"/>
          </p:cNvSpPr>
          <p:nvPr>
            <p:ph type="title"/>
          </p:nvPr>
        </p:nvSpPr>
        <p:spPr>
          <a:xfrm>
            <a:off x="416520" y="1747440"/>
            <a:ext cx="8280000" cy="96984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14.8 Module Practice and Quiz</a:t>
            </a:r>
            <a:endParaRPr b="0" lang="en-US" sz="4600" spc="-1" strike="noStrike">
              <a:solidFill>
                <a:srgbClr val="58585b"/>
              </a:solidFill>
              <a:latin typeface="Arial"/>
            </a:endParaRPr>
          </a:p>
        </p:txBody>
      </p:sp>
    </p:spTree>
  </p:cSld>
  <p:transition spd="slow">
    <p:wipe dir="l"/>
  </p:transition>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title"/>
          </p:nvPr>
        </p:nvSpPr>
        <p:spPr>
          <a:xfrm>
            <a:off x="0" y="189360"/>
            <a:ext cx="9143640" cy="60948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Packet Tracer - TCP and UDP Communications</a:t>
            </a:r>
            <a:br/>
            <a:endParaRPr b="0" lang="en-US" sz="2400" spc="-1" strike="noStrike">
              <a:solidFill>
                <a:srgbClr val="58585b"/>
              </a:solidFill>
              <a:latin typeface="Arial"/>
            </a:endParaRPr>
          </a:p>
        </p:txBody>
      </p:sp>
      <p:sp>
        <p:nvSpPr>
          <p:cNvPr id="452" name="PlaceHolder 2"/>
          <p:cNvSpPr>
            <a:spLocks noGrp="1"/>
          </p:cNvSpPr>
          <p:nvPr>
            <p:ph/>
          </p:nvPr>
        </p:nvSpPr>
        <p:spPr>
          <a:xfrm>
            <a:off x="144000" y="798840"/>
            <a:ext cx="8852760" cy="4155120"/>
          </a:xfrm>
          <a:prstGeom prst="rect">
            <a:avLst/>
          </a:prstGeom>
          <a:noFill/>
          <a:ln w="0">
            <a:noFill/>
          </a:ln>
        </p:spPr>
        <p:txBody>
          <a:bodyPr numCol="1" spcCol="0" rIns="182880" anchor="t">
            <a:noAutofit/>
          </a:bodyPr>
          <a:p>
            <a:pPr>
              <a:lnSpc>
                <a:spcPct val="100000"/>
              </a:lnSpc>
              <a:buNone/>
              <a:tabLst>
                <a:tab algn="l" pos="0"/>
              </a:tabLst>
            </a:pPr>
            <a:r>
              <a:rPr b="0" lang="en-US" sz="1600" spc="-1" strike="noStrike">
                <a:solidFill>
                  <a:srgbClr val="000000"/>
                </a:solidFill>
                <a:latin typeface="Arial"/>
                <a:ea typeface="ＭＳ Ｐゴシック"/>
              </a:rPr>
              <a:t>In this Packet Tracer, you will do the following:</a:t>
            </a:r>
            <a:endParaRPr b="0" lang="en-US" sz="1600" spc="-1" strike="noStrike">
              <a:solidFill>
                <a:srgbClr val="58585b"/>
              </a:solidFill>
              <a:latin typeface="Arial"/>
            </a:endParaRPr>
          </a:p>
          <a:p>
            <a:pPr>
              <a:lnSpc>
                <a:spcPct val="100000"/>
              </a:lnSpc>
              <a:buNone/>
              <a:tabLst>
                <a:tab algn="l" pos="0"/>
              </a:tabLst>
            </a:pP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Wingdings" charset="2"/>
              <a:buChar char=""/>
              <a:tabLst>
                <a:tab algn="l" pos="0"/>
              </a:tabLst>
            </a:pPr>
            <a:r>
              <a:rPr b="0" lang="en-US" sz="1600" spc="-1" strike="noStrike">
                <a:solidFill>
                  <a:srgbClr val="000000"/>
                </a:solidFill>
                <a:latin typeface="Arial"/>
                <a:ea typeface="ＭＳ Ｐゴシック"/>
              </a:rPr>
              <a:t>Generate Network Traffic in Simulation Mode.</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Wingdings" charset="2"/>
              <a:buChar char=""/>
              <a:tabLst>
                <a:tab algn="l" pos="0"/>
              </a:tabLst>
            </a:pPr>
            <a:r>
              <a:rPr b="0" lang="en-US" sz="1600" spc="-1" strike="noStrike">
                <a:solidFill>
                  <a:srgbClr val="000000"/>
                </a:solidFill>
                <a:latin typeface="Arial"/>
                <a:ea typeface="ＭＳ Ｐゴシック"/>
              </a:rPr>
              <a:t>Examine the Functionality of the TCP and UDP Protocols.</a:t>
            </a:r>
            <a:endParaRPr b="0" lang="en-US" sz="1600" spc="-1" strike="noStrike">
              <a:solidFill>
                <a:srgbClr val="58585b"/>
              </a:solidFill>
              <a:latin typeface="Arial"/>
            </a:endParaRPr>
          </a:p>
        </p:txBody>
      </p:sp>
    </p:spTree>
  </p:cSld>
  <p:transition spd="slow">
    <p:wipe dir="l"/>
  </p:transition>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What did I learn in this module?</a:t>
            </a:r>
            <a:endParaRPr b="0" lang="en-US" sz="2400" spc="-1" strike="noStrike">
              <a:solidFill>
                <a:srgbClr val="58585b"/>
              </a:solidFill>
              <a:latin typeface="Arial"/>
            </a:endParaRPr>
          </a:p>
        </p:txBody>
      </p:sp>
      <p:sp>
        <p:nvSpPr>
          <p:cNvPr id="454" name="PlaceHolder 2"/>
          <p:cNvSpPr>
            <a:spLocks noGrp="1"/>
          </p:cNvSpPr>
          <p:nvPr>
            <p:ph/>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The transport layer is the link between the application layer and the lower layers that are responsible for network transmission.</a:t>
            </a:r>
            <a:endParaRPr b="0" lang="en-US" sz="1500" spc="-1" strike="noStrike">
              <a:solidFill>
                <a:srgbClr val="58585b"/>
              </a:solidFill>
              <a:latin typeface="Arial"/>
            </a:endParaRPr>
          </a:p>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The transport layer includes TCP and UDP.</a:t>
            </a:r>
            <a:endParaRPr b="0" lang="en-US" sz="1500" spc="-1" strike="noStrike">
              <a:solidFill>
                <a:srgbClr val="58585b"/>
              </a:solidFill>
              <a:latin typeface="Arial"/>
            </a:endParaRPr>
          </a:p>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TCP establishes sessions, ensures reliability, provides same-order delivery, and supports flow control.</a:t>
            </a:r>
            <a:endParaRPr b="0" lang="en-US" sz="1500" spc="-1" strike="noStrike">
              <a:solidFill>
                <a:srgbClr val="58585b"/>
              </a:solidFill>
              <a:latin typeface="Arial"/>
            </a:endParaRPr>
          </a:p>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UDP is a simple protocol that provides the basic transport layer functions.</a:t>
            </a:r>
            <a:endParaRPr b="0" lang="en-US" sz="1500" spc="-1" strike="noStrike">
              <a:solidFill>
                <a:srgbClr val="58585b"/>
              </a:solidFill>
              <a:latin typeface="Arial"/>
            </a:endParaRPr>
          </a:p>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UDP reconstructs data in the order it is received, lost segments are not resent, no session establishment, and UPD does not inform the sender of resource availability.</a:t>
            </a:r>
            <a:endParaRPr b="0" lang="en-US" sz="1500" spc="-1" strike="noStrike">
              <a:solidFill>
                <a:srgbClr val="58585b"/>
              </a:solidFill>
              <a:latin typeface="Arial"/>
            </a:endParaRPr>
          </a:p>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The TCP and UDP transport layer protocols use port numbers to manage multiple simultaneous conversations. </a:t>
            </a:r>
            <a:endParaRPr b="0" lang="en-US" sz="1500" spc="-1" strike="noStrike">
              <a:solidFill>
                <a:srgbClr val="58585b"/>
              </a:solidFill>
              <a:latin typeface="Arial"/>
            </a:endParaRPr>
          </a:p>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Each application process running on a server is configured to use a port number.</a:t>
            </a:r>
            <a:endParaRPr b="0" lang="en-US" sz="1500" spc="-1" strike="noStrike">
              <a:solidFill>
                <a:srgbClr val="58585b"/>
              </a:solidFill>
              <a:latin typeface="Arial"/>
            </a:endParaRPr>
          </a:p>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The port number is either automatically assigned or configured manually by a system administrator.</a:t>
            </a:r>
            <a:endParaRPr b="0" lang="en-US" sz="1500" spc="-1" strike="noStrike">
              <a:solidFill>
                <a:srgbClr val="58585b"/>
              </a:solidFill>
              <a:latin typeface="Arial"/>
            </a:endParaRPr>
          </a:p>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For the original message to be understood by the recipient, all the data must be received and the data in these segments must be reassembled into the original order.</a:t>
            </a:r>
            <a:endParaRPr b="0" lang="en-US" sz="1500" spc="-1" strike="noStrike">
              <a:solidFill>
                <a:srgbClr val="58585b"/>
              </a:solidFill>
              <a:latin typeface="Arial"/>
            </a:endParaRPr>
          </a:p>
          <a:p>
            <a:pPr>
              <a:lnSpc>
                <a:spcPct val="100000"/>
              </a:lnSpc>
              <a:buNone/>
            </a:pPr>
            <a:endParaRPr b="0" lang="en-US" sz="1500" spc="-1" strike="noStrike">
              <a:solidFill>
                <a:srgbClr val="58585b"/>
              </a:solidFill>
              <a:latin typeface="Arial"/>
            </a:endParaRPr>
          </a:p>
        </p:txBody>
      </p:sp>
    </p:spTree>
  </p:cSld>
  <p:transition spd="slow">
    <p:wipe dir="l"/>
  </p:transition>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What did I learn in this module (Cont.)?</a:t>
            </a:r>
            <a:endParaRPr b="0" lang="en-US" sz="2400" spc="-1" strike="noStrike">
              <a:solidFill>
                <a:srgbClr val="58585b"/>
              </a:solidFill>
              <a:latin typeface="Arial"/>
            </a:endParaRPr>
          </a:p>
        </p:txBody>
      </p:sp>
      <p:sp>
        <p:nvSpPr>
          <p:cNvPr id="456" name="PlaceHolder 2"/>
          <p:cNvSpPr>
            <a:spLocks noGrp="1"/>
          </p:cNvSpPr>
          <p:nvPr>
            <p:ph/>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Sequence numbers are assigned in the header of each packet.</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Flow control helps maintain the reliability of TCP transmission by adjusting the rate of data flow between source and destination.</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A source might be transmitting 1,460 bytes of data within each TCP segment. This is the typical MSS that a destination device can receive.</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The process of the destination sending acknowledgments as it processes bytes received and the continual adjustment of the source’s send window is known as sliding windows.</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To avoid and control congestion, TCP employs several congestion handling mechanisms.</a:t>
            </a:r>
            <a:endParaRPr b="0" lang="en-US" sz="1600" spc="-1" strike="noStrike">
              <a:solidFill>
                <a:srgbClr val="58585b"/>
              </a:solidFill>
              <a:latin typeface="Arial"/>
            </a:endParaRPr>
          </a:p>
          <a:p>
            <a:pPr>
              <a:lnSpc>
                <a:spcPct val="100000"/>
              </a:lnSpc>
              <a:spcBef>
                <a:spcPts val="601"/>
              </a:spcBef>
              <a:spcAft>
                <a:spcPts val="601"/>
              </a:spcAft>
              <a:buNone/>
            </a:pPr>
            <a:endParaRPr b="0" lang="en-US" sz="1600" spc="-1" strike="noStrike">
              <a:solidFill>
                <a:srgbClr val="58585b"/>
              </a:solidFill>
              <a:latin typeface="Arial"/>
            </a:endParaRPr>
          </a:p>
        </p:txBody>
      </p:sp>
    </p:spTree>
  </p:cSld>
  <p:transition spd="slow">
    <p:wipe dir="l"/>
  </p:transition>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457" name="PlaceHolder 1"/>
          <p:cNvSpPr>
            <a:spLocks noGrp="1"/>
          </p:cNvSpPr>
          <p:nvPr>
            <p:ph type="title"/>
          </p:nvPr>
        </p:nvSpPr>
        <p:spPr>
          <a:xfrm>
            <a:off x="0" y="41400"/>
            <a:ext cx="9143640" cy="60876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14: Transport Layer</a:t>
            </a:r>
            <a:br/>
            <a:r>
              <a:rPr b="0" lang="en-US" sz="2400" spc="-1" strike="noStrike">
                <a:solidFill>
                  <a:srgbClr val="367187"/>
                </a:solidFill>
                <a:latin typeface="Arial"/>
                <a:ea typeface="ＭＳ Ｐゴシック"/>
              </a:rPr>
              <a:t>New Terms and Commands</a:t>
            </a:r>
            <a:endParaRPr b="0" lang="en-US" sz="2400" spc="-1" strike="noStrike">
              <a:solidFill>
                <a:srgbClr val="58585b"/>
              </a:solidFill>
              <a:latin typeface="Arial"/>
            </a:endParaRPr>
          </a:p>
        </p:txBody>
      </p:sp>
      <p:sp>
        <p:nvSpPr>
          <p:cNvPr id="458" name="PlaceHolder 2"/>
          <p:cNvSpPr>
            <a:spLocks noGrp="1"/>
          </p:cNvSpPr>
          <p:nvPr>
            <p:ph/>
          </p:nvPr>
        </p:nvSpPr>
        <p:spPr>
          <a:xfrm>
            <a:off x="502200" y="798840"/>
            <a:ext cx="4069440" cy="3754440"/>
          </a:xfrm>
          <a:prstGeom prst="rect">
            <a:avLst/>
          </a:prstGeom>
          <a:noFill/>
          <a:ln w="0">
            <a:solidFill>
              <a:srgbClr val="080808"/>
            </a:solidFill>
          </a:ln>
        </p:spPr>
        <p:txBody>
          <a:bodyPr numCol="1" spcCol="0" rIns="182880" anchor="t">
            <a:noAutofit/>
          </a:bodyPr>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Conversation Multiplexing</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Segments</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Datagrams</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Connection-Oriented Protocol</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Connectionless Protocol</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Stateless Protocol</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Flow Control</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Same-Order Delivery</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Socket Pairs</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netstat</a:t>
            </a:r>
            <a:endParaRPr b="0" lang="en-US" sz="1600" spc="-1" strike="noStrike">
              <a:solidFill>
                <a:srgbClr val="58585b"/>
              </a:solidFill>
              <a:latin typeface="Arial"/>
            </a:endParaRPr>
          </a:p>
          <a:p>
            <a:pPr>
              <a:lnSpc>
                <a:spcPct val="100000"/>
              </a:lnSpc>
              <a:buNone/>
            </a:pPr>
            <a:endParaRPr b="0" lang="en-US" sz="1600" spc="-1" strike="noStrike">
              <a:solidFill>
                <a:srgbClr val="58585b"/>
              </a:solidFill>
              <a:latin typeface="Arial"/>
            </a:endParaRPr>
          </a:p>
        </p:txBody>
      </p:sp>
      <p:sp>
        <p:nvSpPr>
          <p:cNvPr id="459" name="Rectangle 2"/>
          <p:cNvSpPr/>
          <p:nvPr/>
        </p:nvSpPr>
        <p:spPr>
          <a:xfrm>
            <a:off x="4637880" y="798840"/>
            <a:ext cx="3997440" cy="3680280"/>
          </a:xfrm>
          <a:prstGeom prst="rect">
            <a:avLst/>
          </a:prstGeom>
          <a:noFill/>
          <a:ln w="0">
            <a:solidFill>
              <a:srgbClr val="080808"/>
            </a:solidFill>
          </a:ln>
        </p:spPr>
        <p:style>
          <a:lnRef idx="0"/>
          <a:fillRef idx="0"/>
          <a:effectRef idx="0"/>
          <a:fontRef idx="minor"/>
        </p:style>
        <p:txBody>
          <a:bodyPr lIns="90000" rIns="90000" tIns="45000" bIns="45000" anchor="t">
            <a:spAutoFit/>
          </a:bodyPr>
          <a:p>
            <a:pPr marL="285840" indent="-285840">
              <a:lnSpc>
                <a:spcPct val="100000"/>
              </a:lnSpc>
              <a:buClr>
                <a:srgbClr val="58585b"/>
              </a:buClr>
              <a:buFont typeface="Arial"/>
              <a:buChar char="•"/>
            </a:pPr>
            <a:r>
              <a:rPr b="0" lang="en-US" sz="1600" spc="-1" strike="noStrike">
                <a:solidFill>
                  <a:srgbClr val="58585b"/>
                </a:solidFill>
                <a:latin typeface="Arial"/>
                <a:ea typeface="ＭＳ Ｐゴシック"/>
              </a:rPr>
              <a:t>Three-Way Handshake</a:t>
            </a:r>
            <a:endParaRPr b="0" lang="en-JM" sz="1600" spc="-1" strike="noStrike">
              <a:latin typeface="Arial"/>
            </a:endParaRPr>
          </a:p>
          <a:p>
            <a:pPr marL="285840" indent="-285840">
              <a:lnSpc>
                <a:spcPct val="100000"/>
              </a:lnSpc>
              <a:buClr>
                <a:srgbClr val="58585b"/>
              </a:buClr>
              <a:buFont typeface="Arial"/>
              <a:buChar char="•"/>
            </a:pPr>
            <a:r>
              <a:rPr b="0" lang="en-US" sz="1600" spc="-1" strike="noStrike">
                <a:solidFill>
                  <a:srgbClr val="58585b"/>
                </a:solidFill>
                <a:latin typeface="Arial"/>
                <a:ea typeface="ＭＳ Ｐゴシック"/>
              </a:rPr>
              <a:t>SYN</a:t>
            </a:r>
            <a:endParaRPr b="0" lang="en-JM" sz="1600" spc="-1" strike="noStrike">
              <a:latin typeface="Arial"/>
            </a:endParaRPr>
          </a:p>
          <a:p>
            <a:pPr marL="285840" indent="-285840">
              <a:lnSpc>
                <a:spcPct val="100000"/>
              </a:lnSpc>
              <a:buClr>
                <a:srgbClr val="58585b"/>
              </a:buClr>
              <a:buFont typeface="Arial"/>
              <a:buChar char="•"/>
            </a:pPr>
            <a:r>
              <a:rPr b="0" lang="en-US" sz="1600" spc="-1" strike="noStrike">
                <a:solidFill>
                  <a:srgbClr val="58585b"/>
                </a:solidFill>
                <a:latin typeface="Arial"/>
                <a:ea typeface="ＭＳ Ｐゴシック"/>
              </a:rPr>
              <a:t>ACK</a:t>
            </a:r>
            <a:endParaRPr b="0" lang="en-JM" sz="1600" spc="-1" strike="noStrike">
              <a:latin typeface="Arial"/>
            </a:endParaRPr>
          </a:p>
          <a:p>
            <a:pPr marL="285840" indent="-285840">
              <a:lnSpc>
                <a:spcPct val="100000"/>
              </a:lnSpc>
              <a:buClr>
                <a:srgbClr val="58585b"/>
              </a:buClr>
              <a:buFont typeface="Arial"/>
              <a:buChar char="•"/>
            </a:pPr>
            <a:r>
              <a:rPr b="0" lang="en-US" sz="1600" spc="-1" strike="noStrike">
                <a:solidFill>
                  <a:srgbClr val="58585b"/>
                </a:solidFill>
                <a:latin typeface="Arial"/>
                <a:ea typeface="ＭＳ Ｐゴシック"/>
              </a:rPr>
              <a:t>FIN</a:t>
            </a:r>
            <a:endParaRPr b="0" lang="en-JM" sz="1600" spc="-1" strike="noStrike">
              <a:latin typeface="Arial"/>
            </a:endParaRPr>
          </a:p>
          <a:p>
            <a:pPr marL="285840" indent="-285840">
              <a:lnSpc>
                <a:spcPct val="100000"/>
              </a:lnSpc>
              <a:buClr>
                <a:srgbClr val="58585b"/>
              </a:buClr>
              <a:buFont typeface="Arial"/>
              <a:buChar char="•"/>
            </a:pPr>
            <a:r>
              <a:rPr b="0" lang="en-US" sz="1600" spc="-1" strike="noStrike">
                <a:solidFill>
                  <a:srgbClr val="58585b"/>
                </a:solidFill>
                <a:latin typeface="Arial"/>
                <a:ea typeface="ＭＳ Ｐゴシック"/>
              </a:rPr>
              <a:t>URG</a:t>
            </a:r>
            <a:endParaRPr b="0" lang="en-JM" sz="1600" spc="-1" strike="noStrike">
              <a:latin typeface="Arial"/>
            </a:endParaRPr>
          </a:p>
          <a:p>
            <a:pPr marL="285840" indent="-285840">
              <a:lnSpc>
                <a:spcPct val="100000"/>
              </a:lnSpc>
              <a:buClr>
                <a:srgbClr val="58585b"/>
              </a:buClr>
              <a:buFont typeface="Arial"/>
              <a:buChar char="•"/>
            </a:pPr>
            <a:r>
              <a:rPr b="0" lang="en-US" sz="1600" spc="-1" strike="noStrike">
                <a:solidFill>
                  <a:srgbClr val="58585b"/>
                </a:solidFill>
                <a:latin typeface="Arial"/>
                <a:ea typeface="ＭＳ Ｐゴシック"/>
              </a:rPr>
              <a:t>PSH</a:t>
            </a:r>
            <a:endParaRPr b="0" lang="en-JM" sz="1600" spc="-1" strike="noStrike">
              <a:latin typeface="Arial"/>
            </a:endParaRPr>
          </a:p>
          <a:p>
            <a:pPr marL="285840" indent="-285840">
              <a:lnSpc>
                <a:spcPct val="100000"/>
              </a:lnSpc>
              <a:buClr>
                <a:srgbClr val="58585b"/>
              </a:buClr>
              <a:buFont typeface="Arial"/>
              <a:buChar char="•"/>
            </a:pPr>
            <a:r>
              <a:rPr b="0" lang="en-US" sz="1600" spc="-1" strike="noStrike">
                <a:solidFill>
                  <a:srgbClr val="58585b"/>
                </a:solidFill>
                <a:latin typeface="Arial"/>
                <a:ea typeface="ＭＳ Ｐゴシック"/>
              </a:rPr>
              <a:t>RST</a:t>
            </a:r>
            <a:endParaRPr b="0" lang="en-JM" sz="1600" spc="-1" strike="noStrike">
              <a:latin typeface="Arial"/>
            </a:endParaRPr>
          </a:p>
          <a:p>
            <a:pPr marL="285840" indent="-285840">
              <a:lnSpc>
                <a:spcPct val="100000"/>
              </a:lnSpc>
              <a:buClr>
                <a:srgbClr val="080808"/>
              </a:buClr>
              <a:buFont typeface="Arial"/>
              <a:buChar char="•"/>
            </a:pPr>
            <a:r>
              <a:rPr b="0" lang="en-US" sz="1600" spc="-1" strike="noStrike">
                <a:solidFill>
                  <a:srgbClr val="080808"/>
                </a:solidFill>
                <a:latin typeface="Arial"/>
                <a:ea typeface="ＭＳ Ｐゴシック"/>
              </a:rPr>
              <a:t>Initial Sequence Number (ISN)</a:t>
            </a:r>
            <a:endParaRPr b="0" lang="en-JM" sz="1600" spc="-1" strike="noStrike">
              <a:latin typeface="Arial"/>
            </a:endParaRPr>
          </a:p>
          <a:p>
            <a:pPr marL="285840" indent="-285840">
              <a:lnSpc>
                <a:spcPct val="100000"/>
              </a:lnSpc>
              <a:buClr>
                <a:srgbClr val="080808"/>
              </a:buClr>
              <a:buFont typeface="Arial"/>
              <a:buChar char="•"/>
            </a:pPr>
            <a:r>
              <a:rPr b="0" lang="en-US" sz="1600" spc="-1" strike="noStrike">
                <a:solidFill>
                  <a:srgbClr val="080808"/>
                </a:solidFill>
                <a:latin typeface="Arial"/>
                <a:ea typeface="ＭＳ Ｐゴシック"/>
              </a:rPr>
              <a:t>Selective Acknowledgement (SACK)</a:t>
            </a:r>
            <a:endParaRPr b="0" lang="en-JM" sz="1600" spc="-1" strike="noStrike">
              <a:latin typeface="Arial"/>
            </a:endParaRPr>
          </a:p>
          <a:p>
            <a:pPr marL="285840" indent="-285840">
              <a:lnSpc>
                <a:spcPct val="100000"/>
              </a:lnSpc>
              <a:buClr>
                <a:srgbClr val="080808"/>
              </a:buClr>
              <a:buFont typeface="Arial"/>
              <a:buChar char="•"/>
            </a:pPr>
            <a:r>
              <a:rPr b="0" lang="en-US" sz="1600" spc="-1" strike="noStrike">
                <a:solidFill>
                  <a:srgbClr val="080808"/>
                </a:solidFill>
                <a:latin typeface="Arial"/>
                <a:ea typeface="ＭＳ Ｐゴシック"/>
              </a:rPr>
              <a:t>Sliding Window</a:t>
            </a:r>
            <a:endParaRPr b="0" lang="en-JM" sz="1600" spc="-1" strike="noStrike">
              <a:latin typeface="Arial"/>
            </a:endParaRPr>
          </a:p>
          <a:p>
            <a:pPr marL="285840" indent="-285840">
              <a:lnSpc>
                <a:spcPct val="100000"/>
              </a:lnSpc>
              <a:buClr>
                <a:srgbClr val="080808"/>
              </a:buClr>
              <a:buFont typeface="Arial"/>
              <a:buChar char="•"/>
            </a:pPr>
            <a:r>
              <a:rPr b="0" lang="en-US" sz="1600" spc="-1" strike="noStrike">
                <a:solidFill>
                  <a:srgbClr val="080808"/>
                </a:solidFill>
                <a:latin typeface="Arial"/>
                <a:ea typeface="ＭＳ Ｐゴシック"/>
              </a:rPr>
              <a:t>Maximum Segment Size (MSS)</a:t>
            </a:r>
            <a:endParaRPr b="0" lang="en-JM" sz="1600" spc="-1" strike="noStrike">
              <a:latin typeface="Arial"/>
            </a:endParaRPr>
          </a:p>
          <a:p>
            <a:pPr marL="285840" indent="-285840">
              <a:lnSpc>
                <a:spcPct val="100000"/>
              </a:lnSpc>
              <a:buClr>
                <a:srgbClr val="080808"/>
              </a:buClr>
              <a:buFont typeface="Arial"/>
              <a:buChar char="•"/>
            </a:pPr>
            <a:r>
              <a:rPr b="0" lang="en-US" sz="1600" spc="-1" strike="noStrike">
                <a:solidFill>
                  <a:srgbClr val="080808"/>
                </a:solidFill>
                <a:latin typeface="Arial"/>
                <a:ea typeface="ＭＳ Ｐゴシック"/>
              </a:rPr>
              <a:t>Maximum Transmission Unit (MTU)</a:t>
            </a:r>
            <a:endParaRPr b="0" lang="en-JM" sz="1600" spc="-1" strike="noStrike">
              <a:latin typeface="Arial"/>
            </a:endParaRPr>
          </a:p>
          <a:p>
            <a:pPr marL="285840" indent="-285840">
              <a:lnSpc>
                <a:spcPct val="100000"/>
              </a:lnSpc>
              <a:buClr>
                <a:srgbClr val="080808"/>
              </a:buClr>
              <a:buFont typeface="Arial"/>
              <a:buChar char="•"/>
            </a:pPr>
            <a:r>
              <a:rPr b="0" lang="en-US" sz="1600" spc="-1" strike="noStrike">
                <a:solidFill>
                  <a:srgbClr val="080808"/>
                </a:solidFill>
                <a:latin typeface="Arial"/>
                <a:ea typeface="ＭＳ Ｐゴシック"/>
              </a:rPr>
              <a:t>Congestion Avoidance</a:t>
            </a:r>
            <a:endParaRPr b="0" lang="en-JM" sz="1600" spc="-1" strike="noStrike">
              <a:latin typeface="Arial"/>
            </a:endParaRPr>
          </a:p>
          <a:p>
            <a:pPr>
              <a:lnSpc>
                <a:spcPct val="100000"/>
              </a:lnSpc>
              <a:buNone/>
            </a:pPr>
            <a:endParaRPr b="0" lang="en-JM" sz="1600" spc="-1" strike="noStrike">
              <a:latin typeface="Arial"/>
            </a:endParaRPr>
          </a:p>
          <a:p>
            <a:pPr>
              <a:lnSpc>
                <a:spcPct val="100000"/>
              </a:lnSpc>
              <a:buNone/>
            </a:pPr>
            <a:endParaRPr b="0" lang="en-JM" sz="1600" spc="-1" strike="noStrike">
              <a:latin typeface="Arial"/>
            </a:endParaRPr>
          </a:p>
        </p:txBody>
      </p:sp>
    </p:spTree>
  </p:cSld>
  <p:transition spd="slow">
    <p:wipe dir="l"/>
  </p:transition>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transition spd="slow">
    <p:wipe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Default Theme</Template>
  <TotalTime>6474</TotalTime>
  <Application>LibreOffice/7.2.7.2$Windows_X86_64 LibreOffice_project/8d71d29d553c0f7dcbfa38fbfda25ee34cce99a2</Application>
  <AppVersion>15.0000</AppVersion>
  <Words>4793</Words>
  <Paragraphs>683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dc:description/>
  <dc:language>en-JM</dc:language>
  <cp:lastModifiedBy/>
  <dcterms:modified xsi:type="dcterms:W3CDTF">2025-05-21T21:45:20Z</dcterms:modified>
  <cp:revision>272</cp:revision>
  <dc:subject/>
  <dc:title>Chapter 2: Basic Switch and End Device Configuration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F9A496F7-57D7-4028-9572-D40DFDF3715A</vt:lpwstr>
  </property>
  <property fmtid="{D5CDD505-2E9C-101B-9397-08002B2CF9AE}" pid="3" name="ArticulatePath">
    <vt:lpwstr>ITE7_Chp9_by_jg</vt:lpwstr>
  </property>
  <property fmtid="{D5CDD505-2E9C-101B-9397-08002B2CF9AE}" pid="4" name="HiddenSlides">
    <vt:i4>7</vt:i4>
  </property>
  <property fmtid="{D5CDD505-2E9C-101B-9397-08002B2CF9AE}" pid="5" name="Jive_LatestUserAccountName">
    <vt:lpwstr>alljohns</vt:lpwstr>
  </property>
  <property fmtid="{D5CDD505-2E9C-101B-9397-08002B2CF9AE}" pid="6" name="Jive_VersionGuid">
    <vt:lpwstr>fd96a0b3-f68d-4727-8e4f-2128d37ed30a</vt:lpwstr>
  </property>
  <property fmtid="{D5CDD505-2E9C-101B-9397-08002B2CF9AE}" pid="7" name="Notes">
    <vt:i4>59</vt:i4>
  </property>
  <property fmtid="{D5CDD505-2E9C-101B-9397-08002B2CF9AE}" pid="8" name="Offisync_ProviderInitializationData">
    <vt:lpwstr>https://cisco.jiveon.com</vt:lpwstr>
  </property>
  <property fmtid="{D5CDD505-2E9C-101B-9397-08002B2CF9AE}" pid="9" name="Offisync_ServerID">
    <vt:lpwstr>07841bbc-cd3c-4a76-827f-75a2226890f4</vt:lpwstr>
  </property>
  <property fmtid="{D5CDD505-2E9C-101B-9397-08002B2CF9AE}" pid="10" name="Offisync_UniqueId">
    <vt:lpwstr>1702406</vt:lpwstr>
  </property>
  <property fmtid="{D5CDD505-2E9C-101B-9397-08002B2CF9AE}" pid="11" name="Offisync_UpdateToken">
    <vt:lpwstr>1</vt:lpwstr>
  </property>
  <property fmtid="{D5CDD505-2E9C-101B-9397-08002B2CF9AE}" pid="12" name="PresentationFormat">
    <vt:lpwstr>On-screen Show (16:9)</vt:lpwstr>
  </property>
  <property fmtid="{D5CDD505-2E9C-101B-9397-08002B2CF9AE}" pid="13" name="Slides">
    <vt:i4>61</vt:i4>
  </property>
</Properties>
</file>