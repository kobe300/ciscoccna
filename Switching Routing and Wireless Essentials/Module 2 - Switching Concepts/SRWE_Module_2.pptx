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0"/>
  </p:notesMasterIdLst>
  <p:sldIdLst>
    <p:sldId id="876" r:id="rId2"/>
    <p:sldId id="925" r:id="rId3"/>
    <p:sldId id="759" r:id="rId4"/>
    <p:sldId id="628" r:id="rId5"/>
    <p:sldId id="926" r:id="rId6"/>
    <p:sldId id="1059" r:id="rId7"/>
    <p:sldId id="1060" r:id="rId8"/>
    <p:sldId id="1061" r:id="rId9"/>
    <p:sldId id="1062" r:id="rId10"/>
    <p:sldId id="1063" r:id="rId11"/>
    <p:sldId id="927" r:id="rId12"/>
    <p:sldId id="788" r:id="rId13"/>
    <p:sldId id="1070" r:id="rId14"/>
    <p:sldId id="1071" r:id="rId15"/>
    <p:sldId id="886" r:id="rId16"/>
    <p:sldId id="1131" r:id="rId17"/>
    <p:sldId id="874" r:id="rId18"/>
    <p:sldId id="1135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34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113" d="100"/>
          <a:sy n="113" d="100"/>
        </p:scale>
        <p:origin x="1998" y="324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 and Wireless Essentials</a:t>
            </a:r>
            <a:r>
              <a:rPr lang="en-US" b="0" baseline="0" dirty="0"/>
              <a:t> v</a:t>
            </a:r>
            <a:r>
              <a:rPr lang="en-US" b="0" dirty="0"/>
              <a:t>7.0 (SRWE)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2.1.1 – </a:t>
            </a:r>
            <a:r>
              <a:rPr lang="en-US" altLang="en-US" dirty="0"/>
              <a:t>Switching in Networking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altLang="en-US" dirty="0"/>
              <a:t> The Switch MAC Address Table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The Switch Learn and Forward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Video – MAC Address Tables on Connected Switches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Switch Forwarding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Store-and-Forward Switching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2.1.7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Cut-Through Switching</a:t>
            </a: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2.1.8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Activity – Switch It!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2.2.1 – </a:t>
            </a:r>
            <a:r>
              <a:rPr lang="en-US" altLang="en-US" dirty="0"/>
              <a:t>Collision Domains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Broadcast Domains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Alleviated Network Congestion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r>
              <a:rPr lang="en-US" sz="1200" b="0" baseline="0" dirty="0"/>
              <a:t> 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2.3.1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17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5" y="2125682"/>
            <a:ext cx="7550307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Switching, Routing, and Wireless Essentials v7.0 (SRWE)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01841" y="819756"/>
            <a:ext cx="8769026" cy="889134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Module Title: </a:t>
            </a:r>
            <a:r>
              <a:rPr lang="en-US" sz="1600" dirty="0"/>
              <a:t>Switching Concepts</a:t>
            </a:r>
            <a:endParaRPr lang="en-US" dirty="0"/>
          </a:p>
          <a:p>
            <a:pPr marL="0" indent="0">
              <a:spcBef>
                <a:spcPct val="30000"/>
              </a:spcBef>
              <a:buNone/>
            </a:pPr>
            <a:r>
              <a:rPr lang="en-US" b="1" dirty="0"/>
              <a:t>Module Objective: </a:t>
            </a:r>
            <a:r>
              <a:rPr lang="en-US" dirty="0"/>
              <a:t>Explain how Layer 2 switches forward data.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018778"/>
              </p:ext>
            </p:extLst>
          </p:nvPr>
        </p:nvGraphicFramePr>
        <p:xfrm>
          <a:off x="487933" y="1874440"/>
          <a:ext cx="8168134" cy="930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1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Frame Forwarding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Explain how frames are forwarded in a switched network.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Switching Domains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Compare a collision domain to a broadcast domain.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2.1 Frame Forwarding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89880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Switching in Networking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5" y="834569"/>
            <a:ext cx="4896590" cy="360812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Two terms are associated with frames entering or leaving an interface: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Ingress</a:t>
            </a:r>
            <a:r>
              <a:rPr lang="en-US" sz="1600" dirty="0"/>
              <a:t> – entering the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Egress</a:t>
            </a:r>
            <a:r>
              <a:rPr lang="en-US" sz="1600" dirty="0"/>
              <a:t> – exiting the interface</a:t>
            </a:r>
          </a:p>
          <a:p>
            <a:pPr marL="0" indent="0">
              <a:buNone/>
            </a:pPr>
            <a:r>
              <a:rPr lang="en-US" sz="1600" dirty="0"/>
              <a:t>A switch forwards based on the ingress interface and the destination MAC address.</a:t>
            </a:r>
          </a:p>
          <a:p>
            <a:pPr marL="0" indent="0">
              <a:buNone/>
            </a:pPr>
            <a:r>
              <a:rPr lang="en-US" sz="1600" dirty="0"/>
              <a:t>A switch uses its MAC address table to make forwarding decisions.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Note</a:t>
            </a:r>
            <a:r>
              <a:rPr lang="en-US" sz="1600" dirty="0"/>
              <a:t>: A switch will never allow traffic to be forwarded out the interface it received the traffic.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622" y="798941"/>
            <a:ext cx="3951778" cy="351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The Switch MAC Address Table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8853286" cy="287172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switch will use the destination MAC address to determine the egress interface.</a:t>
            </a:r>
          </a:p>
          <a:p>
            <a:pPr marL="0" indent="0">
              <a:buNone/>
            </a:pPr>
            <a:r>
              <a:rPr lang="en-US" sz="1800" dirty="0"/>
              <a:t>Before a switch can make this decision it must learn what interface the destination is located.</a:t>
            </a:r>
          </a:p>
          <a:p>
            <a:pPr marL="0" indent="0">
              <a:buNone/>
            </a:pPr>
            <a:r>
              <a:rPr lang="en-US" sz="1800" dirty="0"/>
              <a:t>A switch builds a MAC address table, also known as a Content Addressable Memory (CAM) table, by recording the source MAC address into the table along with the port it was received.</a:t>
            </a:r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The Switch Learn and Forward Method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894073"/>
            <a:ext cx="8853286" cy="258803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switch uses a two step process:</a:t>
            </a:r>
          </a:p>
          <a:p>
            <a:pPr marL="142875" lvl="1" indent="0">
              <a:buNone/>
            </a:pPr>
            <a:r>
              <a:rPr lang="en-US" sz="1600" b="1" dirty="0"/>
              <a:t>Step 1.</a:t>
            </a:r>
            <a:r>
              <a:rPr lang="en-US" sz="1600" dirty="0"/>
              <a:t> Learn – Examines Source Address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Adds the source MAC if not in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Resets the time out setting back to 5 minutes if source is in the table</a:t>
            </a:r>
          </a:p>
          <a:p>
            <a:pPr marL="142875" lvl="1" indent="0">
              <a:buNone/>
            </a:pPr>
            <a:r>
              <a:rPr lang="en-US" sz="1600" b="1" dirty="0"/>
              <a:t>Step 2.</a:t>
            </a:r>
            <a:r>
              <a:rPr lang="en-US" sz="1600" dirty="0"/>
              <a:t> Forward – Examines Destination Address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If the destination MAC is in the MAC address table it is forwarded out the specified port.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If a destination MAC is not in the table, it is flooded out all interfaces except the one it was received.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Video – MAC Address Tables on Connected Switches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914400"/>
            <a:ext cx="8853286" cy="183816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This video will cover the following: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switches build MAC address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switches forward frames based on the content of their MAC address tables</a:t>
            </a:r>
          </a:p>
        </p:txBody>
      </p:sp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Switch Forwarding Methods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85457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Switches use software on application-specific-integrated circuits (ASICs) to make very quick decisions.</a:t>
            </a:r>
          </a:p>
          <a:p>
            <a:pPr marL="0" indent="0">
              <a:buNone/>
            </a:pPr>
            <a:r>
              <a:rPr lang="en-US" sz="1800" dirty="0"/>
              <a:t>A switch will use one of two methods to make forwarding decisions after it receives a frame: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Store-and-forward switching</a:t>
            </a:r>
            <a:r>
              <a:rPr lang="en-US" sz="1800" dirty="0"/>
              <a:t> - Receives the entire frame and ensures the frame is valid. Store-and-forward switching is Cisco’s preferred switching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Cut-through switching</a:t>
            </a:r>
            <a:r>
              <a:rPr lang="en-US" sz="1800" dirty="0"/>
              <a:t> – Forwards the frame immediately after determining the destination MAC address of an incoming frame and the egress port. </a:t>
            </a:r>
          </a:p>
        </p:txBody>
      </p:sp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88280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Store-and-Forward Switching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91622" y="738372"/>
            <a:ext cx="8853286" cy="166628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Store-and-forward has two primary characteristics: </a:t>
            </a:r>
          </a:p>
          <a:p>
            <a:pPr lvl="1"/>
            <a:r>
              <a:rPr lang="en-US" sz="1600" dirty="0"/>
              <a:t>Error Checking – The switch will check the Frame Check Sequence (FCS) for CRC errors. Bad frames will be discarded.</a:t>
            </a:r>
          </a:p>
          <a:p>
            <a:pPr lvl="1"/>
            <a:r>
              <a:rPr lang="en-US" sz="1600" dirty="0"/>
              <a:t>Buffering – The ingress interface will buffer the frame while it checks the FCS. This also allows the switch to adjust to a potential difference in speeds between the ingress and egress ports.</a:t>
            </a:r>
          </a:p>
          <a:p>
            <a:pPr marL="142875" lvl="1" indent="0">
              <a:buNone/>
            </a:pP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02" y="2404659"/>
            <a:ext cx="4708814" cy="225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590287" cy="757551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br>
              <a:rPr lang="en-US" altLang="en-US" dirty="0"/>
            </a:br>
            <a:r>
              <a:rPr lang="en-US" altLang="en-US" dirty="0"/>
              <a:t>Cut-Through Switching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4590288" y="420168"/>
            <a:ext cx="4553711" cy="3919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Cut-through forwards the frame immediately after determining the destination MAC.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Fragment (Frag) Free method will check the destination and ensure that the frame is at least 64 Bytes. This will eliminate runts.</a:t>
            </a:r>
          </a:p>
          <a:p>
            <a:pPr marL="0" indent="0">
              <a:buNone/>
            </a:pPr>
            <a:r>
              <a:rPr lang="en-US" sz="1600" dirty="0"/>
              <a:t>Concepts of Cut-Through switching: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Is appropriate for switches needing latency to be under 10 microseconds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Does not check the FCS, so it can propagate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May lead to bandwidth issues if the switch propagates too many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Cannot support ports with differing speeds going from ingress to egress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45" y="1685717"/>
            <a:ext cx="4313382" cy="249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469625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2.2 Switching Domains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Switching Domains</a:t>
            </a:r>
            <a:br>
              <a:rPr lang="en-US" altLang="en-US" dirty="0"/>
            </a:br>
            <a:r>
              <a:rPr lang="en-US" altLang="en-US" dirty="0"/>
              <a:t>Collision Domains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3" y="798945"/>
            <a:ext cx="4195948" cy="385618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Switches eliminate collision domains and reduce congestion.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When there is full duplex on the link the collision domains are eliminated.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When there is one or more devices in half-duplex there will now be a collision domain.</a:t>
            </a:r>
          </a:p>
          <a:p>
            <a:pPr lvl="2"/>
            <a:r>
              <a:rPr lang="en-US" altLang="en-US" sz="1600" dirty="0"/>
              <a:t>There will now be contention for the bandwidth.</a:t>
            </a:r>
          </a:p>
          <a:p>
            <a:pPr lvl="2"/>
            <a:r>
              <a:rPr lang="en-US" altLang="en-US" sz="1600" dirty="0"/>
              <a:t>Collisions are now possible.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Most devices, including Cisco and Microsoft use auto-negotiation as the default setting for duplex and speed.</a:t>
            </a:r>
          </a:p>
          <a:p>
            <a:pPr marL="0" indent="0">
              <a:buNone/>
            </a:pPr>
            <a:r>
              <a:rPr lang="en-US" altLang="ja-JP" sz="14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829" y="1450110"/>
            <a:ext cx="4622280" cy="2985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034970" cy="757551"/>
          </a:xfrm>
        </p:spPr>
        <p:txBody>
          <a:bodyPr/>
          <a:lstStyle/>
          <a:p>
            <a:r>
              <a:rPr lang="en-US" altLang="en-US" sz="1600" dirty="0"/>
              <a:t>Switching Domains</a:t>
            </a:r>
            <a:br>
              <a:rPr lang="en-US" altLang="en-US" dirty="0"/>
            </a:br>
            <a:r>
              <a:rPr lang="en-US" altLang="en-US" dirty="0"/>
              <a:t>Broadcast Domains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4279074" y="609601"/>
            <a:ext cx="4717144" cy="412238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A broadcast domain extends across all Layer 1 or Layer 2 devices on a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600" dirty="0"/>
              <a:t>Only a layer 3 device (router) will break the broadcast domain, also called a MAC broadcast domain.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600" dirty="0"/>
              <a:t>The broadcast domain consists of all devices on the LAN that receive the broadcast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When the layer 2 switch receives the broadcast it will flood it out all interfaces except for the ingress interface.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Too many broadcasts may cause congestion and poor network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Increasing devices at Layer 1 or layer 2 will cause the broadcast domain to expand.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7" y="1283855"/>
            <a:ext cx="3928140" cy="281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4688113" cy="829464"/>
          </a:xfrm>
        </p:spPr>
        <p:txBody>
          <a:bodyPr/>
          <a:lstStyle/>
          <a:p>
            <a:r>
              <a:rPr lang="en-US" altLang="en-US" sz="1600" dirty="0"/>
              <a:t>Switching Domains</a:t>
            </a:r>
            <a:br>
              <a:rPr lang="en-US" altLang="en-US" dirty="0"/>
            </a:br>
            <a:r>
              <a:rPr lang="en-US" altLang="en-US" dirty="0"/>
              <a:t>Alleviated Network Congestion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1"/>
            <a:ext cx="8571344" cy="99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Switches use the MAC address table and full-duplex to  eliminate collisions and avoid congestion.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sz="1600" dirty="0"/>
              <a:t>Features of the switch that alleviate congestion are as follows: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21400"/>
              </p:ext>
            </p:extLst>
          </p:nvPr>
        </p:nvGraphicFramePr>
        <p:xfrm>
          <a:off x="449717" y="2254251"/>
          <a:ext cx="8316911" cy="199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9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r>
                        <a:rPr lang="en-US" b="1" dirty="0"/>
                        <a:t>Fast Port Speeds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Depending on the model, switches may have up to 100Gbps port speeds.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r>
                        <a:rPr lang="en-US" b="1" dirty="0"/>
                        <a:t>Fast Internal Switching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This uses fast internal bus or shared memory to improve</a:t>
                      </a:r>
                      <a:r>
                        <a:rPr lang="en-US" baseline="0" dirty="0"/>
                        <a:t> performance.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r>
                        <a:rPr lang="en-US" b="1" dirty="0"/>
                        <a:t>Large Frame Buffers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allows for temporary</a:t>
                      </a:r>
                      <a:r>
                        <a:rPr lang="en-US" baseline="0" dirty="0"/>
                        <a:t> storage while processing large quantities of frames.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r>
                        <a:rPr lang="en-US" b="1" dirty="0"/>
                        <a:t>High Port Density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provides many ports for devices to be connected to LAN with</a:t>
                      </a:r>
                      <a:r>
                        <a:rPr lang="en-US" baseline="0" dirty="0"/>
                        <a:t> less cost. This also provides for more local traffic with less congestion.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2.3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635263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722376"/>
            <a:ext cx="9043416" cy="3986783"/>
          </a:xfrm>
        </p:spPr>
        <p:txBody>
          <a:bodyPr/>
          <a:lstStyle/>
          <a:p>
            <a:pPr marL="142875" lvl="1" indent="0">
              <a:buNone/>
            </a:pPr>
            <a:r>
              <a:rPr lang="en-US" sz="1600" b="1" dirty="0"/>
              <a:t>Frame Forwarding</a:t>
            </a:r>
          </a:p>
          <a:p>
            <a:pPr lvl="2"/>
            <a:r>
              <a:rPr lang="en-US" sz="1600" dirty="0"/>
              <a:t>Ingress is the entry port, egress is the exit port.</a:t>
            </a:r>
          </a:p>
          <a:p>
            <a:pPr lvl="2"/>
            <a:r>
              <a:rPr lang="en-US" sz="1600" dirty="0"/>
              <a:t>The switch builds a MAC address table to forward frames on the LAN.</a:t>
            </a:r>
          </a:p>
          <a:p>
            <a:pPr lvl="2"/>
            <a:r>
              <a:rPr lang="en-US" sz="1600" dirty="0"/>
              <a:t>The switch can use either the store-and-forward or cut-through method of switch forwarding.</a:t>
            </a:r>
          </a:p>
          <a:p>
            <a:pPr marL="142875" lvl="1" indent="0">
              <a:buNone/>
            </a:pPr>
            <a:r>
              <a:rPr lang="en-US" sz="1600" b="1" dirty="0"/>
              <a:t>Switching Domains</a:t>
            </a:r>
          </a:p>
          <a:p>
            <a:pPr lvl="2"/>
            <a:r>
              <a:rPr lang="en-US" sz="1600" dirty="0"/>
              <a:t>Ethernet ports in half-duplex will be a part of a collision domain.</a:t>
            </a:r>
          </a:p>
          <a:p>
            <a:pPr lvl="2"/>
            <a:r>
              <a:rPr lang="en-US" sz="1600" dirty="0"/>
              <a:t>Full-duplex will eliminate collision domains.</a:t>
            </a:r>
          </a:p>
          <a:p>
            <a:pPr lvl="2"/>
            <a:r>
              <a:rPr lang="en-US" sz="1600" dirty="0"/>
              <a:t>A switch will flood out all interfaces except the ingress port if the frame is a broadcast or if the unicast destination MAC is unknown. </a:t>
            </a:r>
          </a:p>
          <a:p>
            <a:pPr lvl="2"/>
            <a:r>
              <a:rPr lang="en-US" sz="1600" dirty="0"/>
              <a:t>Broadcast domains may be broken up by a layer 3 device, like a router.</a:t>
            </a:r>
          </a:p>
          <a:p>
            <a:pPr lvl="2"/>
            <a:r>
              <a:rPr lang="en-US" sz="1600" dirty="0"/>
              <a:t>Switches extend broadcast domains, but can eliminate collision domains and relieve congestion.</a:t>
            </a:r>
          </a:p>
          <a:p>
            <a:pPr marL="142875" lvl="1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1405625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2: Switching Concepts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10E73-4BA7-41D8-852B-8314AABA1827}"/>
              </a:ext>
            </a:extLst>
          </p:cNvPr>
          <p:cNvSpPr/>
          <p:nvPr/>
        </p:nvSpPr>
        <p:spPr>
          <a:xfrm>
            <a:off x="146051" y="88053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content accessible memory (CAM)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MAC address table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store-and-forward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cut-through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automatic buffering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fragment free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collision domains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broadcast domains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71476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20303</TotalTime>
  <Words>1309</Words>
  <Application>Microsoft Office PowerPoint</Application>
  <PresentationFormat>On-screen Show (16:9)</PresentationFormat>
  <Paragraphs>168</Paragraphs>
  <Slides>18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CiscoSans ExtraLight</vt:lpstr>
      <vt:lpstr>Wingdings</vt:lpstr>
      <vt:lpstr>Default Theme</vt:lpstr>
      <vt:lpstr>Module 2: Switching Concepts</vt:lpstr>
      <vt:lpstr>Module Objectives</vt:lpstr>
      <vt:lpstr>2.1 Frame Forwarding</vt:lpstr>
      <vt:lpstr>Frame Forwarding Switching in Networking</vt:lpstr>
      <vt:lpstr>Frame Forwarding The Switch MAC Address Table</vt:lpstr>
      <vt:lpstr>Frame Forwarding The Switch Learn and Forward Method</vt:lpstr>
      <vt:lpstr>Frame Forwarding Video – MAC Address Tables on Connected Switches</vt:lpstr>
      <vt:lpstr>Frame Forwarding Switch Forwarding Methods</vt:lpstr>
      <vt:lpstr>Frame Forwarding Store-and-Forward Switching</vt:lpstr>
      <vt:lpstr>Frame Forwarding Cut-Through Switching</vt:lpstr>
      <vt:lpstr>2.2 Switching Domains</vt:lpstr>
      <vt:lpstr>Switching Domains Collision Domains</vt:lpstr>
      <vt:lpstr>Switching Domains Broadcast Domains</vt:lpstr>
      <vt:lpstr>Switching Domains Alleviated Network Congestion</vt:lpstr>
      <vt:lpstr>2.3 Module Practice and Quiz</vt:lpstr>
      <vt:lpstr>Module Practice and Quiz What did I learn in this module?</vt:lpstr>
      <vt:lpstr>Module 2: Switching Concepts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Michael Dawkins</cp:lastModifiedBy>
  <cp:revision>1014</cp:revision>
  <dcterms:created xsi:type="dcterms:W3CDTF">2016-08-22T22:27:36Z</dcterms:created>
  <dcterms:modified xsi:type="dcterms:W3CDTF">2025-04-21T04:04:23Z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